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1.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2.xml" ContentType="application/vnd.openxmlformats-officedocument.drawingml.chart+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rts/chart3.xml" ContentType="application/vnd.openxmlformats-officedocument.drawingml.chart+xml"/>
  <Override PartName="/ppt/notesSlides/notesSlide26.xml" ContentType="application/vnd.openxmlformats-officedocument.presentationml.notesSlide+xml"/>
  <Override PartName="/ppt/charts/chart4.xml" ContentType="application/vnd.openxmlformats-officedocument.drawingml.chart+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rts/chart5.xml" ContentType="application/vnd.openxmlformats-officedocument.drawingml.chart+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151"/>
    <p:restoredTop sz="90307"/>
  </p:normalViewPr>
  <p:slideViewPr>
    <p:cSldViewPr snapToGrid="0" snapToObjects="1">
      <p:cViewPr varScale="1">
        <p:scale>
          <a:sx n="178" d="100"/>
          <a:sy n="178" d="100"/>
        </p:scale>
        <p:origin x="145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Feuille_de_calcul_Microsoft_Excel.xlsx"/></Relationships>
</file>

<file path=ppt/charts/_rels/chart2.xml.rels><?xml version="1.0" encoding="UTF-8" standalone="yes"?>
<Relationships xmlns="http://schemas.openxmlformats.org/package/2006/relationships"><Relationship Id="rId1" Type="http://schemas.openxmlformats.org/officeDocument/2006/relationships/package" Target="../embeddings/Feuille_de_calcul_Microsoft_Excel1.xlsx"/></Relationships>
</file>

<file path=ppt/charts/_rels/chart3.xml.rels><?xml version="1.0" encoding="UTF-8" standalone="yes"?>
<Relationships xmlns="http://schemas.openxmlformats.org/package/2006/relationships"><Relationship Id="rId1" Type="http://schemas.openxmlformats.org/officeDocument/2006/relationships/package" Target="../embeddings/Feuille_de_calcul_Microsoft_Excel2.xlsx"/></Relationships>
</file>

<file path=ppt/charts/_rels/chart4.xml.rels><?xml version="1.0" encoding="UTF-8" standalone="yes"?>
<Relationships xmlns="http://schemas.openxmlformats.org/package/2006/relationships"><Relationship Id="rId1" Type="http://schemas.openxmlformats.org/officeDocument/2006/relationships/package" Target="../embeddings/Feuille_de_calcul_Microsoft_Excel3.xlsx"/></Relationships>
</file>

<file path=ppt/charts/_rels/chart5.xml.rels><?xml version="1.0" encoding="UTF-8" standalone="yes"?>
<Relationships xmlns="http://schemas.openxmlformats.org/package/2006/relationships"><Relationship Id="rId1" Type="http://schemas.openxmlformats.org/officeDocument/2006/relationships/package" Target="../embeddings/Feuille_de_calcul_Microsoft_Excel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radarChart>
        <c:radarStyle val="marker"/>
        <c:varyColors val="0"/>
        <c:ser>
          <c:idx val="0"/>
          <c:order val="0"/>
          <c:tx>
            <c:strRef>
              <c:f>Sheet1!$B$1</c:f>
              <c:strCache>
                <c:ptCount val="1"/>
                <c:pt idx="0">
                  <c:v>KINN</c:v>
                </c:pt>
              </c:strCache>
            </c:strRef>
          </c:tx>
          <c:spPr>
            <a:ln w="25400" cap="flat">
              <a:solidFill>
                <a:srgbClr val="1677FF"/>
              </a:solidFill>
              <a:prstDash val="solid"/>
              <a:round/>
            </a:ln>
            <a:effectLst/>
          </c:spPr>
          <c:marker>
            <c:symbol val="circle"/>
            <c:size val="6"/>
            <c:spPr>
              <a:solidFill>
                <a:srgbClr val="1677FF"/>
              </a:solidFill>
              <a:ln w="9525" cap="flat">
                <a:solidFill>
                  <a:srgbClr val="1677FF"/>
                </a:solidFill>
                <a:prstDash val="solid"/>
                <a:round/>
              </a:ln>
              <a:effectLst/>
            </c:spPr>
          </c:marker>
          <c:cat>
            <c:strRef>
              <c:f>Sheet1!$A$2:$A$7</c:f>
              <c:strCache>
                <c:ptCount val="6"/>
                <c:pt idx="0">
                  <c:v>Auto + UI</c:v>
                </c:pt>
                <c:pt idx="1">
                  <c:v>Data normalization</c:v>
                </c:pt>
                <c:pt idx="2">
                  <c:v>Interop ERP/IoT</c:v>
                </c:pt>
                <c:pt idx="3">
                  <c:v>Agents IA</c:v>
                </c:pt>
                <c:pt idx="4">
                  <c:v>Hybride deploy</c:v>
                </c:pt>
                <c:pt idx="5">
                  <c:v>MCP-ready</c:v>
                </c:pt>
              </c:strCache>
            </c:strRef>
          </c:cat>
          <c:val>
            <c:numRef>
              <c:f>Sheet1!$B$2:$B$7</c:f>
              <c:numCache>
                <c:formatCode>General</c:formatCode>
                <c:ptCount val="6"/>
                <c:pt idx="0">
                  <c:v>10</c:v>
                </c:pt>
                <c:pt idx="1">
                  <c:v>8</c:v>
                </c:pt>
                <c:pt idx="2">
                  <c:v>8</c:v>
                </c:pt>
                <c:pt idx="3">
                  <c:v>8</c:v>
                </c:pt>
                <c:pt idx="4">
                  <c:v>10</c:v>
                </c:pt>
                <c:pt idx="5">
                  <c:v>10</c:v>
                </c:pt>
              </c:numCache>
            </c:numRef>
          </c:val>
          <c:extLst>
            <c:ext xmlns:c16="http://schemas.microsoft.com/office/drawing/2014/chart" uri="{C3380CC4-5D6E-409C-BE32-E72D297353CC}">
              <c16:uniqueId val="{00000000-5DC2-4544-894F-E5B54FD79472}"/>
            </c:ext>
          </c:extLst>
        </c:ser>
        <c:ser>
          <c:idx val="1"/>
          <c:order val="1"/>
          <c:tx>
            <c:strRef>
              <c:f>Sheet1!$C$1</c:f>
              <c:strCache>
                <c:ptCount val="1"/>
                <c:pt idx="0">
                  <c:v>n8n</c:v>
                </c:pt>
              </c:strCache>
            </c:strRef>
          </c:tx>
          <c:spPr>
            <a:ln w="25400" cap="flat">
              <a:solidFill>
                <a:srgbClr val="64748B"/>
              </a:solidFill>
              <a:prstDash val="solid"/>
              <a:round/>
            </a:ln>
            <a:effectLst/>
          </c:spPr>
          <c:marker>
            <c:symbol val="circle"/>
            <c:size val="6"/>
            <c:spPr>
              <a:solidFill>
                <a:srgbClr val="64748B"/>
              </a:solidFill>
              <a:ln w="9525" cap="flat">
                <a:solidFill>
                  <a:srgbClr val="64748B"/>
                </a:solidFill>
                <a:prstDash val="solid"/>
                <a:round/>
              </a:ln>
              <a:effectLst/>
            </c:spPr>
          </c:marker>
          <c:cat>
            <c:strRef>
              <c:f>Sheet1!$A$2:$A$7</c:f>
              <c:strCache>
                <c:ptCount val="6"/>
                <c:pt idx="0">
                  <c:v>Auto + UI</c:v>
                </c:pt>
                <c:pt idx="1">
                  <c:v>Data normalization</c:v>
                </c:pt>
                <c:pt idx="2">
                  <c:v>Interop ERP/IoT</c:v>
                </c:pt>
                <c:pt idx="3">
                  <c:v>Agents IA</c:v>
                </c:pt>
                <c:pt idx="4">
                  <c:v>Hybride deploy</c:v>
                </c:pt>
                <c:pt idx="5">
                  <c:v>MCP-ready</c:v>
                </c:pt>
              </c:strCache>
            </c:strRef>
          </c:cat>
          <c:val>
            <c:numRef>
              <c:f>Sheet1!$C$2:$C$7</c:f>
              <c:numCache>
                <c:formatCode>General</c:formatCode>
                <c:ptCount val="6"/>
                <c:pt idx="0">
                  <c:v>2</c:v>
                </c:pt>
                <c:pt idx="1">
                  <c:v>7</c:v>
                </c:pt>
                <c:pt idx="2">
                  <c:v>7</c:v>
                </c:pt>
                <c:pt idx="3">
                  <c:v>8</c:v>
                </c:pt>
                <c:pt idx="4">
                  <c:v>10</c:v>
                </c:pt>
                <c:pt idx="5">
                  <c:v>7</c:v>
                </c:pt>
              </c:numCache>
            </c:numRef>
          </c:val>
          <c:extLst>
            <c:ext xmlns:c16="http://schemas.microsoft.com/office/drawing/2014/chart" uri="{C3380CC4-5D6E-409C-BE32-E72D297353CC}">
              <c16:uniqueId val="{00000001-5DC2-4544-894F-E5B54FD79472}"/>
            </c:ext>
          </c:extLst>
        </c:ser>
        <c:ser>
          <c:idx val="2"/>
          <c:order val="2"/>
          <c:tx>
            <c:strRef>
              <c:f>Sheet1!$D$1</c:f>
              <c:strCache>
                <c:ptCount val="1"/>
                <c:pt idx="0">
                  <c:v>Make</c:v>
                </c:pt>
              </c:strCache>
            </c:strRef>
          </c:tx>
          <c:spPr>
            <a:ln w="25400" cap="flat">
              <a:solidFill>
                <a:srgbClr val="F59E0B"/>
              </a:solidFill>
              <a:prstDash val="solid"/>
              <a:round/>
            </a:ln>
            <a:effectLst/>
          </c:spPr>
          <c:marker>
            <c:symbol val="circle"/>
            <c:size val="6"/>
            <c:spPr>
              <a:solidFill>
                <a:srgbClr val="F59E0B"/>
              </a:solidFill>
              <a:ln w="9525" cap="flat">
                <a:solidFill>
                  <a:srgbClr val="F59E0B"/>
                </a:solidFill>
                <a:prstDash val="solid"/>
                <a:round/>
              </a:ln>
              <a:effectLst/>
            </c:spPr>
          </c:marker>
          <c:cat>
            <c:strRef>
              <c:f>Sheet1!$A$2:$A$7</c:f>
              <c:strCache>
                <c:ptCount val="6"/>
                <c:pt idx="0">
                  <c:v>Auto + UI</c:v>
                </c:pt>
                <c:pt idx="1">
                  <c:v>Data normalization</c:v>
                </c:pt>
                <c:pt idx="2">
                  <c:v>Interop ERP/IoT</c:v>
                </c:pt>
                <c:pt idx="3">
                  <c:v>Agents IA</c:v>
                </c:pt>
                <c:pt idx="4">
                  <c:v>Hybride deploy</c:v>
                </c:pt>
                <c:pt idx="5">
                  <c:v>MCP-ready</c:v>
                </c:pt>
              </c:strCache>
            </c:strRef>
          </c:cat>
          <c:val>
            <c:numRef>
              <c:f>Sheet1!$D$2:$D$7</c:f>
              <c:numCache>
                <c:formatCode>General</c:formatCode>
                <c:ptCount val="6"/>
                <c:pt idx="0">
                  <c:v>2</c:v>
                </c:pt>
                <c:pt idx="1">
                  <c:v>6</c:v>
                </c:pt>
                <c:pt idx="2">
                  <c:v>7</c:v>
                </c:pt>
                <c:pt idx="3">
                  <c:v>7</c:v>
                </c:pt>
                <c:pt idx="4">
                  <c:v>3</c:v>
                </c:pt>
                <c:pt idx="5">
                  <c:v>0</c:v>
                </c:pt>
              </c:numCache>
            </c:numRef>
          </c:val>
          <c:extLst>
            <c:ext xmlns:c16="http://schemas.microsoft.com/office/drawing/2014/chart" uri="{C3380CC4-5D6E-409C-BE32-E72D297353CC}">
              <c16:uniqueId val="{00000002-5DC2-4544-894F-E5B54FD79472}"/>
            </c:ext>
          </c:extLst>
        </c:ser>
        <c:ser>
          <c:idx val="3"/>
          <c:order val="3"/>
          <c:tx>
            <c:strRef>
              <c:f>Sheet1!$E$1</c:f>
              <c:strCache>
                <c:ptCount val="1"/>
                <c:pt idx="0">
                  <c:v>Retool</c:v>
                </c:pt>
              </c:strCache>
            </c:strRef>
          </c:tx>
          <c:spPr>
            <a:ln w="25400" cap="flat">
              <a:solidFill>
                <a:srgbClr val="16A34A"/>
              </a:solidFill>
              <a:prstDash val="solid"/>
              <a:round/>
            </a:ln>
            <a:effectLst/>
          </c:spPr>
          <c:marker>
            <c:symbol val="circle"/>
            <c:size val="6"/>
            <c:spPr>
              <a:solidFill>
                <a:srgbClr val="16A34A"/>
              </a:solidFill>
              <a:ln w="9525" cap="flat">
                <a:solidFill>
                  <a:srgbClr val="16A34A"/>
                </a:solidFill>
                <a:prstDash val="solid"/>
                <a:round/>
              </a:ln>
              <a:effectLst/>
            </c:spPr>
          </c:marker>
          <c:cat>
            <c:strRef>
              <c:f>Sheet1!$A$2:$A$7</c:f>
              <c:strCache>
                <c:ptCount val="6"/>
                <c:pt idx="0">
                  <c:v>Auto + UI</c:v>
                </c:pt>
                <c:pt idx="1">
                  <c:v>Data normalization</c:v>
                </c:pt>
                <c:pt idx="2">
                  <c:v>Interop ERP/IoT</c:v>
                </c:pt>
                <c:pt idx="3">
                  <c:v>Agents IA</c:v>
                </c:pt>
                <c:pt idx="4">
                  <c:v>Hybride deploy</c:v>
                </c:pt>
                <c:pt idx="5">
                  <c:v>MCP-ready</c:v>
                </c:pt>
              </c:strCache>
            </c:strRef>
          </c:cat>
          <c:val>
            <c:numRef>
              <c:f>Sheet1!$E$2:$E$7</c:f>
              <c:numCache>
                <c:formatCode>General</c:formatCode>
                <c:ptCount val="6"/>
                <c:pt idx="0">
                  <c:v>8</c:v>
                </c:pt>
                <c:pt idx="1">
                  <c:v>7</c:v>
                </c:pt>
                <c:pt idx="2">
                  <c:v>3</c:v>
                </c:pt>
                <c:pt idx="3">
                  <c:v>3</c:v>
                </c:pt>
                <c:pt idx="4">
                  <c:v>3</c:v>
                </c:pt>
                <c:pt idx="5">
                  <c:v>0</c:v>
                </c:pt>
              </c:numCache>
            </c:numRef>
          </c:val>
          <c:extLst>
            <c:ext xmlns:c16="http://schemas.microsoft.com/office/drawing/2014/chart" uri="{C3380CC4-5D6E-409C-BE32-E72D297353CC}">
              <c16:uniqueId val="{00000003-5DC2-4544-894F-E5B54FD79472}"/>
            </c:ext>
          </c:extLst>
        </c:ser>
        <c:dLbls>
          <c:showLegendKey val="0"/>
          <c:showVal val="0"/>
          <c:showCatName val="0"/>
          <c:showSerName val="0"/>
          <c:showPercent val="0"/>
          <c:showBubbleSize val="0"/>
        </c:dLbls>
        <c:axId val="2094734554"/>
        <c:axId val="2094734552"/>
      </c:rad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74151"/>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9CA3AF"/>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374151"/>
              </a:solidFill>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0"/>
        <c:ser>
          <c:idx val="0"/>
          <c:order val="0"/>
          <c:tx>
            <c:strRef>
              <c:f>Sheet1!$B$1</c:f>
              <c:strCache>
                <c:ptCount val="1"/>
                <c:pt idx="0">
                  <c:v>Potentiel marché (score /10)</c:v>
                </c:pt>
              </c:strCache>
            </c:strRef>
          </c:tx>
          <c:spPr>
            <a:solidFill>
              <a:srgbClr val="1677FF"/>
            </a:solidFill>
            <a:effectLst/>
          </c:spPr>
          <c:invertIfNegative val="0"/>
          <c:dLbls>
            <c:numFmt formatCode="#,##0" sourceLinked="0"/>
            <c:spPr>
              <a:noFill/>
              <a:ln>
                <a:noFill/>
              </a:ln>
              <a:effectLst/>
            </c:spPr>
            <c:txPr>
              <a:bodyPr/>
              <a:lstStyle/>
              <a:p>
                <a:pPr>
                  <a:defRPr sz="1000" b="0" i="0" u="none" strike="noStrike">
                    <a:solidFill>
                      <a:srgbClr val="0F172A"/>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Industrie
&amp; IoT</c:v>
                </c:pt>
                <c:pt idx="1">
                  <c:v>IT &amp;
Support</c:v>
                </c:pt>
                <c:pt idx="2">
                  <c:v>Back-office
&amp; Finance</c:v>
                </c:pt>
                <c:pt idx="3">
                  <c:v>Consultants
&amp; ESN</c:v>
                </c:pt>
                <c:pt idx="4">
                  <c:v>Collectivités
&amp; Santé</c:v>
                </c:pt>
              </c:strCache>
            </c:strRef>
          </c:cat>
          <c:val>
            <c:numRef>
              <c:f>Sheet1!$B$2:$B$6</c:f>
              <c:numCache>
                <c:formatCode>General</c:formatCode>
                <c:ptCount val="5"/>
                <c:pt idx="0">
                  <c:v>10</c:v>
                </c:pt>
                <c:pt idx="1">
                  <c:v>8</c:v>
                </c:pt>
                <c:pt idx="2">
                  <c:v>9</c:v>
                </c:pt>
                <c:pt idx="3">
                  <c:v>10</c:v>
                </c:pt>
                <c:pt idx="4">
                  <c:v>7</c:v>
                </c:pt>
              </c:numCache>
            </c:numRef>
          </c:val>
          <c:extLst>
            <c:ext xmlns:c16="http://schemas.microsoft.com/office/drawing/2014/chart" uri="{C3380CC4-5D6E-409C-BE32-E72D297353CC}">
              <c16:uniqueId val="{00000000-8640-4D4B-8C45-460222BFE84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74151"/>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9CA3AF"/>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374151"/>
              </a:solidFill>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0"/>
        <c:ser>
          <c:idx val="0"/>
          <c:order val="0"/>
          <c:tx>
            <c:strRef>
              <c:f>Sheet1!$B$1</c:f>
              <c:strCache>
                <c:ptCount val="1"/>
                <c:pt idx="0">
                  <c:v>Consultants actifs</c:v>
                </c:pt>
              </c:strCache>
            </c:strRef>
          </c:tx>
          <c:spPr>
            <a:solidFill>
              <a:srgbClr val="1677FF"/>
            </a:solidFill>
            <a:effectLst/>
          </c:spPr>
          <c:invertIfNegative val="0"/>
          <c:dLbls>
            <c:numFmt formatCode="#,##0" sourceLinked="0"/>
            <c:spPr>
              <a:noFill/>
              <a:ln>
                <a:noFill/>
              </a:ln>
              <a:effectLst/>
            </c:spPr>
            <c:txPr>
              <a:bodyPr/>
              <a:lstStyle/>
              <a:p>
                <a:pPr>
                  <a:defRPr sz="800" b="0" i="0" u="none" strike="noStrike">
                    <a:solidFill>
                      <a:srgbClr val="0F172A"/>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c:v>
                </c:pt>
                <c:pt idx="1">
                  <c:v>2026</c:v>
                </c:pt>
                <c:pt idx="2">
                  <c:v>2027</c:v>
                </c:pt>
                <c:pt idx="3">
                  <c:v>2028</c:v>
                </c:pt>
                <c:pt idx="4">
                  <c:v>2029</c:v>
                </c:pt>
              </c:strCache>
            </c:strRef>
          </c:cat>
          <c:val>
            <c:numRef>
              <c:f>Sheet1!$B$2:$B$6</c:f>
              <c:numCache>
                <c:formatCode>General</c:formatCode>
                <c:ptCount val="5"/>
                <c:pt idx="0">
                  <c:v>22</c:v>
                </c:pt>
                <c:pt idx="1">
                  <c:v>47</c:v>
                </c:pt>
                <c:pt idx="2">
                  <c:v>74</c:v>
                </c:pt>
                <c:pt idx="3">
                  <c:v>108</c:v>
                </c:pt>
                <c:pt idx="4">
                  <c:v>142</c:v>
                </c:pt>
              </c:numCache>
            </c:numRef>
          </c:val>
          <c:extLst>
            <c:ext xmlns:c16="http://schemas.microsoft.com/office/drawing/2014/chart" uri="{C3380CC4-5D6E-409C-BE32-E72D297353CC}">
              <c16:uniqueId val="{00000000-246C-B14C-98BE-FC32AC4A1367}"/>
            </c:ext>
          </c:extLst>
        </c:ser>
        <c:ser>
          <c:idx val="1"/>
          <c:order val="1"/>
          <c:tx>
            <c:strRef>
              <c:f>Sheet1!$C$1</c:f>
              <c:strCache>
                <c:ptCount val="1"/>
                <c:pt idx="0">
                  <c:v>Clients actifs</c:v>
                </c:pt>
              </c:strCache>
            </c:strRef>
          </c:tx>
          <c:spPr>
            <a:solidFill>
              <a:srgbClr val="16A34A"/>
            </a:solidFill>
            <a:effectLst/>
          </c:spPr>
          <c:invertIfNegative val="0"/>
          <c:dLbls>
            <c:numFmt formatCode="#,##0" sourceLinked="0"/>
            <c:spPr>
              <a:noFill/>
              <a:ln>
                <a:noFill/>
              </a:ln>
              <a:effectLst/>
            </c:spPr>
            <c:txPr>
              <a:bodyPr/>
              <a:lstStyle/>
              <a:p>
                <a:pPr>
                  <a:defRPr sz="800" b="0" i="0" u="none" strike="noStrike">
                    <a:solidFill>
                      <a:srgbClr val="0F172A"/>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c:v>
                </c:pt>
                <c:pt idx="1">
                  <c:v>2026</c:v>
                </c:pt>
                <c:pt idx="2">
                  <c:v>2027</c:v>
                </c:pt>
                <c:pt idx="3">
                  <c:v>2028</c:v>
                </c:pt>
                <c:pt idx="4">
                  <c:v>2029</c:v>
                </c:pt>
              </c:strCache>
            </c:strRef>
          </c:cat>
          <c:val>
            <c:numRef>
              <c:f>Sheet1!$C$2:$C$6</c:f>
              <c:numCache>
                <c:formatCode>General</c:formatCode>
                <c:ptCount val="5"/>
                <c:pt idx="0">
                  <c:v>96</c:v>
                </c:pt>
                <c:pt idx="1">
                  <c:v>306</c:v>
                </c:pt>
                <c:pt idx="2">
                  <c:v>554</c:v>
                </c:pt>
                <c:pt idx="3">
                  <c:v>848</c:v>
                </c:pt>
                <c:pt idx="4">
                  <c:v>1225</c:v>
                </c:pt>
              </c:numCache>
            </c:numRef>
          </c:val>
          <c:extLst>
            <c:ext xmlns:c16="http://schemas.microsoft.com/office/drawing/2014/chart" uri="{C3380CC4-5D6E-409C-BE32-E72D297353CC}">
              <c16:uniqueId val="{00000001-246C-B14C-98BE-FC32AC4A136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74151"/>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9CA3AF"/>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374151"/>
              </a:solidFill>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0"/>
        <c:ser>
          <c:idx val="0"/>
          <c:order val="0"/>
          <c:tx>
            <c:strRef>
              <c:f>Sheet1!$B$1</c:f>
              <c:strCache>
                <c:ptCount val="1"/>
                <c:pt idx="0">
                  <c:v>CA (k€)</c:v>
                </c:pt>
              </c:strCache>
            </c:strRef>
          </c:tx>
          <c:spPr>
            <a:solidFill>
              <a:srgbClr val="1677FF"/>
            </a:solidFill>
            <a:effectLst/>
          </c:spPr>
          <c:invertIfNegative val="0"/>
          <c:dLbls>
            <c:numFmt formatCode="#,##0" sourceLinked="0"/>
            <c:spPr>
              <a:noFill/>
              <a:ln>
                <a:noFill/>
              </a:ln>
              <a:effectLst/>
            </c:spPr>
            <c:txPr>
              <a:bodyPr/>
              <a:lstStyle/>
              <a:p>
                <a:pPr>
                  <a:defRPr sz="800" b="0" i="0" u="none" strike="noStrike">
                    <a:solidFill>
                      <a:srgbClr val="0F172A"/>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c:v>
                </c:pt>
                <c:pt idx="1">
                  <c:v>2026</c:v>
                </c:pt>
                <c:pt idx="2">
                  <c:v>2027</c:v>
                </c:pt>
                <c:pt idx="3">
                  <c:v>2028</c:v>
                </c:pt>
                <c:pt idx="4">
                  <c:v>2029</c:v>
                </c:pt>
              </c:strCache>
            </c:strRef>
          </c:cat>
          <c:val>
            <c:numRef>
              <c:f>Sheet1!$B$2:$B$6</c:f>
              <c:numCache>
                <c:formatCode>General</c:formatCode>
                <c:ptCount val="5"/>
                <c:pt idx="0">
                  <c:v>16.5</c:v>
                </c:pt>
                <c:pt idx="1">
                  <c:v>77.7</c:v>
                </c:pt>
                <c:pt idx="2">
                  <c:v>288.39999999999998</c:v>
                </c:pt>
                <c:pt idx="3">
                  <c:v>816.9</c:v>
                </c:pt>
                <c:pt idx="4">
                  <c:v>1411.7</c:v>
                </c:pt>
              </c:numCache>
            </c:numRef>
          </c:val>
          <c:extLst>
            <c:ext xmlns:c16="http://schemas.microsoft.com/office/drawing/2014/chart" uri="{C3380CC4-5D6E-409C-BE32-E72D297353CC}">
              <c16:uniqueId val="{00000000-92E0-E54B-BB79-26461416566A}"/>
            </c:ext>
          </c:extLst>
        </c:ser>
        <c:ser>
          <c:idx val="1"/>
          <c:order val="1"/>
          <c:tx>
            <c:strRef>
              <c:f>Sheet1!$C$1</c:f>
              <c:strCache>
                <c:ptCount val="1"/>
                <c:pt idx="0">
                  <c:v>Résultat net (k€)</c:v>
                </c:pt>
              </c:strCache>
            </c:strRef>
          </c:tx>
          <c:spPr>
            <a:solidFill>
              <a:srgbClr val="16A34A"/>
            </a:solidFill>
            <a:effectLst/>
          </c:spPr>
          <c:invertIfNegative val="0"/>
          <c:dLbls>
            <c:numFmt formatCode="#,##0" sourceLinked="0"/>
            <c:spPr>
              <a:noFill/>
              <a:ln>
                <a:noFill/>
              </a:ln>
              <a:effectLst/>
            </c:spPr>
            <c:txPr>
              <a:bodyPr/>
              <a:lstStyle/>
              <a:p>
                <a:pPr>
                  <a:defRPr sz="800" b="0" i="0" u="none" strike="noStrike">
                    <a:solidFill>
                      <a:srgbClr val="0F172A"/>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c:v>
                </c:pt>
                <c:pt idx="1">
                  <c:v>2026</c:v>
                </c:pt>
                <c:pt idx="2">
                  <c:v>2027</c:v>
                </c:pt>
                <c:pt idx="3">
                  <c:v>2028</c:v>
                </c:pt>
                <c:pt idx="4">
                  <c:v>2029</c:v>
                </c:pt>
              </c:strCache>
            </c:strRef>
          </c:cat>
          <c:val>
            <c:numRef>
              <c:f>Sheet1!$C$2:$C$6</c:f>
              <c:numCache>
                <c:formatCode>General</c:formatCode>
                <c:ptCount val="5"/>
                <c:pt idx="0">
                  <c:v>-5.0999999999999996</c:v>
                </c:pt>
                <c:pt idx="1">
                  <c:v>-32.6</c:v>
                </c:pt>
                <c:pt idx="2">
                  <c:v>1.9</c:v>
                </c:pt>
                <c:pt idx="3">
                  <c:v>143.5</c:v>
                </c:pt>
                <c:pt idx="4">
                  <c:v>346.9</c:v>
                </c:pt>
              </c:numCache>
            </c:numRef>
          </c:val>
          <c:extLst>
            <c:ext xmlns:c16="http://schemas.microsoft.com/office/drawing/2014/chart" uri="{C3380CC4-5D6E-409C-BE32-E72D297353CC}">
              <c16:uniqueId val="{00000001-92E0-E54B-BB79-26461416566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74151"/>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9CA3AF"/>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374151"/>
              </a:solidFill>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pieChart>
        <c:varyColors val="1"/>
        <c:ser>
          <c:idx val="0"/>
          <c:order val="0"/>
          <c:tx>
            <c:strRef>
              <c:f>Sheet1!$B$1</c:f>
              <c:strCache>
                <c:ptCount val="1"/>
                <c:pt idx="0">
                  <c:v>Allocation</c:v>
                </c:pt>
              </c:strCache>
            </c:strRef>
          </c:tx>
          <c:spPr>
            <a:solidFill>
              <a:schemeClr val="accent1"/>
            </a:solidFill>
            <a:ln w="9525" cap="flat">
              <a:solidFill>
                <a:srgbClr val="F9F9F9"/>
              </a:solidFill>
              <a:prstDash val="solid"/>
              <a:round/>
            </a:ln>
            <a:effectLst/>
          </c:spPr>
          <c:dPt>
            <c:idx val="0"/>
            <c:bubble3D val="0"/>
            <c:spPr>
              <a:solidFill>
                <a:srgbClr val="1677FF"/>
              </a:solidFill>
              <a:effectLst/>
            </c:spPr>
            <c:extLst>
              <c:ext xmlns:c16="http://schemas.microsoft.com/office/drawing/2014/chart" uri="{C3380CC4-5D6E-409C-BE32-E72D297353CC}">
                <c16:uniqueId val="{00000001-2C4B-254B-BC22-D2F149C36446}"/>
              </c:ext>
            </c:extLst>
          </c:dPt>
          <c:dPt>
            <c:idx val="1"/>
            <c:bubble3D val="0"/>
            <c:spPr>
              <a:solidFill>
                <a:srgbClr val="16A34A"/>
              </a:solidFill>
              <a:effectLst/>
            </c:spPr>
            <c:extLst>
              <c:ext xmlns:c16="http://schemas.microsoft.com/office/drawing/2014/chart" uri="{C3380CC4-5D6E-409C-BE32-E72D297353CC}">
                <c16:uniqueId val="{00000003-2C4B-254B-BC22-D2F149C36446}"/>
              </c:ext>
            </c:extLst>
          </c:dPt>
          <c:dPt>
            <c:idx val="2"/>
            <c:bubble3D val="0"/>
            <c:spPr>
              <a:solidFill>
                <a:srgbClr val="F59E0B"/>
              </a:solidFill>
              <a:effectLst/>
            </c:spPr>
            <c:extLst>
              <c:ext xmlns:c16="http://schemas.microsoft.com/office/drawing/2014/chart" uri="{C3380CC4-5D6E-409C-BE32-E72D297353CC}">
                <c16:uniqueId val="{00000005-2C4B-254B-BC22-D2F149C36446}"/>
              </c:ext>
            </c:extLst>
          </c:dPt>
          <c:dPt>
            <c:idx val="3"/>
            <c:bubble3D val="0"/>
            <c:spPr>
              <a:solidFill>
                <a:srgbClr val="7C3AED"/>
              </a:solidFill>
              <a:effectLst/>
            </c:spPr>
            <c:extLst>
              <c:ext xmlns:c16="http://schemas.microsoft.com/office/drawing/2014/chart" uri="{C3380CC4-5D6E-409C-BE32-E72D297353CC}">
                <c16:uniqueId val="{00000007-2C4B-254B-BC22-D2F149C36446}"/>
              </c:ext>
            </c:extLst>
          </c:dPt>
          <c:dLbls>
            <c:dLbl>
              <c:idx val="0"/>
              <c:numFmt formatCode="0%" sourceLinked="0"/>
              <c:spPr/>
              <c:txPr>
                <a:bodyPr/>
                <a:lstStyle/>
                <a:p>
                  <a:pPr>
                    <a:defRPr sz="1200" b="0" i="0" u="none" strike="noStrike">
                      <a:solidFill>
                        <a:srgbClr val="0F172A"/>
                      </a:solidFill>
                      <a:latin typeface="Arial"/>
                    </a:defRPr>
                  </a:pPr>
                  <a:endParaRPr lang="fr-FR"/>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2C4B-254B-BC22-D2F149C36446}"/>
                </c:ext>
              </c:extLst>
            </c:dLbl>
            <c:dLbl>
              <c:idx val="1"/>
              <c:numFmt formatCode="0%" sourceLinked="0"/>
              <c:spPr/>
              <c:txPr>
                <a:bodyPr/>
                <a:lstStyle/>
                <a:p>
                  <a:pPr>
                    <a:defRPr sz="1200" b="0" i="0" u="none" strike="noStrike">
                      <a:solidFill>
                        <a:srgbClr val="0F172A"/>
                      </a:solidFill>
                      <a:latin typeface="Arial"/>
                    </a:defRPr>
                  </a:pPr>
                  <a:endParaRPr lang="fr-FR"/>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2C4B-254B-BC22-D2F149C36446}"/>
                </c:ext>
              </c:extLst>
            </c:dLbl>
            <c:dLbl>
              <c:idx val="2"/>
              <c:numFmt formatCode="0%" sourceLinked="0"/>
              <c:spPr/>
              <c:txPr>
                <a:bodyPr/>
                <a:lstStyle/>
                <a:p>
                  <a:pPr>
                    <a:defRPr sz="1200" b="0" i="0" u="none" strike="noStrike">
                      <a:solidFill>
                        <a:srgbClr val="0F172A"/>
                      </a:solidFill>
                      <a:latin typeface="Arial"/>
                    </a:defRPr>
                  </a:pPr>
                  <a:endParaRPr lang="fr-FR"/>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2C4B-254B-BC22-D2F149C36446}"/>
                </c:ext>
              </c:extLst>
            </c:dLbl>
            <c:dLbl>
              <c:idx val="3"/>
              <c:numFmt formatCode="0%" sourceLinked="0"/>
              <c:spPr/>
              <c:txPr>
                <a:bodyPr/>
                <a:lstStyle/>
                <a:p>
                  <a:pPr>
                    <a:defRPr sz="1200" b="0" i="0" u="none" strike="noStrike">
                      <a:solidFill>
                        <a:srgbClr val="0F172A"/>
                      </a:solidFill>
                      <a:latin typeface="Arial"/>
                    </a:defRPr>
                  </a:pPr>
                  <a:endParaRPr lang="fr-FR"/>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2C4B-254B-BC22-D2F149C36446}"/>
                </c:ext>
              </c:extLst>
            </c:dLbl>
            <c:numFmt formatCode="0%" sourceLinked="0"/>
            <c:spPr>
              <a:noFill/>
              <a:ln>
                <a:noFill/>
              </a:ln>
              <a:effectLst/>
            </c:spPr>
            <c:txPr>
              <a:bodyPr/>
              <a:lstStyle/>
              <a:p>
                <a:pPr>
                  <a:defRPr sz="1800" b="0" i="0" u="none" strike="noStrike">
                    <a:solidFill>
                      <a:srgbClr val="000000"/>
                    </a:solidFill>
                    <a:latin typeface="Arial"/>
                  </a:defRPr>
                </a:pPr>
                <a:endParaRPr lang="fr-FR"/>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Sheet1!$A$2:$A$5</c:f>
              <c:strCache>
                <c:ptCount val="4"/>
                <c:pt idx="0">
                  <c:v>R&amp;D &amp; Produit</c:v>
                </c:pt>
                <c:pt idx="1">
                  <c:v>Équipe &amp; recrutement</c:v>
                </c:pt>
                <c:pt idx="2">
                  <c:v>Infrastructure &amp; sécurité</c:v>
                </c:pt>
                <c:pt idx="3">
                  <c:v>Go-To-Market &amp; Consultants</c:v>
                </c:pt>
              </c:strCache>
            </c:strRef>
          </c:cat>
          <c:val>
            <c:numRef>
              <c:f>Sheet1!$B$2:$B$5</c:f>
              <c:numCache>
                <c:formatCode>General</c:formatCode>
                <c:ptCount val="4"/>
                <c:pt idx="0">
                  <c:v>30</c:v>
                </c:pt>
                <c:pt idx="1">
                  <c:v>30</c:v>
                </c:pt>
                <c:pt idx="2">
                  <c:v>25</c:v>
                </c:pt>
                <c:pt idx="3">
                  <c:v>15</c:v>
                </c:pt>
              </c:numCache>
            </c:numRef>
          </c:val>
          <c:extLst>
            <c:ext xmlns:c16="http://schemas.microsoft.com/office/drawing/2014/chart" uri="{C3380CC4-5D6E-409C-BE32-E72D297353CC}">
              <c16:uniqueId val="{00000008-2C4B-254B-BC22-D2F149C36446}"/>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txPr>
        <a:bodyPr/>
        <a:lstStyle/>
        <a:p>
          <a:pPr>
            <a:defRPr sz="900">
              <a:solidFill>
                <a:srgbClr val="374151"/>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631127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en-US" dirty="0"/>
              <a:t>Bonjour, merci de nous recevoir. Nous sommes C4RBON Group, et nous avons créé KINN : la plateforme no-code qui reconnecte les outils des entreprises, automatise leurs processus et intègre l'IA de manière opérationnelle.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en-US" dirty="0"/>
              <a:t>Notre histoire commence en 2021 avec i55. Nous étions spécialisés dans l'interopérabilité industrielle, et très vite nous avons constaté que les entreprises souffraient toutes de la même chose : leurs outils ne se parlaient pas. Entre 2021 et 2023, nous avons développé des dizaines de solutions sur mesure. En parallèle, nous avons intégré l'IA. Et en 2024-25, nous avons tout consolidé dans KINN.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en-US" dirty="0"/>
              <a:t>Avant même de parler de technologie, parlons du coût humain. Dans toutes les entreprises que nous accompagnons, les équipes doivent compenser le manque d'interopérabilité par du manuel. Copier-coller, ressaisies, mails internes… Ce sont des tâches répétitives qui génèrent un risque d'erreur énorme. Au total, 10 à 12 heures perdues par collaborateur et par semaine.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en-US" dirty="0"/>
              <a:t>Voici le problème de base : chaque entreprise utilise entre 5 et 10 outils, mais aucun ne communique réellement avec les autres. ERP, CRM, fichiers, mails, IoT… tout fonctionne en parallèle. La donnée se brise en morceaux et l'entreprise perd la vision globale. C'est le cœur du chaos que KINN vient résoudre.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en-US" dirty="0"/>
              <a:t>Les entreprises ne sont pas bloquées parce qu'elles manquent d'outils. Elles sont bloquées parce que leurs outils ne se parlent pas. Cela crée une pyramide de problèmes : à la base, l'absence d'interopérabilité, au-dessus des silos, puis du travail manuel, du stress et des erreurs, et au sommet un impact business direct.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en-US" dirty="0"/>
              <a:t>KINN n'est pas un outil de plus, c'est la couche qui manque au système d'information actuel. Elle reconnecte, standardise et automatise l'entreprise, puis génère les interfaces qui rendent les process visibles et utilisables par tous. Résultat : moins de silos, moins de manuels, plus de contrôle, et une adoption immédiate par les métiers.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en-US" dirty="0"/>
              <a:t>La force de KINN, c'est que l'utilisateur n'a pas besoin de compétences techniques. Il décrit simplement le besoin. En quelques secondes, KINN génère le formulaire, la logique métier, les intégrations et les notifications automatiques.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en-US" dirty="0"/>
              <a:t>KINN est structuré en 4 couches : connectivité universelle, transformation des données, orchestration des workflows, et gouvernance. Chaque couche apporte une valeur précise et s'appuie sur la précédente.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en-US" dirty="0"/>
              <a:t>Voici quatre cas d'usage réels où KINN crée une valeur immédiate. Dans l'industrie, nous réduisons les temps de détection de 45 minutes à 8 minutes. Dans l'IT, la plateforme divise le temps de résolution par deux. En finance, un devis passe de 15 à 2 minutes. Ce sont des exemples parmi des dizaines, mais ils prouvent que KINN automatise ce qui coûte du temps.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en-US" dirty="0"/>
              <a:t>Nos 5 cibles principales couvrent l'ensemble de la chaîne de valeur. Du dirigeant TPE qui gère tout seul au DSI qui cherche une plateforme gouvernée, en passant par l'industrie et les consultants IT qui deviennent nos distributeurs. Chaque persona a des besoins spécifiques mais tous convergent vers la même solution : automatiser, connecter, </a:t>
            </a:r>
            <a:r>
              <a:rPr lang="en-US"/>
              <a:t>piloter - </a:t>
            </a:r>
            <a:r>
              <a:rPr lang="en-US" dirty="0"/>
              <a:t>sans coder.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en-US" dirty="0"/>
              <a:t>KINN connecte trois mondes : les entreprises qui ont des besoins d'automatisation, la plateforme KINN qui fournit les outils low-code et l'IA, et les experts (consultants, intégrateurs, ESN) qui déploient les solutions. C'est un écosystème complet, pas juste un outil. La marketplace crée un effet réseau puissant : plus d'experts → plus de solutions → plus d'entreprises → plus d'experts.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en-US" dirty="0"/>
              <a:t>La force de KINN, c'est que l'utilisateur n'a pas besoin de compétences techniques. Il décrit simplement le besoin. En quelques secondes, KINN génère le formulaire, la logique métier, l'intégration Google Sheets et les notifications automatiques. Ce qui demandait une demi-journée se fait maintenant en quelques minutes, sans code.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en-US" dirty="0"/>
              <a:t>KINN n'est pas un outil no-code classique. C'est une plateforme complète : connectivité profonde, moteur d'orchestration intelligent, transformation des données, et génération d'interfaces. Elle s'intègre dans les environnements existants.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en-US" dirty="0"/>
              <a:t>La plateforme fonctionne déjà. Aujourd'hui, nous finalisons 4 chantiers majeurs : le serveur MCP, l'import n8n/Make, la Data Fusion Engine, et la plateforme SaaS multi-niveaux avec espaces consultants et marketplace.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en-US" dirty="0"/>
              <a:t>Je suis Edouard, fondateur et CEO, formé à l'École 42 Lyon, avec plus de cinq années d'expérience dans l'intégration d'ERP, d'IoT, d'automates industriels et d'applications SaaS. C'est ce vécu terrain qui a donné naissance à KINN. Je suis accompagné de Pierre Nahon, ancien banquier, qui assure notre structuration financière et administrative.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en-US" dirty="0"/>
              <a:t>Voici l'organisation de C4RBON Group. Je dirige la partie produit, technique et R&amp;D IA. Nous sommes accompagnés d'un CTO Aurélien qui structure l'architecture, et de Mathéo en apprentissage. Caroline opère la fonction commerciale. Sur le plan stratégique, Jérôme Joly nous accompagne sur la KINN Academy et Nicolas Gitton apporte son expertise supply chain industrielle.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en-US" dirty="0"/>
              <a:t>Le paysage actuel est riche mais fragmenté : Zapier et Make automatisent mais restent invisibles, n8n est puissant mais trop technique, Retool crée des interfaces mais ne gère pas les workflows. Aucune solution n'unifie automatisation, interface, interopérabilité machine/ERP, IA opérationnelle et on-prem. C'est exactement ce que fait KINN.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en-US" dirty="0"/>
              <a:t>Sur ces 6 axes, KINN est le seul acteur à couvrir l'ensemble du spectre. Même les meilleurs acteurs ne couvrent que 1 à 4 axes, rarement 5. Cette couverture globale est précisément ce qui fait de KINN non pas un outil, mais une plateforme unifiée.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en-US" dirty="0"/>
              <a:t>Si on compare KINN à n8n, ce ne sont pas les mêmes produits. n8n est excellent pour les profils techniques, un couteau suisse DevOps. Mais il reste invisible, très orienté JSON, sans interface, sans normalisation data, sans interop industrielle et sans IA native. KINN va plus loin : nous unifions la donnée, les applications, les machines, les workflows et l'IA dans un seul système.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en-US" dirty="0"/>
              <a:t>Le marché global des solutions d'automatisation et de no-code est colossal, avec des estimations allant de 80 à près de 200 milliards de dollars à horizon 2030. Notre objectif est de construire, sur 36 mois, un socle de 10 à 30 millions d'euros de revenus récurrents, via les consultants et la marketplace.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en-US" dirty="0"/>
              <a:t>Tous les signaux convergent : les organisations basculent massivement vers le low-code / no-code, l'industrie l'a déjà adopté, les entreprises perdent encore 30% de leur temps dans du manuel, et une partie énorme des PME françaises n'est pas encore correctement digitalisée. KINN arrive exactement au bon moment.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en-US" dirty="0"/>
              <a:t>On attaque stratégiquement par les secteurs où le ROI est immédiat. L'industrie nous donne un levier d'entrée massif, l'IT donne de la récurrence, et le back-office apporte le volume. Les consultants sont notre moteur de distribution.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en-US" dirty="0"/>
              <a:t>Nous n'avons pas construit une stratégie basée sur la publicité. Le cœur du modèle repose sur les consultants terrain, prescripteurs naturels auprès des PME. Nous les recrutons, les formons, puis ils utilisent KINN comme outil de production. Chaque projet génère un abonnement récurrent et souvent une recommandation d'un autre consultant.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en-US" dirty="0"/>
              <a:t>Notre modèle est construit en 5 piliers. Le SaaS Cloud est la base : simple, récurrent, prévisible. L'On-Prem adresse les secteurs sensibles. La marketplace crée un effet réseau puissant avec les consultants. Les services accélèrent l'adoption. Et la formation, via la KINN Academy, certifie des consultants et des ESN.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en-US" dirty="0"/>
              <a:t>Simulation réaliste avec churn intégré. Paramètres : 18 recrues/an base (+30%/an), ramp 2 mois, activité 72%, max 10 clients/consultant. Churn consultant 1,8%/mois (~20%/an</a:t>
            </a:r>
            <a:r>
              <a:rPr lang="en-US"/>
              <a:t>) - </a:t>
            </a:r>
            <a:r>
              <a:rPr lang="en-US" dirty="0"/>
              <a:t>40% partent avec tous leurs clients, 30% rétention partielle (50% des clients récupérés en pool). Churn client 1,5%/mois sur les attachés, pool protégé (×0,25). Recommandation 55% conversion après 12 projets. Résultat net après churn : 142 consultants actifs et 1 225 clients fin 2029, cohérent avec le prévisionnel financier.</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en-US" dirty="0"/>
              <a:t>Les chiffres reposent sur un modèle volontairement prudent. L'objectif est une croissance réaliste, maîtrisée et reproductible, basée sur le terrain. Le moteur principal est un réseau de consultants partenaires, intégrés progressivement.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en-US" dirty="0"/>
              <a:t>La roadmap est cohérente avec le prévisionnel. L'année 1 industrialise le produit, pose l'architecture MCP et lance le go-to-market sur BFC. L'année 2 stabilise la croissance, introduit l'IA locale et étend le marché à toute la France. L'année 3 capitalise sur la marketplace et l'internationalisation ciblée.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en-US" dirty="0"/>
              <a:t>Notre prévisionnel montre un creux de trésorerie maximum autour de -47 k€. Pour être prudents et pour accélérer, nous cherchons 150 k€. L'idée est de sécuriser la trésorerie, financer la R&amp;D sur l'IA locale, le MCP, les connecteurs, et accélérer notre go-to-market via les consultants et la marketplace.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en-US" dirty="0"/>
              <a:t>KINN réunit tout ce qui manque aujourd'hui aux entreprises : la connectivité entre leurs outils, l'automatisation réelle, l'IA opérationnelle, et la visibilité métier. Nous avons une technologie unique, une roadmap solide, un business model scalable, un réseau de consultants, et un marché immense devant nous. Merci.</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2.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8.png"/><Relationship Id="rId7"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2.png"/><Relationship Id="rId11" Type="http://schemas.openxmlformats.org/officeDocument/2006/relationships/image" Target="../media/image24.png"/><Relationship Id="rId5" Type="http://schemas.openxmlformats.org/officeDocument/2006/relationships/image" Target="../media/image20.png"/><Relationship Id="rId10" Type="http://schemas.openxmlformats.org/officeDocument/2006/relationships/image" Target="../media/image23.png"/><Relationship Id="rId4" Type="http://schemas.openxmlformats.org/officeDocument/2006/relationships/image" Target="../media/image1.png"/><Relationship Id="rId9" Type="http://schemas.openxmlformats.org/officeDocument/2006/relationships/image" Target="../media/image2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25.png"/><Relationship Id="rId7"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6.png"/><Relationship Id="rId10" Type="http://schemas.openxmlformats.org/officeDocument/2006/relationships/image" Target="../media/image26.png"/><Relationship Id="rId4" Type="http://schemas.openxmlformats.org/officeDocument/2006/relationships/image" Target="../media/image12.png"/><Relationship Id="rId9" Type="http://schemas.openxmlformats.org/officeDocument/2006/relationships/image" Target="../media/image13.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chart" Target="../charts/chart2.xml"/><Relationship Id="rId7"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17.png"/><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22.png"/><Relationship Id="rId4" Type="http://schemas.openxmlformats.org/officeDocument/2006/relationships/image" Target="../media/image34.png"/></Relationships>
</file>

<file path=ppt/slides/_rels/slide2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677FF"/>
          </a:solidFill>
          <a:ln/>
        </p:spPr>
        <p:txBody>
          <a:bodyPr/>
          <a:lstStyle/>
          <a:p>
            <a:endParaRPr lang="fr-FR"/>
          </a:p>
        </p:txBody>
      </p:sp>
      <p:pic>
        <p:nvPicPr>
          <p:cNvPr id="3" name="Image 0" descr="preencoded.png"/>
          <p:cNvPicPr>
            <a:picLocks noChangeAspect="1"/>
          </p:cNvPicPr>
          <p:nvPr/>
        </p:nvPicPr>
        <p:blipFill>
          <a:blip r:embed="rId3"/>
          <a:stretch>
            <a:fillRect/>
          </a:stretch>
        </p:blipFill>
        <p:spPr>
          <a:xfrm>
            <a:off x="3332480" y="1156716"/>
            <a:ext cx="2479040" cy="1280160"/>
          </a:xfrm>
          <a:prstGeom prst="rect">
            <a:avLst/>
          </a:prstGeom>
        </p:spPr>
      </p:pic>
      <p:sp>
        <p:nvSpPr>
          <p:cNvPr id="4" name="Text 1"/>
          <p:cNvSpPr/>
          <p:nvPr/>
        </p:nvSpPr>
        <p:spPr>
          <a:xfrm>
            <a:off x="1828800" y="2560320"/>
            <a:ext cx="5486400" cy="822960"/>
          </a:xfrm>
          <a:prstGeom prst="rect">
            <a:avLst/>
          </a:prstGeom>
          <a:noFill/>
          <a:ln/>
        </p:spPr>
        <p:txBody>
          <a:bodyPr wrap="square" lIns="0" tIns="0" rIns="0" bIns="0" rtlCol="0" anchor="ctr"/>
          <a:lstStyle/>
          <a:p>
            <a:pPr marL="0" indent="0" algn="ctr">
              <a:buNone/>
            </a:pPr>
            <a:r>
              <a:rPr lang="en-US" sz="5600" b="1" dirty="0">
                <a:solidFill>
                  <a:srgbClr val="0F172A"/>
                </a:solidFill>
                <a:latin typeface="Poppins" pitchFamily="34" charset="0"/>
                <a:ea typeface="Poppins" pitchFamily="34" charset="-122"/>
                <a:cs typeface="Poppins" pitchFamily="34" charset="-120"/>
              </a:rPr>
              <a:t>KINN</a:t>
            </a:r>
            <a:endParaRPr lang="en-US" sz="5600" dirty="0"/>
          </a:p>
        </p:txBody>
      </p:sp>
      <p:sp>
        <p:nvSpPr>
          <p:cNvPr id="5" name="Text 2"/>
          <p:cNvSpPr/>
          <p:nvPr/>
        </p:nvSpPr>
        <p:spPr>
          <a:xfrm>
            <a:off x="1828800" y="3383280"/>
            <a:ext cx="5486400" cy="457200"/>
          </a:xfrm>
          <a:prstGeom prst="rect">
            <a:avLst/>
          </a:prstGeom>
          <a:noFill/>
          <a:ln/>
        </p:spPr>
        <p:txBody>
          <a:bodyPr wrap="square" lIns="0" tIns="0" rIns="0" bIns="0" rtlCol="0" anchor="ctr"/>
          <a:lstStyle/>
          <a:p>
            <a:pPr marL="0" indent="0" algn="ctr">
              <a:buNone/>
            </a:pPr>
            <a:r>
              <a:rPr lang="en-US" sz="1800" dirty="0">
                <a:solidFill>
                  <a:srgbClr val="374151"/>
                </a:solidFill>
                <a:latin typeface="Poppins" pitchFamily="34" charset="0"/>
                <a:ea typeface="Poppins" pitchFamily="34" charset="-122"/>
                <a:cs typeface="Poppins" pitchFamily="34" charset="-120"/>
              </a:rPr>
              <a:t>Votre écosystème connecté, automatisé, intelligent.</a:t>
            </a:r>
            <a:endParaRPr lang="en-US" sz="1800" dirty="0"/>
          </a:p>
        </p:txBody>
      </p:sp>
      <p:sp>
        <p:nvSpPr>
          <p:cNvPr id="6" name="Text 3"/>
          <p:cNvSpPr/>
          <p:nvPr/>
        </p:nvSpPr>
        <p:spPr>
          <a:xfrm>
            <a:off x="1828800" y="3931920"/>
            <a:ext cx="5486400" cy="548640"/>
          </a:xfrm>
          <a:prstGeom prst="rect">
            <a:avLst/>
          </a:prstGeom>
          <a:noFill/>
          <a:ln/>
        </p:spPr>
        <p:txBody>
          <a:bodyPr wrap="square" lIns="0" tIns="0" rIns="0" bIns="0" rtlCol="0" anchor="ctr"/>
          <a:lstStyle/>
          <a:p>
            <a:pPr marL="0" indent="0" algn="ctr">
              <a:lnSpc>
                <a:spcPct val="140000"/>
              </a:lnSpc>
              <a:buNone/>
            </a:pPr>
            <a:r>
              <a:rPr lang="en-US" sz="1200" dirty="0">
                <a:solidFill>
                  <a:srgbClr val="6B7280"/>
                </a:solidFill>
                <a:latin typeface="Poppins" pitchFamily="34" charset="0"/>
                <a:ea typeface="Poppins" pitchFamily="34" charset="-122"/>
                <a:cs typeface="Poppins" pitchFamily="34" charset="-120"/>
              </a:rPr>
              <a:t>La plateforme no-code qui reconnecte vos outils,</a:t>
            </a:r>
            <a:endParaRPr lang="en-US" sz="1200" dirty="0"/>
          </a:p>
          <a:p>
            <a:pPr marL="0" indent="0" algn="ctr">
              <a:lnSpc>
                <a:spcPct val="140000"/>
              </a:lnSpc>
              <a:buNone/>
            </a:pPr>
            <a:r>
              <a:rPr lang="en-US" sz="1200" dirty="0">
                <a:solidFill>
                  <a:srgbClr val="6B7280"/>
                </a:solidFill>
                <a:latin typeface="Poppins" pitchFamily="34" charset="0"/>
                <a:ea typeface="Poppins" pitchFamily="34" charset="-122"/>
                <a:cs typeface="Poppins" pitchFamily="34" charset="-120"/>
              </a:rPr>
              <a:t>automatise vos processus et libère vos équipes.</a:t>
            </a:r>
            <a:endParaRPr lang="en-US" sz="1200" dirty="0"/>
          </a:p>
        </p:txBody>
      </p:sp>
      <p:sp>
        <p:nvSpPr>
          <p:cNvPr id="7" name="Text 4"/>
          <p:cNvSpPr/>
          <p:nvPr/>
        </p:nvSpPr>
        <p:spPr>
          <a:xfrm>
            <a:off x="2743200" y="4709160"/>
            <a:ext cx="3657600" cy="274320"/>
          </a:xfrm>
          <a:prstGeom prst="rect">
            <a:avLst/>
          </a:prstGeom>
          <a:noFill/>
          <a:ln/>
        </p:spPr>
        <p:txBody>
          <a:bodyPr wrap="square" lIns="0" tIns="0" rIns="0" bIns="0" rtlCol="0" anchor="ctr"/>
          <a:lstStyle/>
          <a:p>
            <a:pPr marL="0" indent="0" algn="ctr">
              <a:buNone/>
            </a:pPr>
            <a:r>
              <a:rPr lang="en-US" sz="1000" dirty="0">
                <a:solidFill>
                  <a:srgbClr val="9CA3AF"/>
                </a:solidFill>
                <a:latin typeface="Poppins" pitchFamily="34" charset="0"/>
                <a:ea typeface="Poppins" pitchFamily="34" charset="-122"/>
                <a:cs typeface="Poppins" pitchFamily="34" charset="-120"/>
              </a:rPr>
              <a:t>C4RBON Group  |  2026</a:t>
            </a:r>
            <a:endParaRPr lang="en-US" sz="1000" dirty="0"/>
          </a:p>
        </p:txBody>
      </p:sp>
      <p:sp>
        <p:nvSpPr>
          <p:cNvPr id="8" name="Text 5"/>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900" dirty="0">
                <a:solidFill>
                  <a:srgbClr val="9CA3AF"/>
                </a:solidFill>
                <a:latin typeface="Poppins" pitchFamily="34" charset="0"/>
                <a:ea typeface="Poppins" pitchFamily="34" charset="-122"/>
                <a:cs typeface="Poppin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8229600" cy="548640"/>
          </a:xfrm>
          <a:prstGeom prst="rect">
            <a:avLst/>
          </a:prstGeom>
          <a:noFill/>
          <a:ln/>
        </p:spPr>
        <p:txBody>
          <a:bodyPr wrap="square" lIns="0" tIns="0" rIns="0" bIns="0" rtlCol="0" anchor="ctr"/>
          <a:lstStyle/>
          <a:p>
            <a:pPr marL="0" indent="0">
              <a:buNone/>
            </a:pPr>
            <a:r>
              <a:rPr lang="en-US" sz="3000" b="1" dirty="0">
                <a:solidFill>
                  <a:srgbClr val="0F172A"/>
                </a:solidFill>
                <a:latin typeface="Poppins" pitchFamily="34" charset="0"/>
                <a:ea typeface="Poppins" pitchFamily="34" charset="-122"/>
                <a:cs typeface="Poppins" pitchFamily="34" charset="-120"/>
              </a:rPr>
              <a:t>Qui sommes-nous ?</a:t>
            </a:r>
            <a:endParaRPr lang="en-US" sz="3000" dirty="0"/>
          </a:p>
        </p:txBody>
      </p:sp>
      <p:sp>
        <p:nvSpPr>
          <p:cNvPr id="3" name="Text 1"/>
          <p:cNvSpPr/>
          <p:nvPr/>
        </p:nvSpPr>
        <p:spPr>
          <a:xfrm>
            <a:off x="640080" y="914400"/>
            <a:ext cx="7315200" cy="320040"/>
          </a:xfrm>
          <a:prstGeom prst="rect">
            <a:avLst/>
          </a:prstGeom>
          <a:noFill/>
          <a:ln/>
        </p:spPr>
        <p:txBody>
          <a:bodyPr wrap="square" lIns="0" tIns="0" rIns="0" bIns="0" rtlCol="0" anchor="ctr"/>
          <a:lstStyle/>
          <a:p>
            <a:pPr marL="0" indent="0">
              <a:buNone/>
            </a:pPr>
            <a:r>
              <a:rPr lang="en-US" sz="1200" dirty="0">
                <a:solidFill>
                  <a:srgbClr val="6B7280"/>
                </a:solidFill>
                <a:latin typeface="Poppins" pitchFamily="34" charset="0"/>
                <a:ea typeface="Poppins" pitchFamily="34" charset="-122"/>
                <a:cs typeface="Poppins" pitchFamily="34" charset="-120"/>
              </a:rPr>
              <a:t>4 ans pour transformer des intégrations sur mesure en une plateforme unifiée</a:t>
            </a:r>
            <a:endParaRPr lang="en-US" sz="1200" dirty="0"/>
          </a:p>
        </p:txBody>
      </p:sp>
      <p:sp>
        <p:nvSpPr>
          <p:cNvPr id="4" name="Shape 2"/>
          <p:cNvSpPr/>
          <p:nvPr/>
        </p:nvSpPr>
        <p:spPr>
          <a:xfrm>
            <a:off x="1691640" y="2331720"/>
            <a:ext cx="5760720" cy="0"/>
          </a:xfrm>
          <a:prstGeom prst="line">
            <a:avLst/>
          </a:prstGeom>
          <a:noFill/>
          <a:ln w="25400">
            <a:solidFill>
              <a:srgbClr val="E5E7EB"/>
            </a:solidFill>
            <a:prstDash val="solid"/>
          </a:ln>
        </p:spPr>
        <p:txBody>
          <a:bodyPr/>
          <a:lstStyle/>
          <a:p>
            <a:endParaRPr lang="fr-FR"/>
          </a:p>
        </p:txBody>
      </p:sp>
      <p:sp>
        <p:nvSpPr>
          <p:cNvPr id="5" name="Shape 3"/>
          <p:cNvSpPr/>
          <p:nvPr/>
        </p:nvSpPr>
        <p:spPr>
          <a:xfrm>
            <a:off x="1581912" y="2221992"/>
            <a:ext cx="219456" cy="219456"/>
          </a:xfrm>
          <a:prstGeom prst="ellipse">
            <a:avLst/>
          </a:prstGeom>
          <a:solidFill>
            <a:srgbClr val="1677FF"/>
          </a:solidFill>
          <a:ln/>
        </p:spPr>
        <p:txBody>
          <a:bodyPr/>
          <a:lstStyle/>
          <a:p>
            <a:endParaRPr lang="fr-FR"/>
          </a:p>
        </p:txBody>
      </p:sp>
      <p:sp>
        <p:nvSpPr>
          <p:cNvPr id="6" name="Text 4"/>
          <p:cNvSpPr/>
          <p:nvPr/>
        </p:nvSpPr>
        <p:spPr>
          <a:xfrm>
            <a:off x="822960" y="1737360"/>
            <a:ext cx="1737360" cy="320040"/>
          </a:xfrm>
          <a:prstGeom prst="rect">
            <a:avLst/>
          </a:prstGeom>
          <a:noFill/>
          <a:ln/>
        </p:spPr>
        <p:txBody>
          <a:bodyPr wrap="square" lIns="0" tIns="0" rIns="0" bIns="0" rtlCol="0" anchor="ctr"/>
          <a:lstStyle/>
          <a:p>
            <a:pPr marL="0" indent="0" algn="ctr">
              <a:buNone/>
            </a:pPr>
            <a:r>
              <a:rPr lang="en-US" sz="1400" b="1" dirty="0">
                <a:solidFill>
                  <a:srgbClr val="1677FF"/>
                </a:solidFill>
                <a:latin typeface="Poppins" pitchFamily="34" charset="0"/>
                <a:ea typeface="Poppins" pitchFamily="34" charset="-122"/>
                <a:cs typeface="Poppins" pitchFamily="34" charset="-120"/>
              </a:rPr>
              <a:t>2021</a:t>
            </a:r>
            <a:endParaRPr lang="en-US" sz="1400" dirty="0"/>
          </a:p>
        </p:txBody>
      </p:sp>
      <p:sp>
        <p:nvSpPr>
          <p:cNvPr id="7" name="Shape 5"/>
          <p:cNvSpPr/>
          <p:nvPr/>
        </p:nvSpPr>
        <p:spPr>
          <a:xfrm>
            <a:off x="822960" y="2651760"/>
            <a:ext cx="1737360" cy="1463040"/>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8" name="Text 6"/>
          <p:cNvSpPr/>
          <p:nvPr/>
        </p:nvSpPr>
        <p:spPr>
          <a:xfrm>
            <a:off x="914400" y="2743200"/>
            <a:ext cx="1554480" cy="274320"/>
          </a:xfrm>
          <a:prstGeom prst="rect">
            <a:avLst/>
          </a:prstGeom>
          <a:noFill/>
          <a:ln/>
        </p:spPr>
        <p:txBody>
          <a:bodyPr wrap="square" lIns="0" tIns="0" rIns="0" bIns="0" rtlCol="0" anchor="ctr"/>
          <a:lstStyle/>
          <a:p>
            <a:pPr marL="0" indent="0">
              <a:buNone/>
            </a:pPr>
            <a:r>
              <a:rPr lang="en-US" sz="1100" b="1" dirty="0">
                <a:solidFill>
                  <a:srgbClr val="0F172A"/>
                </a:solidFill>
                <a:latin typeface="Poppins" pitchFamily="34" charset="0"/>
                <a:ea typeface="Poppins" pitchFamily="34" charset="-122"/>
                <a:cs typeface="Poppins" pitchFamily="34" charset="-120"/>
              </a:rPr>
              <a:t>Création i55</a:t>
            </a:r>
            <a:endParaRPr lang="en-US" sz="1100" dirty="0"/>
          </a:p>
        </p:txBody>
      </p:sp>
      <p:sp>
        <p:nvSpPr>
          <p:cNvPr id="9" name="Text 7"/>
          <p:cNvSpPr/>
          <p:nvPr/>
        </p:nvSpPr>
        <p:spPr>
          <a:xfrm>
            <a:off x="914400" y="3063240"/>
            <a:ext cx="1554480" cy="914400"/>
          </a:xfrm>
          <a:prstGeom prst="rect">
            <a:avLst/>
          </a:prstGeom>
          <a:noFill/>
          <a:ln/>
        </p:spPr>
        <p:txBody>
          <a:bodyPr wrap="square" lIns="0" tIns="0" rIns="0" bIns="0" rtlCol="0" anchor="ctr"/>
          <a:lstStyle/>
          <a:p>
            <a:pPr marL="0" indent="0">
              <a:lnSpc>
                <a:spcPct val="130000"/>
              </a:lnSpc>
              <a:buNone/>
            </a:pPr>
            <a:r>
              <a:rPr lang="en-US" sz="900" dirty="0">
                <a:solidFill>
                  <a:srgbClr val="374151"/>
                </a:solidFill>
                <a:latin typeface="Poppins" pitchFamily="34" charset="0"/>
                <a:ea typeface="Poppins" pitchFamily="34" charset="-122"/>
                <a:cs typeface="Poppins" pitchFamily="34" charset="-120"/>
              </a:rPr>
              <a:t>Résoudre un problème réel :</a:t>
            </a:r>
            <a:endParaRPr lang="en-US" sz="900" dirty="0"/>
          </a:p>
          <a:p>
            <a:pPr marL="0" indent="0">
              <a:lnSpc>
                <a:spcPct val="130000"/>
              </a:lnSpc>
              <a:buNone/>
            </a:pPr>
            <a:r>
              <a:rPr lang="en-US" sz="900" dirty="0">
                <a:solidFill>
                  <a:srgbClr val="374151"/>
                </a:solidFill>
                <a:latin typeface="Poppins" pitchFamily="34" charset="0"/>
                <a:ea typeface="Poppins" pitchFamily="34" charset="-122"/>
                <a:cs typeface="Poppins" pitchFamily="34" charset="-120"/>
              </a:rPr>
              <a:t>les outils ne communiquent pas.</a:t>
            </a:r>
            <a:endParaRPr lang="en-US" sz="900" dirty="0"/>
          </a:p>
        </p:txBody>
      </p:sp>
      <p:sp>
        <p:nvSpPr>
          <p:cNvPr id="10" name="Shape 8"/>
          <p:cNvSpPr/>
          <p:nvPr/>
        </p:nvSpPr>
        <p:spPr>
          <a:xfrm>
            <a:off x="3502152" y="2221992"/>
            <a:ext cx="219456" cy="219456"/>
          </a:xfrm>
          <a:prstGeom prst="ellipse">
            <a:avLst/>
          </a:prstGeom>
          <a:solidFill>
            <a:srgbClr val="1677FF"/>
          </a:solidFill>
          <a:ln/>
        </p:spPr>
        <p:txBody>
          <a:bodyPr/>
          <a:lstStyle/>
          <a:p>
            <a:endParaRPr lang="fr-FR"/>
          </a:p>
        </p:txBody>
      </p:sp>
      <p:sp>
        <p:nvSpPr>
          <p:cNvPr id="11" name="Text 9"/>
          <p:cNvSpPr/>
          <p:nvPr/>
        </p:nvSpPr>
        <p:spPr>
          <a:xfrm>
            <a:off x="2743200" y="1737360"/>
            <a:ext cx="1737360" cy="320040"/>
          </a:xfrm>
          <a:prstGeom prst="rect">
            <a:avLst/>
          </a:prstGeom>
          <a:noFill/>
          <a:ln/>
        </p:spPr>
        <p:txBody>
          <a:bodyPr wrap="square" lIns="0" tIns="0" rIns="0" bIns="0" rtlCol="0" anchor="ctr"/>
          <a:lstStyle/>
          <a:p>
            <a:pPr marL="0" indent="0" algn="ctr">
              <a:buNone/>
            </a:pPr>
            <a:r>
              <a:rPr lang="en-US" sz="1400" b="1" dirty="0">
                <a:solidFill>
                  <a:srgbClr val="1677FF"/>
                </a:solidFill>
                <a:latin typeface="Poppins" pitchFamily="34" charset="0"/>
                <a:ea typeface="Poppins" pitchFamily="34" charset="-122"/>
                <a:cs typeface="Poppins" pitchFamily="34" charset="-120"/>
              </a:rPr>
              <a:t>2022-23</a:t>
            </a:r>
            <a:endParaRPr lang="en-US" sz="1400" dirty="0"/>
          </a:p>
        </p:txBody>
      </p:sp>
      <p:sp>
        <p:nvSpPr>
          <p:cNvPr id="12" name="Shape 10"/>
          <p:cNvSpPr/>
          <p:nvPr/>
        </p:nvSpPr>
        <p:spPr>
          <a:xfrm>
            <a:off x="2743200" y="2651760"/>
            <a:ext cx="1737360" cy="1463040"/>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13" name="Text 11"/>
          <p:cNvSpPr/>
          <p:nvPr/>
        </p:nvSpPr>
        <p:spPr>
          <a:xfrm>
            <a:off x="2834640" y="2743200"/>
            <a:ext cx="1554480" cy="274320"/>
          </a:xfrm>
          <a:prstGeom prst="rect">
            <a:avLst/>
          </a:prstGeom>
          <a:noFill/>
          <a:ln/>
        </p:spPr>
        <p:txBody>
          <a:bodyPr wrap="square" lIns="0" tIns="0" rIns="0" bIns="0" rtlCol="0" anchor="ctr"/>
          <a:lstStyle/>
          <a:p>
            <a:pPr marL="0" indent="0">
              <a:buNone/>
            </a:pPr>
            <a:r>
              <a:rPr lang="en-US" sz="1100" b="1" dirty="0">
                <a:solidFill>
                  <a:srgbClr val="0F172A"/>
                </a:solidFill>
                <a:latin typeface="Poppins" pitchFamily="34" charset="0"/>
                <a:ea typeface="Poppins" pitchFamily="34" charset="-122"/>
                <a:cs typeface="Poppins" pitchFamily="34" charset="-120"/>
              </a:rPr>
              <a:t>Application terrain</a:t>
            </a:r>
            <a:endParaRPr lang="en-US" sz="1100" dirty="0"/>
          </a:p>
        </p:txBody>
      </p:sp>
      <p:sp>
        <p:nvSpPr>
          <p:cNvPr id="14" name="Text 12"/>
          <p:cNvSpPr/>
          <p:nvPr/>
        </p:nvSpPr>
        <p:spPr>
          <a:xfrm>
            <a:off x="2834640" y="3063240"/>
            <a:ext cx="1554480" cy="914400"/>
          </a:xfrm>
          <a:prstGeom prst="rect">
            <a:avLst/>
          </a:prstGeom>
          <a:noFill/>
          <a:ln/>
        </p:spPr>
        <p:txBody>
          <a:bodyPr wrap="square" lIns="0" tIns="0" rIns="0" bIns="0" rtlCol="0" anchor="ctr"/>
          <a:lstStyle/>
          <a:p>
            <a:pPr marL="0" indent="0">
              <a:lnSpc>
                <a:spcPct val="130000"/>
              </a:lnSpc>
              <a:buNone/>
            </a:pPr>
            <a:r>
              <a:rPr lang="en-US" sz="900" dirty="0">
                <a:solidFill>
                  <a:srgbClr val="374151"/>
                </a:solidFill>
                <a:latin typeface="Poppins" pitchFamily="34" charset="0"/>
                <a:ea typeface="Poppins" pitchFamily="34" charset="-122"/>
                <a:cs typeface="Poppins" pitchFamily="34" charset="-120"/>
              </a:rPr>
              <a:t>Solutions sur mesure pour</a:t>
            </a:r>
            <a:endParaRPr lang="en-US" sz="900" dirty="0"/>
          </a:p>
          <a:p>
            <a:pPr marL="0" indent="0">
              <a:lnSpc>
                <a:spcPct val="130000"/>
              </a:lnSpc>
              <a:buNone/>
            </a:pPr>
            <a:r>
              <a:rPr lang="en-US" sz="900" dirty="0">
                <a:solidFill>
                  <a:srgbClr val="374151"/>
                </a:solidFill>
                <a:latin typeface="Poppins" pitchFamily="34" charset="0"/>
                <a:ea typeface="Poppins" pitchFamily="34" charset="-122"/>
                <a:cs typeface="Poppins" pitchFamily="34" charset="-120"/>
              </a:rPr>
              <a:t>interconnecter et automatiser.</a:t>
            </a:r>
            <a:endParaRPr lang="en-US" sz="900" dirty="0"/>
          </a:p>
        </p:txBody>
      </p:sp>
      <p:sp>
        <p:nvSpPr>
          <p:cNvPr id="15" name="Shape 13"/>
          <p:cNvSpPr/>
          <p:nvPr/>
        </p:nvSpPr>
        <p:spPr>
          <a:xfrm>
            <a:off x="5422392" y="2221992"/>
            <a:ext cx="219456" cy="219456"/>
          </a:xfrm>
          <a:prstGeom prst="ellipse">
            <a:avLst/>
          </a:prstGeom>
          <a:solidFill>
            <a:srgbClr val="F59E0B"/>
          </a:solidFill>
          <a:ln/>
        </p:spPr>
        <p:txBody>
          <a:bodyPr/>
          <a:lstStyle/>
          <a:p>
            <a:endParaRPr lang="fr-FR"/>
          </a:p>
        </p:txBody>
      </p:sp>
      <p:sp>
        <p:nvSpPr>
          <p:cNvPr id="16" name="Text 14"/>
          <p:cNvSpPr/>
          <p:nvPr/>
        </p:nvSpPr>
        <p:spPr>
          <a:xfrm>
            <a:off x="4663440" y="1737360"/>
            <a:ext cx="1737360" cy="320040"/>
          </a:xfrm>
          <a:prstGeom prst="rect">
            <a:avLst/>
          </a:prstGeom>
          <a:noFill/>
          <a:ln/>
        </p:spPr>
        <p:txBody>
          <a:bodyPr wrap="square" lIns="0" tIns="0" rIns="0" bIns="0" rtlCol="0" anchor="ctr"/>
          <a:lstStyle/>
          <a:p>
            <a:pPr marL="0" indent="0" algn="ctr">
              <a:buNone/>
            </a:pPr>
            <a:r>
              <a:rPr lang="en-US" sz="1400" b="1" dirty="0">
                <a:solidFill>
                  <a:srgbClr val="F59E0B"/>
                </a:solidFill>
                <a:latin typeface="Poppins" pitchFamily="34" charset="0"/>
                <a:ea typeface="Poppins" pitchFamily="34" charset="-122"/>
                <a:cs typeface="Poppins" pitchFamily="34" charset="-120"/>
              </a:rPr>
              <a:t>2023</a:t>
            </a:r>
            <a:endParaRPr lang="en-US" sz="1400" dirty="0"/>
          </a:p>
        </p:txBody>
      </p:sp>
      <p:sp>
        <p:nvSpPr>
          <p:cNvPr id="17" name="Shape 15"/>
          <p:cNvSpPr/>
          <p:nvPr/>
        </p:nvSpPr>
        <p:spPr>
          <a:xfrm>
            <a:off x="4663440" y="2651760"/>
            <a:ext cx="1737360" cy="1463040"/>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18" name="Text 16"/>
          <p:cNvSpPr/>
          <p:nvPr/>
        </p:nvSpPr>
        <p:spPr>
          <a:xfrm>
            <a:off x="4754880" y="2743200"/>
            <a:ext cx="1554480" cy="274320"/>
          </a:xfrm>
          <a:prstGeom prst="rect">
            <a:avLst/>
          </a:prstGeom>
          <a:noFill/>
          <a:ln/>
        </p:spPr>
        <p:txBody>
          <a:bodyPr wrap="square" lIns="0" tIns="0" rIns="0" bIns="0" rtlCol="0" anchor="ctr"/>
          <a:lstStyle/>
          <a:p>
            <a:pPr marL="0" indent="0">
              <a:buNone/>
            </a:pPr>
            <a:r>
              <a:rPr lang="en-US" sz="1100" b="1" dirty="0">
                <a:solidFill>
                  <a:srgbClr val="0F172A"/>
                </a:solidFill>
                <a:latin typeface="Poppins" pitchFamily="34" charset="0"/>
                <a:ea typeface="Poppins" pitchFamily="34" charset="-122"/>
                <a:cs typeface="Poppins" pitchFamily="34" charset="-120"/>
              </a:rPr>
              <a:t>Intégration de l'IA</a:t>
            </a:r>
            <a:endParaRPr lang="en-US" sz="1100" dirty="0"/>
          </a:p>
        </p:txBody>
      </p:sp>
      <p:sp>
        <p:nvSpPr>
          <p:cNvPr id="19" name="Text 17"/>
          <p:cNvSpPr/>
          <p:nvPr/>
        </p:nvSpPr>
        <p:spPr>
          <a:xfrm>
            <a:off x="4754880" y="3063240"/>
            <a:ext cx="1554480" cy="914400"/>
          </a:xfrm>
          <a:prstGeom prst="rect">
            <a:avLst/>
          </a:prstGeom>
          <a:noFill/>
          <a:ln/>
        </p:spPr>
        <p:txBody>
          <a:bodyPr wrap="square" lIns="0" tIns="0" rIns="0" bIns="0" rtlCol="0" anchor="ctr"/>
          <a:lstStyle/>
          <a:p>
            <a:pPr marL="0" indent="0">
              <a:lnSpc>
                <a:spcPct val="130000"/>
              </a:lnSpc>
              <a:buNone/>
            </a:pPr>
            <a:r>
              <a:rPr lang="en-US" sz="900" dirty="0">
                <a:solidFill>
                  <a:srgbClr val="374151"/>
                </a:solidFill>
                <a:latin typeface="Poppins" pitchFamily="34" charset="0"/>
                <a:ea typeface="Poppins" pitchFamily="34" charset="-122"/>
                <a:cs typeface="Poppins" pitchFamily="34" charset="-120"/>
              </a:rPr>
              <a:t>L'IA pour comprendre, générer</a:t>
            </a:r>
            <a:endParaRPr lang="en-US" sz="900" dirty="0"/>
          </a:p>
          <a:p>
            <a:pPr marL="0" indent="0">
              <a:lnSpc>
                <a:spcPct val="130000"/>
              </a:lnSpc>
              <a:buNone/>
            </a:pPr>
            <a:r>
              <a:rPr lang="en-US" sz="900" dirty="0">
                <a:solidFill>
                  <a:srgbClr val="374151"/>
                </a:solidFill>
                <a:latin typeface="Poppins" pitchFamily="34" charset="0"/>
                <a:ea typeface="Poppins" pitchFamily="34" charset="-122"/>
                <a:cs typeface="Poppins" pitchFamily="34" charset="-120"/>
              </a:rPr>
              <a:t>et optimiser les processus.</a:t>
            </a:r>
            <a:endParaRPr lang="en-US" sz="900" dirty="0"/>
          </a:p>
        </p:txBody>
      </p:sp>
      <p:sp>
        <p:nvSpPr>
          <p:cNvPr id="20" name="Shape 18"/>
          <p:cNvSpPr/>
          <p:nvPr/>
        </p:nvSpPr>
        <p:spPr>
          <a:xfrm>
            <a:off x="7342632" y="2221992"/>
            <a:ext cx="219456" cy="219456"/>
          </a:xfrm>
          <a:prstGeom prst="ellipse">
            <a:avLst/>
          </a:prstGeom>
          <a:solidFill>
            <a:srgbClr val="16A34A"/>
          </a:solidFill>
          <a:ln/>
        </p:spPr>
        <p:txBody>
          <a:bodyPr/>
          <a:lstStyle/>
          <a:p>
            <a:endParaRPr lang="fr-FR"/>
          </a:p>
        </p:txBody>
      </p:sp>
      <p:sp>
        <p:nvSpPr>
          <p:cNvPr id="21" name="Text 19"/>
          <p:cNvSpPr/>
          <p:nvPr/>
        </p:nvSpPr>
        <p:spPr>
          <a:xfrm>
            <a:off x="6583680" y="1737360"/>
            <a:ext cx="1737360" cy="320040"/>
          </a:xfrm>
          <a:prstGeom prst="rect">
            <a:avLst/>
          </a:prstGeom>
          <a:noFill/>
          <a:ln/>
        </p:spPr>
        <p:txBody>
          <a:bodyPr wrap="square" lIns="0" tIns="0" rIns="0" bIns="0" rtlCol="0" anchor="ctr"/>
          <a:lstStyle/>
          <a:p>
            <a:pPr marL="0" indent="0" algn="ctr">
              <a:buNone/>
            </a:pPr>
            <a:r>
              <a:rPr lang="en-US" sz="1400" b="1" dirty="0">
                <a:solidFill>
                  <a:srgbClr val="16A34A"/>
                </a:solidFill>
                <a:latin typeface="Poppins" pitchFamily="34" charset="0"/>
                <a:ea typeface="Poppins" pitchFamily="34" charset="-122"/>
                <a:cs typeface="Poppins" pitchFamily="34" charset="-120"/>
              </a:rPr>
              <a:t>2024-25</a:t>
            </a:r>
            <a:endParaRPr lang="en-US" sz="1400" dirty="0"/>
          </a:p>
        </p:txBody>
      </p:sp>
      <p:sp>
        <p:nvSpPr>
          <p:cNvPr id="22" name="Shape 20"/>
          <p:cNvSpPr/>
          <p:nvPr/>
        </p:nvSpPr>
        <p:spPr>
          <a:xfrm>
            <a:off x="6583680" y="2651760"/>
            <a:ext cx="1737360" cy="1463040"/>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23" name="Text 21"/>
          <p:cNvSpPr/>
          <p:nvPr/>
        </p:nvSpPr>
        <p:spPr>
          <a:xfrm>
            <a:off x="6675120" y="2743200"/>
            <a:ext cx="1554480" cy="274320"/>
          </a:xfrm>
          <a:prstGeom prst="rect">
            <a:avLst/>
          </a:prstGeom>
          <a:noFill/>
          <a:ln/>
        </p:spPr>
        <p:txBody>
          <a:bodyPr wrap="square" lIns="0" tIns="0" rIns="0" bIns="0" rtlCol="0" anchor="ctr"/>
          <a:lstStyle/>
          <a:p>
            <a:pPr marL="0" indent="0">
              <a:buNone/>
            </a:pPr>
            <a:r>
              <a:rPr lang="en-US" sz="1100" b="1" dirty="0">
                <a:solidFill>
                  <a:srgbClr val="0F172A"/>
                </a:solidFill>
                <a:latin typeface="Poppins" pitchFamily="34" charset="0"/>
                <a:ea typeface="Poppins" pitchFamily="34" charset="-122"/>
                <a:cs typeface="Poppins" pitchFamily="34" charset="-120"/>
              </a:rPr>
              <a:t>C4RBON → KINN</a:t>
            </a:r>
            <a:endParaRPr lang="en-US" sz="1100" dirty="0"/>
          </a:p>
        </p:txBody>
      </p:sp>
      <p:sp>
        <p:nvSpPr>
          <p:cNvPr id="24" name="Text 22"/>
          <p:cNvSpPr/>
          <p:nvPr/>
        </p:nvSpPr>
        <p:spPr>
          <a:xfrm>
            <a:off x="6675120" y="3063240"/>
            <a:ext cx="1554480" cy="914400"/>
          </a:xfrm>
          <a:prstGeom prst="rect">
            <a:avLst/>
          </a:prstGeom>
          <a:noFill/>
          <a:ln/>
        </p:spPr>
        <p:txBody>
          <a:bodyPr wrap="square" lIns="0" tIns="0" rIns="0" bIns="0" rtlCol="0" anchor="ctr"/>
          <a:lstStyle/>
          <a:p>
            <a:pPr marL="0" indent="0">
              <a:lnSpc>
                <a:spcPct val="130000"/>
              </a:lnSpc>
              <a:buNone/>
            </a:pPr>
            <a:r>
              <a:rPr lang="en-US" sz="900" dirty="0">
                <a:solidFill>
                  <a:srgbClr val="374151"/>
                </a:solidFill>
                <a:latin typeface="Poppins" pitchFamily="34" charset="0"/>
                <a:ea typeface="Poppins" pitchFamily="34" charset="-122"/>
                <a:cs typeface="Poppins" pitchFamily="34" charset="-120"/>
              </a:rPr>
              <a:t>Plateforme souveraine,</a:t>
            </a:r>
            <a:endParaRPr lang="en-US" sz="900" dirty="0"/>
          </a:p>
          <a:p>
            <a:pPr marL="0" indent="0">
              <a:lnSpc>
                <a:spcPct val="130000"/>
              </a:lnSpc>
              <a:buNone/>
            </a:pPr>
            <a:r>
              <a:rPr lang="en-US" sz="900" dirty="0">
                <a:solidFill>
                  <a:srgbClr val="374151"/>
                </a:solidFill>
                <a:latin typeface="Poppins" pitchFamily="34" charset="0"/>
                <a:ea typeface="Poppins" pitchFamily="34" charset="-122"/>
                <a:cs typeface="Poppins" pitchFamily="34" charset="-120"/>
              </a:rPr>
              <a:t>interopérable et assistée par IA.</a:t>
            </a:r>
            <a:endParaRPr lang="en-US" sz="900" dirty="0"/>
          </a:p>
        </p:txBody>
      </p:sp>
      <p:sp>
        <p:nvSpPr>
          <p:cNvPr id="25" name="Text 23"/>
          <p:cNvSpPr/>
          <p:nvPr/>
        </p:nvSpPr>
        <p:spPr>
          <a:xfrm>
            <a:off x="1371600" y="4434840"/>
            <a:ext cx="6400800" cy="365760"/>
          </a:xfrm>
          <a:prstGeom prst="rect">
            <a:avLst/>
          </a:prstGeom>
          <a:noFill/>
          <a:ln/>
        </p:spPr>
        <p:txBody>
          <a:bodyPr wrap="square" lIns="0" tIns="0" rIns="0" bIns="0" rtlCol="0" anchor="ctr"/>
          <a:lstStyle/>
          <a:p>
            <a:pPr marL="0" indent="0" algn="ctr">
              <a:buNone/>
            </a:pPr>
            <a:r>
              <a:rPr lang="en-US" sz="1600" dirty="0">
                <a:solidFill>
                  <a:srgbClr val="1677FF"/>
                </a:solidFill>
                <a:latin typeface="Poppins" pitchFamily="34" charset="0"/>
                <a:ea typeface="Poppins" pitchFamily="34" charset="-122"/>
                <a:cs typeface="Poppins" pitchFamily="34" charset="-120"/>
              </a:rPr>
              <a:t>« </a:t>
            </a:r>
            <a:r>
              <a:rPr lang="en-US" sz="1200" i="1" dirty="0">
                <a:solidFill>
                  <a:srgbClr val="374151"/>
                </a:solidFill>
                <a:latin typeface="Poppins" pitchFamily="34" charset="0"/>
                <a:ea typeface="Poppins" pitchFamily="34" charset="-122"/>
                <a:cs typeface="Poppins" pitchFamily="34" charset="-120"/>
              </a:rPr>
              <a:t>Les entreprises n'ont pas besoin de nouveaux outils. Elles ont besoin qu'ils se parlent.</a:t>
            </a:r>
            <a:r>
              <a:rPr lang="en-US" sz="1600" dirty="0">
                <a:solidFill>
                  <a:srgbClr val="1677FF"/>
                </a:solidFill>
                <a:latin typeface="Poppins" pitchFamily="34" charset="0"/>
                <a:ea typeface="Poppins" pitchFamily="34" charset="-122"/>
                <a:cs typeface="Poppins" pitchFamily="34" charset="-120"/>
              </a:rPr>
              <a:t> »</a:t>
            </a:r>
            <a:endParaRPr lang="en-US" sz="1600" dirty="0"/>
          </a:p>
        </p:txBody>
      </p:sp>
      <p:sp>
        <p:nvSpPr>
          <p:cNvPr id="26" name="Text 24"/>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900" dirty="0">
                <a:solidFill>
                  <a:srgbClr val="9CA3AF"/>
                </a:solidFill>
                <a:latin typeface="Poppins" pitchFamily="34" charset="0"/>
                <a:ea typeface="Poppins" pitchFamily="34" charset="-122"/>
                <a:cs typeface="Poppins"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8229600" cy="548640"/>
          </a:xfrm>
          <a:prstGeom prst="rect">
            <a:avLst/>
          </a:prstGeom>
          <a:noFill/>
          <a:ln/>
        </p:spPr>
        <p:txBody>
          <a:bodyPr wrap="square" lIns="0" tIns="0" rIns="0" bIns="0" rtlCol="0" anchor="ctr"/>
          <a:lstStyle/>
          <a:p>
            <a:pPr marL="0" indent="0">
              <a:buNone/>
            </a:pPr>
            <a:r>
              <a:rPr lang="en-US" sz="3000" b="1" dirty="0">
                <a:solidFill>
                  <a:srgbClr val="0F172A"/>
                </a:solidFill>
                <a:latin typeface="Poppins" pitchFamily="34" charset="0"/>
                <a:ea typeface="Poppins" pitchFamily="34" charset="-122"/>
                <a:cs typeface="Poppins" pitchFamily="34" charset="-120"/>
              </a:rPr>
              <a:t>Le coût caché du travail manuel</a:t>
            </a:r>
            <a:endParaRPr lang="en-US" sz="3000" dirty="0"/>
          </a:p>
        </p:txBody>
      </p:sp>
      <p:sp>
        <p:nvSpPr>
          <p:cNvPr id="3" name="Text 1"/>
          <p:cNvSpPr/>
          <p:nvPr/>
        </p:nvSpPr>
        <p:spPr>
          <a:xfrm>
            <a:off x="640080" y="914400"/>
            <a:ext cx="7772400" cy="320040"/>
          </a:xfrm>
          <a:prstGeom prst="rect">
            <a:avLst/>
          </a:prstGeom>
          <a:noFill/>
          <a:ln/>
        </p:spPr>
        <p:txBody>
          <a:bodyPr wrap="square" lIns="0" tIns="0" rIns="0" bIns="0" rtlCol="0" anchor="ctr"/>
          <a:lstStyle/>
          <a:p>
            <a:pPr marL="0" indent="0">
              <a:buNone/>
            </a:pPr>
            <a:r>
              <a:rPr lang="en-US" sz="1200" dirty="0">
                <a:solidFill>
                  <a:srgbClr val="6B7280"/>
                </a:solidFill>
                <a:latin typeface="Poppins" pitchFamily="34" charset="0"/>
                <a:ea typeface="Poppins" pitchFamily="34" charset="-122"/>
                <a:cs typeface="Poppins" pitchFamily="34" charset="-120"/>
              </a:rPr>
              <a:t>Les entreprises gaspillent temps et énergie à compenser l'absence d'interconnexion</a:t>
            </a:r>
            <a:endParaRPr lang="en-US" sz="1200" dirty="0"/>
          </a:p>
        </p:txBody>
      </p:sp>
      <p:sp>
        <p:nvSpPr>
          <p:cNvPr id="4" name="Shape 2"/>
          <p:cNvSpPr/>
          <p:nvPr/>
        </p:nvSpPr>
        <p:spPr>
          <a:xfrm>
            <a:off x="2971800" y="1371600"/>
            <a:ext cx="3200400" cy="1463040"/>
          </a:xfrm>
          <a:prstGeom prst="rect">
            <a:avLst/>
          </a:prstGeom>
          <a:solidFill>
            <a:srgbClr val="1677FF"/>
          </a:solidFill>
          <a:ln/>
        </p:spPr>
        <p:txBody>
          <a:bodyPr/>
          <a:lstStyle/>
          <a:p>
            <a:endParaRPr lang="fr-FR"/>
          </a:p>
        </p:txBody>
      </p:sp>
      <p:sp>
        <p:nvSpPr>
          <p:cNvPr id="5" name="Text 3"/>
          <p:cNvSpPr/>
          <p:nvPr/>
        </p:nvSpPr>
        <p:spPr>
          <a:xfrm>
            <a:off x="2971800" y="1417320"/>
            <a:ext cx="3200400" cy="777240"/>
          </a:xfrm>
          <a:prstGeom prst="rect">
            <a:avLst/>
          </a:prstGeom>
          <a:noFill/>
          <a:ln/>
        </p:spPr>
        <p:txBody>
          <a:bodyPr wrap="square" lIns="0" tIns="0" rIns="0" bIns="0" rtlCol="0" anchor="ctr"/>
          <a:lstStyle/>
          <a:p>
            <a:pPr marL="0" indent="0" algn="ctr">
              <a:buNone/>
            </a:pPr>
            <a:r>
              <a:rPr lang="en-US" sz="6000" b="1" dirty="0">
                <a:solidFill>
                  <a:srgbClr val="FFFFFF"/>
                </a:solidFill>
                <a:latin typeface="Poppins" pitchFamily="34" charset="0"/>
                <a:ea typeface="Poppins" pitchFamily="34" charset="-122"/>
                <a:cs typeface="Poppins" pitchFamily="34" charset="-120"/>
              </a:rPr>
              <a:t>30%</a:t>
            </a:r>
            <a:endParaRPr lang="en-US" sz="6000" dirty="0"/>
          </a:p>
        </p:txBody>
      </p:sp>
      <p:sp>
        <p:nvSpPr>
          <p:cNvPr id="6" name="Text 4"/>
          <p:cNvSpPr/>
          <p:nvPr/>
        </p:nvSpPr>
        <p:spPr>
          <a:xfrm>
            <a:off x="2971800" y="2148840"/>
            <a:ext cx="3200400" cy="320040"/>
          </a:xfrm>
          <a:prstGeom prst="rect">
            <a:avLst/>
          </a:prstGeom>
          <a:noFill/>
          <a:ln/>
        </p:spPr>
        <p:txBody>
          <a:bodyPr wrap="square" lIns="0" tIns="0" rIns="0" bIns="0" rtlCol="0" anchor="ctr"/>
          <a:lstStyle/>
          <a:p>
            <a:pPr marL="0" indent="0" algn="ctr">
              <a:buNone/>
            </a:pPr>
            <a:r>
              <a:rPr lang="en-US" sz="1200" dirty="0">
                <a:solidFill>
                  <a:srgbClr val="FFFFFF"/>
                </a:solidFill>
                <a:latin typeface="Poppins" pitchFamily="34" charset="0"/>
                <a:ea typeface="Poppins" pitchFamily="34" charset="-122"/>
                <a:cs typeface="Poppins" pitchFamily="34" charset="-120"/>
              </a:rPr>
              <a:t>du temps de travail gaspillé chaque jour</a:t>
            </a:r>
            <a:endParaRPr lang="en-US" sz="1200" dirty="0"/>
          </a:p>
        </p:txBody>
      </p:sp>
      <p:sp>
        <p:nvSpPr>
          <p:cNvPr id="7" name="Text 5"/>
          <p:cNvSpPr/>
          <p:nvPr/>
        </p:nvSpPr>
        <p:spPr>
          <a:xfrm>
            <a:off x="2971800" y="2468880"/>
            <a:ext cx="3200400" cy="228600"/>
          </a:xfrm>
          <a:prstGeom prst="rect">
            <a:avLst/>
          </a:prstGeom>
          <a:noFill/>
          <a:ln/>
        </p:spPr>
        <p:txBody>
          <a:bodyPr wrap="square" lIns="0" tIns="0" rIns="0" bIns="0" rtlCol="0" anchor="ctr"/>
          <a:lstStyle/>
          <a:p>
            <a:pPr marL="0" indent="0" algn="ctr">
              <a:buNone/>
            </a:pPr>
            <a:r>
              <a:rPr lang="en-US" sz="800" dirty="0">
                <a:solidFill>
                  <a:srgbClr val="FFFFFF"/>
                </a:solidFill>
                <a:latin typeface="Poppins" pitchFamily="34" charset="0"/>
                <a:ea typeface="Poppins" pitchFamily="34" charset="-122"/>
                <a:cs typeface="Poppins" pitchFamily="34" charset="-120"/>
              </a:rPr>
              <a:t>Source : ABBYY, ProcessMaker, 2025</a:t>
            </a:r>
            <a:endParaRPr lang="en-US" sz="800" dirty="0"/>
          </a:p>
        </p:txBody>
      </p:sp>
      <p:sp>
        <p:nvSpPr>
          <p:cNvPr id="8" name="Shape 6"/>
          <p:cNvSpPr/>
          <p:nvPr/>
        </p:nvSpPr>
        <p:spPr>
          <a:xfrm>
            <a:off x="914400" y="3108960"/>
            <a:ext cx="411480" cy="411480"/>
          </a:xfrm>
          <a:prstGeom prst="ellipse">
            <a:avLst/>
          </a:prstGeom>
          <a:solidFill>
            <a:srgbClr val="F7F9FC"/>
          </a:solidFill>
          <a:ln/>
        </p:spPr>
        <p:txBody>
          <a:bodyPr/>
          <a:lstStyle/>
          <a:p>
            <a:endParaRPr lang="fr-FR"/>
          </a:p>
        </p:txBody>
      </p:sp>
      <p:pic>
        <p:nvPicPr>
          <p:cNvPr id="9" name="Image 0" descr="preencoded.png"/>
          <p:cNvPicPr>
            <a:picLocks noChangeAspect="1"/>
          </p:cNvPicPr>
          <p:nvPr/>
        </p:nvPicPr>
        <p:blipFill>
          <a:blip r:embed="rId3"/>
          <a:stretch>
            <a:fillRect/>
          </a:stretch>
        </p:blipFill>
        <p:spPr>
          <a:xfrm>
            <a:off x="969264" y="3163824"/>
            <a:ext cx="301752" cy="301752"/>
          </a:xfrm>
          <a:prstGeom prst="rect">
            <a:avLst/>
          </a:prstGeom>
        </p:spPr>
      </p:pic>
      <p:sp>
        <p:nvSpPr>
          <p:cNvPr id="10" name="Text 7"/>
          <p:cNvSpPr/>
          <p:nvPr/>
        </p:nvSpPr>
        <p:spPr>
          <a:xfrm>
            <a:off x="1463040" y="3108960"/>
            <a:ext cx="2834640" cy="201168"/>
          </a:xfrm>
          <a:prstGeom prst="rect">
            <a:avLst/>
          </a:prstGeom>
          <a:noFill/>
          <a:ln/>
        </p:spPr>
        <p:txBody>
          <a:bodyPr wrap="square" lIns="0" tIns="0" rIns="0" bIns="0" rtlCol="0" anchor="ctr"/>
          <a:lstStyle/>
          <a:p>
            <a:pPr marL="0" indent="0">
              <a:buNone/>
            </a:pPr>
            <a:r>
              <a:rPr lang="en-US" sz="1100" b="1" dirty="0">
                <a:solidFill>
                  <a:srgbClr val="0F172A"/>
                </a:solidFill>
                <a:latin typeface="Poppins" pitchFamily="34" charset="0"/>
                <a:ea typeface="Poppins" pitchFamily="34" charset="-122"/>
                <a:cs typeface="Poppins" pitchFamily="34" charset="-120"/>
              </a:rPr>
              <a:t>Saisie manuelle &amp; copier-coller</a:t>
            </a:r>
            <a:endParaRPr lang="en-US" sz="1100" dirty="0"/>
          </a:p>
        </p:txBody>
      </p:sp>
      <p:sp>
        <p:nvSpPr>
          <p:cNvPr id="11" name="Text 8"/>
          <p:cNvSpPr/>
          <p:nvPr/>
        </p:nvSpPr>
        <p:spPr>
          <a:xfrm>
            <a:off x="1463040" y="3328416"/>
            <a:ext cx="2834640" cy="201168"/>
          </a:xfrm>
          <a:prstGeom prst="rect">
            <a:avLst/>
          </a:prstGeom>
          <a:noFill/>
          <a:ln/>
        </p:spPr>
        <p:txBody>
          <a:bodyPr wrap="square" lIns="0" tIns="0" rIns="0" bIns="0" rtlCol="0" anchor="ctr"/>
          <a:lstStyle/>
          <a:p>
            <a:pPr marL="0" indent="0">
              <a:buNone/>
            </a:pPr>
            <a:r>
              <a:rPr lang="en-US" sz="900" dirty="0">
                <a:solidFill>
                  <a:srgbClr val="374151"/>
                </a:solidFill>
                <a:latin typeface="Poppins" pitchFamily="34" charset="0"/>
                <a:ea typeface="Poppins" pitchFamily="34" charset="-122"/>
                <a:cs typeface="Poppins" pitchFamily="34" charset="-120"/>
              </a:rPr>
              <a:t>Ressaisie des mêmes données entre outils.</a:t>
            </a:r>
            <a:endParaRPr lang="en-US" sz="900" dirty="0"/>
          </a:p>
        </p:txBody>
      </p:sp>
      <p:sp>
        <p:nvSpPr>
          <p:cNvPr id="12" name="Shape 9"/>
          <p:cNvSpPr/>
          <p:nvPr/>
        </p:nvSpPr>
        <p:spPr>
          <a:xfrm>
            <a:off x="4754880" y="3108960"/>
            <a:ext cx="411480" cy="411480"/>
          </a:xfrm>
          <a:prstGeom prst="ellipse">
            <a:avLst/>
          </a:prstGeom>
          <a:solidFill>
            <a:srgbClr val="F7F9FC"/>
          </a:solidFill>
          <a:ln/>
        </p:spPr>
        <p:txBody>
          <a:bodyPr/>
          <a:lstStyle/>
          <a:p>
            <a:endParaRPr lang="fr-FR"/>
          </a:p>
        </p:txBody>
      </p:sp>
      <p:pic>
        <p:nvPicPr>
          <p:cNvPr id="13" name="Image 1" descr="preencoded.png"/>
          <p:cNvPicPr>
            <a:picLocks noChangeAspect="1"/>
          </p:cNvPicPr>
          <p:nvPr/>
        </p:nvPicPr>
        <p:blipFill>
          <a:blip r:embed="rId4"/>
          <a:stretch>
            <a:fillRect/>
          </a:stretch>
        </p:blipFill>
        <p:spPr>
          <a:xfrm>
            <a:off x="4809744" y="3163824"/>
            <a:ext cx="301752" cy="301752"/>
          </a:xfrm>
          <a:prstGeom prst="rect">
            <a:avLst/>
          </a:prstGeom>
        </p:spPr>
      </p:pic>
      <p:sp>
        <p:nvSpPr>
          <p:cNvPr id="14" name="Text 10"/>
          <p:cNvSpPr/>
          <p:nvPr/>
        </p:nvSpPr>
        <p:spPr>
          <a:xfrm>
            <a:off x="5303520" y="3108960"/>
            <a:ext cx="2834640" cy="201168"/>
          </a:xfrm>
          <a:prstGeom prst="rect">
            <a:avLst/>
          </a:prstGeom>
          <a:noFill/>
          <a:ln/>
        </p:spPr>
        <p:txBody>
          <a:bodyPr wrap="square" lIns="0" tIns="0" rIns="0" bIns="0" rtlCol="0" anchor="ctr"/>
          <a:lstStyle/>
          <a:p>
            <a:pPr marL="0" indent="0">
              <a:buNone/>
            </a:pPr>
            <a:r>
              <a:rPr lang="en-US" sz="1100" b="1" dirty="0">
                <a:solidFill>
                  <a:srgbClr val="0F172A"/>
                </a:solidFill>
                <a:latin typeface="Poppins" pitchFamily="34" charset="0"/>
                <a:ea typeface="Poppins" pitchFamily="34" charset="-122"/>
                <a:cs typeface="Poppins" pitchFamily="34" charset="-120"/>
              </a:rPr>
              <a:t>Risque d'erreur humaine</a:t>
            </a:r>
            <a:endParaRPr lang="en-US" sz="1100" dirty="0"/>
          </a:p>
        </p:txBody>
      </p:sp>
      <p:sp>
        <p:nvSpPr>
          <p:cNvPr id="15" name="Text 11"/>
          <p:cNvSpPr/>
          <p:nvPr/>
        </p:nvSpPr>
        <p:spPr>
          <a:xfrm>
            <a:off x="5303520" y="3328416"/>
            <a:ext cx="2834640" cy="201168"/>
          </a:xfrm>
          <a:prstGeom prst="rect">
            <a:avLst/>
          </a:prstGeom>
          <a:noFill/>
          <a:ln/>
        </p:spPr>
        <p:txBody>
          <a:bodyPr wrap="square" lIns="0" tIns="0" rIns="0" bIns="0" rtlCol="0" anchor="ctr"/>
          <a:lstStyle/>
          <a:p>
            <a:pPr marL="0" indent="0">
              <a:buNone/>
            </a:pPr>
            <a:r>
              <a:rPr lang="en-US" sz="900" dirty="0">
                <a:solidFill>
                  <a:srgbClr val="374151"/>
                </a:solidFill>
                <a:latin typeface="Poppins" pitchFamily="34" charset="0"/>
                <a:ea typeface="Poppins" pitchFamily="34" charset="-122"/>
                <a:cs typeface="Poppins" pitchFamily="34" charset="-120"/>
              </a:rPr>
              <a:t>Chaque manipulation multiplie les erreurs.</a:t>
            </a:r>
            <a:endParaRPr lang="en-US" sz="900" dirty="0"/>
          </a:p>
        </p:txBody>
      </p:sp>
      <p:sp>
        <p:nvSpPr>
          <p:cNvPr id="16" name="Shape 12"/>
          <p:cNvSpPr/>
          <p:nvPr/>
        </p:nvSpPr>
        <p:spPr>
          <a:xfrm>
            <a:off x="914400" y="4023360"/>
            <a:ext cx="411480" cy="411480"/>
          </a:xfrm>
          <a:prstGeom prst="ellipse">
            <a:avLst/>
          </a:prstGeom>
          <a:solidFill>
            <a:srgbClr val="F7F9FC"/>
          </a:solidFill>
          <a:ln/>
        </p:spPr>
        <p:txBody>
          <a:bodyPr/>
          <a:lstStyle/>
          <a:p>
            <a:endParaRPr lang="fr-FR"/>
          </a:p>
        </p:txBody>
      </p:sp>
      <p:pic>
        <p:nvPicPr>
          <p:cNvPr id="17" name="Image 2" descr="preencoded.png"/>
          <p:cNvPicPr>
            <a:picLocks noChangeAspect="1"/>
          </p:cNvPicPr>
          <p:nvPr/>
        </p:nvPicPr>
        <p:blipFill>
          <a:blip r:embed="rId5"/>
          <a:stretch>
            <a:fillRect/>
          </a:stretch>
        </p:blipFill>
        <p:spPr>
          <a:xfrm>
            <a:off x="969264" y="4078224"/>
            <a:ext cx="301752" cy="301752"/>
          </a:xfrm>
          <a:prstGeom prst="rect">
            <a:avLst/>
          </a:prstGeom>
        </p:spPr>
      </p:pic>
      <p:sp>
        <p:nvSpPr>
          <p:cNvPr id="18" name="Text 13"/>
          <p:cNvSpPr/>
          <p:nvPr/>
        </p:nvSpPr>
        <p:spPr>
          <a:xfrm>
            <a:off x="1463040" y="4023360"/>
            <a:ext cx="2834640" cy="201168"/>
          </a:xfrm>
          <a:prstGeom prst="rect">
            <a:avLst/>
          </a:prstGeom>
          <a:noFill/>
          <a:ln/>
        </p:spPr>
        <p:txBody>
          <a:bodyPr wrap="square" lIns="0" tIns="0" rIns="0" bIns="0" rtlCol="0" anchor="ctr"/>
          <a:lstStyle/>
          <a:p>
            <a:pPr marL="0" indent="0">
              <a:buNone/>
            </a:pPr>
            <a:r>
              <a:rPr lang="en-US" sz="1100" b="1" dirty="0">
                <a:solidFill>
                  <a:srgbClr val="0F172A"/>
                </a:solidFill>
                <a:latin typeface="Poppins" pitchFamily="34" charset="0"/>
                <a:ea typeface="Poppins" pitchFamily="34" charset="-122"/>
                <a:cs typeface="Poppins" pitchFamily="34" charset="-120"/>
              </a:rPr>
              <a:t>Information en silos</a:t>
            </a:r>
            <a:endParaRPr lang="en-US" sz="1100" dirty="0"/>
          </a:p>
        </p:txBody>
      </p:sp>
      <p:sp>
        <p:nvSpPr>
          <p:cNvPr id="19" name="Text 14"/>
          <p:cNvSpPr/>
          <p:nvPr/>
        </p:nvSpPr>
        <p:spPr>
          <a:xfrm>
            <a:off x="1463040" y="4242816"/>
            <a:ext cx="2834640" cy="201168"/>
          </a:xfrm>
          <a:prstGeom prst="rect">
            <a:avLst/>
          </a:prstGeom>
          <a:noFill/>
          <a:ln/>
        </p:spPr>
        <p:txBody>
          <a:bodyPr wrap="square" lIns="0" tIns="0" rIns="0" bIns="0" rtlCol="0" anchor="ctr"/>
          <a:lstStyle/>
          <a:p>
            <a:pPr marL="0" indent="0">
              <a:buNone/>
            </a:pPr>
            <a:r>
              <a:rPr lang="en-US" sz="900" dirty="0">
                <a:solidFill>
                  <a:srgbClr val="374151"/>
                </a:solidFill>
                <a:latin typeface="Poppins" pitchFamily="34" charset="0"/>
                <a:ea typeface="Poppins" pitchFamily="34" charset="-122"/>
                <a:cs typeface="Poppins" pitchFamily="34" charset="-120"/>
              </a:rPr>
              <a:t>Chaque service isolé, sans visibilité.</a:t>
            </a:r>
            <a:endParaRPr lang="en-US" sz="900" dirty="0"/>
          </a:p>
        </p:txBody>
      </p:sp>
      <p:sp>
        <p:nvSpPr>
          <p:cNvPr id="20" name="Shape 15"/>
          <p:cNvSpPr/>
          <p:nvPr/>
        </p:nvSpPr>
        <p:spPr>
          <a:xfrm>
            <a:off x="4754880" y="4023360"/>
            <a:ext cx="411480" cy="411480"/>
          </a:xfrm>
          <a:prstGeom prst="ellipse">
            <a:avLst/>
          </a:prstGeom>
          <a:solidFill>
            <a:srgbClr val="F7F9FC"/>
          </a:solidFill>
          <a:ln/>
        </p:spPr>
        <p:txBody>
          <a:bodyPr/>
          <a:lstStyle/>
          <a:p>
            <a:endParaRPr lang="fr-FR"/>
          </a:p>
        </p:txBody>
      </p:sp>
      <p:pic>
        <p:nvPicPr>
          <p:cNvPr id="21" name="Image 3" descr="preencoded.png"/>
          <p:cNvPicPr>
            <a:picLocks noChangeAspect="1"/>
          </p:cNvPicPr>
          <p:nvPr/>
        </p:nvPicPr>
        <p:blipFill>
          <a:blip r:embed="rId6"/>
          <a:stretch>
            <a:fillRect/>
          </a:stretch>
        </p:blipFill>
        <p:spPr>
          <a:xfrm>
            <a:off x="4809744" y="4078224"/>
            <a:ext cx="301752" cy="301752"/>
          </a:xfrm>
          <a:prstGeom prst="rect">
            <a:avLst/>
          </a:prstGeom>
        </p:spPr>
      </p:pic>
      <p:sp>
        <p:nvSpPr>
          <p:cNvPr id="22" name="Text 16"/>
          <p:cNvSpPr/>
          <p:nvPr/>
        </p:nvSpPr>
        <p:spPr>
          <a:xfrm>
            <a:off x="5303520" y="4023360"/>
            <a:ext cx="2834640" cy="201168"/>
          </a:xfrm>
          <a:prstGeom prst="rect">
            <a:avLst/>
          </a:prstGeom>
          <a:noFill/>
          <a:ln/>
        </p:spPr>
        <p:txBody>
          <a:bodyPr wrap="square" lIns="0" tIns="0" rIns="0" bIns="0" rtlCol="0" anchor="ctr"/>
          <a:lstStyle/>
          <a:p>
            <a:pPr marL="0" indent="0">
              <a:buNone/>
            </a:pPr>
            <a:r>
              <a:rPr lang="en-US" sz="1100" b="1" dirty="0">
                <a:solidFill>
                  <a:srgbClr val="0F172A"/>
                </a:solidFill>
                <a:latin typeface="Poppins" pitchFamily="34" charset="0"/>
                <a:ea typeface="Poppins" pitchFamily="34" charset="-122"/>
                <a:cs typeface="Poppins" pitchFamily="34" charset="-120"/>
              </a:rPr>
              <a:t>Tâches répétitives sans valeur</a:t>
            </a:r>
            <a:endParaRPr lang="en-US" sz="1100" dirty="0"/>
          </a:p>
        </p:txBody>
      </p:sp>
      <p:sp>
        <p:nvSpPr>
          <p:cNvPr id="23" name="Text 17"/>
          <p:cNvSpPr/>
          <p:nvPr/>
        </p:nvSpPr>
        <p:spPr>
          <a:xfrm>
            <a:off x="5303520" y="4242816"/>
            <a:ext cx="2834640" cy="201168"/>
          </a:xfrm>
          <a:prstGeom prst="rect">
            <a:avLst/>
          </a:prstGeom>
          <a:noFill/>
          <a:ln/>
        </p:spPr>
        <p:txBody>
          <a:bodyPr wrap="square" lIns="0" tIns="0" rIns="0" bIns="0" rtlCol="0" anchor="ctr"/>
          <a:lstStyle/>
          <a:p>
            <a:pPr marL="0" indent="0">
              <a:buNone/>
            </a:pPr>
            <a:r>
              <a:rPr lang="en-US" sz="900" dirty="0">
                <a:solidFill>
                  <a:srgbClr val="374151"/>
                </a:solidFill>
                <a:latin typeface="Poppins" pitchFamily="34" charset="0"/>
                <a:ea typeface="Poppins" pitchFamily="34" charset="-122"/>
                <a:cs typeface="Poppins" pitchFamily="34" charset="-120"/>
              </a:rPr>
              <a:t>10-12h/semaine perdues par collaborateur.</a:t>
            </a:r>
            <a:endParaRPr lang="en-US" sz="900" dirty="0"/>
          </a:p>
        </p:txBody>
      </p:sp>
      <p:sp>
        <p:nvSpPr>
          <p:cNvPr id="24" name="Text 18"/>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900" dirty="0">
                <a:solidFill>
                  <a:srgbClr val="9CA3AF"/>
                </a:solidFill>
                <a:latin typeface="Poppins" pitchFamily="34" charset="0"/>
                <a:ea typeface="Poppins" pitchFamily="34" charset="-122"/>
                <a:cs typeface="Poppins"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8229600" cy="548640"/>
          </a:xfrm>
          <a:prstGeom prst="rect">
            <a:avLst/>
          </a:prstGeom>
          <a:noFill/>
          <a:ln/>
        </p:spPr>
        <p:txBody>
          <a:bodyPr wrap="square" lIns="0" tIns="0" rIns="0" bIns="0" rtlCol="0" anchor="ctr"/>
          <a:lstStyle/>
          <a:p>
            <a:pPr marL="0" indent="0">
              <a:buNone/>
            </a:pPr>
            <a:r>
              <a:rPr lang="en-US" sz="3000" b="1" dirty="0">
                <a:solidFill>
                  <a:srgbClr val="0F172A"/>
                </a:solidFill>
                <a:latin typeface="Poppins" pitchFamily="34" charset="0"/>
                <a:ea typeface="Poppins" pitchFamily="34" charset="-122"/>
                <a:cs typeface="Poppins" pitchFamily="34" charset="-120"/>
              </a:rPr>
              <a:t>Le défi</a:t>
            </a:r>
            <a:endParaRPr lang="en-US" sz="3000" dirty="0"/>
          </a:p>
        </p:txBody>
      </p:sp>
      <p:sp>
        <p:nvSpPr>
          <p:cNvPr id="3" name="Text 1"/>
          <p:cNvSpPr/>
          <p:nvPr/>
        </p:nvSpPr>
        <p:spPr>
          <a:xfrm>
            <a:off x="640080" y="914400"/>
            <a:ext cx="7772400" cy="320040"/>
          </a:xfrm>
          <a:prstGeom prst="rect">
            <a:avLst/>
          </a:prstGeom>
          <a:noFill/>
          <a:ln/>
        </p:spPr>
        <p:txBody>
          <a:bodyPr wrap="square" lIns="0" tIns="0" rIns="0" bIns="0" rtlCol="0" anchor="ctr"/>
          <a:lstStyle/>
          <a:p>
            <a:pPr marL="0" indent="0">
              <a:buNone/>
            </a:pPr>
            <a:r>
              <a:rPr lang="en-US" sz="1200" dirty="0">
                <a:solidFill>
                  <a:srgbClr val="6B7280"/>
                </a:solidFill>
                <a:latin typeface="Poppins" pitchFamily="34" charset="0"/>
                <a:ea typeface="Poppins" pitchFamily="34" charset="-122"/>
                <a:cs typeface="Poppins" pitchFamily="34" charset="-120"/>
              </a:rPr>
              <a:t>ERP, CRM, Excel, mails, outils métiers… Comment les faire communiquer ?</a:t>
            </a:r>
            <a:endParaRPr lang="en-US" sz="1200" dirty="0"/>
          </a:p>
        </p:txBody>
      </p:sp>
      <p:sp>
        <p:nvSpPr>
          <p:cNvPr id="4" name="Shape 2"/>
          <p:cNvSpPr/>
          <p:nvPr/>
        </p:nvSpPr>
        <p:spPr>
          <a:xfrm>
            <a:off x="640080" y="1463040"/>
            <a:ext cx="1828800" cy="914400"/>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5" name="Text 3"/>
          <p:cNvSpPr/>
          <p:nvPr/>
        </p:nvSpPr>
        <p:spPr>
          <a:xfrm>
            <a:off x="640080" y="1508760"/>
            <a:ext cx="1828800" cy="320040"/>
          </a:xfrm>
          <a:prstGeom prst="rect">
            <a:avLst/>
          </a:prstGeom>
          <a:noFill/>
          <a:ln/>
        </p:spPr>
        <p:txBody>
          <a:bodyPr wrap="square" lIns="0" tIns="0" rIns="0" bIns="0" rtlCol="0" anchor="ctr"/>
          <a:lstStyle/>
          <a:p>
            <a:pPr marL="0" indent="0" algn="ctr">
              <a:buNone/>
            </a:pPr>
            <a:r>
              <a:rPr lang="en-US" sz="1300" b="1" dirty="0">
                <a:solidFill>
                  <a:srgbClr val="1677FF"/>
                </a:solidFill>
                <a:latin typeface="Poppins" pitchFamily="34" charset="0"/>
                <a:ea typeface="Poppins" pitchFamily="34" charset="-122"/>
                <a:cs typeface="Poppins" pitchFamily="34" charset="-120"/>
              </a:rPr>
              <a:t>ERP</a:t>
            </a:r>
            <a:endParaRPr lang="en-US" sz="1300" dirty="0"/>
          </a:p>
        </p:txBody>
      </p:sp>
      <p:sp>
        <p:nvSpPr>
          <p:cNvPr id="6" name="Text 4"/>
          <p:cNvSpPr/>
          <p:nvPr/>
        </p:nvSpPr>
        <p:spPr>
          <a:xfrm>
            <a:off x="640080" y="1828800"/>
            <a:ext cx="1828800" cy="365760"/>
          </a:xfrm>
          <a:prstGeom prst="rect">
            <a:avLst/>
          </a:prstGeom>
          <a:noFill/>
          <a:ln/>
        </p:spPr>
        <p:txBody>
          <a:bodyPr wrap="square" lIns="0" tIns="0" rIns="0" bIns="0" rtlCol="0" anchor="ctr"/>
          <a:lstStyle/>
          <a:p>
            <a:pPr marL="0" indent="0" algn="ctr">
              <a:buNone/>
            </a:pPr>
            <a:r>
              <a:rPr lang="en-US" sz="1000" dirty="0">
                <a:solidFill>
                  <a:srgbClr val="374151"/>
                </a:solidFill>
                <a:latin typeface="Poppins" pitchFamily="34" charset="0"/>
                <a:ea typeface="Poppins" pitchFamily="34" charset="-122"/>
                <a:cs typeface="Poppins" pitchFamily="34" charset="-120"/>
              </a:rPr>
              <a:t>Odoo, Dolibarr, SAP</a:t>
            </a:r>
            <a:endParaRPr lang="en-US" sz="1000" dirty="0"/>
          </a:p>
        </p:txBody>
      </p:sp>
      <p:sp>
        <p:nvSpPr>
          <p:cNvPr id="7" name="Shape 5"/>
          <p:cNvSpPr/>
          <p:nvPr/>
        </p:nvSpPr>
        <p:spPr>
          <a:xfrm>
            <a:off x="2651760" y="1463040"/>
            <a:ext cx="1828800" cy="914400"/>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8" name="Text 6"/>
          <p:cNvSpPr/>
          <p:nvPr/>
        </p:nvSpPr>
        <p:spPr>
          <a:xfrm>
            <a:off x="2651760" y="1508760"/>
            <a:ext cx="1828800" cy="320040"/>
          </a:xfrm>
          <a:prstGeom prst="rect">
            <a:avLst/>
          </a:prstGeom>
          <a:noFill/>
          <a:ln/>
        </p:spPr>
        <p:txBody>
          <a:bodyPr wrap="square" lIns="0" tIns="0" rIns="0" bIns="0" rtlCol="0" anchor="ctr"/>
          <a:lstStyle/>
          <a:p>
            <a:pPr marL="0" indent="0" algn="ctr">
              <a:buNone/>
            </a:pPr>
            <a:r>
              <a:rPr lang="en-US" sz="1300" b="1" dirty="0">
                <a:solidFill>
                  <a:srgbClr val="1677FF"/>
                </a:solidFill>
                <a:latin typeface="Poppins" pitchFamily="34" charset="0"/>
                <a:ea typeface="Poppins" pitchFamily="34" charset="-122"/>
                <a:cs typeface="Poppins" pitchFamily="34" charset="-120"/>
              </a:rPr>
              <a:t>CRM</a:t>
            </a:r>
            <a:endParaRPr lang="en-US" sz="1300" dirty="0"/>
          </a:p>
        </p:txBody>
      </p:sp>
      <p:sp>
        <p:nvSpPr>
          <p:cNvPr id="9" name="Text 7"/>
          <p:cNvSpPr/>
          <p:nvPr/>
        </p:nvSpPr>
        <p:spPr>
          <a:xfrm>
            <a:off x="2651760" y="1828800"/>
            <a:ext cx="1828800" cy="365760"/>
          </a:xfrm>
          <a:prstGeom prst="rect">
            <a:avLst/>
          </a:prstGeom>
          <a:noFill/>
          <a:ln/>
        </p:spPr>
        <p:txBody>
          <a:bodyPr wrap="square" lIns="0" tIns="0" rIns="0" bIns="0" rtlCol="0" anchor="ctr"/>
          <a:lstStyle/>
          <a:p>
            <a:pPr marL="0" indent="0" algn="ctr">
              <a:buNone/>
            </a:pPr>
            <a:r>
              <a:rPr lang="en-US" sz="1000" dirty="0">
                <a:solidFill>
                  <a:srgbClr val="374151"/>
                </a:solidFill>
                <a:latin typeface="Poppins" pitchFamily="34" charset="0"/>
                <a:ea typeface="Poppins" pitchFamily="34" charset="-122"/>
                <a:cs typeface="Poppins" pitchFamily="34" charset="-120"/>
              </a:rPr>
              <a:t>Hubspot, Pipedrive</a:t>
            </a:r>
            <a:endParaRPr lang="en-US" sz="1000" dirty="0"/>
          </a:p>
        </p:txBody>
      </p:sp>
      <p:sp>
        <p:nvSpPr>
          <p:cNvPr id="10" name="Shape 8"/>
          <p:cNvSpPr/>
          <p:nvPr/>
        </p:nvSpPr>
        <p:spPr>
          <a:xfrm>
            <a:off x="4663440" y="1463040"/>
            <a:ext cx="1828800" cy="914400"/>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11" name="Text 9"/>
          <p:cNvSpPr/>
          <p:nvPr/>
        </p:nvSpPr>
        <p:spPr>
          <a:xfrm>
            <a:off x="4663440" y="1508760"/>
            <a:ext cx="1828800" cy="320040"/>
          </a:xfrm>
          <a:prstGeom prst="rect">
            <a:avLst/>
          </a:prstGeom>
          <a:noFill/>
          <a:ln/>
        </p:spPr>
        <p:txBody>
          <a:bodyPr wrap="square" lIns="0" tIns="0" rIns="0" bIns="0" rtlCol="0" anchor="ctr"/>
          <a:lstStyle/>
          <a:p>
            <a:pPr marL="0" indent="0" algn="ctr">
              <a:buNone/>
            </a:pPr>
            <a:r>
              <a:rPr lang="en-US" sz="1300" b="1" dirty="0">
                <a:solidFill>
                  <a:srgbClr val="1677FF"/>
                </a:solidFill>
                <a:latin typeface="Poppins" pitchFamily="34" charset="0"/>
                <a:ea typeface="Poppins" pitchFamily="34" charset="-122"/>
                <a:cs typeface="Poppins" pitchFamily="34" charset="-120"/>
              </a:rPr>
              <a:t>SAV / COM</a:t>
            </a:r>
            <a:endParaRPr lang="en-US" sz="1300" dirty="0"/>
          </a:p>
        </p:txBody>
      </p:sp>
      <p:sp>
        <p:nvSpPr>
          <p:cNvPr id="12" name="Text 10"/>
          <p:cNvSpPr/>
          <p:nvPr/>
        </p:nvSpPr>
        <p:spPr>
          <a:xfrm>
            <a:off x="4663440" y="1828800"/>
            <a:ext cx="1828800" cy="365760"/>
          </a:xfrm>
          <a:prstGeom prst="rect">
            <a:avLst/>
          </a:prstGeom>
          <a:noFill/>
          <a:ln/>
        </p:spPr>
        <p:txBody>
          <a:bodyPr wrap="square" lIns="0" tIns="0" rIns="0" bIns="0" rtlCol="0" anchor="ctr"/>
          <a:lstStyle/>
          <a:p>
            <a:pPr marL="0" indent="0" algn="ctr">
              <a:buNone/>
            </a:pPr>
            <a:r>
              <a:rPr lang="en-US" sz="1000" dirty="0">
                <a:solidFill>
                  <a:srgbClr val="374151"/>
                </a:solidFill>
                <a:latin typeface="Poppins" pitchFamily="34" charset="0"/>
                <a:ea typeface="Poppins" pitchFamily="34" charset="-122"/>
                <a:cs typeface="Poppins" pitchFamily="34" charset="-120"/>
              </a:rPr>
              <a:t>Gmail, Slack, Teams</a:t>
            </a:r>
            <a:endParaRPr lang="en-US" sz="1000" dirty="0"/>
          </a:p>
        </p:txBody>
      </p:sp>
      <p:sp>
        <p:nvSpPr>
          <p:cNvPr id="13" name="Shape 11"/>
          <p:cNvSpPr/>
          <p:nvPr/>
        </p:nvSpPr>
        <p:spPr>
          <a:xfrm>
            <a:off x="6675120" y="1463040"/>
            <a:ext cx="1828800" cy="914400"/>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14" name="Text 12"/>
          <p:cNvSpPr/>
          <p:nvPr/>
        </p:nvSpPr>
        <p:spPr>
          <a:xfrm>
            <a:off x="6675120" y="1508760"/>
            <a:ext cx="1828800" cy="320040"/>
          </a:xfrm>
          <a:prstGeom prst="rect">
            <a:avLst/>
          </a:prstGeom>
          <a:noFill/>
          <a:ln/>
        </p:spPr>
        <p:txBody>
          <a:bodyPr wrap="square" lIns="0" tIns="0" rIns="0" bIns="0" rtlCol="0" anchor="ctr"/>
          <a:lstStyle/>
          <a:p>
            <a:pPr marL="0" indent="0" algn="ctr">
              <a:buNone/>
            </a:pPr>
            <a:r>
              <a:rPr lang="en-US" sz="1300" b="1" dirty="0">
                <a:solidFill>
                  <a:srgbClr val="1677FF"/>
                </a:solidFill>
                <a:latin typeface="Poppins" pitchFamily="34" charset="0"/>
                <a:ea typeface="Poppins" pitchFamily="34" charset="-122"/>
                <a:cs typeface="Poppins" pitchFamily="34" charset="-120"/>
              </a:rPr>
              <a:t>DRIVE</a:t>
            </a:r>
            <a:endParaRPr lang="en-US" sz="1300" dirty="0"/>
          </a:p>
        </p:txBody>
      </p:sp>
      <p:sp>
        <p:nvSpPr>
          <p:cNvPr id="15" name="Text 13"/>
          <p:cNvSpPr/>
          <p:nvPr/>
        </p:nvSpPr>
        <p:spPr>
          <a:xfrm>
            <a:off x="6675120" y="1828800"/>
            <a:ext cx="1828800" cy="365760"/>
          </a:xfrm>
          <a:prstGeom prst="rect">
            <a:avLst/>
          </a:prstGeom>
          <a:noFill/>
          <a:ln/>
        </p:spPr>
        <p:txBody>
          <a:bodyPr wrap="square" lIns="0" tIns="0" rIns="0" bIns="0" rtlCol="0" anchor="ctr"/>
          <a:lstStyle/>
          <a:p>
            <a:pPr marL="0" indent="0" algn="ctr">
              <a:buNone/>
            </a:pPr>
            <a:r>
              <a:rPr lang="en-US" sz="1000" dirty="0">
                <a:solidFill>
                  <a:srgbClr val="374151"/>
                </a:solidFill>
                <a:latin typeface="Poppins" pitchFamily="34" charset="0"/>
                <a:ea typeface="Poppins" pitchFamily="34" charset="-122"/>
                <a:cs typeface="Poppins" pitchFamily="34" charset="-120"/>
              </a:rPr>
              <a:t>Nextcloud, GDrive</a:t>
            </a:r>
            <a:endParaRPr lang="en-US" sz="1000" dirty="0"/>
          </a:p>
        </p:txBody>
      </p:sp>
      <p:sp>
        <p:nvSpPr>
          <p:cNvPr id="16" name="Shape 14"/>
          <p:cNvSpPr/>
          <p:nvPr/>
        </p:nvSpPr>
        <p:spPr>
          <a:xfrm>
            <a:off x="1005840" y="2651760"/>
            <a:ext cx="2194560" cy="822960"/>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17" name="Text 15"/>
          <p:cNvSpPr/>
          <p:nvPr/>
        </p:nvSpPr>
        <p:spPr>
          <a:xfrm>
            <a:off x="1005840" y="2697480"/>
            <a:ext cx="2194560" cy="274320"/>
          </a:xfrm>
          <a:prstGeom prst="rect">
            <a:avLst/>
          </a:prstGeom>
          <a:noFill/>
          <a:ln/>
        </p:spPr>
        <p:txBody>
          <a:bodyPr wrap="square" lIns="0" tIns="0" rIns="0" bIns="0" rtlCol="0" anchor="ctr"/>
          <a:lstStyle/>
          <a:p>
            <a:pPr marL="0" indent="0" algn="ctr">
              <a:buNone/>
            </a:pPr>
            <a:r>
              <a:rPr lang="en-US" sz="1200" b="1" dirty="0">
                <a:solidFill>
                  <a:srgbClr val="1677FF"/>
                </a:solidFill>
                <a:latin typeface="Poppins" pitchFamily="34" charset="0"/>
                <a:ea typeface="Poppins" pitchFamily="34" charset="-122"/>
                <a:cs typeface="Poppins" pitchFamily="34" charset="-120"/>
              </a:rPr>
              <a:t>IOT</a:t>
            </a:r>
            <a:endParaRPr lang="en-US" sz="1200" dirty="0"/>
          </a:p>
        </p:txBody>
      </p:sp>
      <p:sp>
        <p:nvSpPr>
          <p:cNvPr id="18" name="Text 16"/>
          <p:cNvSpPr/>
          <p:nvPr/>
        </p:nvSpPr>
        <p:spPr>
          <a:xfrm>
            <a:off x="1005840" y="2971800"/>
            <a:ext cx="2194560" cy="320040"/>
          </a:xfrm>
          <a:prstGeom prst="rect">
            <a:avLst/>
          </a:prstGeom>
          <a:noFill/>
          <a:ln/>
        </p:spPr>
        <p:txBody>
          <a:bodyPr wrap="square" lIns="0" tIns="0" rIns="0" bIns="0" rtlCol="0" anchor="ctr"/>
          <a:lstStyle/>
          <a:p>
            <a:pPr marL="0" indent="0" algn="ctr">
              <a:buNone/>
            </a:pPr>
            <a:r>
              <a:rPr lang="en-US" sz="1000" dirty="0">
                <a:solidFill>
                  <a:srgbClr val="374151"/>
                </a:solidFill>
                <a:latin typeface="Poppins" pitchFamily="34" charset="0"/>
                <a:ea typeface="Poppins" pitchFamily="34" charset="-122"/>
                <a:cs typeface="Poppins" pitchFamily="34" charset="-120"/>
              </a:rPr>
              <a:t>OPC-UA, MQTT, capteurs</a:t>
            </a:r>
            <a:endParaRPr lang="en-US" sz="1000" dirty="0"/>
          </a:p>
        </p:txBody>
      </p:sp>
      <p:sp>
        <p:nvSpPr>
          <p:cNvPr id="19" name="Shape 17"/>
          <p:cNvSpPr/>
          <p:nvPr/>
        </p:nvSpPr>
        <p:spPr>
          <a:xfrm>
            <a:off x="3474720" y="2651760"/>
            <a:ext cx="2194560" cy="822960"/>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20" name="Text 18"/>
          <p:cNvSpPr/>
          <p:nvPr/>
        </p:nvSpPr>
        <p:spPr>
          <a:xfrm>
            <a:off x="3474720" y="2697480"/>
            <a:ext cx="2194560" cy="274320"/>
          </a:xfrm>
          <a:prstGeom prst="rect">
            <a:avLst/>
          </a:prstGeom>
          <a:noFill/>
          <a:ln/>
        </p:spPr>
        <p:txBody>
          <a:bodyPr wrap="square" lIns="0" tIns="0" rIns="0" bIns="0" rtlCol="0" anchor="ctr"/>
          <a:lstStyle/>
          <a:p>
            <a:pPr marL="0" indent="0" algn="ctr">
              <a:buNone/>
            </a:pPr>
            <a:r>
              <a:rPr lang="en-US" sz="1200" b="1" dirty="0">
                <a:solidFill>
                  <a:srgbClr val="1677FF"/>
                </a:solidFill>
                <a:latin typeface="Poppins" pitchFamily="34" charset="0"/>
                <a:ea typeface="Poppins" pitchFamily="34" charset="-122"/>
                <a:cs typeface="Poppins" pitchFamily="34" charset="-120"/>
              </a:rPr>
              <a:t>LOGICIEL MÉTIER</a:t>
            </a:r>
            <a:endParaRPr lang="en-US" sz="1200" dirty="0"/>
          </a:p>
        </p:txBody>
      </p:sp>
      <p:sp>
        <p:nvSpPr>
          <p:cNvPr id="21" name="Text 19"/>
          <p:cNvSpPr/>
          <p:nvPr/>
        </p:nvSpPr>
        <p:spPr>
          <a:xfrm>
            <a:off x="3474720" y="2971800"/>
            <a:ext cx="2194560" cy="320040"/>
          </a:xfrm>
          <a:prstGeom prst="rect">
            <a:avLst/>
          </a:prstGeom>
          <a:noFill/>
          <a:ln/>
        </p:spPr>
        <p:txBody>
          <a:bodyPr wrap="square" lIns="0" tIns="0" rIns="0" bIns="0" rtlCol="0" anchor="ctr"/>
          <a:lstStyle/>
          <a:p>
            <a:pPr marL="0" indent="0" algn="ctr">
              <a:buNone/>
            </a:pPr>
            <a:r>
              <a:rPr lang="en-US" sz="1000" dirty="0">
                <a:solidFill>
                  <a:srgbClr val="374151"/>
                </a:solidFill>
                <a:latin typeface="Poppins" pitchFamily="34" charset="0"/>
                <a:ea typeface="Poppins" pitchFamily="34" charset="-122"/>
                <a:cs typeface="Poppins" pitchFamily="34" charset="-120"/>
              </a:rPr>
              <a:t>Outils spécifiques</a:t>
            </a:r>
            <a:endParaRPr lang="en-US" sz="1000" dirty="0"/>
          </a:p>
        </p:txBody>
      </p:sp>
      <p:sp>
        <p:nvSpPr>
          <p:cNvPr id="22" name="Shape 20"/>
          <p:cNvSpPr/>
          <p:nvPr/>
        </p:nvSpPr>
        <p:spPr>
          <a:xfrm>
            <a:off x="5943600" y="2651760"/>
            <a:ext cx="2194560" cy="822960"/>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23" name="Text 21"/>
          <p:cNvSpPr/>
          <p:nvPr/>
        </p:nvSpPr>
        <p:spPr>
          <a:xfrm>
            <a:off x="5943600" y="2697480"/>
            <a:ext cx="2194560" cy="274320"/>
          </a:xfrm>
          <a:prstGeom prst="rect">
            <a:avLst/>
          </a:prstGeom>
          <a:noFill/>
          <a:ln/>
        </p:spPr>
        <p:txBody>
          <a:bodyPr wrap="square" lIns="0" tIns="0" rIns="0" bIns="0" rtlCol="0" anchor="ctr"/>
          <a:lstStyle/>
          <a:p>
            <a:pPr marL="0" indent="0" algn="ctr">
              <a:buNone/>
            </a:pPr>
            <a:r>
              <a:rPr lang="en-US" sz="1200" b="1" dirty="0">
                <a:solidFill>
                  <a:srgbClr val="1677FF"/>
                </a:solidFill>
                <a:latin typeface="Poppins" pitchFamily="34" charset="0"/>
                <a:ea typeface="Poppins" pitchFamily="34" charset="-122"/>
                <a:cs typeface="Poppins" pitchFamily="34" charset="-120"/>
              </a:rPr>
              <a:t>BASE DE DONNÉES</a:t>
            </a:r>
            <a:endParaRPr lang="en-US" sz="1200" dirty="0"/>
          </a:p>
        </p:txBody>
      </p:sp>
      <p:sp>
        <p:nvSpPr>
          <p:cNvPr id="24" name="Text 22"/>
          <p:cNvSpPr/>
          <p:nvPr/>
        </p:nvSpPr>
        <p:spPr>
          <a:xfrm>
            <a:off x="5943600" y="2971800"/>
            <a:ext cx="2194560" cy="320040"/>
          </a:xfrm>
          <a:prstGeom prst="rect">
            <a:avLst/>
          </a:prstGeom>
          <a:noFill/>
          <a:ln/>
        </p:spPr>
        <p:txBody>
          <a:bodyPr wrap="square" lIns="0" tIns="0" rIns="0" bIns="0" rtlCol="0" anchor="ctr"/>
          <a:lstStyle/>
          <a:p>
            <a:pPr marL="0" indent="0" algn="ctr">
              <a:buNone/>
            </a:pPr>
            <a:r>
              <a:rPr lang="en-US" sz="1000" dirty="0">
                <a:solidFill>
                  <a:srgbClr val="374151"/>
                </a:solidFill>
                <a:latin typeface="Poppins" pitchFamily="34" charset="0"/>
                <a:ea typeface="Poppins" pitchFamily="34" charset="-122"/>
                <a:cs typeface="Poppins" pitchFamily="34" charset="-120"/>
              </a:rPr>
              <a:t>SQL, NoSQL, API</a:t>
            </a:r>
            <a:endParaRPr lang="en-US" sz="1000" dirty="0"/>
          </a:p>
        </p:txBody>
      </p:sp>
      <p:sp>
        <p:nvSpPr>
          <p:cNvPr id="25" name="Text 23"/>
          <p:cNvSpPr/>
          <p:nvPr/>
        </p:nvSpPr>
        <p:spPr>
          <a:xfrm>
            <a:off x="3657600" y="3657600"/>
            <a:ext cx="1828800" cy="640080"/>
          </a:xfrm>
          <a:prstGeom prst="rect">
            <a:avLst/>
          </a:prstGeom>
          <a:noFill/>
          <a:ln/>
        </p:spPr>
        <p:txBody>
          <a:bodyPr wrap="square" lIns="0" tIns="0" rIns="0" bIns="0" rtlCol="0" anchor="ctr"/>
          <a:lstStyle/>
          <a:p>
            <a:pPr marL="0" indent="0" algn="ctr">
              <a:buNone/>
            </a:pPr>
            <a:r>
              <a:rPr lang="en-US" sz="4800" b="1" dirty="0">
                <a:solidFill>
                  <a:srgbClr val="EF4444"/>
                </a:solidFill>
                <a:latin typeface="Poppins" pitchFamily="34" charset="0"/>
                <a:ea typeface="Poppins" pitchFamily="34" charset="-122"/>
                <a:cs typeface="Poppins" pitchFamily="34" charset="-120"/>
              </a:rPr>
              <a:t>?</a:t>
            </a:r>
            <a:endParaRPr lang="en-US" sz="4800" dirty="0"/>
          </a:p>
        </p:txBody>
      </p:sp>
      <p:sp>
        <p:nvSpPr>
          <p:cNvPr id="26" name="Text 24"/>
          <p:cNvSpPr/>
          <p:nvPr/>
        </p:nvSpPr>
        <p:spPr>
          <a:xfrm>
            <a:off x="1371600" y="4297680"/>
            <a:ext cx="6400800" cy="320040"/>
          </a:xfrm>
          <a:prstGeom prst="rect">
            <a:avLst/>
          </a:prstGeom>
          <a:noFill/>
          <a:ln/>
        </p:spPr>
        <p:txBody>
          <a:bodyPr wrap="square" lIns="0" tIns="0" rIns="0" bIns="0" rtlCol="0" anchor="ctr"/>
          <a:lstStyle/>
          <a:p>
            <a:pPr marL="0" indent="0" algn="ctr">
              <a:buNone/>
            </a:pPr>
            <a:r>
              <a:rPr lang="en-US" sz="1200" dirty="0">
                <a:solidFill>
                  <a:srgbClr val="6B7280"/>
                </a:solidFill>
                <a:latin typeface="Poppins" pitchFamily="34" charset="0"/>
                <a:ea typeface="Poppins" pitchFamily="34" charset="-122"/>
                <a:cs typeface="Poppins" pitchFamily="34" charset="-120"/>
              </a:rPr>
              <a:t>Aucun langage commun. Aucune interconnexion native.</a:t>
            </a:r>
            <a:endParaRPr lang="en-US" sz="1200" dirty="0"/>
          </a:p>
        </p:txBody>
      </p:sp>
      <p:sp>
        <p:nvSpPr>
          <p:cNvPr id="27" name="Text 25"/>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900" dirty="0">
                <a:solidFill>
                  <a:srgbClr val="9CA3AF"/>
                </a:solidFill>
                <a:latin typeface="Poppins" pitchFamily="34" charset="0"/>
                <a:ea typeface="Poppins" pitchFamily="34" charset="-122"/>
                <a:cs typeface="Poppins"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28600"/>
            <a:ext cx="8229600" cy="457200"/>
          </a:xfrm>
          <a:prstGeom prst="rect">
            <a:avLst/>
          </a:prstGeom>
          <a:noFill/>
          <a:ln/>
        </p:spPr>
        <p:txBody>
          <a:bodyPr wrap="square" lIns="0" tIns="0" rIns="0" bIns="0" rtlCol="0" anchor="ctr"/>
          <a:lstStyle/>
          <a:p>
            <a:pPr marL="0" indent="0">
              <a:buNone/>
            </a:pPr>
            <a:r>
              <a:rPr lang="en-US" sz="3000" b="1" dirty="0">
                <a:solidFill>
                  <a:srgbClr val="0F172A"/>
                </a:solidFill>
                <a:latin typeface="Poppins" pitchFamily="34" charset="0"/>
                <a:ea typeface="Poppins" pitchFamily="34" charset="-122"/>
                <a:cs typeface="Poppins" pitchFamily="34" charset="-120"/>
              </a:rPr>
              <a:t>L'impact sur votre entreprise</a:t>
            </a:r>
            <a:endParaRPr lang="en-US" sz="3000" dirty="0"/>
          </a:p>
        </p:txBody>
      </p:sp>
      <p:sp>
        <p:nvSpPr>
          <p:cNvPr id="3" name="Shape 1"/>
          <p:cNvSpPr/>
          <p:nvPr/>
        </p:nvSpPr>
        <p:spPr>
          <a:xfrm>
            <a:off x="640080" y="868680"/>
            <a:ext cx="7863840" cy="713232"/>
          </a:xfrm>
          <a:prstGeom prst="rect">
            <a:avLst/>
          </a:prstGeom>
          <a:solidFill>
            <a:srgbClr val="EF4444">
              <a:alpha val="10000"/>
            </a:srgbClr>
          </a:solidFill>
          <a:ln/>
        </p:spPr>
        <p:txBody>
          <a:bodyPr/>
          <a:lstStyle/>
          <a:p>
            <a:endParaRPr lang="fr-FR"/>
          </a:p>
        </p:txBody>
      </p:sp>
      <p:sp>
        <p:nvSpPr>
          <p:cNvPr id="4" name="Shape 2"/>
          <p:cNvSpPr/>
          <p:nvPr/>
        </p:nvSpPr>
        <p:spPr>
          <a:xfrm>
            <a:off x="640080" y="868680"/>
            <a:ext cx="54864" cy="713232"/>
          </a:xfrm>
          <a:prstGeom prst="rect">
            <a:avLst/>
          </a:prstGeom>
          <a:solidFill>
            <a:srgbClr val="EF4444"/>
          </a:solidFill>
          <a:ln/>
        </p:spPr>
        <p:txBody>
          <a:bodyPr/>
          <a:lstStyle/>
          <a:p>
            <a:endParaRPr lang="fr-FR"/>
          </a:p>
        </p:txBody>
      </p:sp>
      <p:sp>
        <p:nvSpPr>
          <p:cNvPr id="5" name="Text 3"/>
          <p:cNvSpPr/>
          <p:nvPr/>
        </p:nvSpPr>
        <p:spPr>
          <a:xfrm>
            <a:off x="777240" y="868680"/>
            <a:ext cx="777240" cy="713232"/>
          </a:xfrm>
          <a:prstGeom prst="rect">
            <a:avLst/>
          </a:prstGeom>
          <a:noFill/>
          <a:ln/>
        </p:spPr>
        <p:txBody>
          <a:bodyPr wrap="square" lIns="0" tIns="0" rIns="0" bIns="0" rtlCol="0" anchor="ctr"/>
          <a:lstStyle/>
          <a:p>
            <a:pPr marL="0" indent="0">
              <a:buNone/>
            </a:pPr>
            <a:r>
              <a:rPr lang="en-US" sz="2800" b="1" dirty="0">
                <a:solidFill>
                  <a:srgbClr val="EF4444"/>
                </a:solidFill>
                <a:latin typeface="Poppins" pitchFamily="34" charset="0"/>
                <a:ea typeface="Poppins" pitchFamily="34" charset="-122"/>
                <a:cs typeface="Poppins" pitchFamily="34" charset="-120"/>
              </a:rPr>
              <a:t>62%</a:t>
            </a:r>
            <a:endParaRPr lang="en-US" sz="2800" dirty="0"/>
          </a:p>
        </p:txBody>
      </p:sp>
      <p:sp>
        <p:nvSpPr>
          <p:cNvPr id="6" name="Text 4"/>
          <p:cNvSpPr/>
          <p:nvPr/>
        </p:nvSpPr>
        <p:spPr>
          <a:xfrm>
            <a:off x="1645920" y="868680"/>
            <a:ext cx="2988259" cy="713232"/>
          </a:xfrm>
          <a:prstGeom prst="rect">
            <a:avLst/>
          </a:prstGeom>
          <a:noFill/>
          <a:ln/>
        </p:spPr>
        <p:txBody>
          <a:bodyPr wrap="square" lIns="0" tIns="0" rIns="0" bIns="0" rtlCol="0" anchor="ctr"/>
          <a:lstStyle/>
          <a:p>
            <a:pPr marL="0" indent="0">
              <a:buNone/>
            </a:pPr>
            <a:r>
              <a:rPr lang="en-US" sz="1200" b="1" dirty="0">
                <a:solidFill>
                  <a:srgbClr val="0F172A"/>
                </a:solidFill>
                <a:latin typeface="Poppins" pitchFamily="34" charset="0"/>
                <a:ea typeface="Poppins" pitchFamily="34" charset="-122"/>
                <a:cs typeface="Poppins" pitchFamily="34" charset="-120"/>
              </a:rPr>
              <a:t>Impact business</a:t>
            </a:r>
            <a:endParaRPr lang="en-US" sz="1200" dirty="0"/>
          </a:p>
        </p:txBody>
      </p:sp>
      <p:sp>
        <p:nvSpPr>
          <p:cNvPr id="7" name="Text 5"/>
          <p:cNvSpPr/>
          <p:nvPr/>
        </p:nvSpPr>
        <p:spPr>
          <a:xfrm>
            <a:off x="4634179" y="868680"/>
            <a:ext cx="3732581" cy="713232"/>
          </a:xfrm>
          <a:prstGeom prst="rect">
            <a:avLst/>
          </a:prstGeom>
          <a:noFill/>
          <a:ln/>
        </p:spPr>
        <p:txBody>
          <a:bodyPr wrap="square" lIns="0" tIns="0" rIns="0" bIns="0" rtlCol="0" anchor="ctr"/>
          <a:lstStyle/>
          <a:p>
            <a:pPr marL="0" indent="0">
              <a:buNone/>
            </a:pPr>
            <a:r>
              <a:rPr lang="en-US" sz="1000" dirty="0">
                <a:solidFill>
                  <a:srgbClr val="374151"/>
                </a:solidFill>
                <a:latin typeface="Poppins" pitchFamily="34" charset="0"/>
                <a:ea typeface="Poppins" pitchFamily="34" charset="-122"/>
                <a:cs typeface="Poppins" pitchFamily="34" charset="-120"/>
              </a:rPr>
              <a:t>décisions sur données non consolidées</a:t>
            </a:r>
            <a:endParaRPr lang="en-US" sz="1000" dirty="0"/>
          </a:p>
        </p:txBody>
      </p:sp>
      <p:sp>
        <p:nvSpPr>
          <p:cNvPr id="8" name="Shape 6"/>
          <p:cNvSpPr/>
          <p:nvPr/>
        </p:nvSpPr>
        <p:spPr>
          <a:xfrm>
            <a:off x="1005840" y="1636776"/>
            <a:ext cx="7132320" cy="713232"/>
          </a:xfrm>
          <a:prstGeom prst="rect">
            <a:avLst/>
          </a:prstGeom>
          <a:solidFill>
            <a:srgbClr val="F59E0B">
              <a:alpha val="10000"/>
            </a:srgbClr>
          </a:solidFill>
          <a:ln/>
        </p:spPr>
        <p:txBody>
          <a:bodyPr/>
          <a:lstStyle/>
          <a:p>
            <a:endParaRPr lang="fr-FR"/>
          </a:p>
        </p:txBody>
      </p:sp>
      <p:sp>
        <p:nvSpPr>
          <p:cNvPr id="9" name="Shape 7"/>
          <p:cNvSpPr/>
          <p:nvPr/>
        </p:nvSpPr>
        <p:spPr>
          <a:xfrm>
            <a:off x="1005840" y="1636776"/>
            <a:ext cx="54864" cy="713232"/>
          </a:xfrm>
          <a:prstGeom prst="rect">
            <a:avLst/>
          </a:prstGeom>
          <a:solidFill>
            <a:srgbClr val="F59E0B"/>
          </a:solidFill>
          <a:ln/>
        </p:spPr>
        <p:txBody>
          <a:bodyPr/>
          <a:lstStyle/>
          <a:p>
            <a:endParaRPr lang="fr-FR"/>
          </a:p>
        </p:txBody>
      </p:sp>
      <p:sp>
        <p:nvSpPr>
          <p:cNvPr id="10" name="Text 8"/>
          <p:cNvSpPr/>
          <p:nvPr/>
        </p:nvSpPr>
        <p:spPr>
          <a:xfrm>
            <a:off x="1143000" y="1636776"/>
            <a:ext cx="777240" cy="713232"/>
          </a:xfrm>
          <a:prstGeom prst="rect">
            <a:avLst/>
          </a:prstGeom>
          <a:noFill/>
          <a:ln/>
        </p:spPr>
        <p:txBody>
          <a:bodyPr wrap="square" lIns="0" tIns="0" rIns="0" bIns="0" rtlCol="0" anchor="ctr"/>
          <a:lstStyle/>
          <a:p>
            <a:pPr marL="0" indent="0">
              <a:buNone/>
            </a:pPr>
            <a:r>
              <a:rPr lang="en-US" sz="2800" b="1" dirty="0">
                <a:solidFill>
                  <a:srgbClr val="F59E0B"/>
                </a:solidFill>
                <a:latin typeface="Poppins" pitchFamily="34" charset="0"/>
                <a:ea typeface="Poppins" pitchFamily="34" charset="-122"/>
                <a:cs typeface="Poppins" pitchFamily="34" charset="-120"/>
              </a:rPr>
              <a:t>11h</a:t>
            </a:r>
            <a:endParaRPr lang="en-US" sz="2800" dirty="0"/>
          </a:p>
        </p:txBody>
      </p:sp>
      <p:sp>
        <p:nvSpPr>
          <p:cNvPr id="11" name="Text 9"/>
          <p:cNvSpPr/>
          <p:nvPr/>
        </p:nvSpPr>
        <p:spPr>
          <a:xfrm>
            <a:off x="2011680" y="1636776"/>
            <a:ext cx="2710282" cy="713232"/>
          </a:xfrm>
          <a:prstGeom prst="rect">
            <a:avLst/>
          </a:prstGeom>
          <a:noFill/>
          <a:ln/>
        </p:spPr>
        <p:txBody>
          <a:bodyPr wrap="square" lIns="0" tIns="0" rIns="0" bIns="0" rtlCol="0" anchor="ctr"/>
          <a:lstStyle/>
          <a:p>
            <a:pPr marL="0" indent="0">
              <a:buNone/>
            </a:pPr>
            <a:r>
              <a:rPr lang="en-US" sz="1200" b="1" dirty="0">
                <a:solidFill>
                  <a:srgbClr val="0F172A"/>
                </a:solidFill>
                <a:latin typeface="Poppins" pitchFamily="34" charset="0"/>
                <a:ea typeface="Poppins" pitchFamily="34" charset="-122"/>
                <a:cs typeface="Poppins" pitchFamily="34" charset="-120"/>
              </a:rPr>
              <a:t>Charge mentale &amp; RPS</a:t>
            </a:r>
            <a:endParaRPr lang="en-US" sz="1200" dirty="0"/>
          </a:p>
        </p:txBody>
      </p:sp>
      <p:sp>
        <p:nvSpPr>
          <p:cNvPr id="12" name="Text 10"/>
          <p:cNvSpPr/>
          <p:nvPr/>
        </p:nvSpPr>
        <p:spPr>
          <a:xfrm>
            <a:off x="4721962" y="1636776"/>
            <a:ext cx="3279038" cy="713232"/>
          </a:xfrm>
          <a:prstGeom prst="rect">
            <a:avLst/>
          </a:prstGeom>
          <a:noFill/>
          <a:ln/>
        </p:spPr>
        <p:txBody>
          <a:bodyPr wrap="square" lIns="0" tIns="0" rIns="0" bIns="0" rtlCol="0" anchor="ctr"/>
          <a:lstStyle/>
          <a:p>
            <a:pPr marL="0" indent="0">
              <a:buNone/>
            </a:pPr>
            <a:r>
              <a:rPr lang="en-US" sz="1000" dirty="0">
                <a:solidFill>
                  <a:srgbClr val="374151"/>
                </a:solidFill>
                <a:latin typeface="Poppins" pitchFamily="34" charset="0"/>
                <a:ea typeface="Poppins" pitchFamily="34" charset="-122"/>
                <a:cs typeface="Poppins" pitchFamily="34" charset="-120"/>
              </a:rPr>
              <a:t>de travail hebdo sans valeur</a:t>
            </a:r>
            <a:endParaRPr lang="en-US" sz="1000" dirty="0"/>
          </a:p>
        </p:txBody>
      </p:sp>
      <p:sp>
        <p:nvSpPr>
          <p:cNvPr id="13" name="Shape 11"/>
          <p:cNvSpPr/>
          <p:nvPr/>
        </p:nvSpPr>
        <p:spPr>
          <a:xfrm>
            <a:off x="1371600" y="2404872"/>
            <a:ext cx="6400800" cy="713232"/>
          </a:xfrm>
          <a:prstGeom prst="rect">
            <a:avLst/>
          </a:prstGeom>
          <a:solidFill>
            <a:srgbClr val="D97706">
              <a:alpha val="10000"/>
            </a:srgbClr>
          </a:solidFill>
          <a:ln/>
        </p:spPr>
        <p:txBody>
          <a:bodyPr/>
          <a:lstStyle/>
          <a:p>
            <a:endParaRPr lang="fr-FR"/>
          </a:p>
        </p:txBody>
      </p:sp>
      <p:sp>
        <p:nvSpPr>
          <p:cNvPr id="14" name="Shape 12"/>
          <p:cNvSpPr/>
          <p:nvPr/>
        </p:nvSpPr>
        <p:spPr>
          <a:xfrm>
            <a:off x="1371600" y="2404872"/>
            <a:ext cx="54864" cy="713232"/>
          </a:xfrm>
          <a:prstGeom prst="rect">
            <a:avLst/>
          </a:prstGeom>
          <a:solidFill>
            <a:srgbClr val="D97706"/>
          </a:solidFill>
          <a:ln/>
        </p:spPr>
        <p:txBody>
          <a:bodyPr/>
          <a:lstStyle/>
          <a:p>
            <a:endParaRPr lang="fr-FR"/>
          </a:p>
        </p:txBody>
      </p:sp>
      <p:sp>
        <p:nvSpPr>
          <p:cNvPr id="15" name="Text 13"/>
          <p:cNvSpPr/>
          <p:nvPr/>
        </p:nvSpPr>
        <p:spPr>
          <a:xfrm>
            <a:off x="1508760" y="2404872"/>
            <a:ext cx="777240" cy="713232"/>
          </a:xfrm>
          <a:prstGeom prst="rect">
            <a:avLst/>
          </a:prstGeom>
          <a:noFill/>
          <a:ln/>
        </p:spPr>
        <p:txBody>
          <a:bodyPr wrap="square" lIns="0" tIns="0" rIns="0" bIns="0" rtlCol="0" anchor="ctr"/>
          <a:lstStyle/>
          <a:p>
            <a:pPr marL="0" indent="0">
              <a:buNone/>
            </a:pPr>
            <a:r>
              <a:rPr lang="en-US" sz="2800" b="1" dirty="0">
                <a:solidFill>
                  <a:srgbClr val="D97706"/>
                </a:solidFill>
                <a:latin typeface="Poppins" pitchFamily="34" charset="0"/>
                <a:ea typeface="Poppins" pitchFamily="34" charset="-122"/>
                <a:cs typeface="Poppins" pitchFamily="34" charset="-120"/>
              </a:rPr>
              <a:t>30%</a:t>
            </a:r>
            <a:endParaRPr lang="en-US" sz="2800" dirty="0"/>
          </a:p>
        </p:txBody>
      </p:sp>
      <p:sp>
        <p:nvSpPr>
          <p:cNvPr id="16" name="Text 14"/>
          <p:cNvSpPr/>
          <p:nvPr/>
        </p:nvSpPr>
        <p:spPr>
          <a:xfrm>
            <a:off x="2377440" y="2404872"/>
            <a:ext cx="2432304" cy="713232"/>
          </a:xfrm>
          <a:prstGeom prst="rect">
            <a:avLst/>
          </a:prstGeom>
          <a:noFill/>
          <a:ln/>
        </p:spPr>
        <p:txBody>
          <a:bodyPr wrap="square" lIns="0" tIns="0" rIns="0" bIns="0" rtlCol="0" anchor="ctr"/>
          <a:lstStyle/>
          <a:p>
            <a:pPr marL="0" indent="0">
              <a:buNone/>
            </a:pPr>
            <a:r>
              <a:rPr lang="en-US" sz="1200" b="1" dirty="0">
                <a:solidFill>
                  <a:srgbClr val="0F172A"/>
                </a:solidFill>
                <a:latin typeface="Poppins" pitchFamily="34" charset="0"/>
                <a:ea typeface="Poppins" pitchFamily="34" charset="-122"/>
                <a:cs typeface="Poppins" pitchFamily="34" charset="-120"/>
              </a:rPr>
              <a:t>Travail manuel répétitif</a:t>
            </a:r>
            <a:endParaRPr lang="en-US" sz="1200" dirty="0"/>
          </a:p>
        </p:txBody>
      </p:sp>
      <p:sp>
        <p:nvSpPr>
          <p:cNvPr id="17" name="Text 15"/>
          <p:cNvSpPr/>
          <p:nvPr/>
        </p:nvSpPr>
        <p:spPr>
          <a:xfrm>
            <a:off x="4809744" y="2404872"/>
            <a:ext cx="2825496" cy="713232"/>
          </a:xfrm>
          <a:prstGeom prst="rect">
            <a:avLst/>
          </a:prstGeom>
          <a:noFill/>
          <a:ln/>
        </p:spPr>
        <p:txBody>
          <a:bodyPr wrap="square" lIns="0" tIns="0" rIns="0" bIns="0" rtlCol="0" anchor="ctr"/>
          <a:lstStyle/>
          <a:p>
            <a:pPr marL="0" indent="0">
              <a:buNone/>
            </a:pPr>
            <a:r>
              <a:rPr lang="en-US" sz="1000" dirty="0">
                <a:solidFill>
                  <a:srgbClr val="374151"/>
                </a:solidFill>
                <a:latin typeface="Poppins" pitchFamily="34" charset="0"/>
                <a:ea typeface="Poppins" pitchFamily="34" charset="-122"/>
                <a:cs typeface="Poppins" pitchFamily="34" charset="-120"/>
              </a:rPr>
              <a:t>de productivité perdue</a:t>
            </a:r>
            <a:endParaRPr lang="en-US" sz="1000" dirty="0"/>
          </a:p>
        </p:txBody>
      </p:sp>
      <p:sp>
        <p:nvSpPr>
          <p:cNvPr id="18" name="Shape 16"/>
          <p:cNvSpPr/>
          <p:nvPr/>
        </p:nvSpPr>
        <p:spPr>
          <a:xfrm>
            <a:off x="1737360" y="3172968"/>
            <a:ext cx="5669280" cy="713232"/>
          </a:xfrm>
          <a:prstGeom prst="rect">
            <a:avLst/>
          </a:prstGeom>
          <a:solidFill>
            <a:srgbClr val="0891B2">
              <a:alpha val="10000"/>
            </a:srgbClr>
          </a:solidFill>
          <a:ln/>
        </p:spPr>
        <p:txBody>
          <a:bodyPr/>
          <a:lstStyle/>
          <a:p>
            <a:endParaRPr lang="fr-FR"/>
          </a:p>
        </p:txBody>
      </p:sp>
      <p:sp>
        <p:nvSpPr>
          <p:cNvPr id="19" name="Shape 17"/>
          <p:cNvSpPr/>
          <p:nvPr/>
        </p:nvSpPr>
        <p:spPr>
          <a:xfrm>
            <a:off x="1737360" y="3172968"/>
            <a:ext cx="54864" cy="713232"/>
          </a:xfrm>
          <a:prstGeom prst="rect">
            <a:avLst/>
          </a:prstGeom>
          <a:solidFill>
            <a:srgbClr val="0891B2"/>
          </a:solidFill>
          <a:ln/>
        </p:spPr>
        <p:txBody>
          <a:bodyPr/>
          <a:lstStyle/>
          <a:p>
            <a:endParaRPr lang="fr-FR"/>
          </a:p>
        </p:txBody>
      </p:sp>
      <p:sp>
        <p:nvSpPr>
          <p:cNvPr id="20" name="Text 18"/>
          <p:cNvSpPr/>
          <p:nvPr/>
        </p:nvSpPr>
        <p:spPr>
          <a:xfrm>
            <a:off x="1874520" y="3172968"/>
            <a:ext cx="777240" cy="713232"/>
          </a:xfrm>
          <a:prstGeom prst="rect">
            <a:avLst/>
          </a:prstGeom>
          <a:noFill/>
          <a:ln/>
        </p:spPr>
        <p:txBody>
          <a:bodyPr wrap="square" lIns="0" tIns="0" rIns="0" bIns="0" rtlCol="0" anchor="ctr"/>
          <a:lstStyle/>
          <a:p>
            <a:pPr marL="0" indent="0">
              <a:buNone/>
            </a:pPr>
            <a:r>
              <a:rPr lang="en-US" sz="2200" b="1" dirty="0">
                <a:solidFill>
                  <a:srgbClr val="0891B2"/>
                </a:solidFill>
                <a:latin typeface="Poppins" pitchFamily="34" charset="0"/>
                <a:ea typeface="Poppins" pitchFamily="34" charset="-122"/>
                <a:cs typeface="Poppins" pitchFamily="34" charset="-120"/>
              </a:rPr>
              <a:t>27%</a:t>
            </a:r>
            <a:endParaRPr lang="en-US" sz="2200" dirty="0"/>
          </a:p>
        </p:txBody>
      </p:sp>
      <p:sp>
        <p:nvSpPr>
          <p:cNvPr id="21" name="Text 19"/>
          <p:cNvSpPr/>
          <p:nvPr/>
        </p:nvSpPr>
        <p:spPr>
          <a:xfrm>
            <a:off x="2743200" y="3172968"/>
            <a:ext cx="2154326" cy="713232"/>
          </a:xfrm>
          <a:prstGeom prst="rect">
            <a:avLst/>
          </a:prstGeom>
          <a:noFill/>
          <a:ln/>
        </p:spPr>
        <p:txBody>
          <a:bodyPr wrap="square" lIns="0" tIns="0" rIns="0" bIns="0" rtlCol="0" anchor="ctr"/>
          <a:lstStyle/>
          <a:p>
            <a:pPr marL="0" indent="0">
              <a:buNone/>
            </a:pPr>
            <a:r>
              <a:rPr lang="en-US" sz="1200" b="1" dirty="0">
                <a:solidFill>
                  <a:srgbClr val="0F172A"/>
                </a:solidFill>
                <a:latin typeface="Poppins" pitchFamily="34" charset="0"/>
                <a:ea typeface="Poppins" pitchFamily="34" charset="-122"/>
                <a:cs typeface="Poppins" pitchFamily="34" charset="-120"/>
              </a:rPr>
              <a:t>Silos organisationnels</a:t>
            </a:r>
            <a:endParaRPr lang="en-US" sz="1200" dirty="0"/>
          </a:p>
        </p:txBody>
      </p:sp>
      <p:sp>
        <p:nvSpPr>
          <p:cNvPr id="22" name="Text 20"/>
          <p:cNvSpPr/>
          <p:nvPr/>
        </p:nvSpPr>
        <p:spPr>
          <a:xfrm>
            <a:off x="4897526" y="3172968"/>
            <a:ext cx="2371954" cy="713232"/>
          </a:xfrm>
          <a:prstGeom prst="rect">
            <a:avLst/>
          </a:prstGeom>
          <a:noFill/>
          <a:ln/>
        </p:spPr>
        <p:txBody>
          <a:bodyPr wrap="square" lIns="0" tIns="0" rIns="0" bIns="0" rtlCol="0" anchor="ctr"/>
          <a:lstStyle/>
          <a:p>
            <a:pPr marL="0" indent="0">
              <a:buNone/>
            </a:pPr>
            <a:r>
              <a:rPr lang="en-US" sz="1000" dirty="0">
                <a:solidFill>
                  <a:srgbClr val="374151"/>
                </a:solidFill>
                <a:latin typeface="Poppins" pitchFamily="34" charset="0"/>
                <a:ea typeface="Poppins" pitchFamily="34" charset="-122"/>
                <a:cs typeface="Poppins" pitchFamily="34" charset="-120"/>
              </a:rPr>
              <a:t>données incorrectes ou dupliquées</a:t>
            </a:r>
            <a:endParaRPr lang="en-US" sz="1000" dirty="0"/>
          </a:p>
        </p:txBody>
      </p:sp>
      <p:sp>
        <p:nvSpPr>
          <p:cNvPr id="23" name="Shape 21"/>
          <p:cNvSpPr/>
          <p:nvPr/>
        </p:nvSpPr>
        <p:spPr>
          <a:xfrm>
            <a:off x="2103120" y="3941064"/>
            <a:ext cx="4937760" cy="713232"/>
          </a:xfrm>
          <a:prstGeom prst="rect">
            <a:avLst/>
          </a:prstGeom>
          <a:solidFill>
            <a:srgbClr val="1677FF">
              <a:alpha val="10000"/>
            </a:srgbClr>
          </a:solidFill>
          <a:ln/>
        </p:spPr>
        <p:txBody>
          <a:bodyPr/>
          <a:lstStyle/>
          <a:p>
            <a:endParaRPr lang="fr-FR"/>
          </a:p>
        </p:txBody>
      </p:sp>
      <p:sp>
        <p:nvSpPr>
          <p:cNvPr id="24" name="Shape 22"/>
          <p:cNvSpPr/>
          <p:nvPr/>
        </p:nvSpPr>
        <p:spPr>
          <a:xfrm>
            <a:off x="2103120" y="3941064"/>
            <a:ext cx="54864" cy="713232"/>
          </a:xfrm>
          <a:prstGeom prst="rect">
            <a:avLst/>
          </a:prstGeom>
          <a:solidFill>
            <a:srgbClr val="1677FF"/>
          </a:solidFill>
          <a:ln/>
        </p:spPr>
        <p:txBody>
          <a:bodyPr/>
          <a:lstStyle/>
          <a:p>
            <a:endParaRPr lang="fr-FR"/>
          </a:p>
        </p:txBody>
      </p:sp>
      <p:sp>
        <p:nvSpPr>
          <p:cNvPr id="25" name="Text 23"/>
          <p:cNvSpPr/>
          <p:nvPr/>
        </p:nvSpPr>
        <p:spPr>
          <a:xfrm>
            <a:off x="2240280" y="3941064"/>
            <a:ext cx="777240" cy="713232"/>
          </a:xfrm>
          <a:prstGeom prst="rect">
            <a:avLst/>
          </a:prstGeom>
          <a:noFill/>
          <a:ln/>
        </p:spPr>
        <p:txBody>
          <a:bodyPr wrap="square" lIns="0" tIns="0" rIns="0" bIns="0" rtlCol="0" anchor="ctr"/>
          <a:lstStyle/>
          <a:p>
            <a:pPr marL="0" indent="0">
              <a:buNone/>
            </a:pPr>
            <a:r>
              <a:rPr lang="en-US" sz="2200" b="1" dirty="0">
                <a:solidFill>
                  <a:srgbClr val="1677FF"/>
                </a:solidFill>
                <a:latin typeface="Poppins" pitchFamily="34" charset="0"/>
                <a:ea typeface="Poppins" pitchFamily="34" charset="-122"/>
                <a:cs typeface="Poppins" pitchFamily="34" charset="-120"/>
              </a:rPr>
              <a:t>0</a:t>
            </a:r>
            <a:endParaRPr lang="en-US" sz="2200" dirty="0"/>
          </a:p>
        </p:txBody>
      </p:sp>
      <p:sp>
        <p:nvSpPr>
          <p:cNvPr id="26" name="Text 24"/>
          <p:cNvSpPr/>
          <p:nvPr/>
        </p:nvSpPr>
        <p:spPr>
          <a:xfrm>
            <a:off x="3108960" y="3941064"/>
            <a:ext cx="1876349" cy="713232"/>
          </a:xfrm>
          <a:prstGeom prst="rect">
            <a:avLst/>
          </a:prstGeom>
          <a:noFill/>
          <a:ln/>
        </p:spPr>
        <p:txBody>
          <a:bodyPr wrap="square" lIns="0" tIns="0" rIns="0" bIns="0" rtlCol="0" anchor="ctr"/>
          <a:lstStyle/>
          <a:p>
            <a:pPr marL="0" indent="0">
              <a:buNone/>
            </a:pPr>
            <a:r>
              <a:rPr lang="en-US" sz="1050" b="1" dirty="0">
                <a:solidFill>
                  <a:srgbClr val="0F172A"/>
                </a:solidFill>
                <a:latin typeface="Poppins" pitchFamily="34" charset="0"/>
                <a:ea typeface="Poppins" pitchFamily="34" charset="-122"/>
                <a:cs typeface="Poppins" pitchFamily="34" charset="-120"/>
              </a:rPr>
              <a:t>Absence d'interopérabilité</a:t>
            </a:r>
            <a:endParaRPr lang="en-US" sz="1050" dirty="0"/>
          </a:p>
        </p:txBody>
      </p:sp>
      <p:sp>
        <p:nvSpPr>
          <p:cNvPr id="27" name="Text 25"/>
          <p:cNvSpPr/>
          <p:nvPr/>
        </p:nvSpPr>
        <p:spPr>
          <a:xfrm>
            <a:off x="4985309" y="3941064"/>
            <a:ext cx="1918411" cy="713232"/>
          </a:xfrm>
          <a:prstGeom prst="rect">
            <a:avLst/>
          </a:prstGeom>
          <a:noFill/>
          <a:ln/>
        </p:spPr>
        <p:txBody>
          <a:bodyPr wrap="square" lIns="0" tIns="0" rIns="0" bIns="0" rtlCol="0" anchor="ctr"/>
          <a:lstStyle/>
          <a:p>
            <a:pPr marL="0" indent="0">
              <a:buNone/>
            </a:pPr>
            <a:r>
              <a:rPr lang="en-US" sz="1000" dirty="0">
                <a:solidFill>
                  <a:srgbClr val="374151"/>
                </a:solidFill>
                <a:latin typeface="Poppins" pitchFamily="34" charset="0"/>
                <a:ea typeface="Poppins" pitchFamily="34" charset="-122"/>
                <a:cs typeface="Poppins" pitchFamily="34" charset="-120"/>
              </a:rPr>
              <a:t>langage commun entre outils</a:t>
            </a:r>
            <a:endParaRPr lang="en-US" sz="1000" dirty="0"/>
          </a:p>
        </p:txBody>
      </p:sp>
      <p:sp>
        <p:nvSpPr>
          <p:cNvPr id="28" name="Text 26"/>
          <p:cNvSpPr/>
          <p:nvPr/>
        </p:nvSpPr>
        <p:spPr>
          <a:xfrm>
            <a:off x="640080" y="4663440"/>
            <a:ext cx="7863840" cy="320040"/>
          </a:xfrm>
          <a:prstGeom prst="rect">
            <a:avLst/>
          </a:prstGeom>
          <a:noFill/>
          <a:ln/>
        </p:spPr>
        <p:txBody>
          <a:bodyPr wrap="square" lIns="0" tIns="0" rIns="0" bIns="0" rtlCol="0" anchor="ctr"/>
          <a:lstStyle/>
          <a:p>
            <a:pPr marL="0" indent="0" algn="ctr">
              <a:buNone/>
            </a:pPr>
            <a:r>
              <a:rPr lang="en-US" sz="1000" i="1" dirty="0">
                <a:solidFill>
                  <a:srgbClr val="6B7280"/>
                </a:solidFill>
                <a:latin typeface="Poppins" pitchFamily="34" charset="0"/>
                <a:ea typeface="Poppins" pitchFamily="34" charset="-122"/>
                <a:cs typeface="Poppins" pitchFamily="34" charset="-120"/>
              </a:rPr>
              <a:t>Les systèmes ne parlent pas → les équipes compensent → l'entreprise perd temps, argent et contrôle.</a:t>
            </a:r>
            <a:endParaRPr lang="en-US" sz="1000" dirty="0"/>
          </a:p>
        </p:txBody>
      </p:sp>
      <p:sp>
        <p:nvSpPr>
          <p:cNvPr id="29" name="Text 27"/>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900" dirty="0">
                <a:solidFill>
                  <a:srgbClr val="9CA3AF"/>
                </a:solidFill>
                <a:latin typeface="Poppins" pitchFamily="34" charset="0"/>
                <a:ea typeface="Poppins" pitchFamily="34" charset="-122"/>
                <a:cs typeface="Poppins"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74320"/>
            <a:ext cx="8229600" cy="457200"/>
          </a:xfrm>
          <a:prstGeom prst="rect">
            <a:avLst/>
          </a:prstGeom>
          <a:noFill/>
          <a:ln/>
        </p:spPr>
        <p:txBody>
          <a:bodyPr wrap="square" lIns="0" tIns="0" rIns="0" bIns="0" rtlCol="0" anchor="ctr"/>
          <a:lstStyle/>
          <a:p>
            <a:pPr marL="0" indent="0">
              <a:buNone/>
            </a:pPr>
            <a:r>
              <a:rPr lang="en-US" sz="3000" b="1" dirty="0">
                <a:solidFill>
                  <a:srgbClr val="0F172A"/>
                </a:solidFill>
                <a:latin typeface="Poppins" pitchFamily="34" charset="0"/>
                <a:ea typeface="Poppins" pitchFamily="34" charset="-122"/>
                <a:cs typeface="Poppins" pitchFamily="34" charset="-120"/>
              </a:rPr>
              <a:t>La solution KINN</a:t>
            </a:r>
            <a:endParaRPr lang="en-US" sz="3000" dirty="0"/>
          </a:p>
        </p:txBody>
      </p:sp>
      <p:sp>
        <p:nvSpPr>
          <p:cNvPr id="3" name="Text 1"/>
          <p:cNvSpPr/>
          <p:nvPr/>
        </p:nvSpPr>
        <p:spPr>
          <a:xfrm>
            <a:off x="640080" y="731520"/>
            <a:ext cx="7315200" cy="274320"/>
          </a:xfrm>
          <a:prstGeom prst="rect">
            <a:avLst/>
          </a:prstGeom>
          <a:noFill/>
          <a:ln/>
        </p:spPr>
        <p:txBody>
          <a:bodyPr wrap="square" lIns="0" tIns="0" rIns="0" bIns="0" rtlCol="0" anchor="ctr"/>
          <a:lstStyle/>
          <a:p>
            <a:pPr marL="0" indent="0">
              <a:buNone/>
            </a:pPr>
            <a:r>
              <a:rPr lang="en-US" sz="1300" dirty="0">
                <a:solidFill>
                  <a:srgbClr val="1677FF"/>
                </a:solidFill>
                <a:latin typeface="Poppins" pitchFamily="34" charset="0"/>
                <a:ea typeface="Poppins" pitchFamily="34" charset="-122"/>
                <a:cs typeface="Poppins" pitchFamily="34" charset="-120"/>
              </a:rPr>
              <a:t>Réunifier. Automatiser. Gouverner.</a:t>
            </a:r>
            <a:endParaRPr lang="en-US" sz="1300" dirty="0"/>
          </a:p>
        </p:txBody>
      </p:sp>
      <p:sp>
        <p:nvSpPr>
          <p:cNvPr id="4" name="Shape 2"/>
          <p:cNvSpPr/>
          <p:nvPr/>
        </p:nvSpPr>
        <p:spPr>
          <a:xfrm>
            <a:off x="525780" y="1188720"/>
            <a:ext cx="1508760" cy="3017520"/>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5" name="Shape 3"/>
          <p:cNvSpPr/>
          <p:nvPr/>
        </p:nvSpPr>
        <p:spPr>
          <a:xfrm>
            <a:off x="525780" y="1188720"/>
            <a:ext cx="1508760" cy="73152"/>
          </a:xfrm>
          <a:prstGeom prst="rect">
            <a:avLst/>
          </a:prstGeom>
          <a:solidFill>
            <a:srgbClr val="1677FF"/>
          </a:solidFill>
          <a:ln/>
        </p:spPr>
        <p:txBody>
          <a:bodyPr/>
          <a:lstStyle/>
          <a:p>
            <a:endParaRPr lang="fr-FR"/>
          </a:p>
        </p:txBody>
      </p:sp>
      <p:sp>
        <p:nvSpPr>
          <p:cNvPr id="6" name="Shape 4"/>
          <p:cNvSpPr/>
          <p:nvPr/>
        </p:nvSpPr>
        <p:spPr>
          <a:xfrm>
            <a:off x="982980" y="1417320"/>
            <a:ext cx="548640" cy="548640"/>
          </a:xfrm>
          <a:prstGeom prst="ellipse">
            <a:avLst/>
          </a:prstGeom>
          <a:solidFill>
            <a:srgbClr val="EBF5FF"/>
          </a:solidFill>
          <a:ln/>
        </p:spPr>
        <p:txBody>
          <a:bodyPr/>
          <a:lstStyle/>
          <a:p>
            <a:endParaRPr lang="fr-FR"/>
          </a:p>
        </p:txBody>
      </p:sp>
      <p:pic>
        <p:nvPicPr>
          <p:cNvPr id="7" name="Image 0" descr="preencoded.png"/>
          <p:cNvPicPr>
            <a:picLocks noChangeAspect="1"/>
          </p:cNvPicPr>
          <p:nvPr/>
        </p:nvPicPr>
        <p:blipFill>
          <a:blip r:embed="rId3"/>
          <a:stretch>
            <a:fillRect/>
          </a:stretch>
        </p:blipFill>
        <p:spPr>
          <a:xfrm>
            <a:off x="1074420" y="1508760"/>
            <a:ext cx="365760" cy="365760"/>
          </a:xfrm>
          <a:prstGeom prst="rect">
            <a:avLst/>
          </a:prstGeom>
        </p:spPr>
      </p:pic>
      <p:sp>
        <p:nvSpPr>
          <p:cNvPr id="8" name="Text 5"/>
          <p:cNvSpPr/>
          <p:nvPr/>
        </p:nvSpPr>
        <p:spPr>
          <a:xfrm>
            <a:off x="571500" y="2148840"/>
            <a:ext cx="1417320" cy="502920"/>
          </a:xfrm>
          <a:prstGeom prst="rect">
            <a:avLst/>
          </a:prstGeom>
          <a:noFill/>
          <a:ln/>
        </p:spPr>
        <p:txBody>
          <a:bodyPr wrap="square" lIns="0" tIns="0" rIns="0" bIns="0" rtlCol="0" anchor="ctr"/>
          <a:lstStyle/>
          <a:p>
            <a:pPr marL="0" indent="0" algn="ctr">
              <a:lnSpc>
                <a:spcPct val="120000"/>
              </a:lnSpc>
              <a:buNone/>
            </a:pPr>
            <a:r>
              <a:rPr lang="en-US" sz="1100" b="1" dirty="0">
                <a:solidFill>
                  <a:srgbClr val="0F172A"/>
                </a:solidFill>
                <a:latin typeface="Poppins" pitchFamily="34" charset="0"/>
                <a:ea typeface="Poppins" pitchFamily="34" charset="-122"/>
                <a:cs typeface="Poppins" pitchFamily="34" charset="-120"/>
              </a:rPr>
              <a:t>Interopérabilité</a:t>
            </a:r>
            <a:endParaRPr lang="en-US" sz="1100" dirty="0"/>
          </a:p>
          <a:p>
            <a:pPr marL="0" indent="0" algn="ctr">
              <a:lnSpc>
                <a:spcPct val="120000"/>
              </a:lnSpc>
              <a:buNone/>
            </a:pPr>
            <a:r>
              <a:rPr lang="en-US" sz="1100" b="1" dirty="0">
                <a:solidFill>
                  <a:srgbClr val="0F172A"/>
                </a:solidFill>
                <a:latin typeface="Poppins" pitchFamily="34" charset="0"/>
                <a:ea typeface="Poppins" pitchFamily="34" charset="-122"/>
                <a:cs typeface="Poppins" pitchFamily="34" charset="-120"/>
              </a:rPr>
              <a:t>totale</a:t>
            </a:r>
            <a:endParaRPr lang="en-US" sz="1100" dirty="0"/>
          </a:p>
        </p:txBody>
      </p:sp>
      <p:sp>
        <p:nvSpPr>
          <p:cNvPr id="9" name="Text 6"/>
          <p:cNvSpPr/>
          <p:nvPr/>
        </p:nvSpPr>
        <p:spPr>
          <a:xfrm>
            <a:off x="571500" y="2743200"/>
            <a:ext cx="1417320" cy="640080"/>
          </a:xfrm>
          <a:prstGeom prst="rect">
            <a:avLst/>
          </a:prstGeom>
          <a:noFill/>
          <a:ln/>
        </p:spPr>
        <p:txBody>
          <a:bodyPr wrap="square" lIns="0" tIns="0" rIns="0" bIns="0" rtlCol="0" anchor="ctr"/>
          <a:lstStyle/>
          <a:p>
            <a:pPr marL="0" indent="0" algn="ctr">
              <a:lnSpc>
                <a:spcPct val="130000"/>
              </a:lnSpc>
              <a:buNone/>
            </a:pPr>
            <a:r>
              <a:rPr lang="en-US" sz="900" dirty="0">
                <a:solidFill>
                  <a:srgbClr val="374151"/>
                </a:solidFill>
                <a:latin typeface="Poppins" pitchFamily="34" charset="0"/>
                <a:ea typeface="Poppins" pitchFamily="34" charset="-122"/>
                <a:cs typeface="Poppins" pitchFamily="34" charset="-120"/>
              </a:rPr>
              <a:t>ERP, CRM, mails, IoT,</a:t>
            </a:r>
            <a:endParaRPr lang="en-US" sz="900" dirty="0"/>
          </a:p>
          <a:p>
            <a:pPr marL="0" indent="0" algn="ctr">
              <a:lnSpc>
                <a:spcPct val="130000"/>
              </a:lnSpc>
              <a:buNone/>
            </a:pPr>
            <a:r>
              <a:rPr lang="en-US" sz="900" dirty="0">
                <a:solidFill>
                  <a:srgbClr val="374151"/>
                </a:solidFill>
                <a:latin typeface="Poppins" pitchFamily="34" charset="0"/>
                <a:ea typeface="Poppins" pitchFamily="34" charset="-122"/>
                <a:cs typeface="Poppins" pitchFamily="34" charset="-120"/>
              </a:rPr>
              <a:t>API → enfin unifiés</a:t>
            </a:r>
            <a:endParaRPr lang="en-US" sz="900" dirty="0"/>
          </a:p>
        </p:txBody>
      </p:sp>
      <p:sp>
        <p:nvSpPr>
          <p:cNvPr id="10" name="Shape 7"/>
          <p:cNvSpPr/>
          <p:nvPr/>
        </p:nvSpPr>
        <p:spPr>
          <a:xfrm>
            <a:off x="2171700" y="1188720"/>
            <a:ext cx="1508760" cy="3017520"/>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11" name="Shape 8"/>
          <p:cNvSpPr/>
          <p:nvPr/>
        </p:nvSpPr>
        <p:spPr>
          <a:xfrm>
            <a:off x="2171700" y="1188720"/>
            <a:ext cx="1508760" cy="73152"/>
          </a:xfrm>
          <a:prstGeom prst="rect">
            <a:avLst/>
          </a:prstGeom>
          <a:solidFill>
            <a:srgbClr val="0891B2"/>
          </a:solidFill>
          <a:ln/>
        </p:spPr>
        <p:txBody>
          <a:bodyPr/>
          <a:lstStyle/>
          <a:p>
            <a:endParaRPr lang="fr-FR"/>
          </a:p>
        </p:txBody>
      </p:sp>
      <p:sp>
        <p:nvSpPr>
          <p:cNvPr id="12" name="Shape 9"/>
          <p:cNvSpPr/>
          <p:nvPr/>
        </p:nvSpPr>
        <p:spPr>
          <a:xfrm>
            <a:off x="2628900" y="1417320"/>
            <a:ext cx="548640" cy="548640"/>
          </a:xfrm>
          <a:prstGeom prst="ellipse">
            <a:avLst/>
          </a:prstGeom>
          <a:solidFill>
            <a:srgbClr val="EBF5FF"/>
          </a:solidFill>
          <a:ln/>
        </p:spPr>
        <p:txBody>
          <a:bodyPr/>
          <a:lstStyle/>
          <a:p>
            <a:endParaRPr lang="fr-FR"/>
          </a:p>
        </p:txBody>
      </p:sp>
      <p:pic>
        <p:nvPicPr>
          <p:cNvPr id="13" name="Image 1" descr="preencoded.png"/>
          <p:cNvPicPr>
            <a:picLocks noChangeAspect="1"/>
          </p:cNvPicPr>
          <p:nvPr/>
        </p:nvPicPr>
        <p:blipFill>
          <a:blip r:embed="rId4"/>
          <a:stretch>
            <a:fillRect/>
          </a:stretch>
        </p:blipFill>
        <p:spPr>
          <a:xfrm>
            <a:off x="2720340" y="1508760"/>
            <a:ext cx="365760" cy="365760"/>
          </a:xfrm>
          <a:prstGeom prst="rect">
            <a:avLst/>
          </a:prstGeom>
        </p:spPr>
      </p:pic>
      <p:sp>
        <p:nvSpPr>
          <p:cNvPr id="14" name="Text 10"/>
          <p:cNvSpPr/>
          <p:nvPr/>
        </p:nvSpPr>
        <p:spPr>
          <a:xfrm>
            <a:off x="2217420" y="2148840"/>
            <a:ext cx="1417320" cy="502920"/>
          </a:xfrm>
          <a:prstGeom prst="rect">
            <a:avLst/>
          </a:prstGeom>
          <a:noFill/>
          <a:ln/>
        </p:spPr>
        <p:txBody>
          <a:bodyPr wrap="square" lIns="0" tIns="0" rIns="0" bIns="0" rtlCol="0" anchor="ctr"/>
          <a:lstStyle/>
          <a:p>
            <a:pPr marL="0" indent="0" algn="ctr">
              <a:lnSpc>
                <a:spcPct val="120000"/>
              </a:lnSpc>
              <a:buNone/>
            </a:pPr>
            <a:r>
              <a:rPr lang="en-US" sz="1100" b="1" dirty="0">
                <a:solidFill>
                  <a:srgbClr val="0F172A"/>
                </a:solidFill>
                <a:latin typeface="Poppins" pitchFamily="34" charset="0"/>
                <a:ea typeface="Poppins" pitchFamily="34" charset="-122"/>
                <a:cs typeface="Poppins" pitchFamily="34" charset="-120"/>
              </a:rPr>
              <a:t>Unification</a:t>
            </a:r>
            <a:endParaRPr lang="en-US" sz="1100" dirty="0"/>
          </a:p>
          <a:p>
            <a:pPr marL="0" indent="0" algn="ctr">
              <a:lnSpc>
                <a:spcPct val="120000"/>
              </a:lnSpc>
              <a:buNone/>
            </a:pPr>
            <a:r>
              <a:rPr lang="en-US" sz="1100" b="1" dirty="0">
                <a:solidFill>
                  <a:srgbClr val="0F172A"/>
                </a:solidFill>
                <a:latin typeface="Poppins" pitchFamily="34" charset="0"/>
                <a:ea typeface="Poppins" pitchFamily="34" charset="-122"/>
                <a:cs typeface="Poppins" pitchFamily="34" charset="-120"/>
              </a:rPr>
              <a:t>des flux</a:t>
            </a:r>
            <a:endParaRPr lang="en-US" sz="1100" dirty="0"/>
          </a:p>
        </p:txBody>
      </p:sp>
      <p:sp>
        <p:nvSpPr>
          <p:cNvPr id="15" name="Text 11"/>
          <p:cNvSpPr/>
          <p:nvPr/>
        </p:nvSpPr>
        <p:spPr>
          <a:xfrm>
            <a:off x="2217420" y="2743200"/>
            <a:ext cx="1417320" cy="640080"/>
          </a:xfrm>
          <a:prstGeom prst="rect">
            <a:avLst/>
          </a:prstGeom>
          <a:noFill/>
          <a:ln/>
        </p:spPr>
        <p:txBody>
          <a:bodyPr wrap="square" lIns="0" tIns="0" rIns="0" bIns="0" rtlCol="0" anchor="ctr"/>
          <a:lstStyle/>
          <a:p>
            <a:pPr marL="0" indent="0" algn="ctr">
              <a:lnSpc>
                <a:spcPct val="130000"/>
              </a:lnSpc>
              <a:buNone/>
            </a:pPr>
            <a:r>
              <a:rPr lang="en-US" sz="900" dirty="0">
                <a:solidFill>
                  <a:srgbClr val="374151"/>
                </a:solidFill>
                <a:latin typeface="Poppins" pitchFamily="34" charset="0"/>
                <a:ea typeface="Poppins" pitchFamily="34" charset="-122"/>
                <a:cs typeface="Poppins" pitchFamily="34" charset="-120"/>
              </a:rPr>
              <a:t>Processus modélisés,</a:t>
            </a:r>
            <a:endParaRPr lang="en-US" sz="900" dirty="0"/>
          </a:p>
          <a:p>
            <a:pPr marL="0" indent="0" algn="ctr">
              <a:lnSpc>
                <a:spcPct val="130000"/>
              </a:lnSpc>
              <a:buNone/>
            </a:pPr>
            <a:r>
              <a:rPr lang="en-US" sz="900" dirty="0">
                <a:solidFill>
                  <a:srgbClr val="374151"/>
                </a:solidFill>
                <a:latin typeface="Poppins" pitchFamily="34" charset="0"/>
                <a:ea typeface="Poppins" pitchFamily="34" charset="-122"/>
                <a:cs typeface="Poppins" pitchFamily="34" charset="-120"/>
              </a:rPr>
              <a:t>reliés, standardisés</a:t>
            </a:r>
            <a:endParaRPr lang="en-US" sz="900" dirty="0"/>
          </a:p>
        </p:txBody>
      </p:sp>
      <p:sp>
        <p:nvSpPr>
          <p:cNvPr id="16" name="Shape 12"/>
          <p:cNvSpPr/>
          <p:nvPr/>
        </p:nvSpPr>
        <p:spPr>
          <a:xfrm>
            <a:off x="3817620" y="1188720"/>
            <a:ext cx="1508760" cy="3017520"/>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17" name="Shape 13"/>
          <p:cNvSpPr/>
          <p:nvPr/>
        </p:nvSpPr>
        <p:spPr>
          <a:xfrm>
            <a:off x="3817620" y="1188720"/>
            <a:ext cx="1508760" cy="73152"/>
          </a:xfrm>
          <a:prstGeom prst="rect">
            <a:avLst/>
          </a:prstGeom>
          <a:solidFill>
            <a:srgbClr val="F59E0B"/>
          </a:solidFill>
          <a:ln/>
        </p:spPr>
        <p:txBody>
          <a:bodyPr/>
          <a:lstStyle/>
          <a:p>
            <a:endParaRPr lang="fr-FR"/>
          </a:p>
        </p:txBody>
      </p:sp>
      <p:sp>
        <p:nvSpPr>
          <p:cNvPr id="18" name="Shape 14"/>
          <p:cNvSpPr/>
          <p:nvPr/>
        </p:nvSpPr>
        <p:spPr>
          <a:xfrm>
            <a:off x="4274820" y="1417320"/>
            <a:ext cx="548640" cy="548640"/>
          </a:xfrm>
          <a:prstGeom prst="ellipse">
            <a:avLst/>
          </a:prstGeom>
          <a:solidFill>
            <a:srgbClr val="EBF5FF"/>
          </a:solidFill>
          <a:ln/>
        </p:spPr>
        <p:txBody>
          <a:bodyPr/>
          <a:lstStyle/>
          <a:p>
            <a:endParaRPr lang="fr-FR"/>
          </a:p>
        </p:txBody>
      </p:sp>
      <p:pic>
        <p:nvPicPr>
          <p:cNvPr id="19" name="Image 2" descr="preencoded.png"/>
          <p:cNvPicPr>
            <a:picLocks noChangeAspect="1"/>
          </p:cNvPicPr>
          <p:nvPr/>
        </p:nvPicPr>
        <p:blipFill>
          <a:blip r:embed="rId5"/>
          <a:stretch>
            <a:fillRect/>
          </a:stretch>
        </p:blipFill>
        <p:spPr>
          <a:xfrm>
            <a:off x="4366260" y="1508760"/>
            <a:ext cx="365760" cy="365760"/>
          </a:xfrm>
          <a:prstGeom prst="rect">
            <a:avLst/>
          </a:prstGeom>
        </p:spPr>
      </p:pic>
      <p:sp>
        <p:nvSpPr>
          <p:cNvPr id="20" name="Text 15"/>
          <p:cNvSpPr/>
          <p:nvPr/>
        </p:nvSpPr>
        <p:spPr>
          <a:xfrm>
            <a:off x="3863340" y="2148840"/>
            <a:ext cx="1417320" cy="502920"/>
          </a:xfrm>
          <a:prstGeom prst="rect">
            <a:avLst/>
          </a:prstGeom>
          <a:noFill/>
          <a:ln/>
        </p:spPr>
        <p:txBody>
          <a:bodyPr wrap="square" lIns="0" tIns="0" rIns="0" bIns="0" rtlCol="0" anchor="ctr"/>
          <a:lstStyle/>
          <a:p>
            <a:pPr marL="0" indent="0" algn="ctr">
              <a:lnSpc>
                <a:spcPct val="120000"/>
              </a:lnSpc>
              <a:buNone/>
            </a:pPr>
            <a:r>
              <a:rPr lang="en-US" sz="1100" b="1" dirty="0">
                <a:solidFill>
                  <a:srgbClr val="0F172A"/>
                </a:solidFill>
                <a:latin typeface="Poppins" pitchFamily="34" charset="0"/>
                <a:ea typeface="Poppins" pitchFamily="34" charset="-122"/>
                <a:cs typeface="Poppins" pitchFamily="34" charset="-120"/>
              </a:rPr>
              <a:t>Automatisation</a:t>
            </a:r>
            <a:endParaRPr lang="en-US" sz="1100" dirty="0"/>
          </a:p>
          <a:p>
            <a:pPr marL="0" indent="0" algn="ctr">
              <a:lnSpc>
                <a:spcPct val="120000"/>
              </a:lnSpc>
              <a:buNone/>
            </a:pPr>
            <a:r>
              <a:rPr lang="en-US" sz="1100" b="1" dirty="0">
                <a:solidFill>
                  <a:srgbClr val="0F172A"/>
                </a:solidFill>
                <a:latin typeface="Poppins" pitchFamily="34" charset="0"/>
                <a:ea typeface="Poppins" pitchFamily="34" charset="-122"/>
                <a:cs typeface="Poppins" pitchFamily="34" charset="-120"/>
              </a:rPr>
              <a:t>intelligente</a:t>
            </a:r>
            <a:endParaRPr lang="en-US" sz="1100" dirty="0"/>
          </a:p>
        </p:txBody>
      </p:sp>
      <p:sp>
        <p:nvSpPr>
          <p:cNvPr id="21" name="Text 16"/>
          <p:cNvSpPr/>
          <p:nvPr/>
        </p:nvSpPr>
        <p:spPr>
          <a:xfrm>
            <a:off x="3863340" y="2743200"/>
            <a:ext cx="1417320" cy="640080"/>
          </a:xfrm>
          <a:prstGeom prst="rect">
            <a:avLst/>
          </a:prstGeom>
          <a:noFill/>
          <a:ln/>
        </p:spPr>
        <p:txBody>
          <a:bodyPr wrap="square" lIns="0" tIns="0" rIns="0" bIns="0" rtlCol="0" anchor="ctr"/>
          <a:lstStyle/>
          <a:p>
            <a:pPr marL="0" indent="0" algn="ctr">
              <a:lnSpc>
                <a:spcPct val="130000"/>
              </a:lnSpc>
              <a:buNone/>
            </a:pPr>
            <a:r>
              <a:rPr lang="en-US" sz="900" dirty="0">
                <a:solidFill>
                  <a:srgbClr val="374151"/>
                </a:solidFill>
                <a:latin typeface="Poppins" pitchFamily="34" charset="0"/>
                <a:ea typeface="Poppins" pitchFamily="34" charset="-122"/>
                <a:cs typeface="Poppins" pitchFamily="34" charset="-120"/>
              </a:rPr>
              <a:t>30-60% du travail</a:t>
            </a:r>
            <a:endParaRPr lang="en-US" sz="900" dirty="0"/>
          </a:p>
          <a:p>
            <a:pPr marL="0" indent="0" algn="ctr">
              <a:lnSpc>
                <a:spcPct val="130000"/>
              </a:lnSpc>
              <a:buNone/>
            </a:pPr>
            <a:r>
              <a:rPr lang="en-US" sz="900" dirty="0">
                <a:solidFill>
                  <a:srgbClr val="374151"/>
                </a:solidFill>
                <a:latin typeface="Poppins" pitchFamily="34" charset="0"/>
                <a:ea typeface="Poppins" pitchFamily="34" charset="-122"/>
                <a:cs typeface="Poppins" pitchFamily="34" charset="-120"/>
              </a:rPr>
              <a:t>manuel éliminé</a:t>
            </a:r>
            <a:endParaRPr lang="en-US" sz="900" dirty="0"/>
          </a:p>
        </p:txBody>
      </p:sp>
      <p:sp>
        <p:nvSpPr>
          <p:cNvPr id="22" name="Shape 17"/>
          <p:cNvSpPr/>
          <p:nvPr/>
        </p:nvSpPr>
        <p:spPr>
          <a:xfrm>
            <a:off x="5463540" y="1188720"/>
            <a:ext cx="1508760" cy="3017520"/>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23" name="Shape 18"/>
          <p:cNvSpPr/>
          <p:nvPr/>
        </p:nvSpPr>
        <p:spPr>
          <a:xfrm>
            <a:off x="5463540" y="1188720"/>
            <a:ext cx="1508760" cy="73152"/>
          </a:xfrm>
          <a:prstGeom prst="rect">
            <a:avLst/>
          </a:prstGeom>
          <a:solidFill>
            <a:srgbClr val="16A34A"/>
          </a:solidFill>
          <a:ln/>
        </p:spPr>
        <p:txBody>
          <a:bodyPr/>
          <a:lstStyle/>
          <a:p>
            <a:endParaRPr lang="fr-FR"/>
          </a:p>
        </p:txBody>
      </p:sp>
      <p:sp>
        <p:nvSpPr>
          <p:cNvPr id="24" name="Shape 19"/>
          <p:cNvSpPr/>
          <p:nvPr/>
        </p:nvSpPr>
        <p:spPr>
          <a:xfrm>
            <a:off x="5920740" y="1417320"/>
            <a:ext cx="548640" cy="548640"/>
          </a:xfrm>
          <a:prstGeom prst="ellipse">
            <a:avLst/>
          </a:prstGeom>
          <a:solidFill>
            <a:srgbClr val="EBF5FF"/>
          </a:solidFill>
          <a:ln/>
        </p:spPr>
        <p:txBody>
          <a:bodyPr/>
          <a:lstStyle/>
          <a:p>
            <a:endParaRPr lang="fr-FR"/>
          </a:p>
        </p:txBody>
      </p:sp>
      <p:pic>
        <p:nvPicPr>
          <p:cNvPr id="25" name="Image 3" descr="preencoded.png"/>
          <p:cNvPicPr>
            <a:picLocks noChangeAspect="1"/>
          </p:cNvPicPr>
          <p:nvPr/>
        </p:nvPicPr>
        <p:blipFill>
          <a:blip r:embed="rId6"/>
          <a:stretch>
            <a:fillRect/>
          </a:stretch>
        </p:blipFill>
        <p:spPr>
          <a:xfrm>
            <a:off x="6012180" y="1508760"/>
            <a:ext cx="365760" cy="365760"/>
          </a:xfrm>
          <a:prstGeom prst="rect">
            <a:avLst/>
          </a:prstGeom>
        </p:spPr>
      </p:pic>
      <p:sp>
        <p:nvSpPr>
          <p:cNvPr id="26" name="Text 20"/>
          <p:cNvSpPr/>
          <p:nvPr/>
        </p:nvSpPr>
        <p:spPr>
          <a:xfrm>
            <a:off x="5509260" y="2148840"/>
            <a:ext cx="1417320" cy="502920"/>
          </a:xfrm>
          <a:prstGeom prst="rect">
            <a:avLst/>
          </a:prstGeom>
          <a:noFill/>
          <a:ln/>
        </p:spPr>
        <p:txBody>
          <a:bodyPr wrap="square" lIns="0" tIns="0" rIns="0" bIns="0" rtlCol="0" anchor="ctr"/>
          <a:lstStyle/>
          <a:p>
            <a:pPr marL="0" indent="0" algn="ctr">
              <a:lnSpc>
                <a:spcPct val="120000"/>
              </a:lnSpc>
              <a:buNone/>
            </a:pPr>
            <a:r>
              <a:rPr lang="en-US" sz="1100" b="1" dirty="0">
                <a:solidFill>
                  <a:srgbClr val="0F172A"/>
                </a:solidFill>
                <a:latin typeface="Poppins" pitchFamily="34" charset="0"/>
                <a:ea typeface="Poppins" pitchFamily="34" charset="-122"/>
                <a:cs typeface="Poppins" pitchFamily="34" charset="-120"/>
              </a:rPr>
              <a:t>Interfaces</a:t>
            </a:r>
            <a:endParaRPr lang="en-US" sz="1100" dirty="0"/>
          </a:p>
          <a:p>
            <a:pPr marL="0" indent="0" algn="ctr">
              <a:lnSpc>
                <a:spcPct val="120000"/>
              </a:lnSpc>
              <a:buNone/>
            </a:pPr>
            <a:r>
              <a:rPr lang="en-US" sz="1100" b="1" dirty="0">
                <a:solidFill>
                  <a:srgbClr val="0F172A"/>
                </a:solidFill>
                <a:latin typeface="Poppins" pitchFamily="34" charset="0"/>
                <a:ea typeface="Poppins" pitchFamily="34" charset="-122"/>
                <a:cs typeface="Poppins" pitchFamily="34" charset="-120"/>
              </a:rPr>
              <a:t>auto-générées</a:t>
            </a:r>
            <a:endParaRPr lang="en-US" sz="1100" dirty="0"/>
          </a:p>
        </p:txBody>
      </p:sp>
      <p:sp>
        <p:nvSpPr>
          <p:cNvPr id="27" name="Text 21"/>
          <p:cNvSpPr/>
          <p:nvPr/>
        </p:nvSpPr>
        <p:spPr>
          <a:xfrm>
            <a:off x="5509260" y="2743200"/>
            <a:ext cx="1417320" cy="640080"/>
          </a:xfrm>
          <a:prstGeom prst="rect">
            <a:avLst/>
          </a:prstGeom>
          <a:noFill/>
          <a:ln/>
        </p:spPr>
        <p:txBody>
          <a:bodyPr wrap="square" lIns="0" tIns="0" rIns="0" bIns="0" rtlCol="0" anchor="ctr"/>
          <a:lstStyle/>
          <a:p>
            <a:pPr marL="0" indent="0" algn="ctr">
              <a:lnSpc>
                <a:spcPct val="130000"/>
              </a:lnSpc>
              <a:buNone/>
            </a:pPr>
            <a:r>
              <a:rPr lang="en-US" sz="900" dirty="0">
                <a:solidFill>
                  <a:srgbClr val="374151"/>
                </a:solidFill>
                <a:latin typeface="Poppins" pitchFamily="34" charset="0"/>
                <a:ea typeface="Poppins" pitchFamily="34" charset="-122"/>
                <a:cs typeface="Poppins" pitchFamily="34" charset="-120"/>
              </a:rPr>
              <a:t>Formulaires, tableaux</a:t>
            </a:r>
            <a:endParaRPr lang="en-US" sz="900" dirty="0"/>
          </a:p>
          <a:p>
            <a:pPr marL="0" indent="0" algn="ctr">
              <a:lnSpc>
                <a:spcPct val="130000"/>
              </a:lnSpc>
              <a:buNone/>
            </a:pPr>
            <a:r>
              <a:rPr lang="en-US" sz="900" dirty="0">
                <a:solidFill>
                  <a:srgbClr val="374151"/>
                </a:solidFill>
                <a:latin typeface="Poppins" pitchFamily="34" charset="0"/>
                <a:ea typeface="Poppins" pitchFamily="34" charset="-122"/>
                <a:cs typeface="Poppins" pitchFamily="34" charset="-120"/>
              </a:rPr>
              <a:t>et dashboards</a:t>
            </a:r>
            <a:endParaRPr lang="en-US" sz="900" dirty="0"/>
          </a:p>
        </p:txBody>
      </p:sp>
      <p:sp>
        <p:nvSpPr>
          <p:cNvPr id="28" name="Shape 22"/>
          <p:cNvSpPr/>
          <p:nvPr/>
        </p:nvSpPr>
        <p:spPr>
          <a:xfrm>
            <a:off x="7109460" y="1188720"/>
            <a:ext cx="1508760" cy="3017520"/>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29" name="Shape 23"/>
          <p:cNvSpPr/>
          <p:nvPr/>
        </p:nvSpPr>
        <p:spPr>
          <a:xfrm>
            <a:off x="7109460" y="1188720"/>
            <a:ext cx="1508760" cy="73152"/>
          </a:xfrm>
          <a:prstGeom prst="rect">
            <a:avLst/>
          </a:prstGeom>
          <a:solidFill>
            <a:srgbClr val="7C3AED"/>
          </a:solidFill>
          <a:ln/>
        </p:spPr>
        <p:txBody>
          <a:bodyPr/>
          <a:lstStyle/>
          <a:p>
            <a:endParaRPr lang="fr-FR"/>
          </a:p>
        </p:txBody>
      </p:sp>
      <p:sp>
        <p:nvSpPr>
          <p:cNvPr id="30" name="Shape 24"/>
          <p:cNvSpPr/>
          <p:nvPr/>
        </p:nvSpPr>
        <p:spPr>
          <a:xfrm>
            <a:off x="7566660" y="1417320"/>
            <a:ext cx="548640" cy="548640"/>
          </a:xfrm>
          <a:prstGeom prst="ellipse">
            <a:avLst/>
          </a:prstGeom>
          <a:solidFill>
            <a:srgbClr val="EBF5FF"/>
          </a:solidFill>
          <a:ln/>
        </p:spPr>
        <p:txBody>
          <a:bodyPr/>
          <a:lstStyle/>
          <a:p>
            <a:endParaRPr lang="fr-FR"/>
          </a:p>
        </p:txBody>
      </p:sp>
      <p:pic>
        <p:nvPicPr>
          <p:cNvPr id="31" name="Image 4" descr="preencoded.png"/>
          <p:cNvPicPr>
            <a:picLocks noChangeAspect="1"/>
          </p:cNvPicPr>
          <p:nvPr/>
        </p:nvPicPr>
        <p:blipFill>
          <a:blip r:embed="rId7"/>
          <a:stretch>
            <a:fillRect/>
          </a:stretch>
        </p:blipFill>
        <p:spPr>
          <a:xfrm>
            <a:off x="7658100" y="1508760"/>
            <a:ext cx="365760" cy="365760"/>
          </a:xfrm>
          <a:prstGeom prst="rect">
            <a:avLst/>
          </a:prstGeom>
        </p:spPr>
      </p:pic>
      <p:sp>
        <p:nvSpPr>
          <p:cNvPr id="32" name="Text 25"/>
          <p:cNvSpPr/>
          <p:nvPr/>
        </p:nvSpPr>
        <p:spPr>
          <a:xfrm>
            <a:off x="7155180" y="2148840"/>
            <a:ext cx="1417320" cy="502920"/>
          </a:xfrm>
          <a:prstGeom prst="rect">
            <a:avLst/>
          </a:prstGeom>
          <a:noFill/>
          <a:ln/>
        </p:spPr>
        <p:txBody>
          <a:bodyPr wrap="square" lIns="0" tIns="0" rIns="0" bIns="0" rtlCol="0" anchor="ctr"/>
          <a:lstStyle/>
          <a:p>
            <a:pPr marL="0" indent="0" algn="ctr">
              <a:lnSpc>
                <a:spcPct val="120000"/>
              </a:lnSpc>
              <a:buNone/>
            </a:pPr>
            <a:r>
              <a:rPr lang="en-US" sz="1100" b="1" dirty="0">
                <a:solidFill>
                  <a:srgbClr val="0F172A"/>
                </a:solidFill>
                <a:latin typeface="Poppins" pitchFamily="34" charset="0"/>
                <a:ea typeface="Poppins" pitchFamily="34" charset="-122"/>
                <a:cs typeface="Poppins" pitchFamily="34" charset="-120"/>
              </a:rPr>
              <a:t>Gouvernance &amp;</a:t>
            </a:r>
            <a:endParaRPr lang="en-US" sz="1100" dirty="0"/>
          </a:p>
          <a:p>
            <a:pPr marL="0" indent="0" algn="ctr">
              <a:lnSpc>
                <a:spcPct val="120000"/>
              </a:lnSpc>
              <a:buNone/>
            </a:pPr>
            <a:r>
              <a:rPr lang="en-US" sz="1100" b="1" dirty="0">
                <a:solidFill>
                  <a:srgbClr val="0F172A"/>
                </a:solidFill>
                <a:latin typeface="Poppins" pitchFamily="34" charset="0"/>
                <a:ea typeface="Poppins" pitchFamily="34" charset="-122"/>
                <a:cs typeface="Poppins" pitchFamily="34" charset="-120"/>
              </a:rPr>
              <a:t>souveraineté</a:t>
            </a:r>
            <a:endParaRPr lang="en-US" sz="1100" dirty="0"/>
          </a:p>
        </p:txBody>
      </p:sp>
      <p:sp>
        <p:nvSpPr>
          <p:cNvPr id="33" name="Text 26"/>
          <p:cNvSpPr/>
          <p:nvPr/>
        </p:nvSpPr>
        <p:spPr>
          <a:xfrm>
            <a:off x="7155180" y="2743200"/>
            <a:ext cx="1417320" cy="640080"/>
          </a:xfrm>
          <a:prstGeom prst="rect">
            <a:avLst/>
          </a:prstGeom>
          <a:noFill/>
          <a:ln/>
        </p:spPr>
        <p:txBody>
          <a:bodyPr wrap="square" lIns="0" tIns="0" rIns="0" bIns="0" rtlCol="0" anchor="ctr"/>
          <a:lstStyle/>
          <a:p>
            <a:pPr marL="0" indent="0" algn="ctr">
              <a:lnSpc>
                <a:spcPct val="130000"/>
              </a:lnSpc>
              <a:buNone/>
            </a:pPr>
            <a:r>
              <a:rPr lang="en-US" sz="900" dirty="0">
                <a:solidFill>
                  <a:srgbClr val="374151"/>
                </a:solidFill>
                <a:latin typeface="Poppins" pitchFamily="34" charset="0"/>
                <a:ea typeface="Poppins" pitchFamily="34" charset="-122"/>
                <a:cs typeface="Poppins" pitchFamily="34" charset="-120"/>
              </a:rPr>
              <a:t>RGPD, audit logs,</a:t>
            </a:r>
            <a:endParaRPr lang="en-US" sz="900" dirty="0"/>
          </a:p>
          <a:p>
            <a:pPr marL="0" indent="0" algn="ctr">
              <a:lnSpc>
                <a:spcPct val="130000"/>
              </a:lnSpc>
              <a:buNone/>
            </a:pPr>
            <a:r>
              <a:rPr lang="en-US" sz="900" dirty="0">
                <a:solidFill>
                  <a:srgbClr val="374151"/>
                </a:solidFill>
                <a:latin typeface="Poppins" pitchFamily="34" charset="0"/>
                <a:ea typeface="Poppins" pitchFamily="34" charset="-122"/>
                <a:cs typeface="Poppins" pitchFamily="34" charset="-120"/>
              </a:rPr>
              <a:t>on-prem, IA souveraine</a:t>
            </a:r>
            <a:endParaRPr lang="en-US" sz="900" dirty="0"/>
          </a:p>
        </p:txBody>
      </p:sp>
      <p:sp>
        <p:nvSpPr>
          <p:cNvPr id="34" name="Shape 27"/>
          <p:cNvSpPr/>
          <p:nvPr/>
        </p:nvSpPr>
        <p:spPr>
          <a:xfrm>
            <a:off x="640080" y="4389120"/>
            <a:ext cx="7863840" cy="54864"/>
          </a:xfrm>
          <a:prstGeom prst="rect">
            <a:avLst/>
          </a:prstGeom>
          <a:solidFill>
            <a:srgbClr val="E5E7EB"/>
          </a:solidFill>
          <a:ln/>
        </p:spPr>
        <p:txBody>
          <a:bodyPr/>
          <a:lstStyle/>
          <a:p>
            <a:endParaRPr lang="fr-FR"/>
          </a:p>
        </p:txBody>
      </p:sp>
      <p:sp>
        <p:nvSpPr>
          <p:cNvPr id="35" name="Text 28"/>
          <p:cNvSpPr/>
          <p:nvPr/>
        </p:nvSpPr>
        <p:spPr>
          <a:xfrm>
            <a:off x="640080" y="4480560"/>
            <a:ext cx="7863840" cy="274320"/>
          </a:xfrm>
          <a:prstGeom prst="rect">
            <a:avLst/>
          </a:prstGeom>
          <a:noFill/>
          <a:ln/>
        </p:spPr>
        <p:txBody>
          <a:bodyPr wrap="square" lIns="0" tIns="0" rIns="0" bIns="0" rtlCol="0" anchor="ctr"/>
          <a:lstStyle/>
          <a:p>
            <a:pPr marL="0" indent="0" algn="ctr">
              <a:buNone/>
            </a:pPr>
            <a:r>
              <a:rPr lang="en-US" sz="1000" i="1" dirty="0">
                <a:solidFill>
                  <a:srgbClr val="6B7280"/>
                </a:solidFill>
                <a:latin typeface="Poppins" pitchFamily="34" charset="0"/>
                <a:ea typeface="Poppins" pitchFamily="34" charset="-122"/>
                <a:cs typeface="Poppins" pitchFamily="34" charset="-120"/>
              </a:rPr>
              <a:t>KINN transforme un environnement fragmenté en un système unifié, automatisé et gouverné.</a:t>
            </a:r>
            <a:endParaRPr lang="en-US" sz="1000" dirty="0"/>
          </a:p>
        </p:txBody>
      </p:sp>
      <p:sp>
        <p:nvSpPr>
          <p:cNvPr id="36" name="Text 29"/>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900" dirty="0">
                <a:solidFill>
                  <a:srgbClr val="9CA3AF"/>
                </a:solidFill>
                <a:latin typeface="Poppins" pitchFamily="34" charset="0"/>
                <a:ea typeface="Poppins" pitchFamily="34" charset="-122"/>
                <a:cs typeface="Poppins"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74320"/>
            <a:ext cx="8229600" cy="457200"/>
          </a:xfrm>
          <a:prstGeom prst="rect">
            <a:avLst/>
          </a:prstGeom>
          <a:noFill/>
          <a:ln/>
        </p:spPr>
        <p:txBody>
          <a:bodyPr wrap="square" lIns="0" tIns="0" rIns="0" bIns="0" rtlCol="0" anchor="ctr"/>
          <a:lstStyle/>
          <a:p>
            <a:pPr marL="0" indent="0">
              <a:buNone/>
            </a:pPr>
            <a:r>
              <a:rPr lang="en-US" sz="3000" b="1" dirty="0">
                <a:solidFill>
                  <a:srgbClr val="0F172A"/>
                </a:solidFill>
                <a:latin typeface="Poppins" pitchFamily="34" charset="0"/>
                <a:ea typeface="Poppins" pitchFamily="34" charset="-122"/>
                <a:cs typeface="Poppins" pitchFamily="34" charset="-120"/>
              </a:rPr>
              <a:t>Un système no-code assisté par IA</a:t>
            </a:r>
            <a:endParaRPr lang="en-US" sz="3000" dirty="0"/>
          </a:p>
        </p:txBody>
      </p:sp>
      <p:sp>
        <p:nvSpPr>
          <p:cNvPr id="3" name="Shape 1"/>
          <p:cNvSpPr/>
          <p:nvPr/>
        </p:nvSpPr>
        <p:spPr>
          <a:xfrm>
            <a:off x="685800" y="1005840"/>
            <a:ext cx="2286000" cy="3291840"/>
          </a:xfrm>
          <a:prstGeom prst="rect">
            <a:avLst/>
          </a:prstGeom>
          <a:solidFill>
            <a:srgbClr val="F7F9FC"/>
          </a:solidFill>
          <a:ln w="19050">
            <a:solidFill>
              <a:srgbClr val="D6EBFF"/>
            </a:solidFill>
            <a:prstDash val="solid"/>
          </a:ln>
          <a:effectLst>
            <a:outerShdw blurRad="76200" dist="25400" dir="8100000" algn="bl" rotWithShape="0">
              <a:srgbClr val="000000">
                <a:alpha val="6000"/>
              </a:srgbClr>
            </a:outerShdw>
          </a:effectLst>
        </p:spPr>
        <p:txBody>
          <a:bodyPr/>
          <a:lstStyle/>
          <a:p>
            <a:endParaRPr lang="fr-FR"/>
          </a:p>
        </p:txBody>
      </p:sp>
      <p:sp>
        <p:nvSpPr>
          <p:cNvPr id="4" name="Shape 2"/>
          <p:cNvSpPr/>
          <p:nvPr/>
        </p:nvSpPr>
        <p:spPr>
          <a:xfrm>
            <a:off x="1463040" y="1280160"/>
            <a:ext cx="731520" cy="731520"/>
          </a:xfrm>
          <a:prstGeom prst="ellipse">
            <a:avLst/>
          </a:prstGeom>
          <a:solidFill>
            <a:srgbClr val="EBF5FF"/>
          </a:solidFill>
          <a:ln/>
        </p:spPr>
        <p:txBody>
          <a:bodyPr/>
          <a:lstStyle/>
          <a:p>
            <a:endParaRPr lang="fr-FR"/>
          </a:p>
        </p:txBody>
      </p:sp>
      <p:pic>
        <p:nvPicPr>
          <p:cNvPr id="5" name="Image 0" descr="preencoded.png"/>
          <p:cNvPicPr>
            <a:picLocks noChangeAspect="1"/>
          </p:cNvPicPr>
          <p:nvPr/>
        </p:nvPicPr>
        <p:blipFill>
          <a:blip r:embed="rId3"/>
          <a:stretch>
            <a:fillRect/>
          </a:stretch>
        </p:blipFill>
        <p:spPr>
          <a:xfrm>
            <a:off x="1600200" y="1417320"/>
            <a:ext cx="457200" cy="457200"/>
          </a:xfrm>
          <a:prstGeom prst="rect">
            <a:avLst/>
          </a:prstGeom>
        </p:spPr>
      </p:pic>
      <p:sp>
        <p:nvSpPr>
          <p:cNvPr id="6" name="Text 3"/>
          <p:cNvSpPr/>
          <p:nvPr/>
        </p:nvSpPr>
        <p:spPr>
          <a:xfrm>
            <a:off x="822960" y="2194560"/>
            <a:ext cx="2011680" cy="502920"/>
          </a:xfrm>
          <a:prstGeom prst="rect">
            <a:avLst/>
          </a:prstGeom>
          <a:noFill/>
          <a:ln/>
        </p:spPr>
        <p:txBody>
          <a:bodyPr wrap="square" lIns="0" tIns="0" rIns="0" bIns="0" rtlCol="0" anchor="ctr"/>
          <a:lstStyle/>
          <a:p>
            <a:pPr marL="0" indent="0" algn="ctr">
              <a:lnSpc>
                <a:spcPct val="120000"/>
              </a:lnSpc>
              <a:buNone/>
            </a:pPr>
            <a:r>
              <a:rPr lang="en-US" sz="1500" b="1" dirty="0">
                <a:solidFill>
                  <a:srgbClr val="0F172A"/>
                </a:solidFill>
                <a:latin typeface="Poppins" pitchFamily="34" charset="0"/>
                <a:ea typeface="Poppins" pitchFamily="34" charset="-122"/>
                <a:cs typeface="Poppins" pitchFamily="34" charset="-120"/>
              </a:rPr>
              <a:t>Palette de</a:t>
            </a:r>
            <a:endParaRPr lang="en-US" sz="1500" dirty="0"/>
          </a:p>
          <a:p>
            <a:pPr marL="0" indent="0" algn="ctr">
              <a:lnSpc>
                <a:spcPct val="120000"/>
              </a:lnSpc>
              <a:buNone/>
            </a:pPr>
            <a:r>
              <a:rPr lang="en-US" sz="1500" b="1" dirty="0">
                <a:solidFill>
                  <a:srgbClr val="0F172A"/>
                </a:solidFill>
                <a:latin typeface="Poppins" pitchFamily="34" charset="0"/>
                <a:ea typeface="Poppins" pitchFamily="34" charset="-122"/>
                <a:cs typeface="Poppins" pitchFamily="34" charset="-120"/>
              </a:rPr>
              <a:t>connecteurs</a:t>
            </a:r>
            <a:endParaRPr lang="en-US" sz="1500" dirty="0"/>
          </a:p>
        </p:txBody>
      </p:sp>
      <p:sp>
        <p:nvSpPr>
          <p:cNvPr id="7" name="Text 4"/>
          <p:cNvSpPr/>
          <p:nvPr/>
        </p:nvSpPr>
        <p:spPr>
          <a:xfrm>
            <a:off x="822960" y="2834640"/>
            <a:ext cx="2011680" cy="1188720"/>
          </a:xfrm>
          <a:prstGeom prst="rect">
            <a:avLst/>
          </a:prstGeom>
          <a:noFill/>
          <a:ln/>
        </p:spPr>
        <p:txBody>
          <a:bodyPr wrap="square" lIns="0" tIns="0" rIns="0" bIns="0" rtlCol="0" anchor="ctr"/>
          <a:lstStyle/>
          <a:p>
            <a:pPr marL="0" indent="0" algn="ctr">
              <a:lnSpc>
                <a:spcPct val="140000"/>
              </a:lnSpc>
              <a:buNone/>
            </a:pPr>
            <a:r>
              <a:rPr lang="en-US" sz="1100" dirty="0">
                <a:solidFill>
                  <a:srgbClr val="374151"/>
                </a:solidFill>
                <a:latin typeface="Poppins" pitchFamily="34" charset="0"/>
                <a:ea typeface="Poppins" pitchFamily="34" charset="-122"/>
                <a:cs typeface="Poppins" pitchFamily="34" charset="-120"/>
              </a:rPr>
              <a:t>60+ services connectés</a:t>
            </a:r>
            <a:endParaRPr lang="en-US" sz="1100" dirty="0"/>
          </a:p>
          <a:p>
            <a:pPr marL="0" indent="0" algn="ctr">
              <a:lnSpc>
                <a:spcPct val="140000"/>
              </a:lnSpc>
              <a:buNone/>
            </a:pPr>
            <a:r>
              <a:rPr lang="en-US" sz="1100" dirty="0">
                <a:solidFill>
                  <a:srgbClr val="374151"/>
                </a:solidFill>
                <a:latin typeface="Poppins" pitchFamily="34" charset="0"/>
                <a:ea typeface="Poppins" pitchFamily="34" charset="-122"/>
                <a:cs typeface="Poppins" pitchFamily="34" charset="-120"/>
              </a:rPr>
              <a:t>ERP, CRM, SaaS, IoT,</a:t>
            </a:r>
            <a:endParaRPr lang="en-US" sz="1100" dirty="0"/>
          </a:p>
          <a:p>
            <a:pPr marL="0" indent="0" algn="ctr">
              <a:lnSpc>
                <a:spcPct val="140000"/>
              </a:lnSpc>
              <a:buNone/>
            </a:pPr>
            <a:r>
              <a:rPr lang="en-US" sz="1100" dirty="0">
                <a:solidFill>
                  <a:srgbClr val="374151"/>
                </a:solidFill>
                <a:latin typeface="Poppins" pitchFamily="34" charset="0"/>
                <a:ea typeface="Poppins" pitchFamily="34" charset="-122"/>
                <a:cs typeface="Poppins" pitchFamily="34" charset="-120"/>
              </a:rPr>
              <a:t>Drive, mails…</a:t>
            </a:r>
            <a:endParaRPr lang="en-US" sz="1100" dirty="0"/>
          </a:p>
        </p:txBody>
      </p:sp>
      <p:sp>
        <p:nvSpPr>
          <p:cNvPr id="8" name="Text 5"/>
          <p:cNvSpPr/>
          <p:nvPr/>
        </p:nvSpPr>
        <p:spPr>
          <a:xfrm>
            <a:off x="2971800" y="2286000"/>
            <a:ext cx="457200" cy="457200"/>
          </a:xfrm>
          <a:prstGeom prst="rect">
            <a:avLst/>
          </a:prstGeom>
          <a:noFill/>
          <a:ln/>
        </p:spPr>
        <p:txBody>
          <a:bodyPr wrap="square" lIns="0" tIns="0" rIns="0" bIns="0" rtlCol="0" anchor="ctr"/>
          <a:lstStyle/>
          <a:p>
            <a:pPr marL="0" indent="0" algn="ctr">
              <a:buNone/>
            </a:pPr>
            <a:r>
              <a:rPr lang="en-US" sz="2800" b="1" dirty="0">
                <a:solidFill>
                  <a:srgbClr val="1677FF"/>
                </a:solidFill>
                <a:latin typeface="Poppins" pitchFamily="34" charset="0"/>
                <a:ea typeface="Poppins" pitchFamily="34" charset="-122"/>
                <a:cs typeface="Poppins" pitchFamily="34" charset="-120"/>
              </a:rPr>
              <a:t>→</a:t>
            </a:r>
            <a:endParaRPr lang="en-US" sz="2800" dirty="0"/>
          </a:p>
        </p:txBody>
      </p:sp>
      <p:sp>
        <p:nvSpPr>
          <p:cNvPr id="9" name="Shape 6"/>
          <p:cNvSpPr/>
          <p:nvPr/>
        </p:nvSpPr>
        <p:spPr>
          <a:xfrm>
            <a:off x="3429000" y="1005840"/>
            <a:ext cx="2286000" cy="3291840"/>
          </a:xfrm>
          <a:prstGeom prst="rect">
            <a:avLst/>
          </a:prstGeom>
          <a:solidFill>
            <a:srgbClr val="F7F9FC"/>
          </a:solidFill>
          <a:ln w="19050">
            <a:solidFill>
              <a:srgbClr val="D6EBFF"/>
            </a:solidFill>
            <a:prstDash val="solid"/>
          </a:ln>
          <a:effectLst>
            <a:outerShdw blurRad="76200" dist="25400" dir="8100000" algn="bl" rotWithShape="0">
              <a:srgbClr val="000000">
                <a:alpha val="6000"/>
              </a:srgbClr>
            </a:outerShdw>
          </a:effectLst>
        </p:spPr>
        <p:txBody>
          <a:bodyPr/>
          <a:lstStyle/>
          <a:p>
            <a:endParaRPr lang="fr-FR"/>
          </a:p>
        </p:txBody>
      </p:sp>
      <p:sp>
        <p:nvSpPr>
          <p:cNvPr id="10" name="Shape 7"/>
          <p:cNvSpPr/>
          <p:nvPr/>
        </p:nvSpPr>
        <p:spPr>
          <a:xfrm>
            <a:off x="4206240" y="1280160"/>
            <a:ext cx="731520" cy="731520"/>
          </a:xfrm>
          <a:prstGeom prst="ellipse">
            <a:avLst/>
          </a:prstGeom>
          <a:solidFill>
            <a:srgbClr val="EBF5FF"/>
          </a:solidFill>
          <a:ln/>
        </p:spPr>
        <p:txBody>
          <a:bodyPr/>
          <a:lstStyle/>
          <a:p>
            <a:endParaRPr lang="fr-FR"/>
          </a:p>
        </p:txBody>
      </p:sp>
      <p:pic>
        <p:nvPicPr>
          <p:cNvPr id="11" name="Image 1" descr="preencoded.png"/>
          <p:cNvPicPr>
            <a:picLocks noChangeAspect="1"/>
          </p:cNvPicPr>
          <p:nvPr/>
        </p:nvPicPr>
        <p:blipFill>
          <a:blip r:embed="rId4"/>
          <a:stretch>
            <a:fillRect/>
          </a:stretch>
        </p:blipFill>
        <p:spPr>
          <a:xfrm>
            <a:off x="4343400" y="1417320"/>
            <a:ext cx="457200" cy="457200"/>
          </a:xfrm>
          <a:prstGeom prst="rect">
            <a:avLst/>
          </a:prstGeom>
        </p:spPr>
      </p:pic>
      <p:sp>
        <p:nvSpPr>
          <p:cNvPr id="12" name="Text 8"/>
          <p:cNvSpPr/>
          <p:nvPr/>
        </p:nvSpPr>
        <p:spPr>
          <a:xfrm>
            <a:off x="3566160" y="2194560"/>
            <a:ext cx="2011680" cy="502920"/>
          </a:xfrm>
          <a:prstGeom prst="rect">
            <a:avLst/>
          </a:prstGeom>
          <a:noFill/>
          <a:ln/>
        </p:spPr>
        <p:txBody>
          <a:bodyPr wrap="square" lIns="0" tIns="0" rIns="0" bIns="0" rtlCol="0" anchor="ctr"/>
          <a:lstStyle/>
          <a:p>
            <a:pPr marL="0" indent="0" algn="ctr">
              <a:lnSpc>
                <a:spcPct val="120000"/>
              </a:lnSpc>
              <a:buNone/>
            </a:pPr>
            <a:r>
              <a:rPr lang="en-US" sz="1500" b="1" dirty="0">
                <a:solidFill>
                  <a:srgbClr val="0F172A"/>
                </a:solidFill>
                <a:latin typeface="Poppins" pitchFamily="34" charset="0"/>
                <a:ea typeface="Poppins" pitchFamily="34" charset="-122"/>
                <a:cs typeface="Poppins" pitchFamily="34" charset="-120"/>
              </a:rPr>
              <a:t>Workflow</a:t>
            </a:r>
            <a:endParaRPr lang="en-US" sz="1500" dirty="0"/>
          </a:p>
          <a:p>
            <a:pPr marL="0" indent="0" algn="ctr">
              <a:lnSpc>
                <a:spcPct val="120000"/>
              </a:lnSpc>
              <a:buNone/>
            </a:pPr>
            <a:r>
              <a:rPr lang="en-US" sz="1500" b="1" dirty="0">
                <a:solidFill>
                  <a:srgbClr val="0F172A"/>
                </a:solidFill>
                <a:latin typeface="Poppins" pitchFamily="34" charset="0"/>
                <a:ea typeface="Poppins" pitchFamily="34" charset="-122"/>
                <a:cs typeface="Poppins" pitchFamily="34" charset="-120"/>
              </a:rPr>
              <a:t>visuel</a:t>
            </a:r>
            <a:endParaRPr lang="en-US" sz="1500" dirty="0"/>
          </a:p>
        </p:txBody>
      </p:sp>
      <p:sp>
        <p:nvSpPr>
          <p:cNvPr id="13" name="Text 9"/>
          <p:cNvSpPr/>
          <p:nvPr/>
        </p:nvSpPr>
        <p:spPr>
          <a:xfrm>
            <a:off x="3566160" y="2834640"/>
            <a:ext cx="2011680" cy="1188720"/>
          </a:xfrm>
          <a:prstGeom prst="rect">
            <a:avLst/>
          </a:prstGeom>
          <a:noFill/>
          <a:ln/>
        </p:spPr>
        <p:txBody>
          <a:bodyPr wrap="square" lIns="0" tIns="0" rIns="0" bIns="0" rtlCol="0" anchor="ctr"/>
          <a:lstStyle/>
          <a:p>
            <a:pPr marL="0" indent="0" algn="ctr">
              <a:lnSpc>
                <a:spcPct val="140000"/>
              </a:lnSpc>
              <a:buNone/>
            </a:pPr>
            <a:r>
              <a:rPr lang="en-US" sz="1100" dirty="0">
                <a:solidFill>
                  <a:srgbClr val="374151"/>
                </a:solidFill>
                <a:latin typeface="Poppins" pitchFamily="34" charset="0"/>
                <a:ea typeface="Poppins" pitchFamily="34" charset="-122"/>
                <a:cs typeface="Poppins" pitchFamily="34" charset="-120"/>
              </a:rPr>
              <a:t>Glissez-déposez vos</a:t>
            </a:r>
            <a:endParaRPr lang="en-US" sz="1100" dirty="0"/>
          </a:p>
          <a:p>
            <a:pPr marL="0" indent="0" algn="ctr">
              <a:lnSpc>
                <a:spcPct val="140000"/>
              </a:lnSpc>
              <a:buNone/>
            </a:pPr>
            <a:r>
              <a:rPr lang="en-US" sz="1100" dirty="0">
                <a:solidFill>
                  <a:srgbClr val="374151"/>
                </a:solidFill>
                <a:latin typeface="Poppins" pitchFamily="34" charset="0"/>
                <a:ea typeface="Poppins" pitchFamily="34" charset="-122"/>
                <a:cs typeface="Poppins" pitchFamily="34" charset="-120"/>
              </a:rPr>
              <a:t>automatisations.</a:t>
            </a:r>
            <a:endParaRPr lang="en-US" sz="1100" dirty="0"/>
          </a:p>
          <a:p>
            <a:pPr marL="0" indent="0" algn="ctr">
              <a:lnSpc>
                <a:spcPct val="140000"/>
              </a:lnSpc>
              <a:buNone/>
            </a:pPr>
            <a:r>
              <a:rPr lang="en-US" sz="1100" dirty="0">
                <a:solidFill>
                  <a:srgbClr val="374151"/>
                </a:solidFill>
                <a:latin typeface="Poppins" pitchFamily="34" charset="0"/>
                <a:ea typeface="Poppins" pitchFamily="34" charset="-122"/>
                <a:cs typeface="Poppins" pitchFamily="34" charset="-120"/>
              </a:rPr>
              <a:t>Sans code.</a:t>
            </a:r>
            <a:endParaRPr lang="en-US" sz="1100" dirty="0"/>
          </a:p>
        </p:txBody>
      </p:sp>
      <p:sp>
        <p:nvSpPr>
          <p:cNvPr id="14" name="Text 10"/>
          <p:cNvSpPr/>
          <p:nvPr/>
        </p:nvSpPr>
        <p:spPr>
          <a:xfrm>
            <a:off x="5715000" y="2286000"/>
            <a:ext cx="457200" cy="457200"/>
          </a:xfrm>
          <a:prstGeom prst="rect">
            <a:avLst/>
          </a:prstGeom>
          <a:noFill/>
          <a:ln/>
        </p:spPr>
        <p:txBody>
          <a:bodyPr wrap="square" lIns="0" tIns="0" rIns="0" bIns="0" rtlCol="0" anchor="ctr"/>
          <a:lstStyle/>
          <a:p>
            <a:pPr marL="0" indent="0" algn="ctr">
              <a:buNone/>
            </a:pPr>
            <a:r>
              <a:rPr lang="en-US" sz="2800" b="1" dirty="0">
                <a:solidFill>
                  <a:srgbClr val="1677FF"/>
                </a:solidFill>
                <a:latin typeface="Poppins" pitchFamily="34" charset="0"/>
                <a:ea typeface="Poppins" pitchFamily="34" charset="-122"/>
                <a:cs typeface="Poppins" pitchFamily="34" charset="-120"/>
              </a:rPr>
              <a:t>→</a:t>
            </a:r>
            <a:endParaRPr lang="en-US" sz="2800" dirty="0"/>
          </a:p>
        </p:txBody>
      </p:sp>
      <p:sp>
        <p:nvSpPr>
          <p:cNvPr id="15" name="Shape 11"/>
          <p:cNvSpPr/>
          <p:nvPr/>
        </p:nvSpPr>
        <p:spPr>
          <a:xfrm>
            <a:off x="6172200" y="1005840"/>
            <a:ext cx="2286000" cy="3291840"/>
          </a:xfrm>
          <a:prstGeom prst="rect">
            <a:avLst/>
          </a:prstGeom>
          <a:solidFill>
            <a:srgbClr val="F7F9FC"/>
          </a:solidFill>
          <a:ln w="19050">
            <a:solidFill>
              <a:srgbClr val="D6EBFF"/>
            </a:solidFill>
            <a:prstDash val="solid"/>
          </a:ln>
          <a:effectLst>
            <a:outerShdw blurRad="76200" dist="25400" dir="8100000" algn="bl" rotWithShape="0">
              <a:srgbClr val="000000">
                <a:alpha val="6000"/>
              </a:srgbClr>
            </a:outerShdw>
          </a:effectLst>
        </p:spPr>
        <p:txBody>
          <a:bodyPr/>
          <a:lstStyle/>
          <a:p>
            <a:endParaRPr lang="fr-FR"/>
          </a:p>
        </p:txBody>
      </p:sp>
      <p:sp>
        <p:nvSpPr>
          <p:cNvPr id="16" name="Shape 12"/>
          <p:cNvSpPr/>
          <p:nvPr/>
        </p:nvSpPr>
        <p:spPr>
          <a:xfrm>
            <a:off x="6949440" y="1280160"/>
            <a:ext cx="731520" cy="731520"/>
          </a:xfrm>
          <a:prstGeom prst="ellipse">
            <a:avLst/>
          </a:prstGeom>
          <a:solidFill>
            <a:srgbClr val="EBF5FF"/>
          </a:solidFill>
          <a:ln/>
        </p:spPr>
        <p:txBody>
          <a:bodyPr/>
          <a:lstStyle/>
          <a:p>
            <a:endParaRPr lang="fr-FR"/>
          </a:p>
        </p:txBody>
      </p:sp>
      <p:pic>
        <p:nvPicPr>
          <p:cNvPr id="17" name="Image 2" descr="preencoded.png"/>
          <p:cNvPicPr>
            <a:picLocks noChangeAspect="1"/>
          </p:cNvPicPr>
          <p:nvPr/>
        </p:nvPicPr>
        <p:blipFill>
          <a:blip r:embed="rId5"/>
          <a:stretch>
            <a:fillRect/>
          </a:stretch>
        </p:blipFill>
        <p:spPr>
          <a:xfrm>
            <a:off x="7086600" y="1417320"/>
            <a:ext cx="457200" cy="457200"/>
          </a:xfrm>
          <a:prstGeom prst="rect">
            <a:avLst/>
          </a:prstGeom>
        </p:spPr>
      </p:pic>
      <p:sp>
        <p:nvSpPr>
          <p:cNvPr id="18" name="Text 13"/>
          <p:cNvSpPr/>
          <p:nvPr/>
        </p:nvSpPr>
        <p:spPr>
          <a:xfrm>
            <a:off x="6309360" y="2194560"/>
            <a:ext cx="2011680" cy="502920"/>
          </a:xfrm>
          <a:prstGeom prst="rect">
            <a:avLst/>
          </a:prstGeom>
          <a:noFill/>
          <a:ln/>
        </p:spPr>
        <p:txBody>
          <a:bodyPr wrap="square" lIns="0" tIns="0" rIns="0" bIns="0" rtlCol="0" anchor="ctr"/>
          <a:lstStyle/>
          <a:p>
            <a:pPr marL="0" indent="0" algn="ctr">
              <a:lnSpc>
                <a:spcPct val="120000"/>
              </a:lnSpc>
              <a:buNone/>
            </a:pPr>
            <a:r>
              <a:rPr lang="en-US" sz="1500" b="1" dirty="0">
                <a:solidFill>
                  <a:srgbClr val="0F172A"/>
                </a:solidFill>
                <a:latin typeface="Poppins" pitchFamily="34" charset="0"/>
                <a:ea typeface="Poppins" pitchFamily="34" charset="-122"/>
                <a:cs typeface="Poppins" pitchFamily="34" charset="-120"/>
              </a:rPr>
              <a:t>Assistant</a:t>
            </a:r>
            <a:endParaRPr lang="en-US" sz="1500" dirty="0"/>
          </a:p>
          <a:p>
            <a:pPr marL="0" indent="0" algn="ctr">
              <a:lnSpc>
                <a:spcPct val="120000"/>
              </a:lnSpc>
              <a:buNone/>
            </a:pPr>
            <a:r>
              <a:rPr lang="en-US" sz="1500" b="1" dirty="0">
                <a:solidFill>
                  <a:srgbClr val="0F172A"/>
                </a:solidFill>
                <a:latin typeface="Poppins" pitchFamily="34" charset="0"/>
                <a:ea typeface="Poppins" pitchFamily="34" charset="-122"/>
                <a:cs typeface="Poppins" pitchFamily="34" charset="-120"/>
              </a:rPr>
              <a:t>IA intégré</a:t>
            </a:r>
            <a:endParaRPr lang="en-US" sz="1500" dirty="0"/>
          </a:p>
        </p:txBody>
      </p:sp>
      <p:sp>
        <p:nvSpPr>
          <p:cNvPr id="19" name="Text 14"/>
          <p:cNvSpPr/>
          <p:nvPr/>
        </p:nvSpPr>
        <p:spPr>
          <a:xfrm>
            <a:off x="6309360" y="2834640"/>
            <a:ext cx="2011680" cy="1188720"/>
          </a:xfrm>
          <a:prstGeom prst="rect">
            <a:avLst/>
          </a:prstGeom>
          <a:noFill/>
          <a:ln/>
        </p:spPr>
        <p:txBody>
          <a:bodyPr wrap="square" lIns="0" tIns="0" rIns="0" bIns="0" rtlCol="0" anchor="ctr"/>
          <a:lstStyle/>
          <a:p>
            <a:pPr marL="0" indent="0" algn="ctr">
              <a:lnSpc>
                <a:spcPct val="140000"/>
              </a:lnSpc>
              <a:buNone/>
            </a:pPr>
            <a:r>
              <a:rPr lang="en-US" sz="1100" dirty="0">
                <a:solidFill>
                  <a:srgbClr val="374151"/>
                </a:solidFill>
                <a:latin typeface="Poppins" pitchFamily="34" charset="0"/>
                <a:ea typeface="Poppins" pitchFamily="34" charset="-122"/>
                <a:cs typeface="Poppins" pitchFamily="34" charset="-120"/>
              </a:rPr>
              <a:t>Décrivez votre besoin.</a:t>
            </a:r>
            <a:endParaRPr lang="en-US" sz="1100" dirty="0"/>
          </a:p>
          <a:p>
            <a:pPr marL="0" indent="0" algn="ctr">
              <a:lnSpc>
                <a:spcPct val="140000"/>
              </a:lnSpc>
              <a:buNone/>
            </a:pPr>
            <a:r>
              <a:rPr lang="en-US" sz="1100" dirty="0">
                <a:solidFill>
                  <a:srgbClr val="374151"/>
                </a:solidFill>
                <a:latin typeface="Poppins" pitchFamily="34" charset="0"/>
                <a:ea typeface="Poppins" pitchFamily="34" charset="-122"/>
                <a:cs typeface="Poppins" pitchFamily="34" charset="-120"/>
              </a:rPr>
              <a:t>KINN génère le workflow</a:t>
            </a:r>
            <a:endParaRPr lang="en-US" sz="1100" dirty="0"/>
          </a:p>
          <a:p>
            <a:pPr marL="0" indent="0" algn="ctr">
              <a:lnSpc>
                <a:spcPct val="140000"/>
              </a:lnSpc>
              <a:buNone/>
            </a:pPr>
            <a:r>
              <a:rPr lang="en-US" sz="1100" dirty="0">
                <a:solidFill>
                  <a:srgbClr val="374151"/>
                </a:solidFill>
                <a:latin typeface="Poppins" pitchFamily="34" charset="0"/>
                <a:ea typeface="Poppins" pitchFamily="34" charset="-122"/>
                <a:cs typeface="Poppins" pitchFamily="34" charset="-120"/>
              </a:rPr>
              <a:t>complet.</a:t>
            </a:r>
            <a:endParaRPr lang="en-US" sz="1100" dirty="0"/>
          </a:p>
        </p:txBody>
      </p:sp>
      <p:sp>
        <p:nvSpPr>
          <p:cNvPr id="20" name="Text 15"/>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900" dirty="0">
                <a:solidFill>
                  <a:srgbClr val="9CA3AF"/>
                </a:solidFill>
                <a:latin typeface="Poppins" pitchFamily="34" charset="0"/>
                <a:ea typeface="Poppins" pitchFamily="34" charset="-122"/>
                <a:cs typeface="Poppins"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74320"/>
            <a:ext cx="8229600" cy="457200"/>
          </a:xfrm>
          <a:prstGeom prst="rect">
            <a:avLst/>
          </a:prstGeom>
          <a:noFill/>
          <a:ln/>
        </p:spPr>
        <p:txBody>
          <a:bodyPr wrap="square" lIns="0" tIns="0" rIns="0" bIns="0" rtlCol="0" anchor="ctr"/>
          <a:lstStyle/>
          <a:p>
            <a:pPr marL="0" indent="0">
              <a:buNone/>
            </a:pPr>
            <a:r>
              <a:rPr lang="en-US" sz="3000" b="1" dirty="0">
                <a:solidFill>
                  <a:srgbClr val="0F172A"/>
                </a:solidFill>
                <a:latin typeface="Poppins" pitchFamily="34" charset="0"/>
                <a:ea typeface="Poppins" pitchFamily="34" charset="-122"/>
                <a:cs typeface="Poppins" pitchFamily="34" charset="-120"/>
              </a:rPr>
              <a:t>L'architecture KINN</a:t>
            </a:r>
            <a:endParaRPr lang="en-US" sz="3000" dirty="0"/>
          </a:p>
        </p:txBody>
      </p:sp>
      <p:sp>
        <p:nvSpPr>
          <p:cNvPr id="3" name="Text 1"/>
          <p:cNvSpPr/>
          <p:nvPr/>
        </p:nvSpPr>
        <p:spPr>
          <a:xfrm>
            <a:off x="640080" y="731520"/>
            <a:ext cx="7315200" cy="274320"/>
          </a:xfrm>
          <a:prstGeom prst="rect">
            <a:avLst/>
          </a:prstGeom>
          <a:noFill/>
          <a:ln/>
        </p:spPr>
        <p:txBody>
          <a:bodyPr wrap="square" lIns="0" tIns="0" rIns="0" bIns="0" rtlCol="0" anchor="ctr"/>
          <a:lstStyle/>
          <a:p>
            <a:pPr marL="0" indent="0">
              <a:buNone/>
            </a:pPr>
            <a:r>
              <a:rPr lang="en-US" sz="1200" dirty="0">
                <a:solidFill>
                  <a:srgbClr val="6B7280"/>
                </a:solidFill>
                <a:latin typeface="Poppins" pitchFamily="34" charset="0"/>
                <a:ea typeface="Poppins" pitchFamily="34" charset="-122"/>
                <a:cs typeface="Poppins" pitchFamily="34" charset="-120"/>
              </a:rPr>
              <a:t>La couche d'orchestration et d'unification du système d'information</a:t>
            </a:r>
            <a:endParaRPr lang="en-US" sz="1200" dirty="0"/>
          </a:p>
        </p:txBody>
      </p:sp>
      <p:sp>
        <p:nvSpPr>
          <p:cNvPr id="4" name="Shape 2"/>
          <p:cNvSpPr/>
          <p:nvPr/>
        </p:nvSpPr>
        <p:spPr>
          <a:xfrm>
            <a:off x="640080" y="1188720"/>
            <a:ext cx="7863840" cy="777240"/>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5" name="Shape 3"/>
          <p:cNvSpPr/>
          <p:nvPr/>
        </p:nvSpPr>
        <p:spPr>
          <a:xfrm>
            <a:off x="640080" y="1188720"/>
            <a:ext cx="73152" cy="777240"/>
          </a:xfrm>
          <a:prstGeom prst="rect">
            <a:avLst/>
          </a:prstGeom>
          <a:solidFill>
            <a:srgbClr val="1677FF"/>
          </a:solidFill>
          <a:ln/>
        </p:spPr>
        <p:txBody>
          <a:bodyPr/>
          <a:lstStyle/>
          <a:p>
            <a:endParaRPr lang="fr-FR"/>
          </a:p>
        </p:txBody>
      </p:sp>
      <p:pic>
        <p:nvPicPr>
          <p:cNvPr id="6" name="Image 0" descr="preencoded.png"/>
          <p:cNvPicPr>
            <a:picLocks noChangeAspect="1"/>
          </p:cNvPicPr>
          <p:nvPr/>
        </p:nvPicPr>
        <p:blipFill>
          <a:blip r:embed="rId3"/>
          <a:stretch>
            <a:fillRect/>
          </a:stretch>
        </p:blipFill>
        <p:spPr>
          <a:xfrm>
            <a:off x="1005840" y="1344168"/>
            <a:ext cx="457200" cy="457200"/>
          </a:xfrm>
          <a:prstGeom prst="rect">
            <a:avLst/>
          </a:prstGeom>
        </p:spPr>
      </p:pic>
      <p:sp>
        <p:nvSpPr>
          <p:cNvPr id="7" name="Text 4"/>
          <p:cNvSpPr/>
          <p:nvPr/>
        </p:nvSpPr>
        <p:spPr>
          <a:xfrm>
            <a:off x="1645920" y="1234440"/>
            <a:ext cx="1828800" cy="320040"/>
          </a:xfrm>
          <a:prstGeom prst="rect">
            <a:avLst/>
          </a:prstGeom>
          <a:noFill/>
          <a:ln/>
        </p:spPr>
        <p:txBody>
          <a:bodyPr wrap="square" lIns="0" tIns="0" rIns="0" bIns="0" rtlCol="0" anchor="ctr"/>
          <a:lstStyle/>
          <a:p>
            <a:pPr marL="0" indent="0">
              <a:buNone/>
            </a:pPr>
            <a:r>
              <a:rPr lang="en-US" sz="1400" b="1" dirty="0">
                <a:solidFill>
                  <a:srgbClr val="0F172A"/>
                </a:solidFill>
                <a:latin typeface="Poppins" pitchFamily="34" charset="0"/>
                <a:ea typeface="Poppins" pitchFamily="34" charset="-122"/>
                <a:cs typeface="Poppins" pitchFamily="34" charset="-120"/>
              </a:rPr>
              <a:t>Connectivité</a:t>
            </a:r>
            <a:endParaRPr lang="en-US" sz="1400" dirty="0"/>
          </a:p>
        </p:txBody>
      </p:sp>
      <p:sp>
        <p:nvSpPr>
          <p:cNvPr id="8" name="Text 5"/>
          <p:cNvSpPr/>
          <p:nvPr/>
        </p:nvSpPr>
        <p:spPr>
          <a:xfrm>
            <a:off x="1645920" y="1554480"/>
            <a:ext cx="3200400" cy="320040"/>
          </a:xfrm>
          <a:prstGeom prst="rect">
            <a:avLst/>
          </a:prstGeom>
          <a:noFill/>
          <a:ln/>
        </p:spPr>
        <p:txBody>
          <a:bodyPr wrap="square" lIns="0" tIns="0" rIns="0" bIns="0" rtlCol="0" anchor="ctr"/>
          <a:lstStyle/>
          <a:p>
            <a:pPr marL="0" indent="0">
              <a:buNone/>
            </a:pPr>
            <a:r>
              <a:rPr lang="en-US" sz="900" dirty="0">
                <a:solidFill>
                  <a:srgbClr val="374151"/>
                </a:solidFill>
                <a:latin typeface="Poppins" pitchFamily="34" charset="0"/>
                <a:ea typeface="Poppins" pitchFamily="34" charset="-122"/>
                <a:cs typeface="Poppins" pitchFamily="34" charset="-120"/>
              </a:rPr>
              <a:t>ERP, CRM, mails, IoT, Drive, API, OPC-UA</a:t>
            </a:r>
            <a:endParaRPr lang="en-US" sz="900" dirty="0"/>
          </a:p>
        </p:txBody>
      </p:sp>
      <p:sp>
        <p:nvSpPr>
          <p:cNvPr id="9" name="Text 6"/>
          <p:cNvSpPr/>
          <p:nvPr/>
        </p:nvSpPr>
        <p:spPr>
          <a:xfrm>
            <a:off x="5943600" y="1371600"/>
            <a:ext cx="2286000" cy="320040"/>
          </a:xfrm>
          <a:prstGeom prst="rect">
            <a:avLst/>
          </a:prstGeom>
          <a:noFill/>
          <a:ln/>
        </p:spPr>
        <p:txBody>
          <a:bodyPr wrap="square" lIns="0" tIns="0" rIns="0" bIns="0" rtlCol="0" anchor="ctr"/>
          <a:lstStyle/>
          <a:p>
            <a:pPr marL="0" indent="0" algn="r">
              <a:buNone/>
            </a:pPr>
            <a:r>
              <a:rPr lang="en-US" sz="1100" b="1" dirty="0">
                <a:solidFill>
                  <a:srgbClr val="1677FF"/>
                </a:solidFill>
                <a:latin typeface="Poppins" pitchFamily="34" charset="0"/>
                <a:ea typeface="Poppins" pitchFamily="34" charset="-122"/>
                <a:cs typeface="Poppins" pitchFamily="34" charset="-120"/>
              </a:rPr>
              <a:t>Interopérabilité totale</a:t>
            </a:r>
            <a:endParaRPr lang="en-US" sz="1100" dirty="0"/>
          </a:p>
        </p:txBody>
      </p:sp>
      <p:sp>
        <p:nvSpPr>
          <p:cNvPr id="10" name="Shape 7"/>
          <p:cNvSpPr/>
          <p:nvPr/>
        </p:nvSpPr>
        <p:spPr>
          <a:xfrm>
            <a:off x="640080" y="2103120"/>
            <a:ext cx="7863840" cy="777240"/>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11" name="Shape 8"/>
          <p:cNvSpPr/>
          <p:nvPr/>
        </p:nvSpPr>
        <p:spPr>
          <a:xfrm>
            <a:off x="640080" y="2103120"/>
            <a:ext cx="73152" cy="777240"/>
          </a:xfrm>
          <a:prstGeom prst="rect">
            <a:avLst/>
          </a:prstGeom>
          <a:solidFill>
            <a:srgbClr val="0891B2"/>
          </a:solidFill>
          <a:ln/>
        </p:spPr>
        <p:txBody>
          <a:bodyPr/>
          <a:lstStyle/>
          <a:p>
            <a:endParaRPr lang="fr-FR"/>
          </a:p>
        </p:txBody>
      </p:sp>
      <p:pic>
        <p:nvPicPr>
          <p:cNvPr id="12" name="Image 1" descr="preencoded.png"/>
          <p:cNvPicPr>
            <a:picLocks noChangeAspect="1"/>
          </p:cNvPicPr>
          <p:nvPr/>
        </p:nvPicPr>
        <p:blipFill>
          <a:blip r:embed="rId4"/>
          <a:stretch>
            <a:fillRect/>
          </a:stretch>
        </p:blipFill>
        <p:spPr>
          <a:xfrm>
            <a:off x="1005840" y="2258568"/>
            <a:ext cx="457200" cy="457200"/>
          </a:xfrm>
          <a:prstGeom prst="rect">
            <a:avLst/>
          </a:prstGeom>
        </p:spPr>
      </p:pic>
      <p:sp>
        <p:nvSpPr>
          <p:cNvPr id="13" name="Text 9"/>
          <p:cNvSpPr/>
          <p:nvPr/>
        </p:nvSpPr>
        <p:spPr>
          <a:xfrm>
            <a:off x="1645920" y="2148840"/>
            <a:ext cx="1828800" cy="320040"/>
          </a:xfrm>
          <a:prstGeom prst="rect">
            <a:avLst/>
          </a:prstGeom>
          <a:noFill/>
          <a:ln/>
        </p:spPr>
        <p:txBody>
          <a:bodyPr wrap="square" lIns="0" tIns="0" rIns="0" bIns="0" rtlCol="0" anchor="ctr"/>
          <a:lstStyle/>
          <a:p>
            <a:pPr marL="0" indent="0">
              <a:buNone/>
            </a:pPr>
            <a:r>
              <a:rPr lang="en-US" sz="1400" b="1" dirty="0">
                <a:solidFill>
                  <a:srgbClr val="0F172A"/>
                </a:solidFill>
                <a:latin typeface="Poppins" pitchFamily="34" charset="0"/>
                <a:ea typeface="Poppins" pitchFamily="34" charset="-122"/>
                <a:cs typeface="Poppins" pitchFamily="34" charset="-120"/>
              </a:rPr>
              <a:t>Transformation</a:t>
            </a:r>
            <a:endParaRPr lang="en-US" sz="1400" dirty="0"/>
          </a:p>
        </p:txBody>
      </p:sp>
      <p:sp>
        <p:nvSpPr>
          <p:cNvPr id="14" name="Text 10"/>
          <p:cNvSpPr/>
          <p:nvPr/>
        </p:nvSpPr>
        <p:spPr>
          <a:xfrm>
            <a:off x="1645920" y="2468880"/>
            <a:ext cx="3200400" cy="320040"/>
          </a:xfrm>
          <a:prstGeom prst="rect">
            <a:avLst/>
          </a:prstGeom>
          <a:noFill/>
          <a:ln/>
        </p:spPr>
        <p:txBody>
          <a:bodyPr wrap="square" lIns="0" tIns="0" rIns="0" bIns="0" rtlCol="0" anchor="ctr"/>
          <a:lstStyle/>
          <a:p>
            <a:pPr marL="0" indent="0">
              <a:buNone/>
            </a:pPr>
            <a:r>
              <a:rPr lang="en-US" sz="900" dirty="0">
                <a:solidFill>
                  <a:srgbClr val="374151"/>
                </a:solidFill>
                <a:latin typeface="Poppins" pitchFamily="34" charset="0"/>
                <a:ea typeface="Poppins" pitchFamily="34" charset="-122"/>
                <a:cs typeface="Poppins" pitchFamily="34" charset="-120"/>
              </a:rPr>
              <a:t>Normalisation, mapping, enrichissement IA</a:t>
            </a:r>
            <a:endParaRPr lang="en-US" sz="900" dirty="0"/>
          </a:p>
        </p:txBody>
      </p:sp>
      <p:sp>
        <p:nvSpPr>
          <p:cNvPr id="15" name="Text 11"/>
          <p:cNvSpPr/>
          <p:nvPr/>
        </p:nvSpPr>
        <p:spPr>
          <a:xfrm>
            <a:off x="5943600" y="2286000"/>
            <a:ext cx="2286000" cy="320040"/>
          </a:xfrm>
          <a:prstGeom prst="rect">
            <a:avLst/>
          </a:prstGeom>
          <a:noFill/>
          <a:ln/>
        </p:spPr>
        <p:txBody>
          <a:bodyPr wrap="square" lIns="0" tIns="0" rIns="0" bIns="0" rtlCol="0" anchor="ctr"/>
          <a:lstStyle/>
          <a:p>
            <a:pPr marL="0" indent="0" algn="r">
              <a:buNone/>
            </a:pPr>
            <a:r>
              <a:rPr lang="en-US" sz="1100" b="1" dirty="0">
                <a:solidFill>
                  <a:srgbClr val="0891B2"/>
                </a:solidFill>
                <a:latin typeface="Poppins" pitchFamily="34" charset="0"/>
                <a:ea typeface="Poppins" pitchFamily="34" charset="-122"/>
                <a:cs typeface="Poppins" pitchFamily="34" charset="-120"/>
              </a:rPr>
              <a:t>Un langage commun</a:t>
            </a:r>
            <a:endParaRPr lang="en-US" sz="1100" dirty="0"/>
          </a:p>
        </p:txBody>
      </p:sp>
      <p:sp>
        <p:nvSpPr>
          <p:cNvPr id="16" name="Shape 12"/>
          <p:cNvSpPr/>
          <p:nvPr/>
        </p:nvSpPr>
        <p:spPr>
          <a:xfrm>
            <a:off x="640080" y="3017520"/>
            <a:ext cx="7863840" cy="777240"/>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17" name="Shape 13"/>
          <p:cNvSpPr/>
          <p:nvPr/>
        </p:nvSpPr>
        <p:spPr>
          <a:xfrm>
            <a:off x="640080" y="3017520"/>
            <a:ext cx="73152" cy="777240"/>
          </a:xfrm>
          <a:prstGeom prst="rect">
            <a:avLst/>
          </a:prstGeom>
          <a:solidFill>
            <a:srgbClr val="F59E0B"/>
          </a:solidFill>
          <a:ln/>
        </p:spPr>
        <p:txBody>
          <a:bodyPr/>
          <a:lstStyle/>
          <a:p>
            <a:endParaRPr lang="fr-FR"/>
          </a:p>
        </p:txBody>
      </p:sp>
      <p:pic>
        <p:nvPicPr>
          <p:cNvPr id="18" name="Image 2" descr="preencoded.png"/>
          <p:cNvPicPr>
            <a:picLocks noChangeAspect="1"/>
          </p:cNvPicPr>
          <p:nvPr/>
        </p:nvPicPr>
        <p:blipFill>
          <a:blip r:embed="rId5"/>
          <a:stretch>
            <a:fillRect/>
          </a:stretch>
        </p:blipFill>
        <p:spPr>
          <a:xfrm>
            <a:off x="1005840" y="3172968"/>
            <a:ext cx="457200" cy="457200"/>
          </a:xfrm>
          <a:prstGeom prst="rect">
            <a:avLst/>
          </a:prstGeom>
        </p:spPr>
      </p:pic>
      <p:sp>
        <p:nvSpPr>
          <p:cNvPr id="19" name="Text 14"/>
          <p:cNvSpPr/>
          <p:nvPr/>
        </p:nvSpPr>
        <p:spPr>
          <a:xfrm>
            <a:off x="1645920" y="3063240"/>
            <a:ext cx="1828800" cy="320040"/>
          </a:xfrm>
          <a:prstGeom prst="rect">
            <a:avLst/>
          </a:prstGeom>
          <a:noFill/>
          <a:ln/>
        </p:spPr>
        <p:txBody>
          <a:bodyPr wrap="square" lIns="0" tIns="0" rIns="0" bIns="0" rtlCol="0" anchor="ctr"/>
          <a:lstStyle/>
          <a:p>
            <a:pPr marL="0" indent="0">
              <a:buNone/>
            </a:pPr>
            <a:r>
              <a:rPr lang="en-US" sz="1400" b="1" dirty="0">
                <a:solidFill>
                  <a:srgbClr val="0F172A"/>
                </a:solidFill>
                <a:latin typeface="Poppins" pitchFamily="34" charset="0"/>
                <a:ea typeface="Poppins" pitchFamily="34" charset="-122"/>
                <a:cs typeface="Poppins" pitchFamily="34" charset="-120"/>
              </a:rPr>
              <a:t>Orchestration</a:t>
            </a:r>
            <a:endParaRPr lang="en-US" sz="1400" dirty="0"/>
          </a:p>
        </p:txBody>
      </p:sp>
      <p:sp>
        <p:nvSpPr>
          <p:cNvPr id="20" name="Text 15"/>
          <p:cNvSpPr/>
          <p:nvPr/>
        </p:nvSpPr>
        <p:spPr>
          <a:xfrm>
            <a:off x="1645920" y="3383280"/>
            <a:ext cx="3200400" cy="320040"/>
          </a:xfrm>
          <a:prstGeom prst="rect">
            <a:avLst/>
          </a:prstGeom>
          <a:noFill/>
          <a:ln/>
        </p:spPr>
        <p:txBody>
          <a:bodyPr wrap="square" lIns="0" tIns="0" rIns="0" bIns="0" rtlCol="0" anchor="ctr"/>
          <a:lstStyle/>
          <a:p>
            <a:pPr marL="0" indent="0">
              <a:buNone/>
            </a:pPr>
            <a:r>
              <a:rPr lang="en-US" sz="900" dirty="0">
                <a:solidFill>
                  <a:srgbClr val="374151"/>
                </a:solidFill>
                <a:latin typeface="Poppins" pitchFamily="34" charset="0"/>
                <a:ea typeface="Poppins" pitchFamily="34" charset="-122"/>
                <a:cs typeface="Poppins" pitchFamily="34" charset="-120"/>
              </a:rPr>
              <a:t>Workflow Builder, retry, parallélisme, gen IA</a:t>
            </a:r>
            <a:endParaRPr lang="en-US" sz="900" dirty="0"/>
          </a:p>
        </p:txBody>
      </p:sp>
      <p:sp>
        <p:nvSpPr>
          <p:cNvPr id="21" name="Text 16"/>
          <p:cNvSpPr/>
          <p:nvPr/>
        </p:nvSpPr>
        <p:spPr>
          <a:xfrm>
            <a:off x="5943600" y="3200400"/>
            <a:ext cx="2286000" cy="320040"/>
          </a:xfrm>
          <a:prstGeom prst="rect">
            <a:avLst/>
          </a:prstGeom>
          <a:noFill/>
          <a:ln/>
        </p:spPr>
        <p:txBody>
          <a:bodyPr wrap="square" lIns="0" tIns="0" rIns="0" bIns="0" rtlCol="0" anchor="ctr"/>
          <a:lstStyle/>
          <a:p>
            <a:pPr marL="0" indent="0" algn="r">
              <a:buNone/>
            </a:pPr>
            <a:r>
              <a:rPr lang="en-US" sz="1100" b="1" dirty="0">
                <a:solidFill>
                  <a:srgbClr val="F59E0B"/>
                </a:solidFill>
                <a:latin typeface="Poppins" pitchFamily="34" charset="0"/>
                <a:ea typeface="Poppins" pitchFamily="34" charset="-122"/>
                <a:cs typeface="Poppins" pitchFamily="34" charset="-120"/>
              </a:rPr>
              <a:t>Automatisation fiable</a:t>
            </a:r>
            <a:endParaRPr lang="en-US" sz="1100" dirty="0"/>
          </a:p>
        </p:txBody>
      </p:sp>
      <p:sp>
        <p:nvSpPr>
          <p:cNvPr id="22" name="Shape 17"/>
          <p:cNvSpPr/>
          <p:nvPr/>
        </p:nvSpPr>
        <p:spPr>
          <a:xfrm>
            <a:off x="640080" y="3931920"/>
            <a:ext cx="7863840" cy="777240"/>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23" name="Shape 18"/>
          <p:cNvSpPr/>
          <p:nvPr/>
        </p:nvSpPr>
        <p:spPr>
          <a:xfrm>
            <a:off x="640080" y="3931920"/>
            <a:ext cx="73152" cy="777240"/>
          </a:xfrm>
          <a:prstGeom prst="rect">
            <a:avLst/>
          </a:prstGeom>
          <a:solidFill>
            <a:srgbClr val="16A34A"/>
          </a:solidFill>
          <a:ln/>
        </p:spPr>
        <p:txBody>
          <a:bodyPr/>
          <a:lstStyle/>
          <a:p>
            <a:endParaRPr lang="fr-FR"/>
          </a:p>
        </p:txBody>
      </p:sp>
      <p:pic>
        <p:nvPicPr>
          <p:cNvPr id="24" name="Image 3" descr="preencoded.png"/>
          <p:cNvPicPr>
            <a:picLocks noChangeAspect="1"/>
          </p:cNvPicPr>
          <p:nvPr/>
        </p:nvPicPr>
        <p:blipFill>
          <a:blip r:embed="rId6"/>
          <a:stretch>
            <a:fillRect/>
          </a:stretch>
        </p:blipFill>
        <p:spPr>
          <a:xfrm>
            <a:off x="1005840" y="4087368"/>
            <a:ext cx="457200" cy="457200"/>
          </a:xfrm>
          <a:prstGeom prst="rect">
            <a:avLst/>
          </a:prstGeom>
        </p:spPr>
      </p:pic>
      <p:sp>
        <p:nvSpPr>
          <p:cNvPr id="25" name="Text 19"/>
          <p:cNvSpPr/>
          <p:nvPr/>
        </p:nvSpPr>
        <p:spPr>
          <a:xfrm>
            <a:off x="1645920" y="3977640"/>
            <a:ext cx="1828800" cy="320040"/>
          </a:xfrm>
          <a:prstGeom prst="rect">
            <a:avLst/>
          </a:prstGeom>
          <a:noFill/>
          <a:ln/>
        </p:spPr>
        <p:txBody>
          <a:bodyPr wrap="square" lIns="0" tIns="0" rIns="0" bIns="0" rtlCol="0" anchor="ctr"/>
          <a:lstStyle/>
          <a:p>
            <a:pPr marL="0" indent="0">
              <a:buNone/>
            </a:pPr>
            <a:r>
              <a:rPr lang="en-US" sz="1400" b="1" dirty="0">
                <a:solidFill>
                  <a:srgbClr val="0F172A"/>
                </a:solidFill>
                <a:latin typeface="Poppins" pitchFamily="34" charset="0"/>
                <a:ea typeface="Poppins" pitchFamily="34" charset="-122"/>
                <a:cs typeface="Poppins" pitchFamily="34" charset="-120"/>
              </a:rPr>
              <a:t>Gouvernance</a:t>
            </a:r>
            <a:endParaRPr lang="en-US" sz="1400" dirty="0"/>
          </a:p>
        </p:txBody>
      </p:sp>
      <p:sp>
        <p:nvSpPr>
          <p:cNvPr id="26" name="Text 20"/>
          <p:cNvSpPr/>
          <p:nvPr/>
        </p:nvSpPr>
        <p:spPr>
          <a:xfrm>
            <a:off x="1645920" y="4297680"/>
            <a:ext cx="3200400" cy="320040"/>
          </a:xfrm>
          <a:prstGeom prst="rect">
            <a:avLst/>
          </a:prstGeom>
          <a:noFill/>
          <a:ln/>
        </p:spPr>
        <p:txBody>
          <a:bodyPr wrap="square" lIns="0" tIns="0" rIns="0" bIns="0" rtlCol="0" anchor="ctr"/>
          <a:lstStyle/>
          <a:p>
            <a:pPr marL="0" indent="0">
              <a:buNone/>
            </a:pPr>
            <a:r>
              <a:rPr lang="en-US" sz="900" dirty="0">
                <a:solidFill>
                  <a:srgbClr val="374151"/>
                </a:solidFill>
                <a:latin typeface="Poppins" pitchFamily="34" charset="0"/>
                <a:ea typeface="Poppins" pitchFamily="34" charset="-122"/>
                <a:cs typeface="Poppins" pitchFamily="34" charset="-120"/>
              </a:rPr>
              <a:t>RBAC, audit, secrets, cloud + on-prem</a:t>
            </a:r>
            <a:endParaRPr lang="en-US" sz="900" dirty="0"/>
          </a:p>
        </p:txBody>
      </p:sp>
      <p:sp>
        <p:nvSpPr>
          <p:cNvPr id="27" name="Text 21"/>
          <p:cNvSpPr/>
          <p:nvPr/>
        </p:nvSpPr>
        <p:spPr>
          <a:xfrm>
            <a:off x="5943600" y="4114800"/>
            <a:ext cx="2286000" cy="320040"/>
          </a:xfrm>
          <a:prstGeom prst="rect">
            <a:avLst/>
          </a:prstGeom>
          <a:noFill/>
          <a:ln/>
        </p:spPr>
        <p:txBody>
          <a:bodyPr wrap="square" lIns="0" tIns="0" rIns="0" bIns="0" rtlCol="0" anchor="ctr"/>
          <a:lstStyle/>
          <a:p>
            <a:pPr marL="0" indent="0" algn="r">
              <a:buNone/>
            </a:pPr>
            <a:r>
              <a:rPr lang="en-US" sz="1100" b="1" dirty="0">
                <a:solidFill>
                  <a:srgbClr val="16A34A"/>
                </a:solidFill>
                <a:latin typeface="Poppins" pitchFamily="34" charset="0"/>
                <a:ea typeface="Poppins" pitchFamily="34" charset="-122"/>
                <a:cs typeface="Poppins" pitchFamily="34" charset="-120"/>
              </a:rPr>
              <a:t>Souveraineté numérique</a:t>
            </a:r>
            <a:endParaRPr lang="en-US" sz="1100" dirty="0"/>
          </a:p>
        </p:txBody>
      </p:sp>
      <p:sp>
        <p:nvSpPr>
          <p:cNvPr id="28" name="Text 22"/>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900" dirty="0">
                <a:solidFill>
                  <a:srgbClr val="9CA3AF"/>
                </a:solidFill>
                <a:latin typeface="Poppins" pitchFamily="34" charset="0"/>
                <a:ea typeface="Poppins" pitchFamily="34" charset="-122"/>
                <a:cs typeface="Poppins"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74320"/>
            <a:ext cx="8229600" cy="457200"/>
          </a:xfrm>
          <a:prstGeom prst="rect">
            <a:avLst/>
          </a:prstGeom>
          <a:noFill/>
          <a:ln/>
        </p:spPr>
        <p:txBody>
          <a:bodyPr wrap="square" lIns="0" tIns="0" rIns="0" bIns="0" rtlCol="0" anchor="ctr"/>
          <a:lstStyle/>
          <a:p>
            <a:pPr marL="0" indent="0">
              <a:buNone/>
            </a:pPr>
            <a:r>
              <a:rPr lang="en-US" sz="3000" b="1" dirty="0">
                <a:solidFill>
                  <a:srgbClr val="0F172A"/>
                </a:solidFill>
                <a:latin typeface="Poppins" pitchFamily="34" charset="0"/>
                <a:ea typeface="Poppins" pitchFamily="34" charset="-122"/>
                <a:cs typeface="Poppins" pitchFamily="34" charset="-120"/>
              </a:rPr>
              <a:t>Des cas d'usage à ROI immédiat</a:t>
            </a:r>
            <a:endParaRPr lang="en-US" sz="3000" dirty="0"/>
          </a:p>
        </p:txBody>
      </p:sp>
      <p:sp>
        <p:nvSpPr>
          <p:cNvPr id="3" name="Shape 1"/>
          <p:cNvSpPr/>
          <p:nvPr/>
        </p:nvSpPr>
        <p:spPr>
          <a:xfrm>
            <a:off x="457200" y="914400"/>
            <a:ext cx="2560320" cy="3749040"/>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4" name="Shape 2"/>
          <p:cNvSpPr/>
          <p:nvPr/>
        </p:nvSpPr>
        <p:spPr>
          <a:xfrm>
            <a:off x="457200" y="914400"/>
            <a:ext cx="2560320" cy="73152"/>
          </a:xfrm>
          <a:prstGeom prst="rect">
            <a:avLst/>
          </a:prstGeom>
          <a:solidFill>
            <a:srgbClr val="1677FF"/>
          </a:solidFill>
          <a:ln/>
        </p:spPr>
        <p:txBody>
          <a:bodyPr/>
          <a:lstStyle/>
          <a:p>
            <a:endParaRPr lang="fr-FR"/>
          </a:p>
        </p:txBody>
      </p:sp>
      <p:sp>
        <p:nvSpPr>
          <p:cNvPr id="5" name="Shape 3"/>
          <p:cNvSpPr/>
          <p:nvPr/>
        </p:nvSpPr>
        <p:spPr>
          <a:xfrm>
            <a:off x="1325880" y="1143000"/>
            <a:ext cx="640080" cy="640080"/>
          </a:xfrm>
          <a:prstGeom prst="ellipse">
            <a:avLst/>
          </a:prstGeom>
          <a:solidFill>
            <a:srgbClr val="EBF5FF"/>
          </a:solidFill>
          <a:ln/>
        </p:spPr>
        <p:txBody>
          <a:bodyPr/>
          <a:lstStyle/>
          <a:p>
            <a:endParaRPr lang="fr-FR"/>
          </a:p>
        </p:txBody>
      </p:sp>
      <p:pic>
        <p:nvPicPr>
          <p:cNvPr id="6" name="Image 0" descr="preencoded.png"/>
          <p:cNvPicPr>
            <a:picLocks noChangeAspect="1"/>
          </p:cNvPicPr>
          <p:nvPr/>
        </p:nvPicPr>
        <p:blipFill>
          <a:blip r:embed="rId3"/>
          <a:stretch>
            <a:fillRect/>
          </a:stretch>
        </p:blipFill>
        <p:spPr>
          <a:xfrm>
            <a:off x="1435608" y="1252728"/>
            <a:ext cx="420624" cy="420624"/>
          </a:xfrm>
          <a:prstGeom prst="rect">
            <a:avLst/>
          </a:prstGeom>
        </p:spPr>
      </p:pic>
      <p:sp>
        <p:nvSpPr>
          <p:cNvPr id="7" name="Text 4"/>
          <p:cNvSpPr/>
          <p:nvPr/>
        </p:nvSpPr>
        <p:spPr>
          <a:xfrm>
            <a:off x="548640" y="1920240"/>
            <a:ext cx="2377440" cy="320040"/>
          </a:xfrm>
          <a:prstGeom prst="rect">
            <a:avLst/>
          </a:prstGeom>
          <a:noFill/>
          <a:ln/>
        </p:spPr>
        <p:txBody>
          <a:bodyPr wrap="square" lIns="0" tIns="0" rIns="0" bIns="0" rtlCol="0" anchor="ctr"/>
          <a:lstStyle/>
          <a:p>
            <a:pPr marL="0" indent="0" algn="ctr">
              <a:buNone/>
            </a:pPr>
            <a:r>
              <a:rPr lang="en-US" sz="1700" b="1" dirty="0">
                <a:solidFill>
                  <a:srgbClr val="0F172A"/>
                </a:solidFill>
                <a:latin typeface="Poppins" pitchFamily="34" charset="0"/>
                <a:ea typeface="Poppins" pitchFamily="34" charset="-122"/>
                <a:cs typeface="Poppins" pitchFamily="34" charset="-120"/>
              </a:rPr>
              <a:t>Finance</a:t>
            </a:r>
            <a:endParaRPr lang="en-US" sz="1700" dirty="0"/>
          </a:p>
        </p:txBody>
      </p:sp>
      <p:sp>
        <p:nvSpPr>
          <p:cNvPr id="8" name="Text 5"/>
          <p:cNvSpPr/>
          <p:nvPr/>
        </p:nvSpPr>
        <p:spPr>
          <a:xfrm>
            <a:off x="548640" y="2240280"/>
            <a:ext cx="2377440" cy="320040"/>
          </a:xfrm>
          <a:prstGeom prst="rect">
            <a:avLst/>
          </a:prstGeom>
          <a:noFill/>
          <a:ln/>
        </p:spPr>
        <p:txBody>
          <a:bodyPr wrap="square" lIns="0" tIns="0" rIns="0" bIns="0" rtlCol="0" anchor="ctr"/>
          <a:lstStyle/>
          <a:p>
            <a:pPr marL="0" indent="0" algn="ctr">
              <a:buNone/>
            </a:pPr>
            <a:r>
              <a:rPr lang="en-US" sz="900" dirty="0">
                <a:solidFill>
                  <a:srgbClr val="6B7280"/>
                </a:solidFill>
                <a:latin typeface="Poppins" pitchFamily="34" charset="0"/>
                <a:ea typeface="Poppins" pitchFamily="34" charset="-122"/>
                <a:cs typeface="Poppins" pitchFamily="34" charset="-120"/>
              </a:rPr>
              <a:t>OCR → Analyse IA → Facture ERP</a:t>
            </a:r>
            <a:endParaRPr lang="en-US" sz="900" dirty="0"/>
          </a:p>
        </p:txBody>
      </p:sp>
      <p:sp>
        <p:nvSpPr>
          <p:cNvPr id="9" name="Shape 6"/>
          <p:cNvSpPr/>
          <p:nvPr/>
        </p:nvSpPr>
        <p:spPr>
          <a:xfrm>
            <a:off x="640080" y="2743200"/>
            <a:ext cx="2194560" cy="640080"/>
          </a:xfrm>
          <a:prstGeom prst="rect">
            <a:avLst/>
          </a:prstGeom>
          <a:solidFill>
            <a:srgbClr val="FFFFFF"/>
          </a:solidFill>
          <a:ln/>
          <a:effectLst>
            <a:outerShdw blurRad="76200" dist="25400" dir="8100000" algn="bl" rotWithShape="0">
              <a:srgbClr val="000000">
                <a:alpha val="6000"/>
              </a:srgbClr>
            </a:outerShdw>
          </a:effectLst>
        </p:spPr>
        <p:txBody>
          <a:bodyPr/>
          <a:lstStyle/>
          <a:p>
            <a:endParaRPr lang="fr-FR"/>
          </a:p>
        </p:txBody>
      </p:sp>
      <p:sp>
        <p:nvSpPr>
          <p:cNvPr id="10" name="Text 7"/>
          <p:cNvSpPr/>
          <p:nvPr/>
        </p:nvSpPr>
        <p:spPr>
          <a:xfrm>
            <a:off x="640080" y="2788920"/>
            <a:ext cx="2194560" cy="320040"/>
          </a:xfrm>
          <a:prstGeom prst="rect">
            <a:avLst/>
          </a:prstGeom>
          <a:noFill/>
          <a:ln/>
        </p:spPr>
        <p:txBody>
          <a:bodyPr wrap="square" lIns="0" tIns="0" rIns="0" bIns="0" rtlCol="0" anchor="ctr"/>
          <a:lstStyle/>
          <a:p>
            <a:pPr marL="0" indent="0" algn="ctr">
              <a:buNone/>
            </a:pPr>
            <a:r>
              <a:rPr lang="en-US" sz="1800" b="1" dirty="0">
                <a:solidFill>
                  <a:srgbClr val="1677FF"/>
                </a:solidFill>
                <a:latin typeface="Poppins" pitchFamily="34" charset="0"/>
                <a:ea typeface="Poppins" pitchFamily="34" charset="-122"/>
                <a:cs typeface="Poppins" pitchFamily="34" charset="-120"/>
              </a:rPr>
              <a:t>15 → 2 min</a:t>
            </a:r>
            <a:endParaRPr lang="en-US" sz="1800" dirty="0"/>
          </a:p>
        </p:txBody>
      </p:sp>
      <p:sp>
        <p:nvSpPr>
          <p:cNvPr id="11" name="Text 8"/>
          <p:cNvSpPr/>
          <p:nvPr/>
        </p:nvSpPr>
        <p:spPr>
          <a:xfrm>
            <a:off x="640080" y="3127248"/>
            <a:ext cx="2194560" cy="182880"/>
          </a:xfrm>
          <a:prstGeom prst="rect">
            <a:avLst/>
          </a:prstGeom>
          <a:noFill/>
          <a:ln/>
        </p:spPr>
        <p:txBody>
          <a:bodyPr wrap="square" lIns="0" tIns="0" rIns="0" bIns="0" rtlCol="0" anchor="ctr"/>
          <a:lstStyle/>
          <a:p>
            <a:pPr marL="0" indent="0" algn="ctr">
              <a:buNone/>
            </a:pPr>
            <a:r>
              <a:rPr lang="en-US" sz="900" dirty="0">
                <a:solidFill>
                  <a:srgbClr val="374151"/>
                </a:solidFill>
                <a:latin typeface="Poppins" pitchFamily="34" charset="0"/>
                <a:ea typeface="Poppins" pitchFamily="34" charset="-122"/>
                <a:cs typeface="Poppins" pitchFamily="34" charset="-120"/>
              </a:rPr>
              <a:t>par facture</a:t>
            </a:r>
            <a:endParaRPr lang="en-US" sz="900" dirty="0"/>
          </a:p>
        </p:txBody>
      </p:sp>
      <p:sp>
        <p:nvSpPr>
          <p:cNvPr id="12" name="Shape 9"/>
          <p:cNvSpPr/>
          <p:nvPr/>
        </p:nvSpPr>
        <p:spPr>
          <a:xfrm>
            <a:off x="640080" y="3520440"/>
            <a:ext cx="2194560" cy="640080"/>
          </a:xfrm>
          <a:prstGeom prst="rect">
            <a:avLst/>
          </a:prstGeom>
          <a:solidFill>
            <a:srgbClr val="FFFFFF"/>
          </a:solidFill>
          <a:ln/>
          <a:effectLst>
            <a:outerShdw blurRad="76200" dist="25400" dir="8100000" algn="bl" rotWithShape="0">
              <a:srgbClr val="000000">
                <a:alpha val="6000"/>
              </a:srgbClr>
            </a:outerShdw>
          </a:effectLst>
        </p:spPr>
        <p:txBody>
          <a:bodyPr/>
          <a:lstStyle/>
          <a:p>
            <a:endParaRPr lang="fr-FR"/>
          </a:p>
        </p:txBody>
      </p:sp>
      <p:sp>
        <p:nvSpPr>
          <p:cNvPr id="13" name="Text 10"/>
          <p:cNvSpPr/>
          <p:nvPr/>
        </p:nvSpPr>
        <p:spPr>
          <a:xfrm>
            <a:off x="640080" y="3566160"/>
            <a:ext cx="2194560" cy="320040"/>
          </a:xfrm>
          <a:prstGeom prst="rect">
            <a:avLst/>
          </a:prstGeom>
          <a:noFill/>
          <a:ln/>
        </p:spPr>
        <p:txBody>
          <a:bodyPr wrap="square" lIns="0" tIns="0" rIns="0" bIns="0" rtlCol="0" anchor="ctr"/>
          <a:lstStyle/>
          <a:p>
            <a:pPr marL="0" indent="0" algn="ctr">
              <a:buNone/>
            </a:pPr>
            <a:r>
              <a:rPr lang="en-US" sz="1800" b="1" dirty="0">
                <a:solidFill>
                  <a:srgbClr val="1677FF"/>
                </a:solidFill>
                <a:latin typeface="Poppins" pitchFamily="34" charset="0"/>
                <a:ea typeface="Poppins" pitchFamily="34" charset="-122"/>
                <a:cs typeface="Poppins" pitchFamily="34" charset="-120"/>
              </a:rPr>
              <a:t>-80%</a:t>
            </a:r>
            <a:endParaRPr lang="en-US" sz="1800" dirty="0"/>
          </a:p>
        </p:txBody>
      </p:sp>
      <p:sp>
        <p:nvSpPr>
          <p:cNvPr id="14" name="Text 11"/>
          <p:cNvSpPr/>
          <p:nvPr/>
        </p:nvSpPr>
        <p:spPr>
          <a:xfrm>
            <a:off x="640080" y="3904488"/>
            <a:ext cx="2194560" cy="182880"/>
          </a:xfrm>
          <a:prstGeom prst="rect">
            <a:avLst/>
          </a:prstGeom>
          <a:noFill/>
          <a:ln/>
        </p:spPr>
        <p:txBody>
          <a:bodyPr wrap="square" lIns="0" tIns="0" rIns="0" bIns="0" rtlCol="0" anchor="ctr"/>
          <a:lstStyle/>
          <a:p>
            <a:pPr marL="0" indent="0" algn="ctr">
              <a:buNone/>
            </a:pPr>
            <a:r>
              <a:rPr lang="en-US" sz="900" dirty="0">
                <a:solidFill>
                  <a:srgbClr val="374151"/>
                </a:solidFill>
                <a:latin typeface="Poppins" pitchFamily="34" charset="0"/>
                <a:ea typeface="Poppins" pitchFamily="34" charset="-122"/>
                <a:cs typeface="Poppins" pitchFamily="34" charset="-120"/>
              </a:rPr>
              <a:t>d'erreurs</a:t>
            </a:r>
            <a:endParaRPr lang="en-US" sz="900" dirty="0"/>
          </a:p>
        </p:txBody>
      </p:sp>
      <p:sp>
        <p:nvSpPr>
          <p:cNvPr id="15" name="Shape 12"/>
          <p:cNvSpPr/>
          <p:nvPr/>
        </p:nvSpPr>
        <p:spPr>
          <a:xfrm>
            <a:off x="3291840" y="914400"/>
            <a:ext cx="2560320" cy="3749040"/>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16" name="Shape 13"/>
          <p:cNvSpPr/>
          <p:nvPr/>
        </p:nvSpPr>
        <p:spPr>
          <a:xfrm>
            <a:off x="3291840" y="914400"/>
            <a:ext cx="2560320" cy="73152"/>
          </a:xfrm>
          <a:prstGeom prst="rect">
            <a:avLst/>
          </a:prstGeom>
          <a:solidFill>
            <a:srgbClr val="F59E0B"/>
          </a:solidFill>
          <a:ln/>
        </p:spPr>
        <p:txBody>
          <a:bodyPr/>
          <a:lstStyle/>
          <a:p>
            <a:endParaRPr lang="fr-FR"/>
          </a:p>
        </p:txBody>
      </p:sp>
      <p:sp>
        <p:nvSpPr>
          <p:cNvPr id="17" name="Shape 14"/>
          <p:cNvSpPr/>
          <p:nvPr/>
        </p:nvSpPr>
        <p:spPr>
          <a:xfrm>
            <a:off x="4160520" y="1143000"/>
            <a:ext cx="640080" cy="640080"/>
          </a:xfrm>
          <a:prstGeom prst="ellipse">
            <a:avLst/>
          </a:prstGeom>
          <a:solidFill>
            <a:srgbClr val="EBF5FF"/>
          </a:solidFill>
          <a:ln/>
        </p:spPr>
        <p:txBody>
          <a:bodyPr/>
          <a:lstStyle/>
          <a:p>
            <a:endParaRPr lang="fr-FR"/>
          </a:p>
        </p:txBody>
      </p:sp>
      <p:pic>
        <p:nvPicPr>
          <p:cNvPr id="18" name="Image 1" descr="preencoded.png"/>
          <p:cNvPicPr>
            <a:picLocks noChangeAspect="1"/>
          </p:cNvPicPr>
          <p:nvPr/>
        </p:nvPicPr>
        <p:blipFill>
          <a:blip r:embed="rId4"/>
          <a:stretch>
            <a:fillRect/>
          </a:stretch>
        </p:blipFill>
        <p:spPr>
          <a:xfrm>
            <a:off x="4270248" y="1252728"/>
            <a:ext cx="420624" cy="420624"/>
          </a:xfrm>
          <a:prstGeom prst="rect">
            <a:avLst/>
          </a:prstGeom>
        </p:spPr>
      </p:pic>
      <p:sp>
        <p:nvSpPr>
          <p:cNvPr id="19" name="Text 15"/>
          <p:cNvSpPr/>
          <p:nvPr/>
        </p:nvSpPr>
        <p:spPr>
          <a:xfrm>
            <a:off x="3383280" y="1920240"/>
            <a:ext cx="2377440" cy="320040"/>
          </a:xfrm>
          <a:prstGeom prst="rect">
            <a:avLst/>
          </a:prstGeom>
          <a:noFill/>
          <a:ln/>
        </p:spPr>
        <p:txBody>
          <a:bodyPr wrap="square" lIns="0" tIns="0" rIns="0" bIns="0" rtlCol="0" anchor="ctr"/>
          <a:lstStyle/>
          <a:p>
            <a:pPr marL="0" indent="0" algn="ctr">
              <a:buNone/>
            </a:pPr>
            <a:r>
              <a:rPr lang="en-US" sz="1700" b="1" dirty="0">
                <a:solidFill>
                  <a:srgbClr val="0F172A"/>
                </a:solidFill>
                <a:latin typeface="Poppins" pitchFamily="34" charset="0"/>
                <a:ea typeface="Poppins" pitchFamily="34" charset="-122"/>
                <a:cs typeface="Poppins" pitchFamily="34" charset="-120"/>
              </a:rPr>
              <a:t>Industrie</a:t>
            </a:r>
            <a:endParaRPr lang="en-US" sz="1700" dirty="0"/>
          </a:p>
        </p:txBody>
      </p:sp>
      <p:sp>
        <p:nvSpPr>
          <p:cNvPr id="20" name="Text 16"/>
          <p:cNvSpPr/>
          <p:nvPr/>
        </p:nvSpPr>
        <p:spPr>
          <a:xfrm>
            <a:off x="3383280" y="2240280"/>
            <a:ext cx="2377440" cy="320040"/>
          </a:xfrm>
          <a:prstGeom prst="rect">
            <a:avLst/>
          </a:prstGeom>
          <a:noFill/>
          <a:ln/>
        </p:spPr>
        <p:txBody>
          <a:bodyPr wrap="square" lIns="0" tIns="0" rIns="0" bIns="0" rtlCol="0" anchor="ctr"/>
          <a:lstStyle/>
          <a:p>
            <a:pPr marL="0" indent="0" algn="ctr">
              <a:buNone/>
            </a:pPr>
            <a:r>
              <a:rPr lang="en-US" sz="900" dirty="0">
                <a:solidFill>
                  <a:srgbClr val="6B7280"/>
                </a:solidFill>
                <a:latin typeface="Poppins" pitchFamily="34" charset="0"/>
                <a:ea typeface="Poppins" pitchFamily="34" charset="-122"/>
                <a:cs typeface="Poppins" pitchFamily="34" charset="-120"/>
              </a:rPr>
              <a:t>Détection OPC-UA → IA → Plan d'action</a:t>
            </a:r>
            <a:endParaRPr lang="en-US" sz="900" dirty="0"/>
          </a:p>
        </p:txBody>
      </p:sp>
      <p:sp>
        <p:nvSpPr>
          <p:cNvPr id="21" name="Shape 17"/>
          <p:cNvSpPr/>
          <p:nvPr/>
        </p:nvSpPr>
        <p:spPr>
          <a:xfrm>
            <a:off x="3474720" y="2743200"/>
            <a:ext cx="2194560" cy="640080"/>
          </a:xfrm>
          <a:prstGeom prst="rect">
            <a:avLst/>
          </a:prstGeom>
          <a:solidFill>
            <a:srgbClr val="FFFFFF"/>
          </a:solidFill>
          <a:ln/>
          <a:effectLst>
            <a:outerShdw blurRad="76200" dist="25400" dir="8100000" algn="bl" rotWithShape="0">
              <a:srgbClr val="000000">
                <a:alpha val="6000"/>
              </a:srgbClr>
            </a:outerShdw>
          </a:effectLst>
        </p:spPr>
        <p:txBody>
          <a:bodyPr/>
          <a:lstStyle/>
          <a:p>
            <a:endParaRPr lang="fr-FR"/>
          </a:p>
        </p:txBody>
      </p:sp>
      <p:sp>
        <p:nvSpPr>
          <p:cNvPr id="22" name="Text 18"/>
          <p:cNvSpPr/>
          <p:nvPr/>
        </p:nvSpPr>
        <p:spPr>
          <a:xfrm>
            <a:off x="3474720" y="2788920"/>
            <a:ext cx="2194560" cy="320040"/>
          </a:xfrm>
          <a:prstGeom prst="rect">
            <a:avLst/>
          </a:prstGeom>
          <a:noFill/>
          <a:ln/>
        </p:spPr>
        <p:txBody>
          <a:bodyPr wrap="square" lIns="0" tIns="0" rIns="0" bIns="0" rtlCol="0" anchor="ctr"/>
          <a:lstStyle/>
          <a:p>
            <a:pPr marL="0" indent="0" algn="ctr">
              <a:buNone/>
            </a:pPr>
            <a:r>
              <a:rPr lang="en-US" sz="1800" b="1" dirty="0">
                <a:solidFill>
                  <a:srgbClr val="F59E0B"/>
                </a:solidFill>
                <a:latin typeface="Poppins" pitchFamily="34" charset="0"/>
                <a:ea typeface="Poppins" pitchFamily="34" charset="-122"/>
                <a:cs typeface="Poppins" pitchFamily="34" charset="-120"/>
              </a:rPr>
              <a:t>45 → 8 min</a:t>
            </a:r>
            <a:endParaRPr lang="en-US" sz="1800" dirty="0"/>
          </a:p>
        </p:txBody>
      </p:sp>
      <p:sp>
        <p:nvSpPr>
          <p:cNvPr id="23" name="Text 19"/>
          <p:cNvSpPr/>
          <p:nvPr/>
        </p:nvSpPr>
        <p:spPr>
          <a:xfrm>
            <a:off x="3474720" y="3127248"/>
            <a:ext cx="2194560" cy="182880"/>
          </a:xfrm>
          <a:prstGeom prst="rect">
            <a:avLst/>
          </a:prstGeom>
          <a:noFill/>
          <a:ln/>
        </p:spPr>
        <p:txBody>
          <a:bodyPr wrap="square" lIns="0" tIns="0" rIns="0" bIns="0" rtlCol="0" anchor="ctr"/>
          <a:lstStyle/>
          <a:p>
            <a:pPr marL="0" indent="0" algn="ctr">
              <a:buNone/>
            </a:pPr>
            <a:r>
              <a:rPr lang="en-US" sz="900" dirty="0">
                <a:solidFill>
                  <a:srgbClr val="374151"/>
                </a:solidFill>
                <a:latin typeface="Poppins" pitchFamily="34" charset="0"/>
                <a:ea typeface="Poppins" pitchFamily="34" charset="-122"/>
                <a:cs typeface="Poppins" pitchFamily="34" charset="-120"/>
              </a:rPr>
              <a:t>par détection</a:t>
            </a:r>
            <a:endParaRPr lang="en-US" sz="900" dirty="0"/>
          </a:p>
        </p:txBody>
      </p:sp>
      <p:sp>
        <p:nvSpPr>
          <p:cNvPr id="24" name="Shape 20"/>
          <p:cNvSpPr/>
          <p:nvPr/>
        </p:nvSpPr>
        <p:spPr>
          <a:xfrm>
            <a:off x="3474720" y="3520440"/>
            <a:ext cx="2194560" cy="640080"/>
          </a:xfrm>
          <a:prstGeom prst="rect">
            <a:avLst/>
          </a:prstGeom>
          <a:solidFill>
            <a:srgbClr val="FFFFFF"/>
          </a:solidFill>
          <a:ln/>
          <a:effectLst>
            <a:outerShdw blurRad="76200" dist="25400" dir="8100000" algn="bl" rotWithShape="0">
              <a:srgbClr val="000000">
                <a:alpha val="6000"/>
              </a:srgbClr>
            </a:outerShdw>
          </a:effectLst>
        </p:spPr>
        <p:txBody>
          <a:bodyPr/>
          <a:lstStyle/>
          <a:p>
            <a:endParaRPr lang="fr-FR"/>
          </a:p>
        </p:txBody>
      </p:sp>
      <p:sp>
        <p:nvSpPr>
          <p:cNvPr id="25" name="Text 21"/>
          <p:cNvSpPr/>
          <p:nvPr/>
        </p:nvSpPr>
        <p:spPr>
          <a:xfrm>
            <a:off x="3474720" y="3566160"/>
            <a:ext cx="2194560" cy="320040"/>
          </a:xfrm>
          <a:prstGeom prst="rect">
            <a:avLst/>
          </a:prstGeom>
          <a:noFill/>
          <a:ln/>
        </p:spPr>
        <p:txBody>
          <a:bodyPr wrap="square" lIns="0" tIns="0" rIns="0" bIns="0" rtlCol="0" anchor="ctr"/>
          <a:lstStyle/>
          <a:p>
            <a:pPr marL="0" indent="0" algn="ctr">
              <a:buNone/>
            </a:pPr>
            <a:r>
              <a:rPr lang="en-US" sz="1800" b="1" dirty="0">
                <a:solidFill>
                  <a:srgbClr val="F59E0B"/>
                </a:solidFill>
                <a:latin typeface="Poppins" pitchFamily="34" charset="0"/>
                <a:ea typeface="Poppins" pitchFamily="34" charset="-122"/>
                <a:cs typeface="Poppins" pitchFamily="34" charset="-120"/>
              </a:rPr>
              <a:t>-60%</a:t>
            </a:r>
            <a:endParaRPr lang="en-US" sz="1800" dirty="0"/>
          </a:p>
        </p:txBody>
      </p:sp>
      <p:sp>
        <p:nvSpPr>
          <p:cNvPr id="26" name="Text 22"/>
          <p:cNvSpPr/>
          <p:nvPr/>
        </p:nvSpPr>
        <p:spPr>
          <a:xfrm>
            <a:off x="3474720" y="3904488"/>
            <a:ext cx="2194560" cy="182880"/>
          </a:xfrm>
          <a:prstGeom prst="rect">
            <a:avLst/>
          </a:prstGeom>
          <a:noFill/>
          <a:ln/>
        </p:spPr>
        <p:txBody>
          <a:bodyPr wrap="square" lIns="0" tIns="0" rIns="0" bIns="0" rtlCol="0" anchor="ctr"/>
          <a:lstStyle/>
          <a:p>
            <a:pPr marL="0" indent="0" algn="ctr">
              <a:buNone/>
            </a:pPr>
            <a:r>
              <a:rPr lang="en-US" sz="900" dirty="0">
                <a:solidFill>
                  <a:srgbClr val="374151"/>
                </a:solidFill>
                <a:latin typeface="Poppins" pitchFamily="34" charset="0"/>
                <a:ea typeface="Poppins" pitchFamily="34" charset="-122"/>
                <a:cs typeface="Poppins" pitchFamily="34" charset="-120"/>
              </a:rPr>
              <a:t>pannes répétées</a:t>
            </a:r>
            <a:endParaRPr lang="en-US" sz="900" dirty="0"/>
          </a:p>
        </p:txBody>
      </p:sp>
      <p:sp>
        <p:nvSpPr>
          <p:cNvPr id="27" name="Shape 23"/>
          <p:cNvSpPr/>
          <p:nvPr/>
        </p:nvSpPr>
        <p:spPr>
          <a:xfrm>
            <a:off x="6126480" y="914400"/>
            <a:ext cx="2560320" cy="3749040"/>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28" name="Shape 24"/>
          <p:cNvSpPr/>
          <p:nvPr/>
        </p:nvSpPr>
        <p:spPr>
          <a:xfrm>
            <a:off x="6126480" y="914400"/>
            <a:ext cx="2560320" cy="73152"/>
          </a:xfrm>
          <a:prstGeom prst="rect">
            <a:avLst/>
          </a:prstGeom>
          <a:solidFill>
            <a:srgbClr val="16A34A"/>
          </a:solidFill>
          <a:ln/>
        </p:spPr>
        <p:txBody>
          <a:bodyPr/>
          <a:lstStyle/>
          <a:p>
            <a:endParaRPr lang="fr-FR"/>
          </a:p>
        </p:txBody>
      </p:sp>
      <p:sp>
        <p:nvSpPr>
          <p:cNvPr id="29" name="Shape 25"/>
          <p:cNvSpPr/>
          <p:nvPr/>
        </p:nvSpPr>
        <p:spPr>
          <a:xfrm>
            <a:off x="6995160" y="1143000"/>
            <a:ext cx="640080" cy="640080"/>
          </a:xfrm>
          <a:prstGeom prst="ellipse">
            <a:avLst/>
          </a:prstGeom>
          <a:solidFill>
            <a:srgbClr val="EBF5FF"/>
          </a:solidFill>
          <a:ln/>
        </p:spPr>
        <p:txBody>
          <a:bodyPr/>
          <a:lstStyle/>
          <a:p>
            <a:endParaRPr lang="fr-FR"/>
          </a:p>
        </p:txBody>
      </p:sp>
      <p:pic>
        <p:nvPicPr>
          <p:cNvPr id="30" name="Image 2" descr="preencoded.png"/>
          <p:cNvPicPr>
            <a:picLocks noChangeAspect="1"/>
          </p:cNvPicPr>
          <p:nvPr/>
        </p:nvPicPr>
        <p:blipFill>
          <a:blip r:embed="rId5"/>
          <a:stretch>
            <a:fillRect/>
          </a:stretch>
        </p:blipFill>
        <p:spPr>
          <a:xfrm>
            <a:off x="7104888" y="1252728"/>
            <a:ext cx="420624" cy="420624"/>
          </a:xfrm>
          <a:prstGeom prst="rect">
            <a:avLst/>
          </a:prstGeom>
        </p:spPr>
      </p:pic>
      <p:sp>
        <p:nvSpPr>
          <p:cNvPr id="31" name="Text 26"/>
          <p:cNvSpPr/>
          <p:nvPr/>
        </p:nvSpPr>
        <p:spPr>
          <a:xfrm>
            <a:off x="6217920" y="1920240"/>
            <a:ext cx="2377440" cy="320040"/>
          </a:xfrm>
          <a:prstGeom prst="rect">
            <a:avLst/>
          </a:prstGeom>
          <a:noFill/>
          <a:ln/>
        </p:spPr>
        <p:txBody>
          <a:bodyPr wrap="square" lIns="0" tIns="0" rIns="0" bIns="0" rtlCol="0" anchor="ctr"/>
          <a:lstStyle/>
          <a:p>
            <a:pPr marL="0" indent="0" algn="ctr">
              <a:buNone/>
            </a:pPr>
            <a:r>
              <a:rPr lang="en-US" sz="1700" b="1" dirty="0">
                <a:solidFill>
                  <a:srgbClr val="0F172A"/>
                </a:solidFill>
                <a:latin typeface="Poppins" pitchFamily="34" charset="0"/>
                <a:ea typeface="Poppins" pitchFamily="34" charset="-122"/>
                <a:cs typeface="Poppins" pitchFamily="34" charset="-120"/>
              </a:rPr>
              <a:t>IT / Support</a:t>
            </a:r>
            <a:endParaRPr lang="en-US" sz="1700" dirty="0"/>
          </a:p>
        </p:txBody>
      </p:sp>
      <p:sp>
        <p:nvSpPr>
          <p:cNvPr id="32" name="Text 27"/>
          <p:cNvSpPr/>
          <p:nvPr/>
        </p:nvSpPr>
        <p:spPr>
          <a:xfrm>
            <a:off x="6217920" y="2240280"/>
            <a:ext cx="2377440" cy="320040"/>
          </a:xfrm>
          <a:prstGeom prst="rect">
            <a:avLst/>
          </a:prstGeom>
          <a:noFill/>
          <a:ln/>
        </p:spPr>
        <p:txBody>
          <a:bodyPr wrap="square" lIns="0" tIns="0" rIns="0" bIns="0" rtlCol="0" anchor="ctr"/>
          <a:lstStyle/>
          <a:p>
            <a:pPr marL="0" indent="0" algn="ctr">
              <a:buNone/>
            </a:pPr>
            <a:r>
              <a:rPr lang="en-US" sz="900" dirty="0">
                <a:solidFill>
                  <a:srgbClr val="6B7280"/>
                </a:solidFill>
                <a:latin typeface="Poppins" pitchFamily="34" charset="0"/>
                <a:ea typeface="Poppins" pitchFamily="34" charset="-122"/>
                <a:cs typeface="Poppins" pitchFamily="34" charset="-120"/>
              </a:rPr>
              <a:t>Analyse logs → Agent IA → Ticket SAP</a:t>
            </a:r>
            <a:endParaRPr lang="en-US" sz="900" dirty="0"/>
          </a:p>
        </p:txBody>
      </p:sp>
      <p:sp>
        <p:nvSpPr>
          <p:cNvPr id="33" name="Shape 28"/>
          <p:cNvSpPr/>
          <p:nvPr/>
        </p:nvSpPr>
        <p:spPr>
          <a:xfrm>
            <a:off x="6309360" y="2743200"/>
            <a:ext cx="2194560" cy="640080"/>
          </a:xfrm>
          <a:prstGeom prst="rect">
            <a:avLst/>
          </a:prstGeom>
          <a:solidFill>
            <a:srgbClr val="FFFFFF"/>
          </a:solidFill>
          <a:ln/>
          <a:effectLst>
            <a:outerShdw blurRad="76200" dist="25400" dir="8100000" algn="bl" rotWithShape="0">
              <a:srgbClr val="000000">
                <a:alpha val="6000"/>
              </a:srgbClr>
            </a:outerShdw>
          </a:effectLst>
        </p:spPr>
        <p:txBody>
          <a:bodyPr/>
          <a:lstStyle/>
          <a:p>
            <a:endParaRPr lang="fr-FR"/>
          </a:p>
        </p:txBody>
      </p:sp>
      <p:sp>
        <p:nvSpPr>
          <p:cNvPr id="34" name="Text 29"/>
          <p:cNvSpPr/>
          <p:nvPr/>
        </p:nvSpPr>
        <p:spPr>
          <a:xfrm>
            <a:off x="6309360" y="2788920"/>
            <a:ext cx="2194560" cy="320040"/>
          </a:xfrm>
          <a:prstGeom prst="rect">
            <a:avLst/>
          </a:prstGeom>
          <a:noFill/>
          <a:ln/>
        </p:spPr>
        <p:txBody>
          <a:bodyPr wrap="square" lIns="0" tIns="0" rIns="0" bIns="0" rtlCol="0" anchor="ctr"/>
          <a:lstStyle/>
          <a:p>
            <a:pPr marL="0" indent="0" algn="ctr">
              <a:buNone/>
            </a:pPr>
            <a:r>
              <a:rPr lang="en-US" sz="1800" b="1" dirty="0">
                <a:solidFill>
                  <a:srgbClr val="16A34A"/>
                </a:solidFill>
                <a:latin typeface="Poppins" pitchFamily="34" charset="0"/>
                <a:ea typeface="Poppins" pitchFamily="34" charset="-122"/>
                <a:cs typeface="Poppins" pitchFamily="34" charset="-120"/>
              </a:rPr>
              <a:t>-55%</a:t>
            </a:r>
            <a:endParaRPr lang="en-US" sz="1800" dirty="0"/>
          </a:p>
        </p:txBody>
      </p:sp>
      <p:sp>
        <p:nvSpPr>
          <p:cNvPr id="35" name="Text 30"/>
          <p:cNvSpPr/>
          <p:nvPr/>
        </p:nvSpPr>
        <p:spPr>
          <a:xfrm>
            <a:off x="6309360" y="3127248"/>
            <a:ext cx="2194560" cy="182880"/>
          </a:xfrm>
          <a:prstGeom prst="rect">
            <a:avLst/>
          </a:prstGeom>
          <a:noFill/>
          <a:ln/>
        </p:spPr>
        <p:txBody>
          <a:bodyPr wrap="square" lIns="0" tIns="0" rIns="0" bIns="0" rtlCol="0" anchor="ctr"/>
          <a:lstStyle/>
          <a:p>
            <a:pPr marL="0" indent="0" algn="ctr">
              <a:buNone/>
            </a:pPr>
            <a:r>
              <a:rPr lang="en-US" sz="900" dirty="0">
                <a:solidFill>
                  <a:srgbClr val="374151"/>
                </a:solidFill>
                <a:latin typeface="Poppins" pitchFamily="34" charset="0"/>
                <a:ea typeface="Poppins" pitchFamily="34" charset="-122"/>
                <a:cs typeface="Poppins" pitchFamily="34" charset="-120"/>
              </a:rPr>
              <a:t>MTTR</a:t>
            </a:r>
            <a:endParaRPr lang="en-US" sz="900" dirty="0"/>
          </a:p>
        </p:txBody>
      </p:sp>
      <p:sp>
        <p:nvSpPr>
          <p:cNvPr id="36" name="Shape 31"/>
          <p:cNvSpPr/>
          <p:nvPr/>
        </p:nvSpPr>
        <p:spPr>
          <a:xfrm>
            <a:off x="6309360" y="3520440"/>
            <a:ext cx="2194560" cy="640080"/>
          </a:xfrm>
          <a:prstGeom prst="rect">
            <a:avLst/>
          </a:prstGeom>
          <a:solidFill>
            <a:srgbClr val="FFFFFF"/>
          </a:solidFill>
          <a:ln/>
          <a:effectLst>
            <a:outerShdw blurRad="76200" dist="25400" dir="8100000" algn="bl" rotWithShape="0">
              <a:srgbClr val="000000">
                <a:alpha val="6000"/>
              </a:srgbClr>
            </a:outerShdw>
          </a:effectLst>
        </p:spPr>
        <p:txBody>
          <a:bodyPr/>
          <a:lstStyle/>
          <a:p>
            <a:endParaRPr lang="fr-FR"/>
          </a:p>
        </p:txBody>
      </p:sp>
      <p:sp>
        <p:nvSpPr>
          <p:cNvPr id="37" name="Text 32"/>
          <p:cNvSpPr/>
          <p:nvPr/>
        </p:nvSpPr>
        <p:spPr>
          <a:xfrm>
            <a:off x="6309360" y="3566160"/>
            <a:ext cx="2194560" cy="320040"/>
          </a:xfrm>
          <a:prstGeom prst="rect">
            <a:avLst/>
          </a:prstGeom>
          <a:noFill/>
          <a:ln/>
        </p:spPr>
        <p:txBody>
          <a:bodyPr wrap="square" lIns="0" tIns="0" rIns="0" bIns="0" rtlCol="0" anchor="ctr"/>
          <a:lstStyle/>
          <a:p>
            <a:pPr marL="0" indent="0" algn="ctr">
              <a:buNone/>
            </a:pPr>
            <a:r>
              <a:rPr lang="en-US" sz="1800" b="1" dirty="0">
                <a:solidFill>
                  <a:srgbClr val="16A34A"/>
                </a:solidFill>
                <a:latin typeface="Poppins" pitchFamily="34" charset="0"/>
                <a:ea typeface="Poppins" pitchFamily="34" charset="-122"/>
                <a:cs typeface="Poppins" pitchFamily="34" charset="-120"/>
              </a:rPr>
              <a:t>-40%</a:t>
            </a:r>
            <a:endParaRPr lang="en-US" sz="1800" dirty="0"/>
          </a:p>
        </p:txBody>
      </p:sp>
      <p:sp>
        <p:nvSpPr>
          <p:cNvPr id="38" name="Text 33"/>
          <p:cNvSpPr/>
          <p:nvPr/>
        </p:nvSpPr>
        <p:spPr>
          <a:xfrm>
            <a:off x="6309360" y="3904488"/>
            <a:ext cx="2194560" cy="182880"/>
          </a:xfrm>
          <a:prstGeom prst="rect">
            <a:avLst/>
          </a:prstGeom>
          <a:noFill/>
          <a:ln/>
        </p:spPr>
        <p:txBody>
          <a:bodyPr wrap="square" lIns="0" tIns="0" rIns="0" bIns="0" rtlCol="0" anchor="ctr"/>
          <a:lstStyle/>
          <a:p>
            <a:pPr marL="0" indent="0" algn="ctr">
              <a:buNone/>
            </a:pPr>
            <a:r>
              <a:rPr lang="en-US" sz="900" dirty="0">
                <a:solidFill>
                  <a:srgbClr val="374151"/>
                </a:solidFill>
                <a:latin typeface="Poppins" pitchFamily="34" charset="0"/>
                <a:ea typeface="Poppins" pitchFamily="34" charset="-122"/>
                <a:cs typeface="Poppins" pitchFamily="34" charset="-120"/>
              </a:rPr>
              <a:t>incidents récurrents</a:t>
            </a:r>
            <a:endParaRPr lang="en-US" sz="900" dirty="0"/>
          </a:p>
        </p:txBody>
      </p:sp>
      <p:sp>
        <p:nvSpPr>
          <p:cNvPr id="39" name="Text 34"/>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900" dirty="0">
                <a:solidFill>
                  <a:srgbClr val="9CA3AF"/>
                </a:solidFill>
                <a:latin typeface="Poppins" pitchFamily="34" charset="0"/>
                <a:ea typeface="Poppins" pitchFamily="34" charset="-122"/>
                <a:cs typeface="Poppins"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28600"/>
            <a:ext cx="4572000" cy="411480"/>
          </a:xfrm>
          <a:prstGeom prst="rect">
            <a:avLst/>
          </a:prstGeom>
          <a:noFill/>
          <a:ln/>
        </p:spPr>
        <p:txBody>
          <a:bodyPr wrap="square" lIns="0" tIns="0" rIns="0" bIns="0" rtlCol="0" anchor="ctr"/>
          <a:lstStyle/>
          <a:p>
            <a:pPr marL="0" indent="0">
              <a:buNone/>
            </a:pPr>
            <a:r>
              <a:rPr lang="en-US" sz="2800" b="1" dirty="0">
                <a:solidFill>
                  <a:srgbClr val="0F172A"/>
                </a:solidFill>
                <a:latin typeface="Poppins" pitchFamily="34" charset="0"/>
                <a:ea typeface="Poppins" pitchFamily="34" charset="-122"/>
                <a:cs typeface="Poppins" pitchFamily="34" charset="-120"/>
              </a:rPr>
              <a:t>Nos cibles</a:t>
            </a:r>
            <a:endParaRPr lang="en-US" sz="2800" dirty="0"/>
          </a:p>
        </p:txBody>
      </p:sp>
      <p:sp>
        <p:nvSpPr>
          <p:cNvPr id="3" name="Text 1"/>
          <p:cNvSpPr/>
          <p:nvPr/>
        </p:nvSpPr>
        <p:spPr>
          <a:xfrm>
            <a:off x="640080" y="640080"/>
            <a:ext cx="7315200" cy="228600"/>
          </a:xfrm>
          <a:prstGeom prst="rect">
            <a:avLst/>
          </a:prstGeom>
          <a:noFill/>
          <a:ln/>
        </p:spPr>
        <p:txBody>
          <a:bodyPr wrap="square" lIns="0" tIns="0" rIns="0" bIns="0" rtlCol="0" anchor="ctr"/>
          <a:lstStyle/>
          <a:p>
            <a:pPr marL="0" indent="0">
              <a:buNone/>
            </a:pPr>
            <a:r>
              <a:rPr lang="en-US" sz="1100" dirty="0">
                <a:solidFill>
                  <a:srgbClr val="6B7280"/>
                </a:solidFill>
                <a:latin typeface="Poppins" pitchFamily="34" charset="0"/>
                <a:ea typeface="Poppins" pitchFamily="34" charset="-122"/>
                <a:cs typeface="Poppins" pitchFamily="34" charset="-120"/>
              </a:rPr>
              <a:t>5 personas, un même besoin : automatiser sans coder</a:t>
            </a:r>
            <a:endParaRPr lang="en-US" sz="1100" dirty="0"/>
          </a:p>
        </p:txBody>
      </p:sp>
      <p:sp>
        <p:nvSpPr>
          <p:cNvPr id="4" name="Text 2"/>
          <p:cNvSpPr/>
          <p:nvPr/>
        </p:nvSpPr>
        <p:spPr>
          <a:xfrm>
            <a:off x="214921" y="928860"/>
            <a:ext cx="1554480" cy="228600"/>
          </a:xfrm>
          <a:prstGeom prst="rect">
            <a:avLst/>
          </a:prstGeom>
          <a:noFill/>
          <a:ln/>
        </p:spPr>
        <p:txBody>
          <a:bodyPr wrap="square" lIns="0" tIns="0" rIns="0" bIns="0" rtlCol="0" anchor="ctr"/>
          <a:lstStyle/>
          <a:p>
            <a:pPr marL="0" indent="0">
              <a:buNone/>
            </a:pPr>
            <a:r>
              <a:rPr lang="en-US" sz="850" b="1" dirty="0">
                <a:solidFill>
                  <a:srgbClr val="1677FF"/>
                </a:solidFill>
                <a:latin typeface="Poppins" pitchFamily="34" charset="0"/>
                <a:ea typeface="Poppins" pitchFamily="34" charset="-122"/>
                <a:cs typeface="Poppins" pitchFamily="34" charset="-120"/>
              </a:rPr>
              <a:t>Persona</a:t>
            </a:r>
            <a:endParaRPr lang="en-US" sz="850" dirty="0"/>
          </a:p>
        </p:txBody>
      </p:sp>
      <p:sp>
        <p:nvSpPr>
          <p:cNvPr id="5" name="Text 3"/>
          <p:cNvSpPr/>
          <p:nvPr/>
        </p:nvSpPr>
        <p:spPr>
          <a:xfrm>
            <a:off x="1860841" y="928860"/>
            <a:ext cx="2926080" cy="228600"/>
          </a:xfrm>
          <a:prstGeom prst="rect">
            <a:avLst/>
          </a:prstGeom>
          <a:noFill/>
          <a:ln/>
        </p:spPr>
        <p:txBody>
          <a:bodyPr wrap="square" lIns="0" tIns="0" rIns="0" bIns="0" rtlCol="0" anchor="ctr"/>
          <a:lstStyle/>
          <a:p>
            <a:pPr marL="0" indent="0">
              <a:buNone/>
            </a:pPr>
            <a:r>
              <a:rPr lang="en-US" sz="850" b="1" dirty="0">
                <a:solidFill>
                  <a:srgbClr val="1677FF"/>
                </a:solidFill>
                <a:latin typeface="Poppins" pitchFamily="34" charset="0"/>
                <a:ea typeface="Poppins" pitchFamily="34" charset="-122"/>
                <a:cs typeface="Poppins" pitchFamily="34" charset="-120"/>
              </a:rPr>
              <a:t>Contexte &amp; besoins</a:t>
            </a:r>
            <a:endParaRPr lang="en-US" sz="850" dirty="0"/>
          </a:p>
        </p:txBody>
      </p:sp>
      <p:sp>
        <p:nvSpPr>
          <p:cNvPr id="6" name="Text 4"/>
          <p:cNvSpPr/>
          <p:nvPr/>
        </p:nvSpPr>
        <p:spPr>
          <a:xfrm>
            <a:off x="4878361" y="928860"/>
            <a:ext cx="2286000" cy="228600"/>
          </a:xfrm>
          <a:prstGeom prst="rect">
            <a:avLst/>
          </a:prstGeom>
          <a:noFill/>
          <a:ln/>
        </p:spPr>
        <p:txBody>
          <a:bodyPr wrap="square" lIns="0" tIns="0" rIns="0" bIns="0" rtlCol="0" anchor="ctr"/>
          <a:lstStyle/>
          <a:p>
            <a:pPr marL="0" indent="0">
              <a:buNone/>
            </a:pPr>
            <a:r>
              <a:rPr lang="en-US" sz="850" b="1" dirty="0">
                <a:solidFill>
                  <a:srgbClr val="1677FF"/>
                </a:solidFill>
                <a:latin typeface="Poppins" pitchFamily="34" charset="0"/>
                <a:ea typeface="Poppins" pitchFamily="34" charset="-122"/>
                <a:cs typeface="Poppins" pitchFamily="34" charset="-120"/>
              </a:rPr>
              <a:t>Solution KINN</a:t>
            </a:r>
            <a:endParaRPr lang="en-US" sz="850" dirty="0"/>
          </a:p>
        </p:txBody>
      </p:sp>
      <p:sp>
        <p:nvSpPr>
          <p:cNvPr id="7" name="Text 5"/>
          <p:cNvSpPr/>
          <p:nvPr/>
        </p:nvSpPr>
        <p:spPr>
          <a:xfrm>
            <a:off x="7255801" y="928860"/>
            <a:ext cx="1371600" cy="228600"/>
          </a:xfrm>
          <a:prstGeom prst="rect">
            <a:avLst/>
          </a:prstGeom>
          <a:noFill/>
          <a:ln/>
        </p:spPr>
        <p:txBody>
          <a:bodyPr wrap="square" lIns="0" tIns="0" rIns="0" bIns="0" rtlCol="0" anchor="ctr"/>
          <a:lstStyle/>
          <a:p>
            <a:pPr marL="0" indent="0">
              <a:buNone/>
            </a:pPr>
            <a:r>
              <a:rPr lang="en-US" sz="850" b="1" dirty="0">
                <a:solidFill>
                  <a:srgbClr val="1677FF"/>
                </a:solidFill>
                <a:latin typeface="Poppins" pitchFamily="34" charset="0"/>
                <a:ea typeface="Poppins" pitchFamily="34" charset="-122"/>
                <a:cs typeface="Poppins" pitchFamily="34" charset="-120"/>
              </a:rPr>
              <a:t>Impact</a:t>
            </a:r>
            <a:endParaRPr lang="en-US" sz="850" dirty="0"/>
          </a:p>
        </p:txBody>
      </p:sp>
      <p:sp>
        <p:nvSpPr>
          <p:cNvPr id="8" name="Shape 6"/>
          <p:cNvSpPr/>
          <p:nvPr/>
        </p:nvSpPr>
        <p:spPr>
          <a:xfrm>
            <a:off x="214921" y="1175748"/>
            <a:ext cx="8412480" cy="13716"/>
          </a:xfrm>
          <a:prstGeom prst="rect">
            <a:avLst/>
          </a:prstGeom>
          <a:solidFill>
            <a:srgbClr val="1677FF"/>
          </a:solidFill>
          <a:ln/>
        </p:spPr>
        <p:txBody>
          <a:bodyPr/>
          <a:lstStyle/>
          <a:p>
            <a:endParaRPr lang="fr-FR"/>
          </a:p>
        </p:txBody>
      </p:sp>
      <p:sp>
        <p:nvSpPr>
          <p:cNvPr id="9" name="Shape 7"/>
          <p:cNvSpPr/>
          <p:nvPr/>
        </p:nvSpPr>
        <p:spPr>
          <a:xfrm>
            <a:off x="123481" y="1230612"/>
            <a:ext cx="8595360" cy="749808"/>
          </a:xfrm>
          <a:prstGeom prst="rect">
            <a:avLst/>
          </a:prstGeom>
          <a:solidFill>
            <a:srgbClr val="F7F9FC"/>
          </a:solidFill>
          <a:ln/>
        </p:spPr>
        <p:txBody>
          <a:bodyPr/>
          <a:lstStyle/>
          <a:p>
            <a:endParaRPr lang="fr-FR"/>
          </a:p>
        </p:txBody>
      </p:sp>
      <p:sp>
        <p:nvSpPr>
          <p:cNvPr id="10" name="Shape 8"/>
          <p:cNvSpPr/>
          <p:nvPr/>
        </p:nvSpPr>
        <p:spPr>
          <a:xfrm>
            <a:off x="260641" y="1340340"/>
            <a:ext cx="411480" cy="411480"/>
          </a:xfrm>
          <a:prstGeom prst="ellipse">
            <a:avLst/>
          </a:prstGeom>
          <a:solidFill>
            <a:srgbClr val="EBF5FF"/>
          </a:solidFill>
          <a:ln/>
        </p:spPr>
        <p:txBody>
          <a:bodyPr/>
          <a:lstStyle/>
          <a:p>
            <a:endParaRPr lang="fr-FR"/>
          </a:p>
        </p:txBody>
      </p:sp>
      <p:pic>
        <p:nvPicPr>
          <p:cNvPr id="11" name="Image 0" descr="preencoded.png"/>
          <p:cNvPicPr>
            <a:picLocks noChangeAspect="1"/>
          </p:cNvPicPr>
          <p:nvPr/>
        </p:nvPicPr>
        <p:blipFill>
          <a:blip r:embed="rId3"/>
          <a:stretch>
            <a:fillRect/>
          </a:stretch>
        </p:blipFill>
        <p:spPr>
          <a:xfrm>
            <a:off x="324649" y="1404348"/>
            <a:ext cx="274320" cy="274320"/>
          </a:xfrm>
          <a:prstGeom prst="rect">
            <a:avLst/>
          </a:prstGeom>
        </p:spPr>
      </p:pic>
      <p:sp>
        <p:nvSpPr>
          <p:cNvPr id="12" name="Text 9"/>
          <p:cNvSpPr/>
          <p:nvPr/>
        </p:nvSpPr>
        <p:spPr>
          <a:xfrm>
            <a:off x="763561" y="1294620"/>
            <a:ext cx="1097280" cy="274320"/>
          </a:xfrm>
          <a:prstGeom prst="rect">
            <a:avLst/>
          </a:prstGeom>
          <a:noFill/>
          <a:ln/>
        </p:spPr>
        <p:txBody>
          <a:bodyPr wrap="square" lIns="0" tIns="0" rIns="0" bIns="0" rtlCol="0" anchor="ctr"/>
          <a:lstStyle/>
          <a:p>
            <a:pPr marL="0" indent="0">
              <a:buNone/>
            </a:pPr>
            <a:r>
              <a:rPr lang="en-US" sz="950" b="1" dirty="0">
                <a:solidFill>
                  <a:srgbClr val="0F172A"/>
                </a:solidFill>
                <a:latin typeface="Poppins" pitchFamily="34" charset="0"/>
                <a:ea typeface="Poppins" pitchFamily="34" charset="-122"/>
                <a:cs typeface="Poppins" pitchFamily="34" charset="-120"/>
              </a:rPr>
              <a:t>Dirigeant TPE</a:t>
            </a:r>
            <a:endParaRPr lang="en-US" sz="950" dirty="0"/>
          </a:p>
        </p:txBody>
      </p:sp>
      <p:sp>
        <p:nvSpPr>
          <p:cNvPr id="13" name="Text 10"/>
          <p:cNvSpPr/>
          <p:nvPr/>
        </p:nvSpPr>
        <p:spPr>
          <a:xfrm>
            <a:off x="763561" y="1568940"/>
            <a:ext cx="1097280" cy="320040"/>
          </a:xfrm>
          <a:prstGeom prst="rect">
            <a:avLst/>
          </a:prstGeom>
          <a:noFill/>
          <a:ln/>
        </p:spPr>
        <p:txBody>
          <a:bodyPr wrap="square" lIns="0" tIns="0" rIns="0" bIns="0" rtlCol="0" anchor="ctr"/>
          <a:lstStyle/>
          <a:p>
            <a:pPr marL="0" indent="0">
              <a:lnSpc>
                <a:spcPct val="110000"/>
              </a:lnSpc>
              <a:buNone/>
            </a:pPr>
            <a:r>
              <a:rPr lang="en-US" sz="700" dirty="0">
                <a:solidFill>
                  <a:srgbClr val="9CA3AF"/>
                </a:solidFill>
                <a:latin typeface="Poppins" pitchFamily="34" charset="0"/>
                <a:ea typeface="Poppins" pitchFamily="34" charset="-122"/>
                <a:cs typeface="Poppins" pitchFamily="34" charset="-120"/>
              </a:rPr>
              <a:t>Gère tout seul · Pas de service IT</a:t>
            </a:r>
            <a:endParaRPr lang="en-US" sz="700" dirty="0"/>
          </a:p>
        </p:txBody>
      </p:sp>
      <p:sp>
        <p:nvSpPr>
          <p:cNvPr id="14" name="Text 11"/>
          <p:cNvSpPr/>
          <p:nvPr/>
        </p:nvSpPr>
        <p:spPr>
          <a:xfrm>
            <a:off x="1860841" y="1294620"/>
            <a:ext cx="2926080" cy="621792"/>
          </a:xfrm>
          <a:prstGeom prst="rect">
            <a:avLst/>
          </a:prstGeom>
          <a:noFill/>
          <a:ln/>
        </p:spPr>
        <p:txBody>
          <a:bodyPr wrap="square" lIns="0" tIns="0" rIns="0" bIns="0" rtlCol="0" anchor="ctr"/>
          <a:lstStyle/>
          <a:p>
            <a:pPr marL="0" indent="0">
              <a:lnSpc>
                <a:spcPct val="120000"/>
              </a:lnSpc>
              <a:buNone/>
            </a:pPr>
            <a:r>
              <a:rPr lang="en-US" sz="800" dirty="0">
                <a:solidFill>
                  <a:srgbClr val="374151"/>
                </a:solidFill>
                <a:latin typeface="Poppins" pitchFamily="34" charset="0"/>
                <a:ea typeface="Poppins" pitchFamily="34" charset="-122"/>
                <a:cs typeface="Poppins" pitchFamily="34" charset="-120"/>
              </a:rPr>
              <a:t>Automatiser sans dev · Centraliser données · IA pour emails et docs</a:t>
            </a:r>
            <a:endParaRPr lang="en-US" sz="800" dirty="0"/>
          </a:p>
        </p:txBody>
      </p:sp>
      <p:sp>
        <p:nvSpPr>
          <p:cNvPr id="15" name="Text 12"/>
          <p:cNvSpPr/>
          <p:nvPr/>
        </p:nvSpPr>
        <p:spPr>
          <a:xfrm>
            <a:off x="4878361" y="1294620"/>
            <a:ext cx="2286000" cy="621792"/>
          </a:xfrm>
          <a:prstGeom prst="rect">
            <a:avLst/>
          </a:prstGeom>
          <a:noFill/>
          <a:ln/>
        </p:spPr>
        <p:txBody>
          <a:bodyPr wrap="square" lIns="0" tIns="0" rIns="0" bIns="0" rtlCol="0" anchor="ctr"/>
          <a:lstStyle/>
          <a:p>
            <a:pPr marL="0" indent="0">
              <a:lnSpc>
                <a:spcPct val="120000"/>
              </a:lnSpc>
              <a:buNone/>
            </a:pPr>
            <a:r>
              <a:rPr lang="en-US" sz="800" dirty="0">
                <a:solidFill>
                  <a:srgbClr val="0F172A"/>
                </a:solidFill>
                <a:latin typeface="Poppins" pitchFamily="34" charset="0"/>
                <a:ea typeface="Poppins" pitchFamily="34" charset="-122"/>
                <a:cs typeface="Poppins" pitchFamily="34" charset="-120"/>
              </a:rPr>
              <a:t>Copilote numérique : form builder, workflows, connecteurs, IA</a:t>
            </a:r>
            <a:endParaRPr lang="en-US" sz="800" dirty="0"/>
          </a:p>
        </p:txBody>
      </p:sp>
      <p:sp>
        <p:nvSpPr>
          <p:cNvPr id="16" name="Shape 13"/>
          <p:cNvSpPr/>
          <p:nvPr/>
        </p:nvSpPr>
        <p:spPr>
          <a:xfrm>
            <a:off x="7255801" y="1386060"/>
            <a:ext cx="1371600" cy="365760"/>
          </a:xfrm>
          <a:prstGeom prst="rect">
            <a:avLst/>
          </a:prstGeom>
          <a:solidFill>
            <a:srgbClr val="EBF5FF"/>
          </a:solidFill>
          <a:ln/>
        </p:spPr>
        <p:txBody>
          <a:bodyPr/>
          <a:lstStyle/>
          <a:p>
            <a:endParaRPr lang="fr-FR"/>
          </a:p>
        </p:txBody>
      </p:sp>
      <p:sp>
        <p:nvSpPr>
          <p:cNvPr id="17" name="Text 14"/>
          <p:cNvSpPr/>
          <p:nvPr/>
        </p:nvSpPr>
        <p:spPr>
          <a:xfrm>
            <a:off x="7255801" y="1386060"/>
            <a:ext cx="1371600" cy="365760"/>
          </a:xfrm>
          <a:prstGeom prst="rect">
            <a:avLst/>
          </a:prstGeom>
          <a:noFill/>
          <a:ln/>
        </p:spPr>
        <p:txBody>
          <a:bodyPr wrap="square" lIns="0" tIns="0" rIns="0" bIns="0" rtlCol="0" anchor="ctr"/>
          <a:lstStyle/>
          <a:p>
            <a:pPr marL="0" indent="0" algn="ctr">
              <a:buNone/>
            </a:pPr>
            <a:r>
              <a:rPr lang="en-US" sz="800" b="1" dirty="0">
                <a:solidFill>
                  <a:srgbClr val="1677FF"/>
                </a:solidFill>
                <a:latin typeface="Poppins" pitchFamily="34" charset="0"/>
                <a:ea typeface="Poppins" pitchFamily="34" charset="-122"/>
                <a:cs typeface="Poppins" pitchFamily="34" charset="-120"/>
              </a:rPr>
              <a:t>5-10h/sem gagnées</a:t>
            </a:r>
            <a:endParaRPr lang="en-US" sz="800" dirty="0"/>
          </a:p>
        </p:txBody>
      </p:sp>
      <p:sp>
        <p:nvSpPr>
          <p:cNvPr id="18" name="Shape 15"/>
          <p:cNvSpPr/>
          <p:nvPr/>
        </p:nvSpPr>
        <p:spPr>
          <a:xfrm>
            <a:off x="260641" y="2108436"/>
            <a:ext cx="411480" cy="411480"/>
          </a:xfrm>
          <a:prstGeom prst="ellipse">
            <a:avLst/>
          </a:prstGeom>
          <a:solidFill>
            <a:srgbClr val="EBF5FF"/>
          </a:solidFill>
          <a:ln/>
        </p:spPr>
        <p:txBody>
          <a:bodyPr/>
          <a:lstStyle/>
          <a:p>
            <a:endParaRPr lang="fr-FR"/>
          </a:p>
        </p:txBody>
      </p:sp>
      <p:pic>
        <p:nvPicPr>
          <p:cNvPr id="19" name="Image 1" descr="preencoded.png"/>
          <p:cNvPicPr>
            <a:picLocks noChangeAspect="1"/>
          </p:cNvPicPr>
          <p:nvPr/>
        </p:nvPicPr>
        <p:blipFill>
          <a:blip r:embed="rId4"/>
          <a:stretch>
            <a:fillRect/>
          </a:stretch>
        </p:blipFill>
        <p:spPr>
          <a:xfrm>
            <a:off x="324649" y="2172444"/>
            <a:ext cx="274320" cy="274320"/>
          </a:xfrm>
          <a:prstGeom prst="rect">
            <a:avLst/>
          </a:prstGeom>
        </p:spPr>
      </p:pic>
      <p:sp>
        <p:nvSpPr>
          <p:cNvPr id="20" name="Text 16"/>
          <p:cNvSpPr/>
          <p:nvPr/>
        </p:nvSpPr>
        <p:spPr>
          <a:xfrm>
            <a:off x="763561" y="2062716"/>
            <a:ext cx="1097280" cy="274320"/>
          </a:xfrm>
          <a:prstGeom prst="rect">
            <a:avLst/>
          </a:prstGeom>
          <a:noFill/>
          <a:ln/>
        </p:spPr>
        <p:txBody>
          <a:bodyPr wrap="square" lIns="0" tIns="0" rIns="0" bIns="0" rtlCol="0" anchor="ctr"/>
          <a:lstStyle/>
          <a:p>
            <a:pPr marL="0" indent="0">
              <a:buNone/>
            </a:pPr>
            <a:r>
              <a:rPr lang="en-US" sz="950" b="1" dirty="0">
                <a:solidFill>
                  <a:srgbClr val="0F172A"/>
                </a:solidFill>
                <a:latin typeface="Poppins" pitchFamily="34" charset="0"/>
                <a:ea typeface="Poppins" pitchFamily="34" charset="-122"/>
                <a:cs typeface="Poppins" pitchFamily="34" charset="-120"/>
              </a:rPr>
              <a:t>Dirigeant PME</a:t>
            </a:r>
            <a:endParaRPr lang="en-US" sz="950" dirty="0"/>
          </a:p>
        </p:txBody>
      </p:sp>
      <p:sp>
        <p:nvSpPr>
          <p:cNvPr id="21" name="Text 17"/>
          <p:cNvSpPr/>
          <p:nvPr/>
        </p:nvSpPr>
        <p:spPr>
          <a:xfrm>
            <a:off x="763561" y="2337036"/>
            <a:ext cx="1097280" cy="320040"/>
          </a:xfrm>
          <a:prstGeom prst="rect">
            <a:avLst/>
          </a:prstGeom>
          <a:noFill/>
          <a:ln/>
        </p:spPr>
        <p:txBody>
          <a:bodyPr wrap="square" lIns="0" tIns="0" rIns="0" bIns="0" rtlCol="0" anchor="ctr"/>
          <a:lstStyle/>
          <a:p>
            <a:pPr marL="0" indent="0">
              <a:lnSpc>
                <a:spcPct val="110000"/>
              </a:lnSpc>
              <a:buNone/>
            </a:pPr>
            <a:r>
              <a:rPr lang="en-US" sz="700" dirty="0">
                <a:solidFill>
                  <a:srgbClr val="9CA3AF"/>
                </a:solidFill>
                <a:latin typeface="Poppins" pitchFamily="34" charset="0"/>
                <a:ea typeface="Poppins" pitchFamily="34" charset="-122"/>
                <a:cs typeface="Poppins" pitchFamily="34" charset="-120"/>
              </a:rPr>
              <a:t>Comprend l'intérêt · Ne sait pas par où commencer</a:t>
            </a:r>
            <a:endParaRPr lang="en-US" sz="700" dirty="0"/>
          </a:p>
        </p:txBody>
      </p:sp>
      <p:sp>
        <p:nvSpPr>
          <p:cNvPr id="22" name="Text 18"/>
          <p:cNvSpPr/>
          <p:nvPr/>
        </p:nvSpPr>
        <p:spPr>
          <a:xfrm>
            <a:off x="1860841" y="2062716"/>
            <a:ext cx="2926080" cy="621792"/>
          </a:xfrm>
          <a:prstGeom prst="rect">
            <a:avLst/>
          </a:prstGeom>
          <a:noFill/>
          <a:ln/>
        </p:spPr>
        <p:txBody>
          <a:bodyPr wrap="square" lIns="0" tIns="0" rIns="0" bIns="0" rtlCol="0" anchor="ctr"/>
          <a:lstStyle/>
          <a:p>
            <a:pPr marL="0" indent="0">
              <a:lnSpc>
                <a:spcPct val="120000"/>
              </a:lnSpc>
              <a:buNone/>
            </a:pPr>
            <a:r>
              <a:rPr lang="en-US" sz="800" dirty="0">
                <a:solidFill>
                  <a:srgbClr val="374151"/>
                </a:solidFill>
                <a:latin typeface="Poppins" pitchFamily="34" charset="0"/>
                <a:ea typeface="Poppins" pitchFamily="34" charset="-122"/>
                <a:cs typeface="Poppins" pitchFamily="34" charset="-120"/>
              </a:rPr>
              <a:t>Diagnostic processus · Réduire coûts admin · Digitaliser l'entreprise</a:t>
            </a:r>
            <a:endParaRPr lang="en-US" sz="800" dirty="0"/>
          </a:p>
        </p:txBody>
      </p:sp>
      <p:sp>
        <p:nvSpPr>
          <p:cNvPr id="23" name="Text 19"/>
          <p:cNvSpPr/>
          <p:nvPr/>
        </p:nvSpPr>
        <p:spPr>
          <a:xfrm>
            <a:off x="4878361" y="2062716"/>
            <a:ext cx="2286000" cy="621792"/>
          </a:xfrm>
          <a:prstGeom prst="rect">
            <a:avLst/>
          </a:prstGeom>
          <a:noFill/>
          <a:ln/>
        </p:spPr>
        <p:txBody>
          <a:bodyPr wrap="square" lIns="0" tIns="0" rIns="0" bIns="0" rtlCol="0" anchor="ctr"/>
          <a:lstStyle/>
          <a:p>
            <a:pPr marL="0" indent="0">
              <a:lnSpc>
                <a:spcPct val="120000"/>
              </a:lnSpc>
              <a:buNone/>
            </a:pPr>
            <a:r>
              <a:rPr lang="en-US" sz="800" dirty="0">
                <a:solidFill>
                  <a:srgbClr val="0F172A"/>
                </a:solidFill>
                <a:latin typeface="Poppins" pitchFamily="34" charset="0"/>
                <a:ea typeface="Poppins" pitchFamily="34" charset="-122"/>
                <a:cs typeface="Poppins" pitchFamily="34" charset="-120"/>
              </a:rPr>
              <a:t>Diagnostic auto + outils métiers rapides + pilotage KPI</a:t>
            </a:r>
            <a:endParaRPr lang="en-US" sz="800" dirty="0"/>
          </a:p>
        </p:txBody>
      </p:sp>
      <p:sp>
        <p:nvSpPr>
          <p:cNvPr id="24" name="Shape 20"/>
          <p:cNvSpPr/>
          <p:nvPr/>
        </p:nvSpPr>
        <p:spPr>
          <a:xfrm>
            <a:off x="7255801" y="2154156"/>
            <a:ext cx="1371600" cy="365760"/>
          </a:xfrm>
          <a:prstGeom prst="rect">
            <a:avLst/>
          </a:prstGeom>
          <a:solidFill>
            <a:srgbClr val="EBF5FF"/>
          </a:solidFill>
          <a:ln/>
        </p:spPr>
        <p:txBody>
          <a:bodyPr/>
          <a:lstStyle/>
          <a:p>
            <a:endParaRPr lang="fr-FR"/>
          </a:p>
        </p:txBody>
      </p:sp>
      <p:sp>
        <p:nvSpPr>
          <p:cNvPr id="25" name="Text 21"/>
          <p:cNvSpPr/>
          <p:nvPr/>
        </p:nvSpPr>
        <p:spPr>
          <a:xfrm>
            <a:off x="7255801" y="2154156"/>
            <a:ext cx="1371600" cy="365760"/>
          </a:xfrm>
          <a:prstGeom prst="rect">
            <a:avLst/>
          </a:prstGeom>
          <a:noFill/>
          <a:ln/>
        </p:spPr>
        <p:txBody>
          <a:bodyPr wrap="square" lIns="0" tIns="0" rIns="0" bIns="0" rtlCol="0" anchor="ctr"/>
          <a:lstStyle/>
          <a:p>
            <a:pPr marL="0" indent="0" algn="ctr">
              <a:buNone/>
            </a:pPr>
            <a:r>
              <a:rPr lang="en-US" sz="800" b="1" dirty="0">
                <a:solidFill>
                  <a:srgbClr val="16A34A"/>
                </a:solidFill>
                <a:latin typeface="Poppins" pitchFamily="34" charset="0"/>
                <a:ea typeface="Poppins" pitchFamily="34" charset="-122"/>
                <a:cs typeface="Poppins" pitchFamily="34" charset="-120"/>
              </a:rPr>
              <a:t>Réduction coûts, agilité</a:t>
            </a:r>
            <a:endParaRPr lang="en-US" sz="800" dirty="0"/>
          </a:p>
        </p:txBody>
      </p:sp>
      <p:sp>
        <p:nvSpPr>
          <p:cNvPr id="26" name="Shape 22"/>
          <p:cNvSpPr/>
          <p:nvPr/>
        </p:nvSpPr>
        <p:spPr>
          <a:xfrm>
            <a:off x="123481" y="2766804"/>
            <a:ext cx="8595360" cy="749808"/>
          </a:xfrm>
          <a:prstGeom prst="rect">
            <a:avLst/>
          </a:prstGeom>
          <a:solidFill>
            <a:srgbClr val="F7F9FC"/>
          </a:solidFill>
          <a:ln/>
        </p:spPr>
        <p:txBody>
          <a:bodyPr/>
          <a:lstStyle/>
          <a:p>
            <a:endParaRPr lang="fr-FR"/>
          </a:p>
        </p:txBody>
      </p:sp>
      <p:sp>
        <p:nvSpPr>
          <p:cNvPr id="27" name="Shape 23"/>
          <p:cNvSpPr/>
          <p:nvPr/>
        </p:nvSpPr>
        <p:spPr>
          <a:xfrm>
            <a:off x="260641" y="2876532"/>
            <a:ext cx="411480" cy="411480"/>
          </a:xfrm>
          <a:prstGeom prst="ellipse">
            <a:avLst/>
          </a:prstGeom>
          <a:solidFill>
            <a:srgbClr val="EBF5FF"/>
          </a:solidFill>
          <a:ln/>
        </p:spPr>
        <p:txBody>
          <a:bodyPr/>
          <a:lstStyle/>
          <a:p>
            <a:endParaRPr lang="fr-FR"/>
          </a:p>
        </p:txBody>
      </p:sp>
      <p:pic>
        <p:nvPicPr>
          <p:cNvPr id="28" name="Image 2" descr="preencoded.png"/>
          <p:cNvPicPr>
            <a:picLocks noChangeAspect="1"/>
          </p:cNvPicPr>
          <p:nvPr/>
        </p:nvPicPr>
        <p:blipFill>
          <a:blip r:embed="rId5"/>
          <a:stretch>
            <a:fillRect/>
          </a:stretch>
        </p:blipFill>
        <p:spPr>
          <a:xfrm>
            <a:off x="324649" y="2940540"/>
            <a:ext cx="274320" cy="274320"/>
          </a:xfrm>
          <a:prstGeom prst="rect">
            <a:avLst/>
          </a:prstGeom>
        </p:spPr>
      </p:pic>
      <p:sp>
        <p:nvSpPr>
          <p:cNvPr id="29" name="Text 24"/>
          <p:cNvSpPr/>
          <p:nvPr/>
        </p:nvSpPr>
        <p:spPr>
          <a:xfrm>
            <a:off x="763561" y="2830812"/>
            <a:ext cx="1097280" cy="274320"/>
          </a:xfrm>
          <a:prstGeom prst="rect">
            <a:avLst/>
          </a:prstGeom>
          <a:noFill/>
          <a:ln/>
        </p:spPr>
        <p:txBody>
          <a:bodyPr wrap="square" lIns="0" tIns="0" rIns="0" bIns="0" rtlCol="0" anchor="ctr"/>
          <a:lstStyle/>
          <a:p>
            <a:pPr marL="0" indent="0">
              <a:buNone/>
            </a:pPr>
            <a:r>
              <a:rPr lang="en-US" sz="950" b="1" dirty="0">
                <a:solidFill>
                  <a:srgbClr val="0F172A"/>
                </a:solidFill>
                <a:latin typeface="Poppins" pitchFamily="34" charset="0"/>
                <a:ea typeface="Poppins" pitchFamily="34" charset="-122"/>
                <a:cs typeface="Poppins" pitchFamily="34" charset="-120"/>
              </a:rPr>
              <a:t>DSI interne</a:t>
            </a:r>
            <a:endParaRPr lang="en-US" sz="950" dirty="0"/>
          </a:p>
        </p:txBody>
      </p:sp>
      <p:sp>
        <p:nvSpPr>
          <p:cNvPr id="30" name="Text 25"/>
          <p:cNvSpPr/>
          <p:nvPr/>
        </p:nvSpPr>
        <p:spPr>
          <a:xfrm>
            <a:off x="763561" y="3105132"/>
            <a:ext cx="1097280" cy="320040"/>
          </a:xfrm>
          <a:prstGeom prst="rect">
            <a:avLst/>
          </a:prstGeom>
          <a:noFill/>
          <a:ln/>
        </p:spPr>
        <p:txBody>
          <a:bodyPr wrap="square" lIns="0" tIns="0" rIns="0" bIns="0" rtlCol="0" anchor="ctr"/>
          <a:lstStyle/>
          <a:p>
            <a:pPr marL="0" indent="0">
              <a:lnSpc>
                <a:spcPct val="110000"/>
              </a:lnSpc>
              <a:buNone/>
            </a:pPr>
            <a:r>
              <a:rPr lang="en-US" sz="700" dirty="0">
                <a:solidFill>
                  <a:srgbClr val="9CA3AF"/>
                </a:solidFill>
                <a:latin typeface="Poppins" pitchFamily="34" charset="0"/>
                <a:ea typeface="Poppins" pitchFamily="34" charset="-122"/>
                <a:cs typeface="Poppins" pitchFamily="34" charset="-120"/>
              </a:rPr>
              <a:t>PME/ETI · Manque de temps et de devs</a:t>
            </a:r>
            <a:endParaRPr lang="en-US" sz="700" dirty="0"/>
          </a:p>
        </p:txBody>
      </p:sp>
      <p:sp>
        <p:nvSpPr>
          <p:cNvPr id="31" name="Text 26"/>
          <p:cNvSpPr/>
          <p:nvPr/>
        </p:nvSpPr>
        <p:spPr>
          <a:xfrm>
            <a:off x="1860841" y="2830812"/>
            <a:ext cx="2926080" cy="621792"/>
          </a:xfrm>
          <a:prstGeom prst="rect">
            <a:avLst/>
          </a:prstGeom>
          <a:noFill/>
          <a:ln/>
        </p:spPr>
        <p:txBody>
          <a:bodyPr wrap="square" lIns="0" tIns="0" rIns="0" bIns="0" rtlCol="0" anchor="ctr"/>
          <a:lstStyle/>
          <a:p>
            <a:pPr marL="0" indent="0">
              <a:lnSpc>
                <a:spcPct val="120000"/>
              </a:lnSpc>
              <a:buNone/>
            </a:pPr>
            <a:r>
              <a:rPr lang="en-US" sz="800" dirty="0">
                <a:solidFill>
                  <a:srgbClr val="374151"/>
                </a:solidFill>
                <a:latin typeface="Poppins" pitchFamily="34" charset="0"/>
                <a:ea typeface="Poppins" pitchFamily="34" charset="-122"/>
                <a:cs typeface="Poppins" pitchFamily="34" charset="-120"/>
              </a:rPr>
              <a:t>Outils métiers rapides · Gouvernance · Sécurité · Intégrer ERP/CRM</a:t>
            </a:r>
            <a:endParaRPr lang="en-US" sz="800" dirty="0"/>
          </a:p>
        </p:txBody>
      </p:sp>
      <p:sp>
        <p:nvSpPr>
          <p:cNvPr id="32" name="Text 27"/>
          <p:cNvSpPr/>
          <p:nvPr/>
        </p:nvSpPr>
        <p:spPr>
          <a:xfrm>
            <a:off x="4878361" y="2830812"/>
            <a:ext cx="2286000" cy="621792"/>
          </a:xfrm>
          <a:prstGeom prst="rect">
            <a:avLst/>
          </a:prstGeom>
          <a:noFill/>
          <a:ln/>
        </p:spPr>
        <p:txBody>
          <a:bodyPr wrap="square" lIns="0" tIns="0" rIns="0" bIns="0" rtlCol="0" anchor="ctr"/>
          <a:lstStyle/>
          <a:p>
            <a:pPr marL="0" indent="0">
              <a:lnSpc>
                <a:spcPct val="120000"/>
              </a:lnSpc>
              <a:buNone/>
            </a:pPr>
            <a:r>
              <a:rPr lang="en-US" sz="800" dirty="0">
                <a:solidFill>
                  <a:srgbClr val="0F172A"/>
                </a:solidFill>
                <a:latin typeface="Poppins" pitchFamily="34" charset="0"/>
                <a:ea typeface="Poppins" pitchFamily="34" charset="-122"/>
                <a:cs typeface="Poppins" pitchFamily="34" charset="-120"/>
              </a:rPr>
              <a:t>Plateforme low-code centralisée + rôles + logs + on-premise</a:t>
            </a:r>
            <a:endParaRPr lang="en-US" sz="800" dirty="0"/>
          </a:p>
        </p:txBody>
      </p:sp>
      <p:sp>
        <p:nvSpPr>
          <p:cNvPr id="33" name="Shape 28"/>
          <p:cNvSpPr/>
          <p:nvPr/>
        </p:nvSpPr>
        <p:spPr>
          <a:xfrm>
            <a:off x="7255801" y="2922252"/>
            <a:ext cx="1371600" cy="365760"/>
          </a:xfrm>
          <a:prstGeom prst="rect">
            <a:avLst/>
          </a:prstGeom>
          <a:solidFill>
            <a:srgbClr val="EBF5FF"/>
          </a:solidFill>
          <a:ln/>
        </p:spPr>
        <p:txBody>
          <a:bodyPr/>
          <a:lstStyle/>
          <a:p>
            <a:endParaRPr lang="fr-FR"/>
          </a:p>
        </p:txBody>
      </p:sp>
      <p:sp>
        <p:nvSpPr>
          <p:cNvPr id="34" name="Text 29"/>
          <p:cNvSpPr/>
          <p:nvPr/>
        </p:nvSpPr>
        <p:spPr>
          <a:xfrm>
            <a:off x="7255801" y="2922252"/>
            <a:ext cx="1371600" cy="365760"/>
          </a:xfrm>
          <a:prstGeom prst="rect">
            <a:avLst/>
          </a:prstGeom>
          <a:noFill/>
          <a:ln/>
        </p:spPr>
        <p:txBody>
          <a:bodyPr wrap="square" lIns="0" tIns="0" rIns="0" bIns="0" rtlCol="0" anchor="ctr"/>
          <a:lstStyle/>
          <a:p>
            <a:pPr marL="0" indent="0" algn="ctr">
              <a:buNone/>
            </a:pPr>
            <a:r>
              <a:rPr lang="en-US" sz="800" b="1" dirty="0">
                <a:solidFill>
                  <a:srgbClr val="0891B2"/>
                </a:solidFill>
                <a:latin typeface="Poppins" pitchFamily="34" charset="0"/>
                <a:ea typeface="Poppins" pitchFamily="34" charset="-122"/>
                <a:cs typeface="Poppins" pitchFamily="34" charset="-120"/>
              </a:rPr>
              <a:t>SI agile, DSI en contrôle</a:t>
            </a:r>
            <a:endParaRPr lang="en-US" sz="800" dirty="0"/>
          </a:p>
        </p:txBody>
      </p:sp>
      <p:sp>
        <p:nvSpPr>
          <p:cNvPr id="35" name="Shape 30"/>
          <p:cNvSpPr/>
          <p:nvPr/>
        </p:nvSpPr>
        <p:spPr>
          <a:xfrm>
            <a:off x="260641" y="3644628"/>
            <a:ext cx="411480" cy="411480"/>
          </a:xfrm>
          <a:prstGeom prst="ellipse">
            <a:avLst/>
          </a:prstGeom>
          <a:solidFill>
            <a:srgbClr val="EBF5FF"/>
          </a:solidFill>
          <a:ln/>
        </p:spPr>
        <p:txBody>
          <a:bodyPr/>
          <a:lstStyle/>
          <a:p>
            <a:endParaRPr lang="fr-FR"/>
          </a:p>
        </p:txBody>
      </p:sp>
      <p:pic>
        <p:nvPicPr>
          <p:cNvPr id="36" name="Image 3" descr="preencoded.png"/>
          <p:cNvPicPr>
            <a:picLocks noChangeAspect="1"/>
          </p:cNvPicPr>
          <p:nvPr/>
        </p:nvPicPr>
        <p:blipFill>
          <a:blip r:embed="rId6"/>
          <a:stretch>
            <a:fillRect/>
          </a:stretch>
        </p:blipFill>
        <p:spPr>
          <a:xfrm>
            <a:off x="324649" y="3708636"/>
            <a:ext cx="274320" cy="274320"/>
          </a:xfrm>
          <a:prstGeom prst="rect">
            <a:avLst/>
          </a:prstGeom>
        </p:spPr>
      </p:pic>
      <p:sp>
        <p:nvSpPr>
          <p:cNvPr id="37" name="Text 31"/>
          <p:cNvSpPr/>
          <p:nvPr/>
        </p:nvSpPr>
        <p:spPr>
          <a:xfrm>
            <a:off x="763561" y="3598908"/>
            <a:ext cx="1097280" cy="274320"/>
          </a:xfrm>
          <a:prstGeom prst="rect">
            <a:avLst/>
          </a:prstGeom>
          <a:noFill/>
          <a:ln/>
        </p:spPr>
        <p:txBody>
          <a:bodyPr wrap="square" lIns="0" tIns="0" rIns="0" bIns="0" rtlCol="0" anchor="ctr"/>
          <a:lstStyle/>
          <a:p>
            <a:pPr marL="0" indent="0">
              <a:buNone/>
            </a:pPr>
            <a:r>
              <a:rPr lang="en-US" sz="950" b="1" dirty="0">
                <a:solidFill>
                  <a:srgbClr val="0F172A"/>
                </a:solidFill>
                <a:latin typeface="Poppins" pitchFamily="34" charset="0"/>
                <a:ea typeface="Poppins" pitchFamily="34" charset="-122"/>
                <a:cs typeface="Poppins" pitchFamily="34" charset="-120"/>
              </a:rPr>
              <a:t>Chef projet industrie</a:t>
            </a:r>
            <a:endParaRPr lang="en-US" sz="950" dirty="0"/>
          </a:p>
        </p:txBody>
      </p:sp>
      <p:sp>
        <p:nvSpPr>
          <p:cNvPr id="38" name="Text 32"/>
          <p:cNvSpPr/>
          <p:nvPr/>
        </p:nvSpPr>
        <p:spPr>
          <a:xfrm>
            <a:off x="763561" y="3873228"/>
            <a:ext cx="1097280" cy="320040"/>
          </a:xfrm>
          <a:prstGeom prst="rect">
            <a:avLst/>
          </a:prstGeom>
          <a:noFill/>
          <a:ln/>
        </p:spPr>
        <p:txBody>
          <a:bodyPr wrap="square" lIns="0" tIns="0" rIns="0" bIns="0" rtlCol="0" anchor="ctr"/>
          <a:lstStyle/>
          <a:p>
            <a:pPr marL="0" indent="0">
              <a:lnSpc>
                <a:spcPct val="110000"/>
              </a:lnSpc>
              <a:buNone/>
            </a:pPr>
            <a:r>
              <a:rPr lang="en-US" sz="700" dirty="0">
                <a:solidFill>
                  <a:srgbClr val="9CA3AF"/>
                </a:solidFill>
                <a:latin typeface="Poppins" pitchFamily="34" charset="0"/>
                <a:ea typeface="Poppins" pitchFamily="34" charset="-122"/>
                <a:cs typeface="Poppins" pitchFamily="34" charset="-120"/>
              </a:rPr>
              <a:t>ERP · MES · Machines · Flux complexes</a:t>
            </a:r>
            <a:endParaRPr lang="en-US" sz="700" dirty="0"/>
          </a:p>
        </p:txBody>
      </p:sp>
      <p:sp>
        <p:nvSpPr>
          <p:cNvPr id="39" name="Text 33"/>
          <p:cNvSpPr/>
          <p:nvPr/>
        </p:nvSpPr>
        <p:spPr>
          <a:xfrm>
            <a:off x="1860841" y="3598908"/>
            <a:ext cx="2926080" cy="621792"/>
          </a:xfrm>
          <a:prstGeom prst="rect">
            <a:avLst/>
          </a:prstGeom>
          <a:noFill/>
          <a:ln/>
        </p:spPr>
        <p:txBody>
          <a:bodyPr wrap="square" lIns="0" tIns="0" rIns="0" bIns="0" rtlCol="0" anchor="ctr"/>
          <a:lstStyle/>
          <a:p>
            <a:pPr marL="0" indent="0">
              <a:lnSpc>
                <a:spcPct val="120000"/>
              </a:lnSpc>
              <a:buNone/>
            </a:pPr>
            <a:r>
              <a:rPr lang="en-US" sz="800" dirty="0">
                <a:solidFill>
                  <a:srgbClr val="374151"/>
                </a:solidFill>
                <a:latin typeface="Poppins" pitchFamily="34" charset="0"/>
                <a:ea typeface="Poppins" pitchFamily="34" charset="-122"/>
                <a:cs typeface="Poppins" pitchFamily="34" charset="-120"/>
              </a:rPr>
              <a:t>Orchestrer systèmes · Interfaces opérateurs · Analyse données</a:t>
            </a:r>
            <a:endParaRPr lang="en-US" sz="800" dirty="0"/>
          </a:p>
        </p:txBody>
      </p:sp>
      <p:sp>
        <p:nvSpPr>
          <p:cNvPr id="40" name="Text 34"/>
          <p:cNvSpPr/>
          <p:nvPr/>
        </p:nvSpPr>
        <p:spPr>
          <a:xfrm>
            <a:off x="4878361" y="3598908"/>
            <a:ext cx="2286000" cy="621792"/>
          </a:xfrm>
          <a:prstGeom prst="rect">
            <a:avLst/>
          </a:prstGeom>
          <a:noFill/>
          <a:ln/>
        </p:spPr>
        <p:txBody>
          <a:bodyPr wrap="square" lIns="0" tIns="0" rIns="0" bIns="0" rtlCol="0" anchor="ctr"/>
          <a:lstStyle/>
          <a:p>
            <a:pPr marL="0" indent="0">
              <a:lnSpc>
                <a:spcPct val="120000"/>
              </a:lnSpc>
              <a:buNone/>
            </a:pPr>
            <a:r>
              <a:rPr lang="en-US" sz="800" dirty="0">
                <a:solidFill>
                  <a:srgbClr val="0F172A"/>
                </a:solidFill>
                <a:latin typeface="Poppins" pitchFamily="34" charset="0"/>
                <a:ea typeface="Poppins" pitchFamily="34" charset="-122"/>
                <a:cs typeface="Poppins" pitchFamily="34" charset="-120"/>
              </a:rPr>
              <a:t>Couche d'orchestration : connecteurs API, workflows, IA</a:t>
            </a:r>
            <a:endParaRPr lang="en-US" sz="800" dirty="0"/>
          </a:p>
        </p:txBody>
      </p:sp>
      <p:sp>
        <p:nvSpPr>
          <p:cNvPr id="41" name="Shape 35"/>
          <p:cNvSpPr/>
          <p:nvPr/>
        </p:nvSpPr>
        <p:spPr>
          <a:xfrm>
            <a:off x="7255801" y="3690348"/>
            <a:ext cx="1371600" cy="365760"/>
          </a:xfrm>
          <a:prstGeom prst="rect">
            <a:avLst/>
          </a:prstGeom>
          <a:solidFill>
            <a:srgbClr val="EBF5FF"/>
          </a:solidFill>
          <a:ln/>
        </p:spPr>
        <p:txBody>
          <a:bodyPr/>
          <a:lstStyle/>
          <a:p>
            <a:endParaRPr lang="fr-FR"/>
          </a:p>
        </p:txBody>
      </p:sp>
      <p:sp>
        <p:nvSpPr>
          <p:cNvPr id="42" name="Text 36"/>
          <p:cNvSpPr/>
          <p:nvPr/>
        </p:nvSpPr>
        <p:spPr>
          <a:xfrm>
            <a:off x="7255801" y="3690348"/>
            <a:ext cx="1371600" cy="365760"/>
          </a:xfrm>
          <a:prstGeom prst="rect">
            <a:avLst/>
          </a:prstGeom>
          <a:noFill/>
          <a:ln/>
        </p:spPr>
        <p:txBody>
          <a:bodyPr wrap="square" lIns="0" tIns="0" rIns="0" bIns="0" rtlCol="0" anchor="ctr"/>
          <a:lstStyle/>
          <a:p>
            <a:pPr marL="0" indent="0" algn="ctr">
              <a:buNone/>
            </a:pPr>
            <a:r>
              <a:rPr lang="en-US" sz="800" b="1" dirty="0">
                <a:solidFill>
                  <a:srgbClr val="F59E0B"/>
                </a:solidFill>
                <a:latin typeface="Poppins" pitchFamily="34" charset="0"/>
                <a:ea typeface="Poppins" pitchFamily="34" charset="-122"/>
                <a:cs typeface="Poppins" pitchFamily="34" charset="-120"/>
              </a:rPr>
              <a:t>Intégration rapide</a:t>
            </a:r>
            <a:endParaRPr lang="en-US" sz="800" dirty="0"/>
          </a:p>
        </p:txBody>
      </p:sp>
      <p:sp>
        <p:nvSpPr>
          <p:cNvPr id="43" name="Shape 37"/>
          <p:cNvSpPr/>
          <p:nvPr/>
        </p:nvSpPr>
        <p:spPr>
          <a:xfrm>
            <a:off x="123481" y="4302996"/>
            <a:ext cx="8595360" cy="749808"/>
          </a:xfrm>
          <a:prstGeom prst="rect">
            <a:avLst/>
          </a:prstGeom>
          <a:solidFill>
            <a:srgbClr val="F7F9FC"/>
          </a:solidFill>
          <a:ln/>
        </p:spPr>
        <p:txBody>
          <a:bodyPr/>
          <a:lstStyle/>
          <a:p>
            <a:endParaRPr lang="fr-FR"/>
          </a:p>
        </p:txBody>
      </p:sp>
      <p:sp>
        <p:nvSpPr>
          <p:cNvPr id="44" name="Shape 38"/>
          <p:cNvSpPr/>
          <p:nvPr/>
        </p:nvSpPr>
        <p:spPr>
          <a:xfrm>
            <a:off x="260641" y="4412724"/>
            <a:ext cx="411480" cy="411480"/>
          </a:xfrm>
          <a:prstGeom prst="ellipse">
            <a:avLst/>
          </a:prstGeom>
          <a:solidFill>
            <a:srgbClr val="EBF5FF"/>
          </a:solidFill>
          <a:ln/>
        </p:spPr>
        <p:txBody>
          <a:bodyPr/>
          <a:lstStyle/>
          <a:p>
            <a:endParaRPr lang="fr-FR"/>
          </a:p>
        </p:txBody>
      </p:sp>
      <p:pic>
        <p:nvPicPr>
          <p:cNvPr id="45" name="Image 4" descr="preencoded.png"/>
          <p:cNvPicPr>
            <a:picLocks noChangeAspect="1"/>
          </p:cNvPicPr>
          <p:nvPr/>
        </p:nvPicPr>
        <p:blipFill>
          <a:blip r:embed="rId7"/>
          <a:stretch>
            <a:fillRect/>
          </a:stretch>
        </p:blipFill>
        <p:spPr>
          <a:xfrm>
            <a:off x="324649" y="4476732"/>
            <a:ext cx="274320" cy="274320"/>
          </a:xfrm>
          <a:prstGeom prst="rect">
            <a:avLst/>
          </a:prstGeom>
        </p:spPr>
      </p:pic>
      <p:sp>
        <p:nvSpPr>
          <p:cNvPr id="46" name="Text 39"/>
          <p:cNvSpPr/>
          <p:nvPr/>
        </p:nvSpPr>
        <p:spPr>
          <a:xfrm>
            <a:off x="763561" y="4367004"/>
            <a:ext cx="1097280" cy="274320"/>
          </a:xfrm>
          <a:prstGeom prst="rect">
            <a:avLst/>
          </a:prstGeom>
          <a:noFill/>
          <a:ln/>
        </p:spPr>
        <p:txBody>
          <a:bodyPr wrap="square" lIns="0" tIns="0" rIns="0" bIns="0" rtlCol="0" anchor="ctr"/>
          <a:lstStyle/>
          <a:p>
            <a:pPr marL="0" indent="0">
              <a:buNone/>
            </a:pPr>
            <a:r>
              <a:rPr lang="en-US" sz="950" b="1" dirty="0">
                <a:solidFill>
                  <a:srgbClr val="0F172A"/>
                </a:solidFill>
                <a:latin typeface="Poppins" pitchFamily="34" charset="0"/>
                <a:ea typeface="Poppins" pitchFamily="34" charset="-122"/>
                <a:cs typeface="Poppins" pitchFamily="34" charset="-120"/>
              </a:rPr>
              <a:t>Consultant IT</a:t>
            </a:r>
            <a:endParaRPr lang="en-US" sz="950" dirty="0"/>
          </a:p>
        </p:txBody>
      </p:sp>
      <p:sp>
        <p:nvSpPr>
          <p:cNvPr id="47" name="Text 40"/>
          <p:cNvSpPr/>
          <p:nvPr/>
        </p:nvSpPr>
        <p:spPr>
          <a:xfrm>
            <a:off x="763561" y="4641324"/>
            <a:ext cx="1097280" cy="320040"/>
          </a:xfrm>
          <a:prstGeom prst="rect">
            <a:avLst/>
          </a:prstGeom>
          <a:noFill/>
          <a:ln/>
        </p:spPr>
        <p:txBody>
          <a:bodyPr wrap="square" lIns="0" tIns="0" rIns="0" bIns="0" rtlCol="0" anchor="ctr"/>
          <a:lstStyle/>
          <a:p>
            <a:pPr marL="0" indent="0">
              <a:lnSpc>
                <a:spcPct val="110000"/>
              </a:lnSpc>
              <a:buNone/>
            </a:pPr>
            <a:r>
              <a:rPr lang="en-US" sz="700" dirty="0">
                <a:solidFill>
                  <a:srgbClr val="9CA3AF"/>
                </a:solidFill>
                <a:latin typeface="Poppins" pitchFamily="34" charset="0"/>
                <a:ea typeface="Poppins" pitchFamily="34" charset="-122"/>
                <a:cs typeface="Poppins" pitchFamily="34" charset="-120"/>
              </a:rPr>
              <a:t>Cherche projets · Veut livrer vite</a:t>
            </a:r>
            <a:endParaRPr lang="en-US" sz="700" dirty="0"/>
          </a:p>
        </p:txBody>
      </p:sp>
      <p:sp>
        <p:nvSpPr>
          <p:cNvPr id="48" name="Text 41"/>
          <p:cNvSpPr/>
          <p:nvPr/>
        </p:nvSpPr>
        <p:spPr>
          <a:xfrm>
            <a:off x="1860841" y="4367004"/>
            <a:ext cx="2926080" cy="621792"/>
          </a:xfrm>
          <a:prstGeom prst="rect">
            <a:avLst/>
          </a:prstGeom>
          <a:noFill/>
          <a:ln/>
        </p:spPr>
        <p:txBody>
          <a:bodyPr wrap="square" lIns="0" tIns="0" rIns="0" bIns="0" rtlCol="0" anchor="ctr"/>
          <a:lstStyle/>
          <a:p>
            <a:pPr marL="0" indent="0">
              <a:lnSpc>
                <a:spcPct val="120000"/>
              </a:lnSpc>
              <a:buNone/>
            </a:pPr>
            <a:r>
              <a:rPr lang="en-US" sz="800" dirty="0">
                <a:solidFill>
                  <a:srgbClr val="374151"/>
                </a:solidFill>
                <a:latin typeface="Poppins" pitchFamily="34" charset="0"/>
                <a:ea typeface="Poppins" pitchFamily="34" charset="-122"/>
                <a:cs typeface="Poppins" pitchFamily="34" charset="-120"/>
              </a:rPr>
              <a:t>Trouver clients · Standardiser solutions · Revenus récurrents</a:t>
            </a:r>
            <a:endParaRPr lang="en-US" sz="800" dirty="0"/>
          </a:p>
        </p:txBody>
      </p:sp>
      <p:sp>
        <p:nvSpPr>
          <p:cNvPr id="49" name="Text 42"/>
          <p:cNvSpPr/>
          <p:nvPr/>
        </p:nvSpPr>
        <p:spPr>
          <a:xfrm>
            <a:off x="4878361" y="4367004"/>
            <a:ext cx="2286000" cy="621792"/>
          </a:xfrm>
          <a:prstGeom prst="rect">
            <a:avLst/>
          </a:prstGeom>
          <a:noFill/>
          <a:ln/>
        </p:spPr>
        <p:txBody>
          <a:bodyPr wrap="square" lIns="0" tIns="0" rIns="0" bIns="0" rtlCol="0" anchor="ctr"/>
          <a:lstStyle/>
          <a:p>
            <a:pPr marL="0" indent="0">
              <a:lnSpc>
                <a:spcPct val="120000"/>
              </a:lnSpc>
              <a:buNone/>
            </a:pPr>
            <a:r>
              <a:rPr lang="en-US" sz="800" dirty="0">
                <a:solidFill>
                  <a:srgbClr val="0F172A"/>
                </a:solidFill>
                <a:latin typeface="Poppins" pitchFamily="34" charset="0"/>
                <a:ea typeface="Poppins" pitchFamily="34" charset="-122"/>
                <a:cs typeface="Poppins" pitchFamily="34" charset="-120"/>
              </a:rPr>
              <a:t>Marketplace + dev rapide + templates + gestion clients</a:t>
            </a:r>
            <a:endParaRPr lang="en-US" sz="800" dirty="0"/>
          </a:p>
        </p:txBody>
      </p:sp>
      <p:sp>
        <p:nvSpPr>
          <p:cNvPr id="50" name="Shape 43"/>
          <p:cNvSpPr/>
          <p:nvPr/>
        </p:nvSpPr>
        <p:spPr>
          <a:xfrm>
            <a:off x="7255801" y="4458444"/>
            <a:ext cx="1371600" cy="365760"/>
          </a:xfrm>
          <a:prstGeom prst="rect">
            <a:avLst/>
          </a:prstGeom>
          <a:solidFill>
            <a:srgbClr val="EBF5FF"/>
          </a:solidFill>
          <a:ln/>
        </p:spPr>
        <p:txBody>
          <a:bodyPr/>
          <a:lstStyle/>
          <a:p>
            <a:endParaRPr lang="fr-FR"/>
          </a:p>
        </p:txBody>
      </p:sp>
      <p:sp>
        <p:nvSpPr>
          <p:cNvPr id="51" name="Text 44"/>
          <p:cNvSpPr/>
          <p:nvPr/>
        </p:nvSpPr>
        <p:spPr>
          <a:xfrm>
            <a:off x="7255801" y="4458444"/>
            <a:ext cx="1371600" cy="365760"/>
          </a:xfrm>
          <a:prstGeom prst="rect">
            <a:avLst/>
          </a:prstGeom>
          <a:noFill/>
          <a:ln/>
        </p:spPr>
        <p:txBody>
          <a:bodyPr wrap="square" lIns="0" tIns="0" rIns="0" bIns="0" rtlCol="0" anchor="ctr"/>
          <a:lstStyle/>
          <a:p>
            <a:pPr marL="0" indent="0" algn="ctr">
              <a:buNone/>
            </a:pPr>
            <a:r>
              <a:rPr lang="en-US" sz="800" b="1" dirty="0">
                <a:solidFill>
                  <a:srgbClr val="7C3AED"/>
                </a:solidFill>
                <a:latin typeface="Poppins" pitchFamily="34" charset="0"/>
                <a:ea typeface="Poppins" pitchFamily="34" charset="-122"/>
                <a:cs typeface="Poppins" pitchFamily="34" charset="-120"/>
              </a:rPr>
              <a:t>Nouveaux revenus</a:t>
            </a:r>
            <a:endParaRPr lang="en-US" sz="800" dirty="0"/>
          </a:p>
        </p:txBody>
      </p:sp>
      <p:sp>
        <p:nvSpPr>
          <p:cNvPr id="52" name="Text 45"/>
          <p:cNvSpPr/>
          <p:nvPr/>
        </p:nvSpPr>
        <p:spPr>
          <a:xfrm>
            <a:off x="8571132" y="4869180"/>
            <a:ext cx="457200" cy="274320"/>
          </a:xfrm>
          <a:prstGeom prst="rect">
            <a:avLst/>
          </a:prstGeom>
          <a:noFill/>
          <a:ln/>
        </p:spPr>
        <p:txBody>
          <a:bodyPr wrap="square" lIns="0" tIns="0" rIns="0" bIns="0" rtlCol="0" anchor="ctr"/>
          <a:lstStyle/>
          <a:p>
            <a:pPr marL="0" indent="0" algn="r">
              <a:buNone/>
            </a:pPr>
            <a:r>
              <a:rPr lang="en-US" sz="900" dirty="0">
                <a:solidFill>
                  <a:srgbClr val="9CA3AF"/>
                </a:solidFill>
                <a:latin typeface="Poppins" pitchFamily="34" charset="0"/>
                <a:ea typeface="Poppins" pitchFamily="34" charset="-122"/>
                <a:cs typeface="Poppins"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28600"/>
            <a:ext cx="8229600" cy="411480"/>
          </a:xfrm>
          <a:prstGeom prst="rect">
            <a:avLst/>
          </a:prstGeom>
          <a:noFill/>
          <a:ln/>
        </p:spPr>
        <p:txBody>
          <a:bodyPr wrap="square" lIns="0" tIns="0" rIns="0" bIns="0" rtlCol="0" anchor="ctr"/>
          <a:lstStyle/>
          <a:p>
            <a:pPr marL="0" indent="0">
              <a:buNone/>
            </a:pPr>
            <a:r>
              <a:rPr lang="en-US" sz="2800" b="1" dirty="0">
                <a:solidFill>
                  <a:srgbClr val="0F172A"/>
                </a:solidFill>
                <a:latin typeface="Poppins" pitchFamily="34" charset="0"/>
                <a:ea typeface="Poppins" pitchFamily="34" charset="-122"/>
                <a:cs typeface="Poppins" pitchFamily="34" charset="-120"/>
              </a:rPr>
              <a:t>L'écosystème KINN</a:t>
            </a:r>
            <a:endParaRPr lang="en-US" sz="2800" dirty="0"/>
          </a:p>
        </p:txBody>
      </p:sp>
      <p:sp>
        <p:nvSpPr>
          <p:cNvPr id="3" name="Text 1"/>
          <p:cNvSpPr/>
          <p:nvPr/>
        </p:nvSpPr>
        <p:spPr>
          <a:xfrm>
            <a:off x="640080" y="640080"/>
            <a:ext cx="7315200" cy="228600"/>
          </a:xfrm>
          <a:prstGeom prst="rect">
            <a:avLst/>
          </a:prstGeom>
          <a:noFill/>
          <a:ln/>
        </p:spPr>
        <p:txBody>
          <a:bodyPr wrap="square" lIns="0" tIns="0" rIns="0" bIns="0" rtlCol="0" anchor="ctr"/>
          <a:lstStyle/>
          <a:p>
            <a:pPr marL="0" indent="0">
              <a:buNone/>
            </a:pPr>
            <a:r>
              <a:rPr lang="en-US" sz="1100" dirty="0">
                <a:solidFill>
                  <a:srgbClr val="6B7280"/>
                </a:solidFill>
                <a:latin typeface="Poppins" pitchFamily="34" charset="0"/>
                <a:ea typeface="Poppins" pitchFamily="34" charset="-122"/>
                <a:cs typeface="Poppins" pitchFamily="34" charset="-120"/>
              </a:rPr>
              <a:t>KINN connecte 3 mondes pour créer un cercle vertueux</a:t>
            </a:r>
            <a:endParaRPr lang="en-US" sz="1100" dirty="0"/>
          </a:p>
        </p:txBody>
      </p:sp>
      <p:sp>
        <p:nvSpPr>
          <p:cNvPr id="4" name="Shape 2"/>
          <p:cNvSpPr/>
          <p:nvPr/>
        </p:nvSpPr>
        <p:spPr>
          <a:xfrm>
            <a:off x="548640" y="1097280"/>
            <a:ext cx="2377440" cy="3291840"/>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5" name="Shape 3"/>
          <p:cNvSpPr/>
          <p:nvPr/>
        </p:nvSpPr>
        <p:spPr>
          <a:xfrm>
            <a:off x="548640" y="1097280"/>
            <a:ext cx="2377440" cy="54864"/>
          </a:xfrm>
          <a:prstGeom prst="rect">
            <a:avLst/>
          </a:prstGeom>
          <a:solidFill>
            <a:srgbClr val="1677FF"/>
          </a:solidFill>
          <a:ln/>
        </p:spPr>
        <p:txBody>
          <a:bodyPr/>
          <a:lstStyle/>
          <a:p>
            <a:endParaRPr lang="fr-FR"/>
          </a:p>
        </p:txBody>
      </p:sp>
      <p:pic>
        <p:nvPicPr>
          <p:cNvPr id="6" name="Image 0" descr="preencoded.png"/>
          <p:cNvPicPr>
            <a:picLocks noChangeAspect="1"/>
          </p:cNvPicPr>
          <p:nvPr/>
        </p:nvPicPr>
        <p:blipFill>
          <a:blip r:embed="rId3"/>
          <a:stretch>
            <a:fillRect/>
          </a:stretch>
        </p:blipFill>
        <p:spPr>
          <a:xfrm>
            <a:off x="1463040" y="1325880"/>
            <a:ext cx="411480" cy="411480"/>
          </a:xfrm>
          <a:prstGeom prst="rect">
            <a:avLst/>
          </a:prstGeom>
        </p:spPr>
      </p:pic>
      <p:sp>
        <p:nvSpPr>
          <p:cNvPr id="7" name="Text 4"/>
          <p:cNvSpPr/>
          <p:nvPr/>
        </p:nvSpPr>
        <p:spPr>
          <a:xfrm>
            <a:off x="548640" y="1828800"/>
            <a:ext cx="2377440" cy="274320"/>
          </a:xfrm>
          <a:prstGeom prst="rect">
            <a:avLst/>
          </a:prstGeom>
          <a:noFill/>
          <a:ln/>
        </p:spPr>
        <p:txBody>
          <a:bodyPr wrap="square" lIns="0" tIns="0" rIns="0" bIns="0" rtlCol="0" anchor="ctr"/>
          <a:lstStyle/>
          <a:p>
            <a:pPr marL="0" indent="0" algn="ctr">
              <a:buNone/>
            </a:pPr>
            <a:r>
              <a:rPr lang="en-US" sz="1500" b="1" dirty="0">
                <a:solidFill>
                  <a:srgbClr val="0F172A"/>
                </a:solidFill>
                <a:latin typeface="Poppins" pitchFamily="34" charset="0"/>
                <a:ea typeface="Poppins" pitchFamily="34" charset="-122"/>
                <a:cs typeface="Poppins" pitchFamily="34" charset="-120"/>
              </a:rPr>
              <a:t>Entreprises</a:t>
            </a:r>
            <a:endParaRPr lang="en-US" sz="1500" dirty="0"/>
          </a:p>
        </p:txBody>
      </p:sp>
      <p:sp>
        <p:nvSpPr>
          <p:cNvPr id="8" name="Text 5"/>
          <p:cNvSpPr/>
          <p:nvPr/>
        </p:nvSpPr>
        <p:spPr>
          <a:xfrm>
            <a:off x="777240" y="2194560"/>
            <a:ext cx="2011680" cy="256032"/>
          </a:xfrm>
          <a:prstGeom prst="rect">
            <a:avLst/>
          </a:prstGeom>
          <a:noFill/>
          <a:ln/>
        </p:spPr>
        <p:txBody>
          <a:bodyPr wrap="square" lIns="0" tIns="0" rIns="0" bIns="0" rtlCol="0" anchor="ctr"/>
          <a:lstStyle/>
          <a:p>
            <a:pPr marL="0" indent="0">
              <a:buNone/>
            </a:pPr>
            <a:r>
              <a:rPr lang="en-US" sz="900" dirty="0">
                <a:solidFill>
                  <a:srgbClr val="374151"/>
                </a:solidFill>
                <a:latin typeface="Poppins" pitchFamily="34" charset="0"/>
                <a:ea typeface="Poppins" pitchFamily="34" charset="-122"/>
                <a:cs typeface="Poppins" pitchFamily="34" charset="-120"/>
              </a:rPr>
              <a:t>•  TPE / Auto-entrepreneurs</a:t>
            </a:r>
            <a:endParaRPr lang="en-US" sz="900" dirty="0"/>
          </a:p>
        </p:txBody>
      </p:sp>
      <p:sp>
        <p:nvSpPr>
          <p:cNvPr id="9" name="Text 6"/>
          <p:cNvSpPr/>
          <p:nvPr/>
        </p:nvSpPr>
        <p:spPr>
          <a:xfrm>
            <a:off x="777240" y="2487168"/>
            <a:ext cx="2011680" cy="256032"/>
          </a:xfrm>
          <a:prstGeom prst="rect">
            <a:avLst/>
          </a:prstGeom>
          <a:noFill/>
          <a:ln/>
        </p:spPr>
        <p:txBody>
          <a:bodyPr wrap="square" lIns="0" tIns="0" rIns="0" bIns="0" rtlCol="0" anchor="ctr"/>
          <a:lstStyle/>
          <a:p>
            <a:pPr marL="0" indent="0">
              <a:buNone/>
            </a:pPr>
            <a:r>
              <a:rPr lang="en-US" sz="900" dirty="0">
                <a:solidFill>
                  <a:srgbClr val="374151"/>
                </a:solidFill>
                <a:latin typeface="Poppins" pitchFamily="34" charset="0"/>
                <a:ea typeface="Poppins" pitchFamily="34" charset="-122"/>
                <a:cs typeface="Poppins" pitchFamily="34" charset="-120"/>
              </a:rPr>
              <a:t>•  PME / ETI</a:t>
            </a:r>
            <a:endParaRPr lang="en-US" sz="900" dirty="0"/>
          </a:p>
        </p:txBody>
      </p:sp>
      <p:sp>
        <p:nvSpPr>
          <p:cNvPr id="10" name="Text 7"/>
          <p:cNvSpPr/>
          <p:nvPr/>
        </p:nvSpPr>
        <p:spPr>
          <a:xfrm>
            <a:off x="777240" y="2779776"/>
            <a:ext cx="2011680" cy="256032"/>
          </a:xfrm>
          <a:prstGeom prst="rect">
            <a:avLst/>
          </a:prstGeom>
          <a:noFill/>
          <a:ln/>
        </p:spPr>
        <p:txBody>
          <a:bodyPr wrap="square" lIns="0" tIns="0" rIns="0" bIns="0" rtlCol="0" anchor="ctr"/>
          <a:lstStyle/>
          <a:p>
            <a:pPr marL="0" indent="0">
              <a:buNone/>
            </a:pPr>
            <a:r>
              <a:rPr lang="en-US" sz="900" dirty="0">
                <a:solidFill>
                  <a:srgbClr val="374151"/>
                </a:solidFill>
                <a:latin typeface="Poppins" pitchFamily="34" charset="0"/>
                <a:ea typeface="Poppins" pitchFamily="34" charset="-122"/>
                <a:cs typeface="Poppins" pitchFamily="34" charset="-120"/>
              </a:rPr>
              <a:t>•  Industrie</a:t>
            </a:r>
            <a:endParaRPr lang="en-US" sz="900" dirty="0"/>
          </a:p>
        </p:txBody>
      </p:sp>
      <p:sp>
        <p:nvSpPr>
          <p:cNvPr id="11" name="Text 8"/>
          <p:cNvSpPr/>
          <p:nvPr/>
        </p:nvSpPr>
        <p:spPr>
          <a:xfrm>
            <a:off x="777240" y="3072384"/>
            <a:ext cx="2011680" cy="256032"/>
          </a:xfrm>
          <a:prstGeom prst="rect">
            <a:avLst/>
          </a:prstGeom>
          <a:noFill/>
          <a:ln/>
        </p:spPr>
        <p:txBody>
          <a:bodyPr wrap="square" lIns="0" tIns="0" rIns="0" bIns="0" rtlCol="0" anchor="ctr"/>
          <a:lstStyle/>
          <a:p>
            <a:pPr marL="0" indent="0">
              <a:buNone/>
            </a:pPr>
            <a:r>
              <a:rPr lang="en-US" sz="900" dirty="0">
                <a:solidFill>
                  <a:srgbClr val="374151"/>
                </a:solidFill>
                <a:latin typeface="Poppins" pitchFamily="34" charset="0"/>
                <a:ea typeface="Poppins" pitchFamily="34" charset="-122"/>
                <a:cs typeface="Poppins" pitchFamily="34" charset="-120"/>
              </a:rPr>
              <a:t>•  Besoins automatisation</a:t>
            </a:r>
            <a:endParaRPr lang="en-US" sz="900" dirty="0"/>
          </a:p>
        </p:txBody>
      </p:sp>
      <p:sp>
        <p:nvSpPr>
          <p:cNvPr id="12" name="Text 9"/>
          <p:cNvSpPr/>
          <p:nvPr/>
        </p:nvSpPr>
        <p:spPr>
          <a:xfrm>
            <a:off x="777240" y="3364992"/>
            <a:ext cx="2011680" cy="256032"/>
          </a:xfrm>
          <a:prstGeom prst="rect">
            <a:avLst/>
          </a:prstGeom>
          <a:noFill/>
          <a:ln/>
        </p:spPr>
        <p:txBody>
          <a:bodyPr wrap="square" lIns="0" tIns="0" rIns="0" bIns="0" rtlCol="0" anchor="ctr"/>
          <a:lstStyle/>
          <a:p>
            <a:pPr marL="0" indent="0">
              <a:buNone/>
            </a:pPr>
            <a:r>
              <a:rPr lang="en-US" sz="900" dirty="0">
                <a:solidFill>
                  <a:srgbClr val="374151"/>
                </a:solidFill>
                <a:latin typeface="Poppins" pitchFamily="34" charset="0"/>
                <a:ea typeface="Poppins" pitchFamily="34" charset="-122"/>
                <a:cs typeface="Poppins" pitchFamily="34" charset="-120"/>
              </a:rPr>
              <a:t>•  Processus métiers</a:t>
            </a:r>
            <a:endParaRPr lang="en-US" sz="900" dirty="0"/>
          </a:p>
        </p:txBody>
      </p:sp>
      <p:sp>
        <p:nvSpPr>
          <p:cNvPr id="13" name="Text 10"/>
          <p:cNvSpPr/>
          <p:nvPr/>
        </p:nvSpPr>
        <p:spPr>
          <a:xfrm>
            <a:off x="777240" y="3657600"/>
            <a:ext cx="2011680" cy="256032"/>
          </a:xfrm>
          <a:prstGeom prst="rect">
            <a:avLst/>
          </a:prstGeom>
          <a:noFill/>
          <a:ln/>
        </p:spPr>
        <p:txBody>
          <a:bodyPr wrap="square" lIns="0" tIns="0" rIns="0" bIns="0" rtlCol="0" anchor="ctr"/>
          <a:lstStyle/>
          <a:p>
            <a:pPr marL="0" indent="0">
              <a:buNone/>
            </a:pPr>
            <a:r>
              <a:rPr lang="en-US" sz="900" dirty="0">
                <a:solidFill>
                  <a:srgbClr val="374151"/>
                </a:solidFill>
                <a:latin typeface="Poppins" pitchFamily="34" charset="0"/>
                <a:ea typeface="Poppins" pitchFamily="34" charset="-122"/>
                <a:cs typeface="Poppins" pitchFamily="34" charset="-120"/>
              </a:rPr>
              <a:t>•  Données à centraliser</a:t>
            </a:r>
            <a:endParaRPr lang="en-US" sz="900" dirty="0"/>
          </a:p>
        </p:txBody>
      </p:sp>
      <p:sp>
        <p:nvSpPr>
          <p:cNvPr id="14" name="Shape 11"/>
          <p:cNvSpPr/>
          <p:nvPr/>
        </p:nvSpPr>
        <p:spPr>
          <a:xfrm>
            <a:off x="3383280" y="1097280"/>
            <a:ext cx="2377440" cy="3291840"/>
          </a:xfrm>
          <a:prstGeom prst="rect">
            <a:avLst/>
          </a:prstGeom>
          <a:solidFill>
            <a:srgbClr val="EBF5FF"/>
          </a:solidFill>
          <a:ln w="19050">
            <a:solidFill>
              <a:srgbClr val="1677FF"/>
            </a:solidFill>
            <a:prstDash val="solid"/>
          </a:ln>
        </p:spPr>
        <p:txBody>
          <a:bodyPr/>
          <a:lstStyle/>
          <a:p>
            <a:endParaRPr lang="fr-FR"/>
          </a:p>
        </p:txBody>
      </p:sp>
      <p:pic>
        <p:nvPicPr>
          <p:cNvPr id="15" name="Image 1" descr="preencoded.png"/>
          <p:cNvPicPr>
            <a:picLocks noChangeAspect="1"/>
          </p:cNvPicPr>
          <p:nvPr/>
        </p:nvPicPr>
        <p:blipFill>
          <a:blip r:embed="rId4"/>
          <a:stretch>
            <a:fillRect/>
          </a:stretch>
        </p:blipFill>
        <p:spPr>
          <a:xfrm>
            <a:off x="4069080" y="1280160"/>
            <a:ext cx="822960" cy="502920"/>
          </a:xfrm>
          <a:prstGeom prst="rect">
            <a:avLst/>
          </a:prstGeom>
        </p:spPr>
      </p:pic>
      <p:sp>
        <p:nvSpPr>
          <p:cNvPr id="16" name="Text 12"/>
          <p:cNvSpPr/>
          <p:nvPr/>
        </p:nvSpPr>
        <p:spPr>
          <a:xfrm>
            <a:off x="3383280" y="1828800"/>
            <a:ext cx="2377440" cy="274320"/>
          </a:xfrm>
          <a:prstGeom prst="rect">
            <a:avLst/>
          </a:prstGeom>
          <a:noFill/>
          <a:ln/>
        </p:spPr>
        <p:txBody>
          <a:bodyPr wrap="square" lIns="0" tIns="0" rIns="0" bIns="0" rtlCol="0" anchor="ctr"/>
          <a:lstStyle/>
          <a:p>
            <a:pPr marL="0" indent="0" algn="ctr">
              <a:buNone/>
            </a:pPr>
            <a:r>
              <a:rPr lang="en-US" sz="1500" b="1" dirty="0">
                <a:solidFill>
                  <a:srgbClr val="1677FF"/>
                </a:solidFill>
                <a:latin typeface="Poppins" pitchFamily="34" charset="0"/>
                <a:ea typeface="Poppins" pitchFamily="34" charset="-122"/>
                <a:cs typeface="Poppins" pitchFamily="34" charset="-120"/>
              </a:rPr>
              <a:t>Plateforme KINN</a:t>
            </a:r>
            <a:endParaRPr lang="en-US" sz="1500" dirty="0"/>
          </a:p>
        </p:txBody>
      </p:sp>
      <p:pic>
        <p:nvPicPr>
          <p:cNvPr id="17" name="Image 2" descr="preencoded.png"/>
          <p:cNvPicPr>
            <a:picLocks noChangeAspect="1"/>
          </p:cNvPicPr>
          <p:nvPr/>
        </p:nvPicPr>
        <p:blipFill>
          <a:blip r:embed="rId5"/>
          <a:stretch>
            <a:fillRect/>
          </a:stretch>
        </p:blipFill>
        <p:spPr>
          <a:xfrm>
            <a:off x="3611880" y="2240280"/>
            <a:ext cx="182880" cy="182880"/>
          </a:xfrm>
          <a:prstGeom prst="rect">
            <a:avLst/>
          </a:prstGeom>
        </p:spPr>
      </p:pic>
      <p:sp>
        <p:nvSpPr>
          <p:cNvPr id="18" name="Text 13"/>
          <p:cNvSpPr/>
          <p:nvPr/>
        </p:nvSpPr>
        <p:spPr>
          <a:xfrm>
            <a:off x="3886200" y="2194560"/>
            <a:ext cx="1737360" cy="256032"/>
          </a:xfrm>
          <a:prstGeom prst="rect">
            <a:avLst/>
          </a:prstGeom>
          <a:noFill/>
          <a:ln/>
        </p:spPr>
        <p:txBody>
          <a:bodyPr wrap="square" lIns="0" tIns="0" rIns="0" bIns="0" rtlCol="0" anchor="ctr"/>
          <a:lstStyle/>
          <a:p>
            <a:pPr marL="0" indent="0">
              <a:buNone/>
            </a:pPr>
            <a:r>
              <a:rPr lang="en-US" sz="900" dirty="0">
                <a:solidFill>
                  <a:srgbClr val="0F172A"/>
                </a:solidFill>
                <a:latin typeface="Poppins" pitchFamily="34" charset="0"/>
                <a:ea typeface="Poppins" pitchFamily="34" charset="-122"/>
                <a:cs typeface="Poppins" pitchFamily="34" charset="-120"/>
              </a:rPr>
              <a:t>Low-code + IA</a:t>
            </a:r>
            <a:endParaRPr lang="en-US" sz="900" dirty="0"/>
          </a:p>
        </p:txBody>
      </p:sp>
      <p:pic>
        <p:nvPicPr>
          <p:cNvPr id="19" name="Image 3" descr="preencoded.png"/>
          <p:cNvPicPr>
            <a:picLocks noChangeAspect="1"/>
          </p:cNvPicPr>
          <p:nvPr/>
        </p:nvPicPr>
        <p:blipFill>
          <a:blip r:embed="rId6"/>
          <a:stretch>
            <a:fillRect/>
          </a:stretch>
        </p:blipFill>
        <p:spPr>
          <a:xfrm>
            <a:off x="3611880" y="2532888"/>
            <a:ext cx="182880" cy="182880"/>
          </a:xfrm>
          <a:prstGeom prst="rect">
            <a:avLst/>
          </a:prstGeom>
        </p:spPr>
      </p:pic>
      <p:sp>
        <p:nvSpPr>
          <p:cNvPr id="20" name="Text 14"/>
          <p:cNvSpPr/>
          <p:nvPr/>
        </p:nvSpPr>
        <p:spPr>
          <a:xfrm>
            <a:off x="3886200" y="2487168"/>
            <a:ext cx="1737360" cy="256032"/>
          </a:xfrm>
          <a:prstGeom prst="rect">
            <a:avLst/>
          </a:prstGeom>
          <a:noFill/>
          <a:ln/>
        </p:spPr>
        <p:txBody>
          <a:bodyPr wrap="square" lIns="0" tIns="0" rIns="0" bIns="0" rtlCol="0" anchor="ctr"/>
          <a:lstStyle/>
          <a:p>
            <a:pPr marL="0" indent="0">
              <a:buNone/>
            </a:pPr>
            <a:r>
              <a:rPr lang="en-US" sz="900" dirty="0">
                <a:solidFill>
                  <a:srgbClr val="0F172A"/>
                </a:solidFill>
                <a:latin typeface="Poppins" pitchFamily="34" charset="0"/>
                <a:ea typeface="Poppins" pitchFamily="34" charset="-122"/>
                <a:cs typeface="Poppins" pitchFamily="34" charset="-120"/>
              </a:rPr>
              <a:t>Workflows visuels</a:t>
            </a:r>
            <a:endParaRPr lang="en-US" sz="900" dirty="0"/>
          </a:p>
        </p:txBody>
      </p:sp>
      <p:pic>
        <p:nvPicPr>
          <p:cNvPr id="21" name="Image 4" descr="preencoded.png"/>
          <p:cNvPicPr>
            <a:picLocks noChangeAspect="1"/>
          </p:cNvPicPr>
          <p:nvPr/>
        </p:nvPicPr>
        <p:blipFill>
          <a:blip r:embed="rId7"/>
          <a:stretch>
            <a:fillRect/>
          </a:stretch>
        </p:blipFill>
        <p:spPr>
          <a:xfrm>
            <a:off x="3611880" y="2825496"/>
            <a:ext cx="182880" cy="182880"/>
          </a:xfrm>
          <a:prstGeom prst="rect">
            <a:avLst/>
          </a:prstGeom>
        </p:spPr>
      </p:pic>
      <p:sp>
        <p:nvSpPr>
          <p:cNvPr id="22" name="Text 15"/>
          <p:cNvSpPr/>
          <p:nvPr/>
        </p:nvSpPr>
        <p:spPr>
          <a:xfrm>
            <a:off x="3886200" y="2779776"/>
            <a:ext cx="1737360" cy="256032"/>
          </a:xfrm>
          <a:prstGeom prst="rect">
            <a:avLst/>
          </a:prstGeom>
          <a:noFill/>
          <a:ln/>
        </p:spPr>
        <p:txBody>
          <a:bodyPr wrap="square" lIns="0" tIns="0" rIns="0" bIns="0" rtlCol="0" anchor="ctr"/>
          <a:lstStyle/>
          <a:p>
            <a:pPr marL="0" indent="0">
              <a:buNone/>
            </a:pPr>
            <a:r>
              <a:rPr lang="en-US" sz="900" dirty="0">
                <a:solidFill>
                  <a:srgbClr val="0F172A"/>
                </a:solidFill>
                <a:latin typeface="Poppins" pitchFamily="34" charset="0"/>
                <a:ea typeface="Poppins" pitchFamily="34" charset="-122"/>
                <a:cs typeface="Poppins" pitchFamily="34" charset="-120"/>
              </a:rPr>
              <a:t>Connecteurs API</a:t>
            </a:r>
            <a:endParaRPr lang="en-US" sz="900" dirty="0"/>
          </a:p>
        </p:txBody>
      </p:sp>
      <p:pic>
        <p:nvPicPr>
          <p:cNvPr id="23" name="Image 5" descr="preencoded.png"/>
          <p:cNvPicPr>
            <a:picLocks noChangeAspect="1"/>
          </p:cNvPicPr>
          <p:nvPr/>
        </p:nvPicPr>
        <p:blipFill>
          <a:blip r:embed="rId8"/>
          <a:stretch>
            <a:fillRect/>
          </a:stretch>
        </p:blipFill>
        <p:spPr>
          <a:xfrm>
            <a:off x="3611880" y="3118104"/>
            <a:ext cx="182880" cy="182880"/>
          </a:xfrm>
          <a:prstGeom prst="rect">
            <a:avLst/>
          </a:prstGeom>
        </p:spPr>
      </p:pic>
      <p:sp>
        <p:nvSpPr>
          <p:cNvPr id="24" name="Text 16"/>
          <p:cNvSpPr/>
          <p:nvPr/>
        </p:nvSpPr>
        <p:spPr>
          <a:xfrm>
            <a:off x="3886200" y="3072384"/>
            <a:ext cx="1737360" cy="256032"/>
          </a:xfrm>
          <a:prstGeom prst="rect">
            <a:avLst/>
          </a:prstGeom>
          <a:noFill/>
          <a:ln/>
        </p:spPr>
        <p:txBody>
          <a:bodyPr wrap="square" lIns="0" tIns="0" rIns="0" bIns="0" rtlCol="0" anchor="ctr"/>
          <a:lstStyle/>
          <a:p>
            <a:pPr marL="0" indent="0">
              <a:buNone/>
            </a:pPr>
            <a:r>
              <a:rPr lang="en-US" sz="900" dirty="0">
                <a:solidFill>
                  <a:srgbClr val="0F172A"/>
                </a:solidFill>
                <a:latin typeface="Poppins" pitchFamily="34" charset="0"/>
                <a:ea typeface="Poppins" pitchFamily="34" charset="-122"/>
                <a:cs typeface="Poppins" pitchFamily="34" charset="-120"/>
              </a:rPr>
              <a:t>Form builder</a:t>
            </a:r>
            <a:endParaRPr lang="en-US" sz="900" dirty="0"/>
          </a:p>
        </p:txBody>
      </p:sp>
      <p:pic>
        <p:nvPicPr>
          <p:cNvPr id="25" name="Image 6" descr="preencoded.png"/>
          <p:cNvPicPr>
            <a:picLocks noChangeAspect="1"/>
          </p:cNvPicPr>
          <p:nvPr/>
        </p:nvPicPr>
        <p:blipFill>
          <a:blip r:embed="rId9"/>
          <a:stretch>
            <a:fillRect/>
          </a:stretch>
        </p:blipFill>
        <p:spPr>
          <a:xfrm>
            <a:off x="3611880" y="3410712"/>
            <a:ext cx="182880" cy="182880"/>
          </a:xfrm>
          <a:prstGeom prst="rect">
            <a:avLst/>
          </a:prstGeom>
        </p:spPr>
      </p:pic>
      <p:sp>
        <p:nvSpPr>
          <p:cNvPr id="26" name="Text 17"/>
          <p:cNvSpPr/>
          <p:nvPr/>
        </p:nvSpPr>
        <p:spPr>
          <a:xfrm>
            <a:off x="3886200" y="3364992"/>
            <a:ext cx="1737360" cy="256032"/>
          </a:xfrm>
          <a:prstGeom prst="rect">
            <a:avLst/>
          </a:prstGeom>
          <a:noFill/>
          <a:ln/>
        </p:spPr>
        <p:txBody>
          <a:bodyPr wrap="square" lIns="0" tIns="0" rIns="0" bIns="0" rtlCol="0" anchor="ctr"/>
          <a:lstStyle/>
          <a:p>
            <a:pPr marL="0" indent="0">
              <a:buNone/>
            </a:pPr>
            <a:r>
              <a:rPr lang="en-US" sz="900" dirty="0">
                <a:solidFill>
                  <a:srgbClr val="0F172A"/>
                </a:solidFill>
                <a:latin typeface="Poppins" pitchFamily="34" charset="0"/>
                <a:ea typeface="Poppins" pitchFamily="34" charset="-122"/>
                <a:cs typeface="Poppins" pitchFamily="34" charset="-120"/>
              </a:rPr>
              <a:t>Marketplace</a:t>
            </a:r>
            <a:endParaRPr lang="en-US" sz="900" dirty="0"/>
          </a:p>
        </p:txBody>
      </p:sp>
      <p:pic>
        <p:nvPicPr>
          <p:cNvPr id="27" name="Image 7" descr="preencoded.png"/>
          <p:cNvPicPr>
            <a:picLocks noChangeAspect="1"/>
          </p:cNvPicPr>
          <p:nvPr/>
        </p:nvPicPr>
        <p:blipFill>
          <a:blip r:embed="rId10"/>
          <a:stretch>
            <a:fillRect/>
          </a:stretch>
        </p:blipFill>
        <p:spPr>
          <a:xfrm>
            <a:off x="3611880" y="3703320"/>
            <a:ext cx="182880" cy="182880"/>
          </a:xfrm>
          <a:prstGeom prst="rect">
            <a:avLst/>
          </a:prstGeom>
        </p:spPr>
      </p:pic>
      <p:sp>
        <p:nvSpPr>
          <p:cNvPr id="28" name="Text 18"/>
          <p:cNvSpPr/>
          <p:nvPr/>
        </p:nvSpPr>
        <p:spPr>
          <a:xfrm>
            <a:off x="3886200" y="3657600"/>
            <a:ext cx="1737360" cy="256032"/>
          </a:xfrm>
          <a:prstGeom prst="rect">
            <a:avLst/>
          </a:prstGeom>
          <a:noFill/>
          <a:ln/>
        </p:spPr>
        <p:txBody>
          <a:bodyPr wrap="square" lIns="0" tIns="0" rIns="0" bIns="0" rtlCol="0" anchor="ctr"/>
          <a:lstStyle/>
          <a:p>
            <a:pPr marL="0" indent="0">
              <a:buNone/>
            </a:pPr>
            <a:r>
              <a:rPr lang="en-US" sz="900" dirty="0">
                <a:solidFill>
                  <a:srgbClr val="0F172A"/>
                </a:solidFill>
                <a:latin typeface="Poppins" pitchFamily="34" charset="0"/>
                <a:ea typeface="Poppins" pitchFamily="34" charset="-122"/>
                <a:cs typeface="Poppins" pitchFamily="34" charset="-120"/>
              </a:rPr>
              <a:t>On-premise / Cloud</a:t>
            </a:r>
            <a:endParaRPr lang="en-US" sz="900" dirty="0"/>
          </a:p>
        </p:txBody>
      </p:sp>
      <p:sp>
        <p:nvSpPr>
          <p:cNvPr id="29" name="Shape 19"/>
          <p:cNvSpPr/>
          <p:nvPr/>
        </p:nvSpPr>
        <p:spPr>
          <a:xfrm>
            <a:off x="6217920" y="1097280"/>
            <a:ext cx="2377440" cy="3291840"/>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30" name="Shape 20"/>
          <p:cNvSpPr/>
          <p:nvPr/>
        </p:nvSpPr>
        <p:spPr>
          <a:xfrm>
            <a:off x="6217920" y="1097280"/>
            <a:ext cx="2377440" cy="54864"/>
          </a:xfrm>
          <a:prstGeom prst="rect">
            <a:avLst/>
          </a:prstGeom>
          <a:solidFill>
            <a:srgbClr val="16A34A"/>
          </a:solidFill>
          <a:ln/>
        </p:spPr>
        <p:txBody>
          <a:bodyPr/>
          <a:lstStyle/>
          <a:p>
            <a:endParaRPr lang="fr-FR"/>
          </a:p>
        </p:txBody>
      </p:sp>
      <p:pic>
        <p:nvPicPr>
          <p:cNvPr id="31" name="Image 8" descr="preencoded.png"/>
          <p:cNvPicPr>
            <a:picLocks noChangeAspect="1"/>
          </p:cNvPicPr>
          <p:nvPr/>
        </p:nvPicPr>
        <p:blipFill>
          <a:blip r:embed="rId11"/>
          <a:stretch>
            <a:fillRect/>
          </a:stretch>
        </p:blipFill>
        <p:spPr>
          <a:xfrm>
            <a:off x="7132320" y="1325880"/>
            <a:ext cx="411480" cy="411480"/>
          </a:xfrm>
          <a:prstGeom prst="rect">
            <a:avLst/>
          </a:prstGeom>
        </p:spPr>
      </p:pic>
      <p:sp>
        <p:nvSpPr>
          <p:cNvPr id="32" name="Text 21"/>
          <p:cNvSpPr/>
          <p:nvPr/>
        </p:nvSpPr>
        <p:spPr>
          <a:xfrm>
            <a:off x="6217920" y="1828800"/>
            <a:ext cx="2377440" cy="274320"/>
          </a:xfrm>
          <a:prstGeom prst="rect">
            <a:avLst/>
          </a:prstGeom>
          <a:noFill/>
          <a:ln/>
        </p:spPr>
        <p:txBody>
          <a:bodyPr wrap="square" lIns="0" tIns="0" rIns="0" bIns="0" rtlCol="0" anchor="ctr"/>
          <a:lstStyle/>
          <a:p>
            <a:pPr marL="0" indent="0" algn="ctr">
              <a:buNone/>
            </a:pPr>
            <a:r>
              <a:rPr lang="en-US" sz="1500" b="1" dirty="0">
                <a:solidFill>
                  <a:srgbClr val="0F172A"/>
                </a:solidFill>
                <a:latin typeface="Poppins" pitchFamily="34" charset="0"/>
                <a:ea typeface="Poppins" pitchFamily="34" charset="-122"/>
                <a:cs typeface="Poppins" pitchFamily="34" charset="-120"/>
              </a:rPr>
              <a:t>Experts</a:t>
            </a:r>
            <a:endParaRPr lang="en-US" sz="1500" dirty="0"/>
          </a:p>
        </p:txBody>
      </p:sp>
      <p:sp>
        <p:nvSpPr>
          <p:cNvPr id="33" name="Text 22"/>
          <p:cNvSpPr/>
          <p:nvPr/>
        </p:nvSpPr>
        <p:spPr>
          <a:xfrm>
            <a:off x="6446520" y="2194560"/>
            <a:ext cx="2011680" cy="256032"/>
          </a:xfrm>
          <a:prstGeom prst="rect">
            <a:avLst/>
          </a:prstGeom>
          <a:noFill/>
          <a:ln/>
        </p:spPr>
        <p:txBody>
          <a:bodyPr wrap="square" lIns="0" tIns="0" rIns="0" bIns="0" rtlCol="0" anchor="ctr"/>
          <a:lstStyle/>
          <a:p>
            <a:pPr marL="0" indent="0">
              <a:buNone/>
            </a:pPr>
            <a:r>
              <a:rPr lang="en-US" sz="900" dirty="0">
                <a:solidFill>
                  <a:srgbClr val="374151"/>
                </a:solidFill>
                <a:latin typeface="Poppins" pitchFamily="34" charset="0"/>
                <a:ea typeface="Poppins" pitchFamily="34" charset="-122"/>
                <a:cs typeface="Poppins" pitchFamily="34" charset="-120"/>
              </a:rPr>
              <a:t>•  Consultants IT</a:t>
            </a:r>
            <a:endParaRPr lang="en-US" sz="900" dirty="0"/>
          </a:p>
        </p:txBody>
      </p:sp>
      <p:sp>
        <p:nvSpPr>
          <p:cNvPr id="34" name="Text 23"/>
          <p:cNvSpPr/>
          <p:nvPr/>
        </p:nvSpPr>
        <p:spPr>
          <a:xfrm>
            <a:off x="6446520" y="2487168"/>
            <a:ext cx="2011680" cy="256032"/>
          </a:xfrm>
          <a:prstGeom prst="rect">
            <a:avLst/>
          </a:prstGeom>
          <a:noFill/>
          <a:ln/>
        </p:spPr>
        <p:txBody>
          <a:bodyPr wrap="square" lIns="0" tIns="0" rIns="0" bIns="0" rtlCol="0" anchor="ctr"/>
          <a:lstStyle/>
          <a:p>
            <a:pPr marL="0" indent="0">
              <a:buNone/>
            </a:pPr>
            <a:r>
              <a:rPr lang="en-US" sz="900" dirty="0">
                <a:solidFill>
                  <a:srgbClr val="374151"/>
                </a:solidFill>
                <a:latin typeface="Poppins" pitchFamily="34" charset="0"/>
                <a:ea typeface="Poppins" pitchFamily="34" charset="-122"/>
                <a:cs typeface="Poppins" pitchFamily="34" charset="-120"/>
              </a:rPr>
              <a:t>•  Intégrateurs</a:t>
            </a:r>
            <a:endParaRPr lang="en-US" sz="900" dirty="0"/>
          </a:p>
        </p:txBody>
      </p:sp>
      <p:sp>
        <p:nvSpPr>
          <p:cNvPr id="35" name="Text 24"/>
          <p:cNvSpPr/>
          <p:nvPr/>
        </p:nvSpPr>
        <p:spPr>
          <a:xfrm>
            <a:off x="6446520" y="2779776"/>
            <a:ext cx="2011680" cy="256032"/>
          </a:xfrm>
          <a:prstGeom prst="rect">
            <a:avLst/>
          </a:prstGeom>
          <a:noFill/>
          <a:ln/>
        </p:spPr>
        <p:txBody>
          <a:bodyPr wrap="square" lIns="0" tIns="0" rIns="0" bIns="0" rtlCol="0" anchor="ctr"/>
          <a:lstStyle/>
          <a:p>
            <a:pPr marL="0" indent="0">
              <a:buNone/>
            </a:pPr>
            <a:r>
              <a:rPr lang="en-US" sz="900" dirty="0">
                <a:solidFill>
                  <a:srgbClr val="374151"/>
                </a:solidFill>
                <a:latin typeface="Poppins" pitchFamily="34" charset="0"/>
                <a:ea typeface="Poppins" pitchFamily="34" charset="-122"/>
                <a:cs typeface="Poppins" pitchFamily="34" charset="-120"/>
              </a:rPr>
              <a:t>•  ESN partenaires</a:t>
            </a:r>
            <a:endParaRPr lang="en-US" sz="900" dirty="0"/>
          </a:p>
        </p:txBody>
      </p:sp>
      <p:sp>
        <p:nvSpPr>
          <p:cNvPr id="36" name="Text 25"/>
          <p:cNvSpPr/>
          <p:nvPr/>
        </p:nvSpPr>
        <p:spPr>
          <a:xfrm>
            <a:off x="6446520" y="3072384"/>
            <a:ext cx="2011680" cy="256032"/>
          </a:xfrm>
          <a:prstGeom prst="rect">
            <a:avLst/>
          </a:prstGeom>
          <a:noFill/>
          <a:ln/>
        </p:spPr>
        <p:txBody>
          <a:bodyPr wrap="square" lIns="0" tIns="0" rIns="0" bIns="0" rtlCol="0" anchor="ctr"/>
          <a:lstStyle/>
          <a:p>
            <a:pPr marL="0" indent="0">
              <a:buNone/>
            </a:pPr>
            <a:r>
              <a:rPr lang="en-US" sz="900" dirty="0">
                <a:solidFill>
                  <a:srgbClr val="374151"/>
                </a:solidFill>
                <a:latin typeface="Poppins" pitchFamily="34" charset="0"/>
                <a:ea typeface="Poppins" pitchFamily="34" charset="-122"/>
                <a:cs typeface="Poppins" pitchFamily="34" charset="-120"/>
              </a:rPr>
              <a:t>•  Certifiés KINN Academy</a:t>
            </a:r>
            <a:endParaRPr lang="en-US" sz="900" dirty="0"/>
          </a:p>
        </p:txBody>
      </p:sp>
      <p:sp>
        <p:nvSpPr>
          <p:cNvPr id="37" name="Text 26"/>
          <p:cNvSpPr/>
          <p:nvPr/>
        </p:nvSpPr>
        <p:spPr>
          <a:xfrm>
            <a:off x="6446520" y="3364992"/>
            <a:ext cx="2011680" cy="256032"/>
          </a:xfrm>
          <a:prstGeom prst="rect">
            <a:avLst/>
          </a:prstGeom>
          <a:noFill/>
          <a:ln/>
        </p:spPr>
        <p:txBody>
          <a:bodyPr wrap="square" lIns="0" tIns="0" rIns="0" bIns="0" rtlCol="0" anchor="ctr"/>
          <a:lstStyle/>
          <a:p>
            <a:pPr marL="0" indent="0">
              <a:buNone/>
            </a:pPr>
            <a:r>
              <a:rPr lang="en-US" sz="900" dirty="0">
                <a:solidFill>
                  <a:srgbClr val="374151"/>
                </a:solidFill>
                <a:latin typeface="Poppins" pitchFamily="34" charset="0"/>
                <a:ea typeface="Poppins" pitchFamily="34" charset="-122"/>
                <a:cs typeface="Poppins" pitchFamily="34" charset="-120"/>
              </a:rPr>
              <a:t>•  Templates &amp; solutions</a:t>
            </a:r>
            <a:endParaRPr lang="en-US" sz="900" dirty="0"/>
          </a:p>
        </p:txBody>
      </p:sp>
      <p:sp>
        <p:nvSpPr>
          <p:cNvPr id="38" name="Text 27"/>
          <p:cNvSpPr/>
          <p:nvPr/>
        </p:nvSpPr>
        <p:spPr>
          <a:xfrm>
            <a:off x="6446520" y="3657600"/>
            <a:ext cx="2011680" cy="256032"/>
          </a:xfrm>
          <a:prstGeom prst="rect">
            <a:avLst/>
          </a:prstGeom>
          <a:noFill/>
          <a:ln/>
        </p:spPr>
        <p:txBody>
          <a:bodyPr wrap="square" lIns="0" tIns="0" rIns="0" bIns="0" rtlCol="0" anchor="ctr"/>
          <a:lstStyle/>
          <a:p>
            <a:pPr marL="0" indent="0">
              <a:buNone/>
            </a:pPr>
            <a:r>
              <a:rPr lang="en-US" sz="900" dirty="0">
                <a:solidFill>
                  <a:srgbClr val="374151"/>
                </a:solidFill>
                <a:latin typeface="Poppins" pitchFamily="34" charset="0"/>
                <a:ea typeface="Poppins" pitchFamily="34" charset="-122"/>
                <a:cs typeface="Poppins" pitchFamily="34" charset="-120"/>
              </a:rPr>
              <a:t>•  Revenus récurrents</a:t>
            </a:r>
            <a:endParaRPr lang="en-US" sz="900" dirty="0"/>
          </a:p>
        </p:txBody>
      </p:sp>
      <p:sp>
        <p:nvSpPr>
          <p:cNvPr id="39" name="Text 28"/>
          <p:cNvSpPr/>
          <p:nvPr/>
        </p:nvSpPr>
        <p:spPr>
          <a:xfrm>
            <a:off x="2926080" y="2651760"/>
            <a:ext cx="457200" cy="365760"/>
          </a:xfrm>
          <a:prstGeom prst="rect">
            <a:avLst/>
          </a:prstGeom>
          <a:noFill/>
          <a:ln/>
        </p:spPr>
        <p:txBody>
          <a:bodyPr wrap="square" lIns="0" tIns="0" rIns="0" bIns="0" rtlCol="0" anchor="ctr"/>
          <a:lstStyle/>
          <a:p>
            <a:pPr marL="0" indent="0" algn="ctr">
              <a:buNone/>
            </a:pPr>
            <a:r>
              <a:rPr lang="en-US" sz="1600" b="1" dirty="0">
                <a:solidFill>
                  <a:srgbClr val="1677FF"/>
                </a:solidFill>
                <a:latin typeface="Poppins" pitchFamily="34" charset="0"/>
                <a:ea typeface="Poppins" pitchFamily="34" charset="-122"/>
                <a:cs typeface="Poppins" pitchFamily="34" charset="-120"/>
              </a:rPr>
              <a:t>◄►</a:t>
            </a:r>
            <a:endParaRPr lang="en-US" sz="1600" dirty="0"/>
          </a:p>
        </p:txBody>
      </p:sp>
      <p:sp>
        <p:nvSpPr>
          <p:cNvPr id="40" name="Text 29"/>
          <p:cNvSpPr/>
          <p:nvPr/>
        </p:nvSpPr>
        <p:spPr>
          <a:xfrm>
            <a:off x="5760720" y="2651760"/>
            <a:ext cx="457200" cy="365760"/>
          </a:xfrm>
          <a:prstGeom prst="rect">
            <a:avLst/>
          </a:prstGeom>
          <a:noFill/>
          <a:ln/>
        </p:spPr>
        <p:txBody>
          <a:bodyPr wrap="square" lIns="0" tIns="0" rIns="0" bIns="0" rtlCol="0" anchor="ctr"/>
          <a:lstStyle/>
          <a:p>
            <a:pPr marL="0" indent="0" algn="ctr">
              <a:buNone/>
            </a:pPr>
            <a:r>
              <a:rPr lang="en-US" sz="1600" b="1" dirty="0">
                <a:solidFill>
                  <a:srgbClr val="1677FF"/>
                </a:solidFill>
                <a:latin typeface="Poppins" pitchFamily="34" charset="0"/>
                <a:ea typeface="Poppins" pitchFamily="34" charset="-122"/>
                <a:cs typeface="Poppins" pitchFamily="34" charset="-120"/>
              </a:rPr>
              <a:t>◄►</a:t>
            </a:r>
            <a:endParaRPr lang="en-US" sz="1600" dirty="0"/>
          </a:p>
        </p:txBody>
      </p:sp>
      <p:sp>
        <p:nvSpPr>
          <p:cNvPr id="41" name="Shape 30"/>
          <p:cNvSpPr/>
          <p:nvPr/>
        </p:nvSpPr>
        <p:spPr>
          <a:xfrm>
            <a:off x="640080" y="4572000"/>
            <a:ext cx="7863840" cy="411480"/>
          </a:xfrm>
          <a:prstGeom prst="rect">
            <a:avLst/>
          </a:prstGeom>
          <a:solidFill>
            <a:srgbClr val="EBF5FF"/>
          </a:solidFill>
          <a:ln/>
        </p:spPr>
        <p:txBody>
          <a:bodyPr/>
          <a:lstStyle/>
          <a:p>
            <a:endParaRPr lang="fr-FR"/>
          </a:p>
        </p:txBody>
      </p:sp>
      <p:sp>
        <p:nvSpPr>
          <p:cNvPr id="42" name="Text 31"/>
          <p:cNvSpPr/>
          <p:nvPr/>
        </p:nvSpPr>
        <p:spPr>
          <a:xfrm>
            <a:off x="640080" y="4572000"/>
            <a:ext cx="7863840" cy="411480"/>
          </a:xfrm>
          <a:prstGeom prst="rect">
            <a:avLst/>
          </a:prstGeom>
          <a:noFill/>
          <a:ln/>
        </p:spPr>
        <p:txBody>
          <a:bodyPr wrap="square" lIns="0" tIns="0" rIns="0" bIns="0" rtlCol="0" anchor="ctr"/>
          <a:lstStyle/>
          <a:p>
            <a:pPr marL="0" indent="0" algn="ctr">
              <a:buNone/>
            </a:pPr>
            <a:r>
              <a:rPr lang="en-US" sz="950" b="1" dirty="0">
                <a:solidFill>
                  <a:srgbClr val="1677FF"/>
                </a:solidFill>
                <a:latin typeface="Poppins" pitchFamily="34" charset="0"/>
                <a:ea typeface="Poppins" pitchFamily="34" charset="-122"/>
                <a:cs typeface="Poppins" pitchFamily="34" charset="-120"/>
              </a:rPr>
              <a:t>KINN n'est pas un </a:t>
            </a:r>
            <a:r>
              <a:rPr lang="en-US" sz="950" b="1" dirty="0" err="1">
                <a:solidFill>
                  <a:srgbClr val="1677FF"/>
                </a:solidFill>
                <a:latin typeface="Poppins" pitchFamily="34" charset="0"/>
                <a:ea typeface="Poppins" pitchFamily="34" charset="-122"/>
                <a:cs typeface="Poppins" pitchFamily="34" charset="-120"/>
              </a:rPr>
              <a:t>outil</a:t>
            </a:r>
            <a:r>
              <a:rPr lang="en-US" sz="950" b="1" dirty="0">
                <a:solidFill>
                  <a:srgbClr val="1677FF"/>
                </a:solidFill>
                <a:latin typeface="Poppins" pitchFamily="34" charset="0"/>
                <a:ea typeface="Poppins" pitchFamily="34" charset="-122"/>
                <a:cs typeface="Poppins" pitchFamily="34" charset="-120"/>
              </a:rPr>
              <a:t> - c'est une plateforme d'automatisation + une marketplace d'experts + un copilote IA</a:t>
            </a:r>
            <a:endParaRPr lang="en-US" sz="950" dirty="0"/>
          </a:p>
        </p:txBody>
      </p:sp>
      <p:sp>
        <p:nvSpPr>
          <p:cNvPr id="43" name="Text 32"/>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900" dirty="0">
                <a:solidFill>
                  <a:srgbClr val="9CA3AF"/>
                </a:solidFill>
                <a:latin typeface="Poppins" pitchFamily="34" charset="0"/>
                <a:ea typeface="Poppins" pitchFamily="34" charset="-122"/>
                <a:cs typeface="Poppins"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74320"/>
            <a:ext cx="8229600" cy="457200"/>
          </a:xfrm>
          <a:prstGeom prst="rect">
            <a:avLst/>
          </a:prstGeom>
          <a:noFill/>
          <a:ln/>
        </p:spPr>
        <p:txBody>
          <a:bodyPr wrap="square" lIns="0" tIns="0" rIns="0" bIns="0" rtlCol="0" anchor="ctr"/>
          <a:lstStyle/>
          <a:p>
            <a:pPr marL="0" indent="0">
              <a:buNone/>
            </a:pPr>
            <a:r>
              <a:rPr lang="en-US" sz="3000" b="1" dirty="0">
                <a:solidFill>
                  <a:srgbClr val="0F172A"/>
                </a:solidFill>
                <a:latin typeface="Poppins" pitchFamily="34" charset="0"/>
                <a:ea typeface="Poppins" pitchFamily="34" charset="-122"/>
                <a:cs typeface="Poppins" pitchFamily="34" charset="-120"/>
              </a:rPr>
              <a:t>Démonstration IA</a:t>
            </a:r>
            <a:endParaRPr lang="en-US" sz="3000" dirty="0"/>
          </a:p>
        </p:txBody>
      </p:sp>
      <p:sp>
        <p:nvSpPr>
          <p:cNvPr id="3" name="Text 1"/>
          <p:cNvSpPr/>
          <p:nvPr/>
        </p:nvSpPr>
        <p:spPr>
          <a:xfrm>
            <a:off x="640080" y="731520"/>
            <a:ext cx="7315200" cy="274320"/>
          </a:xfrm>
          <a:prstGeom prst="rect">
            <a:avLst/>
          </a:prstGeom>
          <a:noFill/>
          <a:ln/>
        </p:spPr>
        <p:txBody>
          <a:bodyPr wrap="square" lIns="0" tIns="0" rIns="0" bIns="0" rtlCol="0" anchor="ctr"/>
          <a:lstStyle/>
          <a:p>
            <a:pPr marL="0" indent="0">
              <a:buNone/>
            </a:pPr>
            <a:r>
              <a:rPr lang="en-US" sz="1200" dirty="0">
                <a:solidFill>
                  <a:srgbClr val="6B7280"/>
                </a:solidFill>
                <a:latin typeface="Poppins" pitchFamily="34" charset="0"/>
                <a:ea typeface="Poppins" pitchFamily="34" charset="-122"/>
                <a:cs typeface="Poppins" pitchFamily="34" charset="-120"/>
              </a:rPr>
              <a:t>Du besoin à l'automatisation en moins d'une minute</a:t>
            </a:r>
            <a:endParaRPr lang="en-US" sz="1200" dirty="0"/>
          </a:p>
        </p:txBody>
      </p:sp>
      <p:sp>
        <p:nvSpPr>
          <p:cNvPr id="4" name="Shape 2"/>
          <p:cNvSpPr/>
          <p:nvPr/>
        </p:nvSpPr>
        <p:spPr>
          <a:xfrm>
            <a:off x="548640" y="1188720"/>
            <a:ext cx="2468880" cy="3566160"/>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5" name="Shape 3"/>
          <p:cNvSpPr/>
          <p:nvPr/>
        </p:nvSpPr>
        <p:spPr>
          <a:xfrm>
            <a:off x="1463040" y="1371600"/>
            <a:ext cx="548640" cy="548640"/>
          </a:xfrm>
          <a:prstGeom prst="ellipse">
            <a:avLst/>
          </a:prstGeom>
          <a:solidFill>
            <a:srgbClr val="1677FF"/>
          </a:solidFill>
          <a:ln/>
        </p:spPr>
        <p:txBody>
          <a:bodyPr/>
          <a:lstStyle/>
          <a:p>
            <a:endParaRPr lang="fr-FR"/>
          </a:p>
        </p:txBody>
      </p:sp>
      <p:sp>
        <p:nvSpPr>
          <p:cNvPr id="6" name="Text 4"/>
          <p:cNvSpPr/>
          <p:nvPr/>
        </p:nvSpPr>
        <p:spPr>
          <a:xfrm>
            <a:off x="1463040" y="137160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Poppins" pitchFamily="34" charset="0"/>
                <a:ea typeface="Poppins" pitchFamily="34" charset="-122"/>
                <a:cs typeface="Poppins" pitchFamily="34" charset="-120"/>
              </a:rPr>
              <a:t>1</a:t>
            </a:r>
            <a:endParaRPr lang="en-US" sz="2200" dirty="0"/>
          </a:p>
        </p:txBody>
      </p:sp>
      <p:sp>
        <p:nvSpPr>
          <p:cNvPr id="7" name="Text 5"/>
          <p:cNvSpPr/>
          <p:nvPr/>
        </p:nvSpPr>
        <p:spPr>
          <a:xfrm>
            <a:off x="640080" y="2057400"/>
            <a:ext cx="2286000" cy="320040"/>
          </a:xfrm>
          <a:prstGeom prst="rect">
            <a:avLst/>
          </a:prstGeom>
          <a:noFill/>
          <a:ln/>
        </p:spPr>
        <p:txBody>
          <a:bodyPr wrap="square" lIns="0" tIns="0" rIns="0" bIns="0" rtlCol="0" anchor="ctr"/>
          <a:lstStyle/>
          <a:p>
            <a:pPr marL="0" indent="0" algn="ctr">
              <a:buNone/>
            </a:pPr>
            <a:r>
              <a:rPr lang="en-US" sz="1700" b="1" dirty="0">
                <a:solidFill>
                  <a:srgbClr val="0F172A"/>
                </a:solidFill>
                <a:latin typeface="Poppins" pitchFamily="34" charset="0"/>
                <a:ea typeface="Poppins" pitchFamily="34" charset="-122"/>
                <a:cs typeface="Poppins" pitchFamily="34" charset="-120"/>
              </a:rPr>
              <a:t>Décrivez</a:t>
            </a:r>
            <a:endParaRPr lang="en-US" sz="1700" dirty="0"/>
          </a:p>
        </p:txBody>
      </p:sp>
      <p:sp>
        <p:nvSpPr>
          <p:cNvPr id="8" name="Text 6"/>
          <p:cNvSpPr/>
          <p:nvPr/>
        </p:nvSpPr>
        <p:spPr>
          <a:xfrm>
            <a:off x="685800" y="2468880"/>
            <a:ext cx="2194560" cy="2103120"/>
          </a:xfrm>
          <a:prstGeom prst="rect">
            <a:avLst/>
          </a:prstGeom>
          <a:noFill/>
          <a:ln/>
        </p:spPr>
        <p:txBody>
          <a:bodyPr wrap="square" lIns="0" tIns="0" rIns="0" bIns="0" rtlCol="0" anchor="ctr"/>
          <a:lstStyle/>
          <a:p>
            <a:pPr marL="0" indent="0">
              <a:lnSpc>
                <a:spcPct val="130000"/>
              </a:lnSpc>
              <a:buNone/>
            </a:pPr>
            <a:r>
              <a:rPr lang="en-US" sz="950" dirty="0">
                <a:solidFill>
                  <a:srgbClr val="374151"/>
                </a:solidFill>
                <a:latin typeface="Poppins" pitchFamily="34" charset="0"/>
                <a:ea typeface="Poppins" pitchFamily="34" charset="-122"/>
                <a:cs typeface="Poppins" pitchFamily="34" charset="-120"/>
              </a:rPr>
              <a:t>L'utilisateur décrit son besoin</a:t>
            </a:r>
            <a:endParaRPr lang="en-US" sz="950" dirty="0"/>
          </a:p>
          <a:p>
            <a:pPr marL="0" indent="0">
              <a:lnSpc>
                <a:spcPct val="130000"/>
              </a:lnSpc>
              <a:buNone/>
            </a:pPr>
            <a:r>
              <a:rPr lang="en-US" sz="950" dirty="0">
                <a:solidFill>
                  <a:srgbClr val="374151"/>
                </a:solidFill>
                <a:latin typeface="Poppins" pitchFamily="34" charset="0"/>
                <a:ea typeface="Poppins" pitchFamily="34" charset="-122"/>
                <a:cs typeface="Poppins" pitchFamily="34" charset="-120"/>
              </a:rPr>
              <a:t>en langage naturel.</a:t>
            </a:r>
            <a:endParaRPr lang="en-US" sz="950" dirty="0"/>
          </a:p>
          <a:p>
            <a:pPr marL="0" indent="0">
              <a:lnSpc>
                <a:spcPct val="130000"/>
              </a:lnSpc>
              <a:buNone/>
            </a:pPr>
            <a:endParaRPr lang="en-US" sz="950" dirty="0"/>
          </a:p>
          <a:p>
            <a:pPr marL="0" indent="0">
              <a:lnSpc>
                <a:spcPct val="130000"/>
              </a:lnSpc>
              <a:buNone/>
            </a:pPr>
            <a:r>
              <a:rPr lang="en-US" sz="950" dirty="0">
                <a:solidFill>
                  <a:srgbClr val="374151"/>
                </a:solidFill>
                <a:latin typeface="Poppins" pitchFamily="34" charset="0"/>
                <a:ea typeface="Poppins" pitchFamily="34" charset="-122"/>
                <a:cs typeface="Poppins" pitchFamily="34" charset="-120"/>
              </a:rPr>
              <a:t>« Créer un formulaire de</a:t>
            </a:r>
            <a:endParaRPr lang="en-US" sz="950" dirty="0"/>
          </a:p>
          <a:p>
            <a:pPr marL="0" indent="0">
              <a:lnSpc>
                <a:spcPct val="130000"/>
              </a:lnSpc>
              <a:buNone/>
            </a:pPr>
            <a:r>
              <a:rPr lang="en-US" sz="950" dirty="0">
                <a:solidFill>
                  <a:srgbClr val="374151"/>
                </a:solidFill>
                <a:latin typeface="Poppins" pitchFamily="34" charset="0"/>
                <a:ea typeface="Poppins" pitchFamily="34" charset="-122"/>
                <a:cs typeface="Poppins" pitchFamily="34" charset="-120"/>
              </a:rPr>
              <a:t>maintenance. Quand un opérateur</a:t>
            </a:r>
            <a:endParaRPr lang="en-US" sz="950" dirty="0"/>
          </a:p>
          <a:p>
            <a:pPr marL="0" indent="0">
              <a:lnSpc>
                <a:spcPct val="130000"/>
              </a:lnSpc>
              <a:buNone/>
            </a:pPr>
            <a:r>
              <a:rPr lang="en-US" sz="950" dirty="0">
                <a:solidFill>
                  <a:srgbClr val="374151"/>
                </a:solidFill>
                <a:latin typeface="Poppins" pitchFamily="34" charset="0"/>
                <a:ea typeface="Poppins" pitchFamily="34" charset="-122"/>
                <a:cs typeface="Poppins" pitchFamily="34" charset="-120"/>
              </a:rPr>
              <a:t>le remplit → ajouter une ligne</a:t>
            </a:r>
            <a:endParaRPr lang="en-US" sz="950" dirty="0"/>
          </a:p>
          <a:p>
            <a:pPr marL="0" indent="0">
              <a:lnSpc>
                <a:spcPct val="130000"/>
              </a:lnSpc>
              <a:buNone/>
            </a:pPr>
            <a:r>
              <a:rPr lang="en-US" sz="950" dirty="0">
                <a:solidFill>
                  <a:srgbClr val="374151"/>
                </a:solidFill>
                <a:latin typeface="Poppins" pitchFamily="34" charset="0"/>
                <a:ea typeface="Poppins" pitchFamily="34" charset="-122"/>
                <a:cs typeface="Poppins" pitchFamily="34" charset="-120"/>
              </a:rPr>
              <a:t>dans Google Sheets → alerte</a:t>
            </a:r>
            <a:endParaRPr lang="en-US" sz="950" dirty="0"/>
          </a:p>
          <a:p>
            <a:pPr marL="0" indent="0">
              <a:lnSpc>
                <a:spcPct val="130000"/>
              </a:lnSpc>
              <a:buNone/>
            </a:pPr>
            <a:r>
              <a:rPr lang="en-US" sz="950" dirty="0">
                <a:solidFill>
                  <a:srgbClr val="374151"/>
                </a:solidFill>
                <a:latin typeface="Poppins" pitchFamily="34" charset="0"/>
                <a:ea typeface="Poppins" pitchFamily="34" charset="-122"/>
                <a:cs typeface="Poppins" pitchFamily="34" charset="-120"/>
              </a:rPr>
              <a:t>si panne = fuite. »</a:t>
            </a:r>
            <a:endParaRPr lang="en-US" sz="950" dirty="0"/>
          </a:p>
        </p:txBody>
      </p:sp>
      <p:sp>
        <p:nvSpPr>
          <p:cNvPr id="9" name="Text 7"/>
          <p:cNvSpPr/>
          <p:nvPr/>
        </p:nvSpPr>
        <p:spPr>
          <a:xfrm>
            <a:off x="3017520" y="2560320"/>
            <a:ext cx="320040" cy="457200"/>
          </a:xfrm>
          <a:prstGeom prst="rect">
            <a:avLst/>
          </a:prstGeom>
          <a:noFill/>
          <a:ln/>
        </p:spPr>
        <p:txBody>
          <a:bodyPr wrap="square" lIns="0" tIns="0" rIns="0" bIns="0" rtlCol="0" anchor="ctr"/>
          <a:lstStyle/>
          <a:p>
            <a:pPr marL="0" indent="0" algn="ctr">
              <a:buNone/>
            </a:pPr>
            <a:r>
              <a:rPr lang="en-US" sz="2000" dirty="0">
                <a:solidFill>
                  <a:srgbClr val="1677FF"/>
                </a:solidFill>
                <a:latin typeface="Poppins" pitchFamily="34" charset="0"/>
                <a:ea typeface="Poppins" pitchFamily="34" charset="-122"/>
                <a:cs typeface="Poppins" pitchFamily="34" charset="-120"/>
              </a:rPr>
              <a:t>►</a:t>
            </a:r>
            <a:endParaRPr lang="en-US" sz="2000" dirty="0"/>
          </a:p>
        </p:txBody>
      </p:sp>
      <p:sp>
        <p:nvSpPr>
          <p:cNvPr id="10" name="Shape 8"/>
          <p:cNvSpPr/>
          <p:nvPr/>
        </p:nvSpPr>
        <p:spPr>
          <a:xfrm>
            <a:off x="3337560" y="1188720"/>
            <a:ext cx="2468880" cy="3566160"/>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11" name="Shape 9"/>
          <p:cNvSpPr/>
          <p:nvPr/>
        </p:nvSpPr>
        <p:spPr>
          <a:xfrm>
            <a:off x="4251960" y="1371600"/>
            <a:ext cx="548640" cy="548640"/>
          </a:xfrm>
          <a:prstGeom prst="ellipse">
            <a:avLst/>
          </a:prstGeom>
          <a:solidFill>
            <a:srgbClr val="1677FF"/>
          </a:solidFill>
          <a:ln/>
        </p:spPr>
        <p:txBody>
          <a:bodyPr/>
          <a:lstStyle/>
          <a:p>
            <a:endParaRPr lang="fr-FR"/>
          </a:p>
        </p:txBody>
      </p:sp>
      <p:sp>
        <p:nvSpPr>
          <p:cNvPr id="12" name="Text 10"/>
          <p:cNvSpPr/>
          <p:nvPr/>
        </p:nvSpPr>
        <p:spPr>
          <a:xfrm>
            <a:off x="4251960" y="137160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Poppins" pitchFamily="34" charset="0"/>
                <a:ea typeface="Poppins" pitchFamily="34" charset="-122"/>
                <a:cs typeface="Poppins" pitchFamily="34" charset="-120"/>
              </a:rPr>
              <a:t>2</a:t>
            </a:r>
            <a:endParaRPr lang="en-US" sz="2200" dirty="0"/>
          </a:p>
        </p:txBody>
      </p:sp>
      <p:sp>
        <p:nvSpPr>
          <p:cNvPr id="13" name="Text 11"/>
          <p:cNvSpPr/>
          <p:nvPr/>
        </p:nvSpPr>
        <p:spPr>
          <a:xfrm>
            <a:off x="3429000" y="2057400"/>
            <a:ext cx="2286000" cy="320040"/>
          </a:xfrm>
          <a:prstGeom prst="rect">
            <a:avLst/>
          </a:prstGeom>
          <a:noFill/>
          <a:ln/>
        </p:spPr>
        <p:txBody>
          <a:bodyPr wrap="square" lIns="0" tIns="0" rIns="0" bIns="0" rtlCol="0" anchor="ctr"/>
          <a:lstStyle/>
          <a:p>
            <a:pPr marL="0" indent="0" algn="ctr">
              <a:buNone/>
            </a:pPr>
            <a:r>
              <a:rPr lang="en-US" sz="1700" b="1" dirty="0">
                <a:solidFill>
                  <a:srgbClr val="0F172A"/>
                </a:solidFill>
                <a:latin typeface="Poppins" pitchFamily="34" charset="0"/>
                <a:ea typeface="Poppins" pitchFamily="34" charset="-122"/>
                <a:cs typeface="Poppins" pitchFamily="34" charset="-120"/>
              </a:rPr>
              <a:t>KINN génère</a:t>
            </a:r>
            <a:endParaRPr lang="en-US" sz="1700" dirty="0"/>
          </a:p>
        </p:txBody>
      </p:sp>
      <p:sp>
        <p:nvSpPr>
          <p:cNvPr id="14" name="Text 12"/>
          <p:cNvSpPr/>
          <p:nvPr/>
        </p:nvSpPr>
        <p:spPr>
          <a:xfrm>
            <a:off x="3474720" y="2468880"/>
            <a:ext cx="2194560" cy="2103120"/>
          </a:xfrm>
          <a:prstGeom prst="rect">
            <a:avLst/>
          </a:prstGeom>
          <a:noFill/>
          <a:ln/>
        </p:spPr>
        <p:txBody>
          <a:bodyPr wrap="square" lIns="0" tIns="0" rIns="0" bIns="0" rtlCol="0" anchor="ctr"/>
          <a:lstStyle/>
          <a:p>
            <a:pPr marL="0" indent="0">
              <a:lnSpc>
                <a:spcPct val="130000"/>
              </a:lnSpc>
              <a:buNone/>
            </a:pPr>
            <a:r>
              <a:rPr lang="en-US" sz="950" dirty="0">
                <a:solidFill>
                  <a:srgbClr val="374151"/>
                </a:solidFill>
                <a:latin typeface="Poppins" pitchFamily="34" charset="0"/>
                <a:ea typeface="Poppins" pitchFamily="34" charset="-122"/>
                <a:cs typeface="Poppins" pitchFamily="34" charset="-120"/>
              </a:rPr>
              <a:t>KINN crée automatiquement :</a:t>
            </a:r>
            <a:endParaRPr lang="en-US" sz="950" dirty="0"/>
          </a:p>
          <a:p>
            <a:pPr marL="0" indent="0">
              <a:lnSpc>
                <a:spcPct val="130000"/>
              </a:lnSpc>
              <a:buNone/>
            </a:pPr>
            <a:endParaRPr lang="en-US" sz="950" dirty="0"/>
          </a:p>
          <a:p>
            <a:pPr marL="0" indent="0">
              <a:lnSpc>
                <a:spcPct val="130000"/>
              </a:lnSpc>
              <a:buNone/>
            </a:pPr>
            <a:r>
              <a:rPr lang="en-US" sz="950" dirty="0">
                <a:solidFill>
                  <a:srgbClr val="374151"/>
                </a:solidFill>
                <a:latin typeface="Poppins" pitchFamily="34" charset="0"/>
                <a:ea typeface="Poppins" pitchFamily="34" charset="-122"/>
                <a:cs typeface="Poppins" pitchFamily="34" charset="-120"/>
              </a:rPr>
              <a:t>→ Le workflow complet</a:t>
            </a:r>
            <a:endParaRPr lang="en-US" sz="950" dirty="0"/>
          </a:p>
          <a:p>
            <a:pPr marL="0" indent="0">
              <a:lnSpc>
                <a:spcPct val="130000"/>
              </a:lnSpc>
              <a:buNone/>
            </a:pPr>
            <a:r>
              <a:rPr lang="en-US" sz="950" dirty="0">
                <a:solidFill>
                  <a:srgbClr val="374151"/>
                </a:solidFill>
                <a:latin typeface="Poppins" pitchFamily="34" charset="0"/>
                <a:ea typeface="Poppins" pitchFamily="34" charset="-122"/>
                <a:cs typeface="Poppins" pitchFamily="34" charset="-120"/>
              </a:rPr>
              <a:t>→ Le formulaire</a:t>
            </a:r>
            <a:endParaRPr lang="en-US" sz="950" dirty="0"/>
          </a:p>
          <a:p>
            <a:pPr marL="0" indent="0">
              <a:lnSpc>
                <a:spcPct val="130000"/>
              </a:lnSpc>
              <a:buNone/>
            </a:pPr>
            <a:r>
              <a:rPr lang="en-US" sz="950" dirty="0">
                <a:solidFill>
                  <a:srgbClr val="374151"/>
                </a:solidFill>
                <a:latin typeface="Poppins" pitchFamily="34" charset="0"/>
                <a:ea typeface="Poppins" pitchFamily="34" charset="-122"/>
                <a:cs typeface="Poppins" pitchFamily="34" charset="-120"/>
              </a:rPr>
              <a:t>→ Le routage Google Sheets</a:t>
            </a:r>
            <a:endParaRPr lang="en-US" sz="950" dirty="0"/>
          </a:p>
          <a:p>
            <a:pPr marL="0" indent="0">
              <a:lnSpc>
                <a:spcPct val="130000"/>
              </a:lnSpc>
              <a:buNone/>
            </a:pPr>
            <a:r>
              <a:rPr lang="en-US" sz="950" dirty="0">
                <a:solidFill>
                  <a:srgbClr val="374151"/>
                </a:solidFill>
                <a:latin typeface="Poppins" pitchFamily="34" charset="0"/>
                <a:ea typeface="Poppins" pitchFamily="34" charset="-122"/>
                <a:cs typeface="Poppins" pitchFamily="34" charset="-120"/>
              </a:rPr>
              <a:t>→ Les notifications</a:t>
            </a:r>
            <a:endParaRPr lang="en-US" sz="950" dirty="0"/>
          </a:p>
          <a:p>
            <a:pPr marL="0" indent="0">
              <a:lnSpc>
                <a:spcPct val="130000"/>
              </a:lnSpc>
              <a:buNone/>
            </a:pPr>
            <a:r>
              <a:rPr lang="en-US" sz="950" dirty="0">
                <a:solidFill>
                  <a:srgbClr val="374151"/>
                </a:solidFill>
                <a:latin typeface="Poppins" pitchFamily="34" charset="0"/>
                <a:ea typeface="Poppins" pitchFamily="34" charset="-122"/>
                <a:cs typeface="Poppins" pitchFamily="34" charset="-120"/>
              </a:rPr>
              <a:t>→ La logique conditionnelle</a:t>
            </a:r>
            <a:endParaRPr lang="en-US" sz="950" dirty="0"/>
          </a:p>
        </p:txBody>
      </p:sp>
      <p:sp>
        <p:nvSpPr>
          <p:cNvPr id="15" name="Text 13"/>
          <p:cNvSpPr/>
          <p:nvPr/>
        </p:nvSpPr>
        <p:spPr>
          <a:xfrm>
            <a:off x="5806440" y="2560320"/>
            <a:ext cx="320040" cy="457200"/>
          </a:xfrm>
          <a:prstGeom prst="rect">
            <a:avLst/>
          </a:prstGeom>
          <a:noFill/>
          <a:ln/>
        </p:spPr>
        <p:txBody>
          <a:bodyPr wrap="square" lIns="0" tIns="0" rIns="0" bIns="0" rtlCol="0" anchor="ctr"/>
          <a:lstStyle/>
          <a:p>
            <a:pPr marL="0" indent="0" algn="ctr">
              <a:buNone/>
            </a:pPr>
            <a:r>
              <a:rPr lang="en-US" sz="2000" dirty="0">
                <a:solidFill>
                  <a:srgbClr val="1677FF"/>
                </a:solidFill>
                <a:latin typeface="Poppins" pitchFamily="34" charset="0"/>
                <a:ea typeface="Poppins" pitchFamily="34" charset="-122"/>
                <a:cs typeface="Poppins" pitchFamily="34" charset="-120"/>
              </a:rPr>
              <a:t>►</a:t>
            </a:r>
            <a:endParaRPr lang="en-US" sz="2000" dirty="0"/>
          </a:p>
        </p:txBody>
      </p:sp>
      <p:sp>
        <p:nvSpPr>
          <p:cNvPr id="16" name="Shape 14"/>
          <p:cNvSpPr/>
          <p:nvPr/>
        </p:nvSpPr>
        <p:spPr>
          <a:xfrm>
            <a:off x="6126480" y="1188720"/>
            <a:ext cx="2468880" cy="3566160"/>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17" name="Shape 15"/>
          <p:cNvSpPr/>
          <p:nvPr/>
        </p:nvSpPr>
        <p:spPr>
          <a:xfrm>
            <a:off x="7040880" y="1371600"/>
            <a:ext cx="548640" cy="548640"/>
          </a:xfrm>
          <a:prstGeom prst="ellipse">
            <a:avLst/>
          </a:prstGeom>
          <a:solidFill>
            <a:srgbClr val="1677FF"/>
          </a:solidFill>
          <a:ln/>
        </p:spPr>
        <p:txBody>
          <a:bodyPr/>
          <a:lstStyle/>
          <a:p>
            <a:endParaRPr lang="fr-FR"/>
          </a:p>
        </p:txBody>
      </p:sp>
      <p:sp>
        <p:nvSpPr>
          <p:cNvPr id="18" name="Text 16"/>
          <p:cNvSpPr/>
          <p:nvPr/>
        </p:nvSpPr>
        <p:spPr>
          <a:xfrm>
            <a:off x="7040880" y="137160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Poppins" pitchFamily="34" charset="0"/>
                <a:ea typeface="Poppins" pitchFamily="34" charset="-122"/>
                <a:cs typeface="Poppins" pitchFamily="34" charset="-120"/>
              </a:rPr>
              <a:t>3</a:t>
            </a:r>
            <a:endParaRPr lang="en-US" sz="2200" dirty="0"/>
          </a:p>
        </p:txBody>
      </p:sp>
      <p:sp>
        <p:nvSpPr>
          <p:cNvPr id="19" name="Text 17"/>
          <p:cNvSpPr/>
          <p:nvPr/>
        </p:nvSpPr>
        <p:spPr>
          <a:xfrm>
            <a:off x="6217920" y="2057400"/>
            <a:ext cx="2286000" cy="320040"/>
          </a:xfrm>
          <a:prstGeom prst="rect">
            <a:avLst/>
          </a:prstGeom>
          <a:noFill/>
          <a:ln/>
        </p:spPr>
        <p:txBody>
          <a:bodyPr wrap="square" lIns="0" tIns="0" rIns="0" bIns="0" rtlCol="0" anchor="ctr"/>
          <a:lstStyle/>
          <a:p>
            <a:pPr marL="0" indent="0" algn="ctr">
              <a:buNone/>
            </a:pPr>
            <a:r>
              <a:rPr lang="en-US" sz="1700" b="1" dirty="0">
                <a:solidFill>
                  <a:srgbClr val="0F172A"/>
                </a:solidFill>
                <a:latin typeface="Poppins" pitchFamily="34" charset="0"/>
                <a:ea typeface="Poppins" pitchFamily="34" charset="-122"/>
                <a:cs typeface="Poppins" pitchFamily="34" charset="-120"/>
              </a:rPr>
              <a:t>Exécution</a:t>
            </a:r>
            <a:endParaRPr lang="en-US" sz="1700" dirty="0"/>
          </a:p>
        </p:txBody>
      </p:sp>
      <p:sp>
        <p:nvSpPr>
          <p:cNvPr id="20" name="Text 18"/>
          <p:cNvSpPr/>
          <p:nvPr/>
        </p:nvSpPr>
        <p:spPr>
          <a:xfrm>
            <a:off x="6263640" y="2468880"/>
            <a:ext cx="2194560" cy="2103120"/>
          </a:xfrm>
          <a:prstGeom prst="rect">
            <a:avLst/>
          </a:prstGeom>
          <a:noFill/>
          <a:ln/>
        </p:spPr>
        <p:txBody>
          <a:bodyPr wrap="square" lIns="0" tIns="0" rIns="0" bIns="0" rtlCol="0" anchor="ctr"/>
          <a:lstStyle/>
          <a:p>
            <a:pPr marL="0" indent="0">
              <a:lnSpc>
                <a:spcPct val="130000"/>
              </a:lnSpc>
              <a:buNone/>
            </a:pPr>
            <a:r>
              <a:rPr lang="en-US" sz="950" dirty="0">
                <a:solidFill>
                  <a:srgbClr val="374151"/>
                </a:solidFill>
                <a:latin typeface="Poppins" pitchFamily="34" charset="0"/>
                <a:ea typeface="Poppins" pitchFamily="34" charset="-122"/>
                <a:cs typeface="Poppins" pitchFamily="34" charset="-120"/>
              </a:rPr>
              <a:t>En temps réel :</a:t>
            </a:r>
            <a:endParaRPr lang="en-US" sz="950" dirty="0"/>
          </a:p>
          <a:p>
            <a:pPr marL="0" indent="0">
              <a:lnSpc>
                <a:spcPct val="130000"/>
              </a:lnSpc>
              <a:buNone/>
            </a:pPr>
            <a:endParaRPr lang="en-US" sz="950" dirty="0"/>
          </a:p>
          <a:p>
            <a:pPr marL="0" indent="0">
              <a:lnSpc>
                <a:spcPct val="130000"/>
              </a:lnSpc>
              <a:buNone/>
            </a:pPr>
            <a:r>
              <a:rPr lang="en-US" sz="950" dirty="0">
                <a:solidFill>
                  <a:srgbClr val="374151"/>
                </a:solidFill>
                <a:latin typeface="Poppins" pitchFamily="34" charset="0"/>
                <a:ea typeface="Poppins" pitchFamily="34" charset="-122"/>
                <a:cs typeface="Poppins" pitchFamily="34" charset="-120"/>
              </a:rPr>
              <a:t>→ Nouvelle ligne dans Sheets</a:t>
            </a:r>
            <a:endParaRPr lang="en-US" sz="950" dirty="0"/>
          </a:p>
          <a:p>
            <a:pPr marL="0" indent="0">
              <a:lnSpc>
                <a:spcPct val="130000"/>
              </a:lnSpc>
              <a:buNone/>
            </a:pPr>
            <a:r>
              <a:rPr lang="en-US" sz="950" dirty="0">
                <a:solidFill>
                  <a:srgbClr val="374151"/>
                </a:solidFill>
                <a:latin typeface="Poppins" pitchFamily="34" charset="0"/>
                <a:ea typeface="Poppins" pitchFamily="34" charset="-122"/>
                <a:cs typeface="Poppins" pitchFamily="34" charset="-120"/>
              </a:rPr>
              <a:t>→ Alerte auto au responsable</a:t>
            </a:r>
            <a:endParaRPr lang="en-US" sz="950" dirty="0"/>
          </a:p>
          <a:p>
            <a:pPr marL="0" indent="0">
              <a:lnSpc>
                <a:spcPct val="130000"/>
              </a:lnSpc>
              <a:buNone/>
            </a:pPr>
            <a:r>
              <a:rPr lang="en-US" sz="950" dirty="0">
                <a:solidFill>
                  <a:srgbClr val="374151"/>
                </a:solidFill>
                <a:latin typeface="Poppins" pitchFamily="34" charset="0"/>
                <a:ea typeface="Poppins" pitchFamily="34" charset="-122"/>
                <a:cs typeface="Poppins" pitchFamily="34" charset="-120"/>
              </a:rPr>
              <a:t>→ Dashboard mis à jour</a:t>
            </a:r>
            <a:endParaRPr lang="en-US" sz="950" dirty="0"/>
          </a:p>
          <a:p>
            <a:pPr marL="0" indent="0">
              <a:lnSpc>
                <a:spcPct val="130000"/>
              </a:lnSpc>
              <a:buNone/>
            </a:pPr>
            <a:r>
              <a:rPr lang="en-US" sz="950" dirty="0">
                <a:solidFill>
                  <a:srgbClr val="374151"/>
                </a:solidFill>
                <a:latin typeface="Poppins" pitchFamily="34" charset="0"/>
                <a:ea typeface="Poppins" pitchFamily="34" charset="-122"/>
                <a:cs typeface="Poppins" pitchFamily="34" charset="-120"/>
              </a:rPr>
              <a:t>→ Traçabilité complète</a:t>
            </a:r>
            <a:endParaRPr lang="en-US" sz="950" dirty="0"/>
          </a:p>
        </p:txBody>
      </p:sp>
      <p:sp>
        <p:nvSpPr>
          <p:cNvPr id="21" name="Text 19"/>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900" dirty="0">
                <a:solidFill>
                  <a:srgbClr val="9CA3AF"/>
                </a:solidFill>
                <a:latin typeface="Poppins" pitchFamily="34" charset="0"/>
                <a:ea typeface="Poppins" pitchFamily="34" charset="-122"/>
                <a:cs typeface="Poppins"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74320"/>
            <a:ext cx="8229600" cy="411480"/>
          </a:xfrm>
          <a:prstGeom prst="rect">
            <a:avLst/>
          </a:prstGeom>
          <a:noFill/>
          <a:ln/>
        </p:spPr>
        <p:txBody>
          <a:bodyPr wrap="square" lIns="0" tIns="0" rIns="0" bIns="0" rtlCol="0" anchor="ctr"/>
          <a:lstStyle/>
          <a:p>
            <a:pPr marL="0" indent="0">
              <a:buNone/>
            </a:pPr>
            <a:r>
              <a:rPr lang="en-US" sz="3000" b="1" dirty="0">
                <a:solidFill>
                  <a:srgbClr val="0F172A"/>
                </a:solidFill>
                <a:latin typeface="Poppins" pitchFamily="34" charset="0"/>
                <a:ea typeface="Poppins" pitchFamily="34" charset="-122"/>
                <a:cs typeface="Poppins" pitchFamily="34" charset="-120"/>
              </a:rPr>
              <a:t>Fonctionnalités</a:t>
            </a:r>
            <a:endParaRPr lang="en-US" sz="3000" dirty="0"/>
          </a:p>
        </p:txBody>
      </p:sp>
      <p:sp>
        <p:nvSpPr>
          <p:cNvPr id="3" name="Text 1"/>
          <p:cNvSpPr/>
          <p:nvPr/>
        </p:nvSpPr>
        <p:spPr>
          <a:xfrm>
            <a:off x="640080" y="685800"/>
            <a:ext cx="7315200" cy="274320"/>
          </a:xfrm>
          <a:prstGeom prst="rect">
            <a:avLst/>
          </a:prstGeom>
          <a:noFill/>
          <a:ln/>
        </p:spPr>
        <p:txBody>
          <a:bodyPr wrap="square" lIns="0" tIns="0" rIns="0" bIns="0" rtlCol="0" anchor="ctr"/>
          <a:lstStyle/>
          <a:p>
            <a:pPr marL="0" indent="0">
              <a:buNone/>
            </a:pPr>
            <a:r>
              <a:rPr lang="en-US" sz="1200" dirty="0">
                <a:solidFill>
                  <a:srgbClr val="6B7280"/>
                </a:solidFill>
                <a:latin typeface="Poppins" pitchFamily="34" charset="0"/>
                <a:ea typeface="Poppins" pitchFamily="34" charset="-122"/>
                <a:cs typeface="Poppins" pitchFamily="34" charset="-120"/>
              </a:rPr>
              <a:t>Une plateforme technique complète, modulaire et fiable</a:t>
            </a:r>
            <a:endParaRPr lang="en-US" sz="1200" dirty="0"/>
          </a:p>
        </p:txBody>
      </p:sp>
      <p:sp>
        <p:nvSpPr>
          <p:cNvPr id="4" name="Shape 2"/>
          <p:cNvSpPr/>
          <p:nvPr/>
        </p:nvSpPr>
        <p:spPr>
          <a:xfrm>
            <a:off x="548640" y="1097280"/>
            <a:ext cx="1874520" cy="1645920"/>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5" name="Shape 3"/>
          <p:cNvSpPr/>
          <p:nvPr/>
        </p:nvSpPr>
        <p:spPr>
          <a:xfrm>
            <a:off x="1188720" y="1234440"/>
            <a:ext cx="502920" cy="502920"/>
          </a:xfrm>
          <a:prstGeom prst="ellipse">
            <a:avLst/>
          </a:prstGeom>
          <a:solidFill>
            <a:srgbClr val="EBF5FF"/>
          </a:solidFill>
          <a:ln/>
        </p:spPr>
        <p:txBody>
          <a:bodyPr/>
          <a:lstStyle/>
          <a:p>
            <a:endParaRPr lang="fr-FR"/>
          </a:p>
        </p:txBody>
      </p:sp>
      <p:pic>
        <p:nvPicPr>
          <p:cNvPr id="6" name="Image 0" descr="preencoded.png"/>
          <p:cNvPicPr>
            <a:picLocks noChangeAspect="1"/>
          </p:cNvPicPr>
          <p:nvPr/>
        </p:nvPicPr>
        <p:blipFill>
          <a:blip r:embed="rId3"/>
          <a:stretch>
            <a:fillRect/>
          </a:stretch>
        </p:blipFill>
        <p:spPr>
          <a:xfrm>
            <a:off x="1261872" y="1307592"/>
            <a:ext cx="356616" cy="356616"/>
          </a:xfrm>
          <a:prstGeom prst="rect">
            <a:avLst/>
          </a:prstGeom>
        </p:spPr>
      </p:pic>
      <p:sp>
        <p:nvSpPr>
          <p:cNvPr id="7" name="Text 4"/>
          <p:cNvSpPr/>
          <p:nvPr/>
        </p:nvSpPr>
        <p:spPr>
          <a:xfrm>
            <a:off x="594360" y="1828800"/>
            <a:ext cx="1783080" cy="274320"/>
          </a:xfrm>
          <a:prstGeom prst="rect">
            <a:avLst/>
          </a:prstGeom>
          <a:noFill/>
          <a:ln/>
        </p:spPr>
        <p:txBody>
          <a:bodyPr wrap="square" lIns="0" tIns="0" rIns="0" bIns="0" rtlCol="0" anchor="ctr"/>
          <a:lstStyle/>
          <a:p>
            <a:pPr marL="0" indent="0" algn="ctr">
              <a:buNone/>
            </a:pPr>
            <a:r>
              <a:rPr lang="en-US" sz="1100" b="1" dirty="0">
                <a:solidFill>
                  <a:srgbClr val="0F172A"/>
                </a:solidFill>
                <a:latin typeface="Poppins" pitchFamily="34" charset="0"/>
                <a:ea typeface="Poppins" pitchFamily="34" charset="-122"/>
                <a:cs typeface="Poppins" pitchFamily="34" charset="-120"/>
              </a:rPr>
              <a:t>Génération IA</a:t>
            </a:r>
            <a:endParaRPr lang="en-US" sz="1100" dirty="0"/>
          </a:p>
        </p:txBody>
      </p:sp>
      <p:sp>
        <p:nvSpPr>
          <p:cNvPr id="8" name="Text 5"/>
          <p:cNvSpPr/>
          <p:nvPr/>
        </p:nvSpPr>
        <p:spPr>
          <a:xfrm>
            <a:off x="594360" y="2103120"/>
            <a:ext cx="1783080" cy="411480"/>
          </a:xfrm>
          <a:prstGeom prst="rect">
            <a:avLst/>
          </a:prstGeom>
          <a:noFill/>
          <a:ln/>
        </p:spPr>
        <p:txBody>
          <a:bodyPr wrap="square" lIns="0" tIns="0" rIns="0" bIns="0" rtlCol="0" anchor="ctr"/>
          <a:lstStyle/>
          <a:p>
            <a:pPr marL="0" indent="0" algn="ctr">
              <a:lnSpc>
                <a:spcPct val="120000"/>
              </a:lnSpc>
              <a:buNone/>
            </a:pPr>
            <a:r>
              <a:rPr lang="en-US" sz="900" dirty="0">
                <a:solidFill>
                  <a:srgbClr val="374151"/>
                </a:solidFill>
                <a:latin typeface="Poppins" pitchFamily="34" charset="0"/>
                <a:ea typeface="Poppins" pitchFamily="34" charset="-122"/>
                <a:cs typeface="Poppins" pitchFamily="34" charset="-120"/>
              </a:rPr>
              <a:t>Spec-to-flow : décrivez, KINN génère</a:t>
            </a:r>
            <a:endParaRPr lang="en-US" sz="900" dirty="0"/>
          </a:p>
        </p:txBody>
      </p:sp>
      <p:sp>
        <p:nvSpPr>
          <p:cNvPr id="9" name="Shape 6"/>
          <p:cNvSpPr/>
          <p:nvPr/>
        </p:nvSpPr>
        <p:spPr>
          <a:xfrm>
            <a:off x="2606040" y="1097280"/>
            <a:ext cx="1874520" cy="1645920"/>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10" name="Shape 7"/>
          <p:cNvSpPr/>
          <p:nvPr/>
        </p:nvSpPr>
        <p:spPr>
          <a:xfrm>
            <a:off x="3246120" y="1234440"/>
            <a:ext cx="502920" cy="502920"/>
          </a:xfrm>
          <a:prstGeom prst="ellipse">
            <a:avLst/>
          </a:prstGeom>
          <a:solidFill>
            <a:srgbClr val="EBF5FF"/>
          </a:solidFill>
          <a:ln/>
        </p:spPr>
        <p:txBody>
          <a:bodyPr/>
          <a:lstStyle/>
          <a:p>
            <a:endParaRPr lang="fr-FR"/>
          </a:p>
        </p:txBody>
      </p:sp>
      <p:pic>
        <p:nvPicPr>
          <p:cNvPr id="11" name="Image 1" descr="preencoded.png"/>
          <p:cNvPicPr>
            <a:picLocks noChangeAspect="1"/>
          </p:cNvPicPr>
          <p:nvPr/>
        </p:nvPicPr>
        <p:blipFill>
          <a:blip r:embed="rId4"/>
          <a:stretch>
            <a:fillRect/>
          </a:stretch>
        </p:blipFill>
        <p:spPr>
          <a:xfrm>
            <a:off x="3319272" y="1307592"/>
            <a:ext cx="356616" cy="356616"/>
          </a:xfrm>
          <a:prstGeom prst="rect">
            <a:avLst/>
          </a:prstGeom>
        </p:spPr>
      </p:pic>
      <p:sp>
        <p:nvSpPr>
          <p:cNvPr id="12" name="Text 8"/>
          <p:cNvSpPr/>
          <p:nvPr/>
        </p:nvSpPr>
        <p:spPr>
          <a:xfrm>
            <a:off x="2651760" y="1828800"/>
            <a:ext cx="1783080" cy="274320"/>
          </a:xfrm>
          <a:prstGeom prst="rect">
            <a:avLst/>
          </a:prstGeom>
          <a:noFill/>
          <a:ln/>
        </p:spPr>
        <p:txBody>
          <a:bodyPr wrap="square" lIns="0" tIns="0" rIns="0" bIns="0" rtlCol="0" anchor="ctr"/>
          <a:lstStyle/>
          <a:p>
            <a:pPr marL="0" indent="0" algn="ctr">
              <a:buNone/>
            </a:pPr>
            <a:r>
              <a:rPr lang="en-US" sz="1100" b="1" dirty="0">
                <a:solidFill>
                  <a:srgbClr val="0F172A"/>
                </a:solidFill>
                <a:latin typeface="Poppins" pitchFamily="34" charset="0"/>
                <a:ea typeface="Poppins" pitchFamily="34" charset="-122"/>
                <a:cs typeface="Poppins" pitchFamily="34" charset="-120"/>
              </a:rPr>
              <a:t>Moteur d'orchestration</a:t>
            </a:r>
            <a:endParaRPr lang="en-US" sz="1100" dirty="0"/>
          </a:p>
        </p:txBody>
      </p:sp>
      <p:sp>
        <p:nvSpPr>
          <p:cNvPr id="13" name="Text 9"/>
          <p:cNvSpPr/>
          <p:nvPr/>
        </p:nvSpPr>
        <p:spPr>
          <a:xfrm>
            <a:off x="2651760" y="2103120"/>
            <a:ext cx="1783080" cy="411480"/>
          </a:xfrm>
          <a:prstGeom prst="rect">
            <a:avLst/>
          </a:prstGeom>
          <a:noFill/>
          <a:ln/>
        </p:spPr>
        <p:txBody>
          <a:bodyPr wrap="square" lIns="0" tIns="0" rIns="0" bIns="0" rtlCol="0" anchor="ctr"/>
          <a:lstStyle/>
          <a:p>
            <a:pPr marL="0" indent="0" algn="ctr">
              <a:lnSpc>
                <a:spcPct val="120000"/>
              </a:lnSpc>
              <a:buNone/>
            </a:pPr>
            <a:r>
              <a:rPr lang="en-US" sz="900" dirty="0">
                <a:solidFill>
                  <a:srgbClr val="374151"/>
                </a:solidFill>
                <a:latin typeface="Poppins" pitchFamily="34" charset="0"/>
                <a:ea typeface="Poppins" pitchFamily="34" charset="-122"/>
                <a:cs typeface="Poppins" pitchFamily="34" charset="-120"/>
              </a:rPr>
              <a:t>Séquentiel, parallèle, retry intelligent</a:t>
            </a:r>
            <a:endParaRPr lang="en-US" sz="900" dirty="0"/>
          </a:p>
        </p:txBody>
      </p:sp>
      <p:sp>
        <p:nvSpPr>
          <p:cNvPr id="14" name="Shape 10"/>
          <p:cNvSpPr/>
          <p:nvPr/>
        </p:nvSpPr>
        <p:spPr>
          <a:xfrm>
            <a:off x="4663440" y="1097280"/>
            <a:ext cx="1874520" cy="1645920"/>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15" name="Shape 11"/>
          <p:cNvSpPr/>
          <p:nvPr/>
        </p:nvSpPr>
        <p:spPr>
          <a:xfrm>
            <a:off x="5303520" y="1234440"/>
            <a:ext cx="502920" cy="502920"/>
          </a:xfrm>
          <a:prstGeom prst="ellipse">
            <a:avLst/>
          </a:prstGeom>
          <a:solidFill>
            <a:srgbClr val="EBF5FF"/>
          </a:solidFill>
          <a:ln/>
        </p:spPr>
        <p:txBody>
          <a:bodyPr/>
          <a:lstStyle/>
          <a:p>
            <a:endParaRPr lang="fr-FR"/>
          </a:p>
        </p:txBody>
      </p:sp>
      <p:pic>
        <p:nvPicPr>
          <p:cNvPr id="16" name="Image 2" descr="preencoded.png"/>
          <p:cNvPicPr>
            <a:picLocks noChangeAspect="1"/>
          </p:cNvPicPr>
          <p:nvPr/>
        </p:nvPicPr>
        <p:blipFill>
          <a:blip r:embed="rId5"/>
          <a:stretch>
            <a:fillRect/>
          </a:stretch>
        </p:blipFill>
        <p:spPr>
          <a:xfrm>
            <a:off x="5376672" y="1307592"/>
            <a:ext cx="356616" cy="356616"/>
          </a:xfrm>
          <a:prstGeom prst="rect">
            <a:avLst/>
          </a:prstGeom>
        </p:spPr>
      </p:pic>
      <p:sp>
        <p:nvSpPr>
          <p:cNvPr id="17" name="Text 12"/>
          <p:cNvSpPr/>
          <p:nvPr/>
        </p:nvSpPr>
        <p:spPr>
          <a:xfrm>
            <a:off x="4709160" y="1828800"/>
            <a:ext cx="1783080" cy="274320"/>
          </a:xfrm>
          <a:prstGeom prst="rect">
            <a:avLst/>
          </a:prstGeom>
          <a:noFill/>
          <a:ln/>
        </p:spPr>
        <p:txBody>
          <a:bodyPr wrap="square" lIns="0" tIns="0" rIns="0" bIns="0" rtlCol="0" anchor="ctr"/>
          <a:lstStyle/>
          <a:p>
            <a:pPr marL="0" indent="0" algn="ctr">
              <a:buNone/>
            </a:pPr>
            <a:r>
              <a:rPr lang="en-US" sz="1100" b="1" dirty="0">
                <a:solidFill>
                  <a:srgbClr val="0F172A"/>
                </a:solidFill>
                <a:latin typeface="Poppins" pitchFamily="34" charset="0"/>
                <a:ea typeface="Poppins" pitchFamily="34" charset="-122"/>
                <a:cs typeface="Poppins" pitchFamily="34" charset="-120"/>
              </a:rPr>
              <a:t>Connectivité universelle</a:t>
            </a:r>
            <a:endParaRPr lang="en-US" sz="1100" dirty="0"/>
          </a:p>
        </p:txBody>
      </p:sp>
      <p:sp>
        <p:nvSpPr>
          <p:cNvPr id="18" name="Text 13"/>
          <p:cNvSpPr/>
          <p:nvPr/>
        </p:nvSpPr>
        <p:spPr>
          <a:xfrm>
            <a:off x="4709160" y="2103120"/>
            <a:ext cx="1783080" cy="411480"/>
          </a:xfrm>
          <a:prstGeom prst="rect">
            <a:avLst/>
          </a:prstGeom>
          <a:noFill/>
          <a:ln/>
        </p:spPr>
        <p:txBody>
          <a:bodyPr wrap="square" lIns="0" tIns="0" rIns="0" bIns="0" rtlCol="0" anchor="ctr"/>
          <a:lstStyle/>
          <a:p>
            <a:pPr marL="0" indent="0" algn="ctr">
              <a:lnSpc>
                <a:spcPct val="120000"/>
              </a:lnSpc>
              <a:buNone/>
            </a:pPr>
            <a:r>
              <a:rPr lang="en-US" sz="900" dirty="0">
                <a:solidFill>
                  <a:srgbClr val="374151"/>
                </a:solidFill>
                <a:latin typeface="Poppins" pitchFamily="34" charset="0"/>
                <a:ea typeface="Poppins" pitchFamily="34" charset="-122"/>
                <a:cs typeface="Poppins" pitchFamily="34" charset="-120"/>
              </a:rPr>
              <a:t>ERP, CRM, SaaS, IoT, OPC-UA</a:t>
            </a:r>
            <a:endParaRPr lang="en-US" sz="900" dirty="0"/>
          </a:p>
        </p:txBody>
      </p:sp>
      <p:sp>
        <p:nvSpPr>
          <p:cNvPr id="19" name="Shape 14"/>
          <p:cNvSpPr/>
          <p:nvPr/>
        </p:nvSpPr>
        <p:spPr>
          <a:xfrm>
            <a:off x="6720840" y="1097280"/>
            <a:ext cx="1874520" cy="1645920"/>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20" name="Shape 15"/>
          <p:cNvSpPr/>
          <p:nvPr/>
        </p:nvSpPr>
        <p:spPr>
          <a:xfrm>
            <a:off x="7360920" y="1234440"/>
            <a:ext cx="502920" cy="502920"/>
          </a:xfrm>
          <a:prstGeom prst="ellipse">
            <a:avLst/>
          </a:prstGeom>
          <a:solidFill>
            <a:srgbClr val="EBF5FF"/>
          </a:solidFill>
          <a:ln/>
        </p:spPr>
        <p:txBody>
          <a:bodyPr/>
          <a:lstStyle/>
          <a:p>
            <a:endParaRPr lang="fr-FR"/>
          </a:p>
        </p:txBody>
      </p:sp>
      <p:pic>
        <p:nvPicPr>
          <p:cNvPr id="21" name="Image 3" descr="preencoded.png"/>
          <p:cNvPicPr>
            <a:picLocks noChangeAspect="1"/>
          </p:cNvPicPr>
          <p:nvPr/>
        </p:nvPicPr>
        <p:blipFill>
          <a:blip r:embed="rId6"/>
          <a:stretch>
            <a:fillRect/>
          </a:stretch>
        </p:blipFill>
        <p:spPr>
          <a:xfrm>
            <a:off x="7434072" y="1307592"/>
            <a:ext cx="356616" cy="356616"/>
          </a:xfrm>
          <a:prstGeom prst="rect">
            <a:avLst/>
          </a:prstGeom>
        </p:spPr>
      </p:pic>
      <p:sp>
        <p:nvSpPr>
          <p:cNvPr id="22" name="Text 16"/>
          <p:cNvSpPr/>
          <p:nvPr/>
        </p:nvSpPr>
        <p:spPr>
          <a:xfrm>
            <a:off x="6766560" y="1828800"/>
            <a:ext cx="1783080" cy="274320"/>
          </a:xfrm>
          <a:prstGeom prst="rect">
            <a:avLst/>
          </a:prstGeom>
          <a:noFill/>
          <a:ln/>
        </p:spPr>
        <p:txBody>
          <a:bodyPr wrap="square" lIns="0" tIns="0" rIns="0" bIns="0" rtlCol="0" anchor="ctr"/>
          <a:lstStyle/>
          <a:p>
            <a:pPr marL="0" indent="0" algn="ctr">
              <a:buNone/>
            </a:pPr>
            <a:r>
              <a:rPr lang="en-US" sz="1100" b="1" dirty="0">
                <a:solidFill>
                  <a:srgbClr val="0F172A"/>
                </a:solidFill>
                <a:latin typeface="Poppins" pitchFamily="34" charset="0"/>
                <a:ea typeface="Poppins" pitchFamily="34" charset="-122"/>
                <a:cs typeface="Poppins" pitchFamily="34" charset="-120"/>
              </a:rPr>
              <a:t>Normalisation data</a:t>
            </a:r>
            <a:endParaRPr lang="en-US" sz="1100" dirty="0"/>
          </a:p>
        </p:txBody>
      </p:sp>
      <p:sp>
        <p:nvSpPr>
          <p:cNvPr id="23" name="Text 17"/>
          <p:cNvSpPr/>
          <p:nvPr/>
        </p:nvSpPr>
        <p:spPr>
          <a:xfrm>
            <a:off x="6766560" y="2103120"/>
            <a:ext cx="1783080" cy="411480"/>
          </a:xfrm>
          <a:prstGeom prst="rect">
            <a:avLst/>
          </a:prstGeom>
          <a:noFill/>
          <a:ln/>
        </p:spPr>
        <p:txBody>
          <a:bodyPr wrap="square" lIns="0" tIns="0" rIns="0" bIns="0" rtlCol="0" anchor="ctr"/>
          <a:lstStyle/>
          <a:p>
            <a:pPr marL="0" indent="0" algn="ctr">
              <a:lnSpc>
                <a:spcPct val="120000"/>
              </a:lnSpc>
              <a:buNone/>
            </a:pPr>
            <a:r>
              <a:rPr lang="en-US" sz="900" dirty="0">
                <a:solidFill>
                  <a:srgbClr val="374151"/>
                </a:solidFill>
                <a:latin typeface="Poppins" pitchFamily="34" charset="0"/>
                <a:ea typeface="Poppins" pitchFamily="34" charset="-122"/>
                <a:cs typeface="Poppins" pitchFamily="34" charset="-120"/>
              </a:rPr>
              <a:t>Mapping, fusion multi-sources</a:t>
            </a:r>
            <a:endParaRPr lang="en-US" sz="900" dirty="0"/>
          </a:p>
        </p:txBody>
      </p:sp>
      <p:sp>
        <p:nvSpPr>
          <p:cNvPr id="24" name="Shape 18"/>
          <p:cNvSpPr/>
          <p:nvPr/>
        </p:nvSpPr>
        <p:spPr>
          <a:xfrm>
            <a:off x="548640" y="2971800"/>
            <a:ext cx="1874520" cy="1645920"/>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25" name="Shape 19"/>
          <p:cNvSpPr/>
          <p:nvPr/>
        </p:nvSpPr>
        <p:spPr>
          <a:xfrm>
            <a:off x="1188720" y="3108960"/>
            <a:ext cx="502920" cy="502920"/>
          </a:xfrm>
          <a:prstGeom prst="ellipse">
            <a:avLst/>
          </a:prstGeom>
          <a:solidFill>
            <a:srgbClr val="EBF5FF"/>
          </a:solidFill>
          <a:ln/>
        </p:spPr>
        <p:txBody>
          <a:bodyPr/>
          <a:lstStyle/>
          <a:p>
            <a:endParaRPr lang="fr-FR"/>
          </a:p>
        </p:txBody>
      </p:sp>
      <p:pic>
        <p:nvPicPr>
          <p:cNvPr id="26" name="Image 4" descr="preencoded.png"/>
          <p:cNvPicPr>
            <a:picLocks noChangeAspect="1"/>
          </p:cNvPicPr>
          <p:nvPr/>
        </p:nvPicPr>
        <p:blipFill>
          <a:blip r:embed="rId7"/>
          <a:stretch>
            <a:fillRect/>
          </a:stretch>
        </p:blipFill>
        <p:spPr>
          <a:xfrm>
            <a:off x="1261872" y="3182112"/>
            <a:ext cx="356616" cy="356616"/>
          </a:xfrm>
          <a:prstGeom prst="rect">
            <a:avLst/>
          </a:prstGeom>
        </p:spPr>
      </p:pic>
      <p:sp>
        <p:nvSpPr>
          <p:cNvPr id="27" name="Text 20"/>
          <p:cNvSpPr/>
          <p:nvPr/>
        </p:nvSpPr>
        <p:spPr>
          <a:xfrm>
            <a:off x="594360" y="3703320"/>
            <a:ext cx="1783080" cy="274320"/>
          </a:xfrm>
          <a:prstGeom prst="rect">
            <a:avLst/>
          </a:prstGeom>
          <a:noFill/>
          <a:ln/>
        </p:spPr>
        <p:txBody>
          <a:bodyPr wrap="square" lIns="0" tIns="0" rIns="0" bIns="0" rtlCol="0" anchor="ctr"/>
          <a:lstStyle/>
          <a:p>
            <a:pPr marL="0" indent="0" algn="ctr">
              <a:buNone/>
            </a:pPr>
            <a:r>
              <a:rPr lang="en-US" sz="1100" b="1" dirty="0">
                <a:solidFill>
                  <a:srgbClr val="0F172A"/>
                </a:solidFill>
                <a:latin typeface="Poppins" pitchFamily="34" charset="0"/>
                <a:ea typeface="Poppins" pitchFamily="34" charset="-122"/>
                <a:cs typeface="Poppins" pitchFamily="34" charset="-120"/>
              </a:rPr>
              <a:t>Interfaces auto-générées</a:t>
            </a:r>
            <a:endParaRPr lang="en-US" sz="1100" dirty="0"/>
          </a:p>
        </p:txBody>
      </p:sp>
      <p:sp>
        <p:nvSpPr>
          <p:cNvPr id="28" name="Text 21"/>
          <p:cNvSpPr/>
          <p:nvPr/>
        </p:nvSpPr>
        <p:spPr>
          <a:xfrm>
            <a:off x="594360" y="3977640"/>
            <a:ext cx="1783080" cy="411480"/>
          </a:xfrm>
          <a:prstGeom prst="rect">
            <a:avLst/>
          </a:prstGeom>
          <a:noFill/>
          <a:ln/>
        </p:spPr>
        <p:txBody>
          <a:bodyPr wrap="square" lIns="0" tIns="0" rIns="0" bIns="0" rtlCol="0" anchor="ctr"/>
          <a:lstStyle/>
          <a:p>
            <a:pPr marL="0" indent="0" algn="ctr">
              <a:lnSpc>
                <a:spcPct val="120000"/>
              </a:lnSpc>
              <a:buNone/>
            </a:pPr>
            <a:r>
              <a:rPr lang="en-US" sz="900" dirty="0">
                <a:solidFill>
                  <a:srgbClr val="374151"/>
                </a:solidFill>
                <a:latin typeface="Poppins" pitchFamily="34" charset="0"/>
                <a:ea typeface="Poppins" pitchFamily="34" charset="-122"/>
                <a:cs typeface="Poppins" pitchFamily="34" charset="-120"/>
              </a:rPr>
              <a:t>Formulaires et UI depuis workflows</a:t>
            </a:r>
            <a:endParaRPr lang="en-US" sz="900" dirty="0"/>
          </a:p>
        </p:txBody>
      </p:sp>
      <p:sp>
        <p:nvSpPr>
          <p:cNvPr id="29" name="Shape 22"/>
          <p:cNvSpPr/>
          <p:nvPr/>
        </p:nvSpPr>
        <p:spPr>
          <a:xfrm>
            <a:off x="2606040" y="2971800"/>
            <a:ext cx="1874520" cy="1645920"/>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30" name="Shape 23"/>
          <p:cNvSpPr/>
          <p:nvPr/>
        </p:nvSpPr>
        <p:spPr>
          <a:xfrm>
            <a:off x="3246120" y="3108960"/>
            <a:ext cx="502920" cy="502920"/>
          </a:xfrm>
          <a:prstGeom prst="ellipse">
            <a:avLst/>
          </a:prstGeom>
          <a:solidFill>
            <a:srgbClr val="EBF5FF"/>
          </a:solidFill>
          <a:ln/>
        </p:spPr>
        <p:txBody>
          <a:bodyPr/>
          <a:lstStyle/>
          <a:p>
            <a:endParaRPr lang="fr-FR"/>
          </a:p>
        </p:txBody>
      </p:sp>
      <p:pic>
        <p:nvPicPr>
          <p:cNvPr id="31" name="Image 5" descr="preencoded.png"/>
          <p:cNvPicPr>
            <a:picLocks noChangeAspect="1"/>
          </p:cNvPicPr>
          <p:nvPr/>
        </p:nvPicPr>
        <p:blipFill>
          <a:blip r:embed="rId8"/>
          <a:stretch>
            <a:fillRect/>
          </a:stretch>
        </p:blipFill>
        <p:spPr>
          <a:xfrm>
            <a:off x="3319272" y="3182112"/>
            <a:ext cx="356616" cy="356616"/>
          </a:xfrm>
          <a:prstGeom prst="rect">
            <a:avLst/>
          </a:prstGeom>
        </p:spPr>
      </p:pic>
      <p:sp>
        <p:nvSpPr>
          <p:cNvPr id="32" name="Text 24"/>
          <p:cNvSpPr/>
          <p:nvPr/>
        </p:nvSpPr>
        <p:spPr>
          <a:xfrm>
            <a:off x="2651760" y="3703320"/>
            <a:ext cx="1783080" cy="274320"/>
          </a:xfrm>
          <a:prstGeom prst="rect">
            <a:avLst/>
          </a:prstGeom>
          <a:noFill/>
          <a:ln/>
        </p:spPr>
        <p:txBody>
          <a:bodyPr wrap="square" lIns="0" tIns="0" rIns="0" bIns="0" rtlCol="0" anchor="ctr"/>
          <a:lstStyle/>
          <a:p>
            <a:pPr marL="0" indent="0" algn="ctr">
              <a:buNone/>
            </a:pPr>
            <a:r>
              <a:rPr lang="en-US" sz="1100" b="1" dirty="0">
                <a:solidFill>
                  <a:srgbClr val="0F172A"/>
                </a:solidFill>
                <a:latin typeface="Poppins" pitchFamily="34" charset="0"/>
                <a:ea typeface="Poppins" pitchFamily="34" charset="-122"/>
                <a:cs typeface="Poppins" pitchFamily="34" charset="-120"/>
              </a:rPr>
              <a:t>Extraction IA</a:t>
            </a:r>
            <a:endParaRPr lang="en-US" sz="1100" dirty="0"/>
          </a:p>
        </p:txBody>
      </p:sp>
      <p:sp>
        <p:nvSpPr>
          <p:cNvPr id="33" name="Text 25"/>
          <p:cNvSpPr/>
          <p:nvPr/>
        </p:nvSpPr>
        <p:spPr>
          <a:xfrm>
            <a:off x="2651760" y="3977640"/>
            <a:ext cx="1783080" cy="411480"/>
          </a:xfrm>
          <a:prstGeom prst="rect">
            <a:avLst/>
          </a:prstGeom>
          <a:noFill/>
          <a:ln/>
        </p:spPr>
        <p:txBody>
          <a:bodyPr wrap="square" lIns="0" tIns="0" rIns="0" bIns="0" rtlCol="0" anchor="ctr"/>
          <a:lstStyle/>
          <a:p>
            <a:pPr marL="0" indent="0" algn="ctr">
              <a:lnSpc>
                <a:spcPct val="120000"/>
              </a:lnSpc>
              <a:buNone/>
            </a:pPr>
            <a:r>
              <a:rPr lang="en-US" sz="900" dirty="0">
                <a:solidFill>
                  <a:srgbClr val="374151"/>
                </a:solidFill>
                <a:latin typeface="Poppins" pitchFamily="34" charset="0"/>
                <a:ea typeface="Poppins" pitchFamily="34" charset="-122"/>
                <a:cs typeface="Poppins" pitchFamily="34" charset="-120"/>
              </a:rPr>
              <a:t>PDF, mails, images → données métier</a:t>
            </a:r>
            <a:endParaRPr lang="en-US" sz="900" dirty="0"/>
          </a:p>
        </p:txBody>
      </p:sp>
      <p:sp>
        <p:nvSpPr>
          <p:cNvPr id="34" name="Shape 26"/>
          <p:cNvSpPr/>
          <p:nvPr/>
        </p:nvSpPr>
        <p:spPr>
          <a:xfrm>
            <a:off x="4663440" y="2971800"/>
            <a:ext cx="1874520" cy="1645920"/>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35" name="Shape 27"/>
          <p:cNvSpPr/>
          <p:nvPr/>
        </p:nvSpPr>
        <p:spPr>
          <a:xfrm>
            <a:off x="5303520" y="3108960"/>
            <a:ext cx="502920" cy="502920"/>
          </a:xfrm>
          <a:prstGeom prst="ellipse">
            <a:avLst/>
          </a:prstGeom>
          <a:solidFill>
            <a:srgbClr val="EBF5FF"/>
          </a:solidFill>
          <a:ln/>
        </p:spPr>
        <p:txBody>
          <a:bodyPr/>
          <a:lstStyle/>
          <a:p>
            <a:endParaRPr lang="fr-FR"/>
          </a:p>
        </p:txBody>
      </p:sp>
      <p:pic>
        <p:nvPicPr>
          <p:cNvPr id="36" name="Image 6" descr="preencoded.png"/>
          <p:cNvPicPr>
            <a:picLocks noChangeAspect="1"/>
          </p:cNvPicPr>
          <p:nvPr/>
        </p:nvPicPr>
        <p:blipFill>
          <a:blip r:embed="rId9"/>
          <a:stretch>
            <a:fillRect/>
          </a:stretch>
        </p:blipFill>
        <p:spPr>
          <a:xfrm>
            <a:off x="5376672" y="3182112"/>
            <a:ext cx="356616" cy="356616"/>
          </a:xfrm>
          <a:prstGeom prst="rect">
            <a:avLst/>
          </a:prstGeom>
        </p:spPr>
      </p:pic>
      <p:sp>
        <p:nvSpPr>
          <p:cNvPr id="37" name="Text 28"/>
          <p:cNvSpPr/>
          <p:nvPr/>
        </p:nvSpPr>
        <p:spPr>
          <a:xfrm>
            <a:off x="4709160" y="3703320"/>
            <a:ext cx="1783080" cy="274320"/>
          </a:xfrm>
          <a:prstGeom prst="rect">
            <a:avLst/>
          </a:prstGeom>
          <a:noFill/>
          <a:ln/>
        </p:spPr>
        <p:txBody>
          <a:bodyPr wrap="square" lIns="0" tIns="0" rIns="0" bIns="0" rtlCol="0" anchor="ctr"/>
          <a:lstStyle/>
          <a:p>
            <a:pPr marL="0" indent="0" algn="ctr">
              <a:buNone/>
            </a:pPr>
            <a:r>
              <a:rPr lang="en-US" sz="1100" b="1" dirty="0">
                <a:solidFill>
                  <a:srgbClr val="0F172A"/>
                </a:solidFill>
                <a:latin typeface="Poppins" pitchFamily="34" charset="0"/>
                <a:ea typeface="Poppins" pitchFamily="34" charset="-122"/>
                <a:cs typeface="Poppins" pitchFamily="34" charset="-120"/>
              </a:rPr>
              <a:t>Agents IA métiers</a:t>
            </a:r>
            <a:endParaRPr lang="en-US" sz="1100" dirty="0"/>
          </a:p>
        </p:txBody>
      </p:sp>
      <p:sp>
        <p:nvSpPr>
          <p:cNvPr id="38" name="Text 29"/>
          <p:cNvSpPr/>
          <p:nvPr/>
        </p:nvSpPr>
        <p:spPr>
          <a:xfrm>
            <a:off x="4709160" y="3977640"/>
            <a:ext cx="1783080" cy="411480"/>
          </a:xfrm>
          <a:prstGeom prst="rect">
            <a:avLst/>
          </a:prstGeom>
          <a:noFill/>
          <a:ln/>
        </p:spPr>
        <p:txBody>
          <a:bodyPr wrap="square" lIns="0" tIns="0" rIns="0" bIns="0" rtlCol="0" anchor="ctr"/>
          <a:lstStyle/>
          <a:p>
            <a:pPr marL="0" indent="0" algn="ctr">
              <a:lnSpc>
                <a:spcPct val="120000"/>
              </a:lnSpc>
              <a:buNone/>
            </a:pPr>
            <a:r>
              <a:rPr lang="en-US" sz="900" dirty="0">
                <a:solidFill>
                  <a:srgbClr val="374151"/>
                </a:solidFill>
                <a:latin typeface="Poppins" pitchFamily="34" charset="0"/>
                <a:ea typeface="Poppins" pitchFamily="34" charset="-122"/>
                <a:cs typeface="Poppins" pitchFamily="34" charset="-120"/>
              </a:rPr>
              <a:t>Surveillance, analyse, actions auto</a:t>
            </a:r>
            <a:endParaRPr lang="en-US" sz="900" dirty="0"/>
          </a:p>
        </p:txBody>
      </p:sp>
      <p:sp>
        <p:nvSpPr>
          <p:cNvPr id="39" name="Shape 30"/>
          <p:cNvSpPr/>
          <p:nvPr/>
        </p:nvSpPr>
        <p:spPr>
          <a:xfrm>
            <a:off x="6720840" y="2971800"/>
            <a:ext cx="1874520" cy="1645920"/>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40" name="Shape 31"/>
          <p:cNvSpPr/>
          <p:nvPr/>
        </p:nvSpPr>
        <p:spPr>
          <a:xfrm>
            <a:off x="7360920" y="3108960"/>
            <a:ext cx="502920" cy="502920"/>
          </a:xfrm>
          <a:prstGeom prst="ellipse">
            <a:avLst/>
          </a:prstGeom>
          <a:solidFill>
            <a:srgbClr val="EBF5FF"/>
          </a:solidFill>
          <a:ln/>
        </p:spPr>
        <p:txBody>
          <a:bodyPr/>
          <a:lstStyle/>
          <a:p>
            <a:endParaRPr lang="fr-FR"/>
          </a:p>
        </p:txBody>
      </p:sp>
      <p:pic>
        <p:nvPicPr>
          <p:cNvPr id="41" name="Image 7" descr="preencoded.png"/>
          <p:cNvPicPr>
            <a:picLocks noChangeAspect="1"/>
          </p:cNvPicPr>
          <p:nvPr/>
        </p:nvPicPr>
        <p:blipFill>
          <a:blip r:embed="rId10"/>
          <a:stretch>
            <a:fillRect/>
          </a:stretch>
        </p:blipFill>
        <p:spPr>
          <a:xfrm>
            <a:off x="7434072" y="3182112"/>
            <a:ext cx="356616" cy="356616"/>
          </a:xfrm>
          <a:prstGeom prst="rect">
            <a:avLst/>
          </a:prstGeom>
        </p:spPr>
      </p:pic>
      <p:sp>
        <p:nvSpPr>
          <p:cNvPr id="42" name="Text 32"/>
          <p:cNvSpPr/>
          <p:nvPr/>
        </p:nvSpPr>
        <p:spPr>
          <a:xfrm>
            <a:off x="6766560" y="3703320"/>
            <a:ext cx="1783080" cy="274320"/>
          </a:xfrm>
          <a:prstGeom prst="rect">
            <a:avLst/>
          </a:prstGeom>
          <a:noFill/>
          <a:ln/>
        </p:spPr>
        <p:txBody>
          <a:bodyPr wrap="square" lIns="0" tIns="0" rIns="0" bIns="0" rtlCol="0" anchor="ctr"/>
          <a:lstStyle/>
          <a:p>
            <a:pPr marL="0" indent="0" algn="ctr">
              <a:buNone/>
            </a:pPr>
            <a:r>
              <a:rPr lang="en-US" sz="1100" b="1" dirty="0">
                <a:solidFill>
                  <a:srgbClr val="0F172A"/>
                </a:solidFill>
                <a:latin typeface="Poppins" pitchFamily="34" charset="0"/>
                <a:ea typeface="Poppins" pitchFamily="34" charset="-122"/>
                <a:cs typeface="Poppins" pitchFamily="34" charset="-120"/>
              </a:rPr>
              <a:t>MCP Server / Tools</a:t>
            </a:r>
            <a:endParaRPr lang="en-US" sz="1100" dirty="0"/>
          </a:p>
        </p:txBody>
      </p:sp>
      <p:sp>
        <p:nvSpPr>
          <p:cNvPr id="43" name="Text 33"/>
          <p:cNvSpPr/>
          <p:nvPr/>
        </p:nvSpPr>
        <p:spPr>
          <a:xfrm>
            <a:off x="6766560" y="3977640"/>
            <a:ext cx="1783080" cy="411480"/>
          </a:xfrm>
          <a:prstGeom prst="rect">
            <a:avLst/>
          </a:prstGeom>
          <a:noFill/>
          <a:ln/>
        </p:spPr>
        <p:txBody>
          <a:bodyPr wrap="square" lIns="0" tIns="0" rIns="0" bIns="0" rtlCol="0" anchor="ctr"/>
          <a:lstStyle/>
          <a:p>
            <a:pPr marL="0" indent="0" algn="ctr">
              <a:lnSpc>
                <a:spcPct val="120000"/>
              </a:lnSpc>
              <a:buNone/>
            </a:pPr>
            <a:r>
              <a:rPr lang="en-US" sz="900" dirty="0">
                <a:solidFill>
                  <a:srgbClr val="374151"/>
                </a:solidFill>
                <a:latin typeface="Poppins" pitchFamily="34" charset="0"/>
                <a:ea typeface="Poppins" pitchFamily="34" charset="-122"/>
                <a:cs typeface="Poppins" pitchFamily="34" charset="-120"/>
              </a:rPr>
              <a:t>Tous les nœuds = tools IA-ready</a:t>
            </a:r>
            <a:endParaRPr lang="en-US" sz="900" dirty="0"/>
          </a:p>
        </p:txBody>
      </p:sp>
      <p:sp>
        <p:nvSpPr>
          <p:cNvPr id="44" name="Text 34"/>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900" dirty="0">
                <a:solidFill>
                  <a:srgbClr val="9CA3AF"/>
                </a:solidFill>
                <a:latin typeface="Poppins" pitchFamily="34" charset="0"/>
                <a:ea typeface="Poppins" pitchFamily="34" charset="-122"/>
                <a:cs typeface="Poppins"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74320"/>
            <a:ext cx="8229600" cy="457200"/>
          </a:xfrm>
          <a:prstGeom prst="rect">
            <a:avLst/>
          </a:prstGeom>
          <a:noFill/>
          <a:ln/>
        </p:spPr>
        <p:txBody>
          <a:bodyPr wrap="square" lIns="0" tIns="0" rIns="0" bIns="0" rtlCol="0" anchor="ctr"/>
          <a:lstStyle/>
          <a:p>
            <a:pPr marL="0" indent="0">
              <a:buNone/>
            </a:pPr>
            <a:r>
              <a:rPr lang="en-US" sz="3000" b="1" dirty="0">
                <a:solidFill>
                  <a:srgbClr val="0F172A"/>
                </a:solidFill>
                <a:latin typeface="Poppins" pitchFamily="34" charset="0"/>
                <a:ea typeface="Poppins" pitchFamily="34" charset="-122"/>
                <a:cs typeface="Poppins" pitchFamily="34" charset="-120"/>
              </a:rPr>
              <a:t>Roadmap produit</a:t>
            </a:r>
            <a:endParaRPr lang="en-US" sz="3000" dirty="0"/>
          </a:p>
        </p:txBody>
      </p:sp>
      <p:sp>
        <p:nvSpPr>
          <p:cNvPr id="3" name="Shape 1"/>
          <p:cNvSpPr/>
          <p:nvPr/>
        </p:nvSpPr>
        <p:spPr>
          <a:xfrm>
            <a:off x="1417320" y="1558836"/>
            <a:ext cx="6309360" cy="0"/>
          </a:xfrm>
          <a:prstGeom prst="line">
            <a:avLst/>
          </a:prstGeom>
          <a:noFill/>
          <a:ln w="25400">
            <a:solidFill>
              <a:srgbClr val="E5E7EB"/>
            </a:solidFill>
            <a:prstDash val="solid"/>
          </a:ln>
        </p:spPr>
        <p:txBody>
          <a:bodyPr/>
          <a:lstStyle/>
          <a:p>
            <a:endParaRPr lang="fr-FR"/>
          </a:p>
        </p:txBody>
      </p:sp>
      <p:sp>
        <p:nvSpPr>
          <p:cNvPr id="4" name="Shape 2"/>
          <p:cNvSpPr/>
          <p:nvPr/>
        </p:nvSpPr>
        <p:spPr>
          <a:xfrm>
            <a:off x="1307592" y="1449108"/>
            <a:ext cx="219456" cy="219456"/>
          </a:xfrm>
          <a:prstGeom prst="ellipse">
            <a:avLst/>
          </a:prstGeom>
          <a:solidFill>
            <a:srgbClr val="16A34A"/>
          </a:solidFill>
          <a:ln/>
        </p:spPr>
        <p:txBody>
          <a:bodyPr/>
          <a:lstStyle/>
          <a:p>
            <a:endParaRPr lang="fr-FR"/>
          </a:p>
        </p:txBody>
      </p:sp>
      <p:sp>
        <p:nvSpPr>
          <p:cNvPr id="5" name="Text 3"/>
          <p:cNvSpPr/>
          <p:nvPr/>
        </p:nvSpPr>
        <p:spPr>
          <a:xfrm>
            <a:off x="457200" y="1101636"/>
            <a:ext cx="1920240" cy="274320"/>
          </a:xfrm>
          <a:prstGeom prst="rect">
            <a:avLst/>
          </a:prstGeom>
          <a:noFill/>
          <a:ln/>
        </p:spPr>
        <p:txBody>
          <a:bodyPr wrap="square" lIns="0" tIns="0" rIns="0" bIns="0" rtlCol="0" anchor="ctr"/>
          <a:lstStyle/>
          <a:p>
            <a:pPr marL="0" indent="0" algn="ctr">
              <a:buNone/>
            </a:pPr>
            <a:r>
              <a:rPr lang="en-US" sz="1100" b="1" dirty="0">
                <a:solidFill>
                  <a:srgbClr val="16A34A"/>
                </a:solidFill>
                <a:latin typeface="Poppins" pitchFamily="34" charset="0"/>
                <a:ea typeface="Poppins" pitchFamily="34" charset="-122"/>
                <a:cs typeface="Poppins" pitchFamily="34" charset="-120"/>
              </a:rPr>
              <a:t>Déc. 2025</a:t>
            </a:r>
            <a:endParaRPr lang="en-US" sz="1100" dirty="0"/>
          </a:p>
        </p:txBody>
      </p:sp>
      <p:sp>
        <p:nvSpPr>
          <p:cNvPr id="6" name="Text 4"/>
          <p:cNvSpPr/>
          <p:nvPr/>
        </p:nvSpPr>
        <p:spPr>
          <a:xfrm>
            <a:off x="457200" y="1787436"/>
            <a:ext cx="1920240" cy="365760"/>
          </a:xfrm>
          <a:prstGeom prst="rect">
            <a:avLst/>
          </a:prstGeom>
          <a:noFill/>
          <a:ln/>
        </p:spPr>
        <p:txBody>
          <a:bodyPr wrap="square" lIns="0" tIns="0" rIns="0" bIns="0" rtlCol="0" anchor="ctr"/>
          <a:lstStyle/>
          <a:p>
            <a:pPr marL="0" indent="0" algn="ctr">
              <a:buNone/>
            </a:pPr>
            <a:r>
              <a:rPr lang="en-US" sz="2200" b="1" dirty="0">
                <a:solidFill>
                  <a:srgbClr val="0F172A"/>
                </a:solidFill>
                <a:latin typeface="Poppins" pitchFamily="34" charset="0"/>
                <a:ea typeface="Poppins" pitchFamily="34" charset="-122"/>
                <a:cs typeface="Poppins" pitchFamily="34" charset="-120"/>
              </a:rPr>
              <a:t>100%</a:t>
            </a:r>
            <a:endParaRPr lang="en-US" sz="2200" dirty="0"/>
          </a:p>
        </p:txBody>
      </p:sp>
      <p:sp>
        <p:nvSpPr>
          <p:cNvPr id="7" name="Text 5"/>
          <p:cNvSpPr/>
          <p:nvPr/>
        </p:nvSpPr>
        <p:spPr>
          <a:xfrm>
            <a:off x="502920" y="1965960"/>
            <a:ext cx="1828800" cy="2743200"/>
          </a:xfrm>
          <a:prstGeom prst="rect">
            <a:avLst/>
          </a:prstGeom>
          <a:noFill/>
          <a:ln/>
        </p:spPr>
        <p:txBody>
          <a:bodyPr wrap="square" lIns="0" tIns="0" rIns="0" bIns="0" rtlCol="0" anchor="ctr"/>
          <a:lstStyle/>
          <a:p>
            <a:pPr marL="342900" indent="-342900">
              <a:lnSpc>
                <a:spcPct val="140000"/>
              </a:lnSpc>
              <a:buSzPct val="100000"/>
              <a:buChar char="•"/>
            </a:pPr>
            <a:r>
              <a:rPr lang="en-US" sz="900" dirty="0">
                <a:solidFill>
                  <a:srgbClr val="374151"/>
                </a:solidFill>
                <a:latin typeface="Poppins" pitchFamily="34" charset="0"/>
                <a:ea typeface="Poppins" pitchFamily="34" charset="-122"/>
                <a:cs typeface="Poppins" pitchFamily="34" charset="-120"/>
              </a:rPr>
              <a:t>Workflow Builder</a:t>
            </a:r>
            <a:endParaRPr lang="en-US" sz="900" dirty="0"/>
          </a:p>
          <a:p>
            <a:pPr marL="342900" indent="-342900">
              <a:lnSpc>
                <a:spcPct val="140000"/>
              </a:lnSpc>
              <a:buSzPct val="100000"/>
              <a:buChar char="•"/>
            </a:pPr>
            <a:r>
              <a:rPr lang="en-US" sz="900" dirty="0">
                <a:solidFill>
                  <a:srgbClr val="374151"/>
                </a:solidFill>
                <a:latin typeface="Poppins" pitchFamily="34" charset="0"/>
                <a:ea typeface="Poppins" pitchFamily="34" charset="-122"/>
                <a:cs typeface="Poppins" pitchFamily="34" charset="-120"/>
              </a:rPr>
              <a:t>Form Builder</a:t>
            </a:r>
            <a:endParaRPr lang="en-US" sz="900" dirty="0"/>
          </a:p>
          <a:p>
            <a:pPr marL="342900" indent="-342900">
              <a:lnSpc>
                <a:spcPct val="140000"/>
              </a:lnSpc>
              <a:buSzPct val="100000"/>
              <a:buChar char="•"/>
            </a:pPr>
            <a:r>
              <a:rPr lang="en-US" sz="900" dirty="0">
                <a:solidFill>
                  <a:srgbClr val="374151"/>
                </a:solidFill>
                <a:latin typeface="Poppins" pitchFamily="34" charset="0"/>
                <a:ea typeface="Poppins" pitchFamily="34" charset="-122"/>
                <a:cs typeface="Poppins" pitchFamily="34" charset="-120"/>
              </a:rPr>
              <a:t>Connectivité SaaS/ERP/IoT</a:t>
            </a:r>
            <a:endParaRPr lang="en-US" sz="900" dirty="0"/>
          </a:p>
          <a:p>
            <a:pPr marL="342900" indent="-342900">
              <a:lnSpc>
                <a:spcPct val="140000"/>
              </a:lnSpc>
              <a:buSzPct val="100000"/>
              <a:buChar char="•"/>
            </a:pPr>
            <a:r>
              <a:rPr lang="en-US" sz="900" dirty="0">
                <a:solidFill>
                  <a:srgbClr val="374151"/>
                </a:solidFill>
                <a:latin typeface="Poppins" pitchFamily="34" charset="0"/>
                <a:ea typeface="Poppins" pitchFamily="34" charset="-122"/>
                <a:cs typeface="Poppins" pitchFamily="34" charset="-120"/>
              </a:rPr>
              <a:t>Extraction IA</a:t>
            </a:r>
            <a:endParaRPr lang="en-US" sz="900" dirty="0"/>
          </a:p>
          <a:p>
            <a:pPr marL="342900" indent="-342900">
              <a:lnSpc>
                <a:spcPct val="140000"/>
              </a:lnSpc>
              <a:buSzPct val="100000"/>
              <a:buChar char="•"/>
            </a:pPr>
            <a:r>
              <a:rPr lang="en-US" sz="900" dirty="0">
                <a:solidFill>
                  <a:srgbClr val="374151"/>
                </a:solidFill>
                <a:latin typeface="Poppins" pitchFamily="34" charset="0"/>
                <a:ea typeface="Poppins" pitchFamily="34" charset="-122"/>
                <a:cs typeface="Poppins" pitchFamily="34" charset="-120"/>
              </a:rPr>
              <a:t>Nœuds Agents IA</a:t>
            </a:r>
            <a:endParaRPr lang="en-US" sz="900" dirty="0"/>
          </a:p>
          <a:p>
            <a:pPr marL="342900" indent="-342900">
              <a:lnSpc>
                <a:spcPct val="140000"/>
              </a:lnSpc>
              <a:buSzPct val="100000"/>
              <a:buChar char="•"/>
            </a:pPr>
            <a:r>
              <a:rPr lang="en-US" sz="900" dirty="0">
                <a:solidFill>
                  <a:srgbClr val="374151"/>
                </a:solidFill>
                <a:latin typeface="Poppins" pitchFamily="34" charset="0"/>
                <a:ea typeface="Poppins" pitchFamily="34" charset="-122"/>
                <a:cs typeface="Poppins" pitchFamily="34" charset="-120"/>
              </a:rPr>
              <a:t>Exécution Cloud + On-Prem</a:t>
            </a:r>
            <a:endParaRPr lang="en-US" sz="900" dirty="0"/>
          </a:p>
        </p:txBody>
      </p:sp>
      <p:sp>
        <p:nvSpPr>
          <p:cNvPr id="8" name="Shape 6"/>
          <p:cNvSpPr/>
          <p:nvPr/>
        </p:nvSpPr>
        <p:spPr>
          <a:xfrm>
            <a:off x="3410712" y="1449108"/>
            <a:ext cx="219456" cy="219456"/>
          </a:xfrm>
          <a:prstGeom prst="ellipse">
            <a:avLst/>
          </a:prstGeom>
          <a:solidFill>
            <a:srgbClr val="1677FF"/>
          </a:solidFill>
          <a:ln/>
        </p:spPr>
        <p:txBody>
          <a:bodyPr/>
          <a:lstStyle/>
          <a:p>
            <a:endParaRPr lang="fr-FR"/>
          </a:p>
        </p:txBody>
      </p:sp>
      <p:sp>
        <p:nvSpPr>
          <p:cNvPr id="9" name="Text 7"/>
          <p:cNvSpPr/>
          <p:nvPr/>
        </p:nvSpPr>
        <p:spPr>
          <a:xfrm>
            <a:off x="2560320" y="1101636"/>
            <a:ext cx="1920240" cy="274320"/>
          </a:xfrm>
          <a:prstGeom prst="rect">
            <a:avLst/>
          </a:prstGeom>
          <a:noFill/>
          <a:ln/>
        </p:spPr>
        <p:txBody>
          <a:bodyPr wrap="square" lIns="0" tIns="0" rIns="0" bIns="0" rtlCol="0" anchor="ctr"/>
          <a:lstStyle/>
          <a:p>
            <a:pPr marL="0" indent="0" algn="ctr">
              <a:buNone/>
            </a:pPr>
            <a:r>
              <a:rPr lang="en-US" sz="1100" b="1" dirty="0">
                <a:solidFill>
                  <a:srgbClr val="1677FF"/>
                </a:solidFill>
                <a:latin typeface="Poppins" pitchFamily="34" charset="0"/>
                <a:ea typeface="Poppins" pitchFamily="34" charset="-122"/>
                <a:cs typeface="Poppins" pitchFamily="34" charset="-120"/>
              </a:rPr>
              <a:t>Mars 2026</a:t>
            </a:r>
            <a:endParaRPr lang="en-US" sz="1100" dirty="0"/>
          </a:p>
        </p:txBody>
      </p:sp>
      <p:sp>
        <p:nvSpPr>
          <p:cNvPr id="10" name="Text 8"/>
          <p:cNvSpPr/>
          <p:nvPr/>
        </p:nvSpPr>
        <p:spPr>
          <a:xfrm>
            <a:off x="2560320" y="1787436"/>
            <a:ext cx="1920240" cy="365760"/>
          </a:xfrm>
          <a:prstGeom prst="rect">
            <a:avLst/>
          </a:prstGeom>
          <a:noFill/>
          <a:ln/>
        </p:spPr>
        <p:txBody>
          <a:bodyPr wrap="square" lIns="0" tIns="0" rIns="0" bIns="0" rtlCol="0" anchor="ctr"/>
          <a:lstStyle/>
          <a:p>
            <a:pPr marL="0" indent="0" algn="ctr">
              <a:buNone/>
            </a:pPr>
            <a:r>
              <a:rPr lang="en-US" sz="2200" b="1" dirty="0">
                <a:solidFill>
                  <a:srgbClr val="0F172A"/>
                </a:solidFill>
                <a:latin typeface="Poppins" pitchFamily="34" charset="0"/>
                <a:ea typeface="Poppins" pitchFamily="34" charset="-122"/>
                <a:cs typeface="Poppins" pitchFamily="34" charset="-120"/>
              </a:rPr>
              <a:t>85%</a:t>
            </a:r>
            <a:endParaRPr lang="en-US" sz="2200" dirty="0"/>
          </a:p>
        </p:txBody>
      </p:sp>
      <p:sp>
        <p:nvSpPr>
          <p:cNvPr id="11" name="Text 9"/>
          <p:cNvSpPr/>
          <p:nvPr/>
        </p:nvSpPr>
        <p:spPr>
          <a:xfrm>
            <a:off x="2606040" y="1965960"/>
            <a:ext cx="1828800" cy="2743200"/>
          </a:xfrm>
          <a:prstGeom prst="rect">
            <a:avLst/>
          </a:prstGeom>
          <a:noFill/>
          <a:ln/>
        </p:spPr>
        <p:txBody>
          <a:bodyPr wrap="square" lIns="0" tIns="0" rIns="0" bIns="0" rtlCol="0" anchor="ctr"/>
          <a:lstStyle/>
          <a:p>
            <a:pPr marL="342900" indent="-342900">
              <a:lnSpc>
                <a:spcPct val="140000"/>
              </a:lnSpc>
              <a:buSzPct val="100000"/>
              <a:buChar char="•"/>
            </a:pPr>
            <a:r>
              <a:rPr lang="en-US" sz="900" dirty="0">
                <a:solidFill>
                  <a:srgbClr val="374151"/>
                </a:solidFill>
                <a:latin typeface="Poppins" pitchFamily="34" charset="0"/>
                <a:ea typeface="Poppins" pitchFamily="34" charset="-122"/>
                <a:cs typeface="Poppins" pitchFamily="34" charset="-120"/>
              </a:rPr>
              <a:t>Serveur MCP v1</a:t>
            </a:r>
            <a:endParaRPr lang="en-US" sz="900" dirty="0"/>
          </a:p>
          <a:p>
            <a:pPr marL="342900" indent="-342900">
              <a:lnSpc>
                <a:spcPct val="140000"/>
              </a:lnSpc>
              <a:buSzPct val="100000"/>
              <a:buChar char="•"/>
            </a:pPr>
            <a:r>
              <a:rPr lang="en-US" sz="900" dirty="0">
                <a:solidFill>
                  <a:srgbClr val="374151"/>
                </a:solidFill>
                <a:latin typeface="Poppins" pitchFamily="34" charset="0"/>
                <a:ea typeface="Poppins" pitchFamily="34" charset="-122"/>
                <a:cs typeface="Poppins" pitchFamily="34" charset="-120"/>
              </a:rPr>
              <a:t>Import n8n/Make</a:t>
            </a:r>
            <a:endParaRPr lang="en-US" sz="900" dirty="0"/>
          </a:p>
          <a:p>
            <a:pPr marL="342900" indent="-342900">
              <a:lnSpc>
                <a:spcPct val="140000"/>
              </a:lnSpc>
              <a:buSzPct val="100000"/>
              <a:buChar char="•"/>
            </a:pPr>
            <a:r>
              <a:rPr lang="en-US" sz="900" dirty="0">
                <a:solidFill>
                  <a:srgbClr val="374151"/>
                </a:solidFill>
                <a:latin typeface="Poppins" pitchFamily="34" charset="0"/>
                <a:ea typeface="Poppins" pitchFamily="34" charset="-122"/>
                <a:cs typeface="Poppins" pitchFamily="34" charset="-120"/>
              </a:rPr>
              <a:t>Data Fusion Engine v1</a:t>
            </a:r>
            <a:endParaRPr lang="en-US" sz="900" dirty="0"/>
          </a:p>
          <a:p>
            <a:pPr marL="342900" indent="-342900">
              <a:lnSpc>
                <a:spcPct val="140000"/>
              </a:lnSpc>
              <a:buSzPct val="100000"/>
              <a:buChar char="•"/>
            </a:pPr>
            <a:r>
              <a:rPr lang="en-US" sz="900" dirty="0">
                <a:solidFill>
                  <a:srgbClr val="374151"/>
                </a:solidFill>
                <a:latin typeface="Poppins" pitchFamily="34" charset="0"/>
                <a:ea typeface="Poppins" pitchFamily="34" charset="-122"/>
                <a:cs typeface="Poppins" pitchFamily="34" charset="-120"/>
              </a:rPr>
              <a:t>API universelle IA-ready</a:t>
            </a:r>
            <a:endParaRPr lang="en-US" sz="900" dirty="0"/>
          </a:p>
          <a:p>
            <a:pPr marL="342900" indent="-342900">
              <a:lnSpc>
                <a:spcPct val="140000"/>
              </a:lnSpc>
              <a:buSzPct val="100000"/>
              <a:buChar char="•"/>
            </a:pPr>
            <a:r>
              <a:rPr lang="en-US" sz="900" dirty="0">
                <a:solidFill>
                  <a:srgbClr val="374151"/>
                </a:solidFill>
                <a:latin typeface="Poppins" pitchFamily="34" charset="0"/>
                <a:ea typeface="Poppins" pitchFamily="34" charset="-122"/>
                <a:cs typeface="Poppins" pitchFamily="34" charset="-120"/>
              </a:rPr>
              <a:t>Connecteurs clé</a:t>
            </a:r>
            <a:endParaRPr lang="en-US" sz="900" dirty="0"/>
          </a:p>
        </p:txBody>
      </p:sp>
      <p:sp>
        <p:nvSpPr>
          <p:cNvPr id="12" name="Shape 10"/>
          <p:cNvSpPr/>
          <p:nvPr/>
        </p:nvSpPr>
        <p:spPr>
          <a:xfrm>
            <a:off x="5513832" y="1449108"/>
            <a:ext cx="219456" cy="219456"/>
          </a:xfrm>
          <a:prstGeom prst="ellipse">
            <a:avLst/>
          </a:prstGeom>
          <a:solidFill>
            <a:srgbClr val="F59E0B"/>
          </a:solidFill>
          <a:ln/>
        </p:spPr>
        <p:txBody>
          <a:bodyPr/>
          <a:lstStyle/>
          <a:p>
            <a:endParaRPr lang="fr-FR"/>
          </a:p>
        </p:txBody>
      </p:sp>
      <p:sp>
        <p:nvSpPr>
          <p:cNvPr id="13" name="Text 11"/>
          <p:cNvSpPr/>
          <p:nvPr/>
        </p:nvSpPr>
        <p:spPr>
          <a:xfrm>
            <a:off x="4663440" y="1101636"/>
            <a:ext cx="1920240" cy="274320"/>
          </a:xfrm>
          <a:prstGeom prst="rect">
            <a:avLst/>
          </a:prstGeom>
          <a:noFill/>
          <a:ln/>
        </p:spPr>
        <p:txBody>
          <a:bodyPr wrap="square" lIns="0" tIns="0" rIns="0" bIns="0" rtlCol="0" anchor="ctr"/>
          <a:lstStyle/>
          <a:p>
            <a:pPr marL="0" indent="0" algn="ctr">
              <a:buNone/>
            </a:pPr>
            <a:r>
              <a:rPr lang="en-US" sz="1100" b="1" dirty="0">
                <a:solidFill>
                  <a:srgbClr val="F59E0B"/>
                </a:solidFill>
                <a:latin typeface="Poppins" pitchFamily="34" charset="0"/>
                <a:ea typeface="Poppins" pitchFamily="34" charset="-122"/>
                <a:cs typeface="Poppins" pitchFamily="34" charset="-120"/>
              </a:rPr>
              <a:t>Juin 2026</a:t>
            </a:r>
            <a:endParaRPr lang="en-US" sz="1100" dirty="0"/>
          </a:p>
        </p:txBody>
      </p:sp>
      <p:sp>
        <p:nvSpPr>
          <p:cNvPr id="14" name="Text 12"/>
          <p:cNvSpPr/>
          <p:nvPr/>
        </p:nvSpPr>
        <p:spPr>
          <a:xfrm>
            <a:off x="4663440" y="1787436"/>
            <a:ext cx="1920240" cy="365760"/>
          </a:xfrm>
          <a:prstGeom prst="rect">
            <a:avLst/>
          </a:prstGeom>
          <a:noFill/>
          <a:ln/>
        </p:spPr>
        <p:txBody>
          <a:bodyPr wrap="square" lIns="0" tIns="0" rIns="0" bIns="0" rtlCol="0" anchor="ctr"/>
          <a:lstStyle/>
          <a:p>
            <a:pPr marL="0" indent="0" algn="ctr">
              <a:buNone/>
            </a:pPr>
            <a:r>
              <a:rPr lang="en-US" sz="2200" b="1" dirty="0">
                <a:solidFill>
                  <a:srgbClr val="0F172A"/>
                </a:solidFill>
                <a:latin typeface="Poppins" pitchFamily="34" charset="0"/>
                <a:ea typeface="Poppins" pitchFamily="34" charset="-122"/>
                <a:cs typeface="Poppins" pitchFamily="34" charset="-120"/>
              </a:rPr>
              <a:t>50%</a:t>
            </a:r>
            <a:endParaRPr lang="en-US" sz="2200" dirty="0"/>
          </a:p>
        </p:txBody>
      </p:sp>
      <p:sp>
        <p:nvSpPr>
          <p:cNvPr id="15" name="Text 13"/>
          <p:cNvSpPr/>
          <p:nvPr/>
        </p:nvSpPr>
        <p:spPr>
          <a:xfrm>
            <a:off x="4709160" y="1965960"/>
            <a:ext cx="1828800" cy="2743200"/>
          </a:xfrm>
          <a:prstGeom prst="rect">
            <a:avLst/>
          </a:prstGeom>
          <a:noFill/>
          <a:ln/>
        </p:spPr>
        <p:txBody>
          <a:bodyPr wrap="square" lIns="0" tIns="0" rIns="0" bIns="0" rtlCol="0" anchor="ctr"/>
          <a:lstStyle/>
          <a:p>
            <a:pPr marL="342900" indent="-342900">
              <a:lnSpc>
                <a:spcPct val="140000"/>
              </a:lnSpc>
              <a:buSzPct val="100000"/>
              <a:buChar char="•"/>
            </a:pPr>
            <a:r>
              <a:rPr lang="en-US" sz="900" dirty="0">
                <a:solidFill>
                  <a:srgbClr val="374151"/>
                </a:solidFill>
                <a:latin typeface="Poppins" pitchFamily="34" charset="0"/>
                <a:ea typeface="Poppins" pitchFamily="34" charset="-122"/>
                <a:cs typeface="Poppins" pitchFamily="34" charset="-120"/>
              </a:rPr>
              <a:t>Plateforme SaaS multi-niveaux</a:t>
            </a:r>
            <a:endParaRPr lang="en-US" sz="900" dirty="0"/>
          </a:p>
          <a:p>
            <a:pPr marL="342900" indent="-342900">
              <a:lnSpc>
                <a:spcPct val="140000"/>
              </a:lnSpc>
              <a:buSzPct val="100000"/>
              <a:buChar char="•"/>
            </a:pPr>
            <a:r>
              <a:rPr lang="en-US" sz="900" dirty="0">
                <a:solidFill>
                  <a:srgbClr val="374151"/>
                </a:solidFill>
                <a:latin typeface="Poppins" pitchFamily="34" charset="0"/>
                <a:ea typeface="Poppins" pitchFamily="34" charset="-122"/>
                <a:cs typeface="Poppins" pitchFamily="34" charset="-120"/>
              </a:rPr>
              <a:t>Espaces consultants</a:t>
            </a:r>
            <a:endParaRPr lang="en-US" sz="900" dirty="0"/>
          </a:p>
          <a:p>
            <a:pPr marL="342900" indent="-342900">
              <a:lnSpc>
                <a:spcPct val="140000"/>
              </a:lnSpc>
              <a:buSzPct val="100000"/>
              <a:buChar char="•"/>
            </a:pPr>
            <a:r>
              <a:rPr lang="en-US" sz="900" dirty="0">
                <a:solidFill>
                  <a:srgbClr val="374151"/>
                </a:solidFill>
                <a:latin typeface="Poppins" pitchFamily="34" charset="0"/>
                <a:ea typeface="Poppins" pitchFamily="34" charset="-122"/>
                <a:cs typeface="Poppins" pitchFamily="34" charset="-120"/>
              </a:rPr>
              <a:t>Marketplace templates</a:t>
            </a:r>
            <a:endParaRPr lang="en-US" sz="900" dirty="0"/>
          </a:p>
          <a:p>
            <a:pPr marL="342900" indent="-342900">
              <a:lnSpc>
                <a:spcPct val="140000"/>
              </a:lnSpc>
              <a:buSzPct val="100000"/>
              <a:buChar char="•"/>
            </a:pPr>
            <a:r>
              <a:rPr lang="en-US" sz="900" dirty="0">
                <a:solidFill>
                  <a:srgbClr val="374151"/>
                </a:solidFill>
                <a:latin typeface="Poppins" pitchFamily="34" charset="0"/>
                <a:ea typeface="Poppins" pitchFamily="34" charset="-122"/>
                <a:cs typeface="Poppins" pitchFamily="34" charset="-120"/>
              </a:rPr>
              <a:t>Gestion multi-tenant</a:t>
            </a:r>
            <a:endParaRPr lang="en-US" sz="900" dirty="0"/>
          </a:p>
          <a:p>
            <a:pPr marL="342900" indent="-342900">
              <a:lnSpc>
                <a:spcPct val="140000"/>
              </a:lnSpc>
              <a:buSzPct val="100000"/>
              <a:buChar char="•"/>
            </a:pPr>
            <a:r>
              <a:rPr lang="en-US" sz="900" dirty="0">
                <a:solidFill>
                  <a:srgbClr val="374151"/>
                </a:solidFill>
                <a:latin typeface="Poppins" pitchFamily="34" charset="0"/>
                <a:ea typeface="Poppins" pitchFamily="34" charset="-122"/>
                <a:cs typeface="Poppins" pitchFamily="34" charset="-120"/>
              </a:rPr>
              <a:t>Suivi revenus partenaires</a:t>
            </a:r>
            <a:endParaRPr lang="en-US" sz="900" dirty="0"/>
          </a:p>
        </p:txBody>
      </p:sp>
      <p:sp>
        <p:nvSpPr>
          <p:cNvPr id="16" name="Shape 14"/>
          <p:cNvSpPr/>
          <p:nvPr/>
        </p:nvSpPr>
        <p:spPr>
          <a:xfrm>
            <a:off x="7616952" y="1449108"/>
            <a:ext cx="219456" cy="219456"/>
          </a:xfrm>
          <a:prstGeom prst="ellipse">
            <a:avLst/>
          </a:prstGeom>
          <a:solidFill>
            <a:srgbClr val="9CA3AF"/>
          </a:solidFill>
          <a:ln/>
        </p:spPr>
        <p:txBody>
          <a:bodyPr/>
          <a:lstStyle/>
          <a:p>
            <a:endParaRPr lang="fr-FR"/>
          </a:p>
        </p:txBody>
      </p:sp>
      <p:sp>
        <p:nvSpPr>
          <p:cNvPr id="17" name="Text 15"/>
          <p:cNvSpPr/>
          <p:nvPr/>
        </p:nvSpPr>
        <p:spPr>
          <a:xfrm>
            <a:off x="6766560" y="1101636"/>
            <a:ext cx="1920240" cy="274320"/>
          </a:xfrm>
          <a:prstGeom prst="rect">
            <a:avLst/>
          </a:prstGeom>
          <a:noFill/>
          <a:ln/>
        </p:spPr>
        <p:txBody>
          <a:bodyPr wrap="square" lIns="0" tIns="0" rIns="0" bIns="0" rtlCol="0" anchor="ctr"/>
          <a:lstStyle/>
          <a:p>
            <a:pPr marL="0" indent="0" algn="ctr">
              <a:buNone/>
            </a:pPr>
            <a:r>
              <a:rPr lang="en-US" sz="1100" b="1" dirty="0">
                <a:solidFill>
                  <a:srgbClr val="9CA3AF"/>
                </a:solidFill>
                <a:latin typeface="Poppins" pitchFamily="34" charset="0"/>
                <a:ea typeface="Poppins" pitchFamily="34" charset="-122"/>
                <a:cs typeface="Poppins" pitchFamily="34" charset="-120"/>
              </a:rPr>
              <a:t>Jan. 2027</a:t>
            </a:r>
            <a:endParaRPr lang="en-US" sz="1100" dirty="0"/>
          </a:p>
        </p:txBody>
      </p:sp>
      <p:sp>
        <p:nvSpPr>
          <p:cNvPr id="18" name="Text 16"/>
          <p:cNvSpPr/>
          <p:nvPr/>
        </p:nvSpPr>
        <p:spPr>
          <a:xfrm>
            <a:off x="6766560" y="1787436"/>
            <a:ext cx="1920240" cy="365760"/>
          </a:xfrm>
          <a:prstGeom prst="rect">
            <a:avLst/>
          </a:prstGeom>
          <a:noFill/>
          <a:ln/>
        </p:spPr>
        <p:txBody>
          <a:bodyPr wrap="square" lIns="0" tIns="0" rIns="0" bIns="0" rtlCol="0" anchor="ctr"/>
          <a:lstStyle/>
          <a:p>
            <a:pPr marL="0" indent="0" algn="ctr">
              <a:buNone/>
            </a:pPr>
            <a:r>
              <a:rPr lang="en-US" sz="2200" b="1" dirty="0">
                <a:solidFill>
                  <a:srgbClr val="0F172A"/>
                </a:solidFill>
                <a:latin typeface="Poppins" pitchFamily="34" charset="0"/>
                <a:ea typeface="Poppins" pitchFamily="34" charset="-122"/>
                <a:cs typeface="Poppins" pitchFamily="34" charset="-120"/>
              </a:rPr>
              <a:t>Vision</a:t>
            </a:r>
            <a:endParaRPr lang="en-US" sz="2200" dirty="0"/>
          </a:p>
        </p:txBody>
      </p:sp>
      <p:sp>
        <p:nvSpPr>
          <p:cNvPr id="19" name="Text 17"/>
          <p:cNvSpPr/>
          <p:nvPr/>
        </p:nvSpPr>
        <p:spPr>
          <a:xfrm>
            <a:off x="6812280" y="1965960"/>
            <a:ext cx="1828800" cy="2743200"/>
          </a:xfrm>
          <a:prstGeom prst="rect">
            <a:avLst/>
          </a:prstGeom>
          <a:noFill/>
          <a:ln/>
        </p:spPr>
        <p:txBody>
          <a:bodyPr wrap="square" lIns="0" tIns="0" rIns="0" bIns="0" rtlCol="0" anchor="ctr"/>
          <a:lstStyle/>
          <a:p>
            <a:pPr marL="342900" indent="-342900">
              <a:lnSpc>
                <a:spcPct val="140000"/>
              </a:lnSpc>
              <a:buSzPct val="100000"/>
              <a:buChar char="•"/>
            </a:pPr>
            <a:r>
              <a:rPr lang="en-US" sz="900" dirty="0">
                <a:solidFill>
                  <a:srgbClr val="374151"/>
                </a:solidFill>
                <a:latin typeface="Poppins" pitchFamily="34" charset="0"/>
                <a:ea typeface="Poppins" pitchFamily="34" charset="-122"/>
                <a:cs typeface="Poppins" pitchFamily="34" charset="-120"/>
              </a:rPr>
              <a:t>Agent IA de gouvernance</a:t>
            </a:r>
            <a:endParaRPr lang="en-US" sz="900" dirty="0"/>
          </a:p>
          <a:p>
            <a:pPr marL="342900" indent="-342900">
              <a:lnSpc>
                <a:spcPct val="140000"/>
              </a:lnSpc>
              <a:buSzPct val="100000"/>
              <a:buChar char="•"/>
            </a:pPr>
            <a:r>
              <a:rPr lang="en-US" sz="900" dirty="0">
                <a:solidFill>
                  <a:srgbClr val="374151"/>
                </a:solidFill>
                <a:latin typeface="Poppins" pitchFamily="34" charset="0"/>
                <a:ea typeface="Poppins" pitchFamily="34" charset="-122"/>
                <a:cs typeface="Poppins" pitchFamily="34" charset="-120"/>
              </a:rPr>
              <a:t>IA locale multi-agents</a:t>
            </a:r>
            <a:endParaRPr lang="en-US" sz="900" dirty="0"/>
          </a:p>
          <a:p>
            <a:pPr marL="342900" indent="-342900">
              <a:lnSpc>
                <a:spcPct val="140000"/>
              </a:lnSpc>
              <a:buSzPct val="100000"/>
              <a:buChar char="•"/>
            </a:pPr>
            <a:r>
              <a:rPr lang="en-US" sz="900" dirty="0">
                <a:solidFill>
                  <a:srgbClr val="374151"/>
                </a:solidFill>
                <a:latin typeface="Poppins" pitchFamily="34" charset="0"/>
                <a:ea typeface="Poppins" pitchFamily="34" charset="-122"/>
                <a:cs typeface="Poppins" pitchFamily="34" charset="-120"/>
              </a:rPr>
              <a:t>Auto-optimisation</a:t>
            </a:r>
            <a:endParaRPr lang="en-US" sz="900" dirty="0"/>
          </a:p>
          <a:p>
            <a:pPr marL="342900" indent="-342900">
              <a:lnSpc>
                <a:spcPct val="140000"/>
              </a:lnSpc>
              <a:buSzPct val="100000"/>
              <a:buChar char="•"/>
            </a:pPr>
            <a:r>
              <a:rPr lang="en-US" sz="900" dirty="0">
                <a:solidFill>
                  <a:srgbClr val="374151"/>
                </a:solidFill>
                <a:latin typeface="Poppins" pitchFamily="34" charset="0"/>
                <a:ea typeface="Poppins" pitchFamily="34" charset="-122"/>
                <a:cs typeface="Poppins" pitchFamily="34" charset="-120"/>
              </a:rPr>
              <a:t>Expansion Europe</a:t>
            </a:r>
            <a:endParaRPr lang="en-US" sz="900" dirty="0"/>
          </a:p>
        </p:txBody>
      </p:sp>
      <p:sp>
        <p:nvSpPr>
          <p:cNvPr id="20" name="Text 18"/>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900" dirty="0">
                <a:solidFill>
                  <a:srgbClr val="9CA3AF"/>
                </a:solidFill>
                <a:latin typeface="Poppins" pitchFamily="34" charset="0"/>
                <a:ea typeface="Poppins" pitchFamily="34" charset="-122"/>
                <a:cs typeface="Poppins"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74320"/>
            <a:ext cx="8229600" cy="457200"/>
          </a:xfrm>
          <a:prstGeom prst="rect">
            <a:avLst/>
          </a:prstGeom>
          <a:noFill/>
          <a:ln/>
        </p:spPr>
        <p:txBody>
          <a:bodyPr wrap="square" lIns="0" tIns="0" rIns="0" bIns="0" rtlCol="0" anchor="ctr"/>
          <a:lstStyle/>
          <a:p>
            <a:pPr marL="0" indent="0">
              <a:buNone/>
            </a:pPr>
            <a:r>
              <a:rPr lang="en-US" sz="3000" b="1" dirty="0">
                <a:solidFill>
                  <a:srgbClr val="0F172A"/>
                </a:solidFill>
                <a:latin typeface="Poppins" pitchFamily="34" charset="0"/>
                <a:ea typeface="Poppins" pitchFamily="34" charset="-122"/>
                <a:cs typeface="Poppins" pitchFamily="34" charset="-120"/>
              </a:rPr>
              <a:t>Équipe fondatrice</a:t>
            </a:r>
            <a:endParaRPr lang="en-US" sz="3000" dirty="0"/>
          </a:p>
        </p:txBody>
      </p:sp>
      <p:sp>
        <p:nvSpPr>
          <p:cNvPr id="3" name="Shape 1"/>
          <p:cNvSpPr/>
          <p:nvPr/>
        </p:nvSpPr>
        <p:spPr>
          <a:xfrm>
            <a:off x="914400" y="1005840"/>
            <a:ext cx="3474720" cy="3566160"/>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4" name="Shape 2"/>
          <p:cNvSpPr/>
          <p:nvPr/>
        </p:nvSpPr>
        <p:spPr>
          <a:xfrm>
            <a:off x="914400" y="1005840"/>
            <a:ext cx="73152" cy="3566160"/>
          </a:xfrm>
          <a:prstGeom prst="rect">
            <a:avLst/>
          </a:prstGeom>
          <a:solidFill>
            <a:srgbClr val="1677FF"/>
          </a:solidFill>
          <a:ln/>
        </p:spPr>
        <p:txBody>
          <a:bodyPr/>
          <a:lstStyle/>
          <a:p>
            <a:endParaRPr lang="fr-FR"/>
          </a:p>
        </p:txBody>
      </p:sp>
      <p:sp>
        <p:nvSpPr>
          <p:cNvPr id="5" name="Shape 3"/>
          <p:cNvSpPr/>
          <p:nvPr/>
        </p:nvSpPr>
        <p:spPr>
          <a:xfrm>
            <a:off x="2103120" y="1234440"/>
            <a:ext cx="1097280" cy="1097280"/>
          </a:xfrm>
          <a:prstGeom prst="ellipse">
            <a:avLst/>
          </a:prstGeom>
          <a:solidFill>
            <a:srgbClr val="EBF5FF"/>
          </a:solidFill>
          <a:ln/>
        </p:spPr>
        <p:txBody>
          <a:bodyPr/>
          <a:lstStyle/>
          <a:p>
            <a:endParaRPr lang="fr-FR"/>
          </a:p>
        </p:txBody>
      </p:sp>
      <p:pic>
        <p:nvPicPr>
          <p:cNvPr id="6" name="Image 0" descr="preencoded.png"/>
          <p:cNvPicPr>
            <a:picLocks noChangeAspect="1"/>
          </p:cNvPicPr>
          <p:nvPr/>
        </p:nvPicPr>
        <p:blipFill>
          <a:blip r:embed="rId3"/>
          <a:stretch>
            <a:fillRect/>
          </a:stretch>
        </p:blipFill>
        <p:spPr>
          <a:xfrm>
            <a:off x="2331720" y="1463040"/>
            <a:ext cx="640080" cy="640080"/>
          </a:xfrm>
          <a:prstGeom prst="rect">
            <a:avLst/>
          </a:prstGeom>
        </p:spPr>
      </p:pic>
      <p:sp>
        <p:nvSpPr>
          <p:cNvPr id="7" name="Text 4"/>
          <p:cNvSpPr/>
          <p:nvPr/>
        </p:nvSpPr>
        <p:spPr>
          <a:xfrm>
            <a:off x="1097280" y="2423160"/>
            <a:ext cx="3108960" cy="320040"/>
          </a:xfrm>
          <a:prstGeom prst="rect">
            <a:avLst/>
          </a:prstGeom>
          <a:noFill/>
          <a:ln/>
        </p:spPr>
        <p:txBody>
          <a:bodyPr wrap="square" lIns="0" tIns="0" rIns="0" bIns="0" rtlCol="0" anchor="ctr"/>
          <a:lstStyle/>
          <a:p>
            <a:pPr marL="0" indent="0" algn="ctr">
              <a:buNone/>
            </a:pPr>
            <a:r>
              <a:rPr lang="en-US" sz="1600" b="1" dirty="0">
                <a:solidFill>
                  <a:srgbClr val="0F172A"/>
                </a:solidFill>
                <a:latin typeface="Poppins" pitchFamily="34" charset="0"/>
                <a:ea typeface="Poppins" pitchFamily="34" charset="-122"/>
                <a:cs typeface="Poppins" pitchFamily="34" charset="-120"/>
              </a:rPr>
              <a:t>Edouard Bernier</a:t>
            </a:r>
            <a:endParaRPr lang="en-US" sz="1600" dirty="0"/>
          </a:p>
        </p:txBody>
      </p:sp>
      <p:sp>
        <p:nvSpPr>
          <p:cNvPr id="8" name="Text 5"/>
          <p:cNvSpPr/>
          <p:nvPr/>
        </p:nvSpPr>
        <p:spPr>
          <a:xfrm>
            <a:off x="1097280" y="2743200"/>
            <a:ext cx="3108960" cy="228600"/>
          </a:xfrm>
          <a:prstGeom prst="rect">
            <a:avLst/>
          </a:prstGeom>
          <a:noFill/>
          <a:ln/>
        </p:spPr>
        <p:txBody>
          <a:bodyPr wrap="square" lIns="0" tIns="0" rIns="0" bIns="0" rtlCol="0" anchor="ctr"/>
          <a:lstStyle/>
          <a:p>
            <a:pPr marL="0" indent="0" algn="ctr">
              <a:buNone/>
            </a:pPr>
            <a:r>
              <a:rPr lang="en-US" sz="1200" dirty="0">
                <a:solidFill>
                  <a:srgbClr val="1677FF"/>
                </a:solidFill>
                <a:latin typeface="Poppins" pitchFamily="34" charset="0"/>
                <a:ea typeface="Poppins" pitchFamily="34" charset="-122"/>
                <a:cs typeface="Poppins" pitchFamily="34" charset="-120"/>
              </a:rPr>
              <a:t>Fondateur &amp; CEO</a:t>
            </a:r>
            <a:endParaRPr lang="en-US" sz="1200" dirty="0"/>
          </a:p>
        </p:txBody>
      </p:sp>
      <p:sp>
        <p:nvSpPr>
          <p:cNvPr id="9" name="Text 6"/>
          <p:cNvSpPr/>
          <p:nvPr/>
        </p:nvSpPr>
        <p:spPr>
          <a:xfrm>
            <a:off x="1188720" y="3063240"/>
            <a:ext cx="2926080" cy="1280160"/>
          </a:xfrm>
          <a:prstGeom prst="rect">
            <a:avLst/>
          </a:prstGeom>
          <a:noFill/>
          <a:ln/>
        </p:spPr>
        <p:txBody>
          <a:bodyPr wrap="square" lIns="0" tIns="0" rIns="0" bIns="0" rtlCol="0" anchor="ctr"/>
          <a:lstStyle/>
          <a:p>
            <a:pPr marL="342900" indent="-342900">
              <a:lnSpc>
                <a:spcPct val="130000"/>
              </a:lnSpc>
              <a:buSzPct val="100000"/>
              <a:buChar char="•"/>
            </a:pPr>
            <a:r>
              <a:rPr lang="en-US" sz="1000" dirty="0">
                <a:solidFill>
                  <a:srgbClr val="374151"/>
                </a:solidFill>
                <a:latin typeface="Poppins" pitchFamily="34" charset="0"/>
                <a:ea typeface="Poppins" pitchFamily="34" charset="-122"/>
                <a:cs typeface="Poppins" pitchFamily="34" charset="-120"/>
              </a:rPr>
              <a:t>Formé à École 42 Lyon</a:t>
            </a:r>
            <a:endParaRPr lang="en-US" sz="1000" dirty="0"/>
          </a:p>
          <a:p>
            <a:pPr marL="342900" indent="-342900">
              <a:lnSpc>
                <a:spcPct val="130000"/>
              </a:lnSpc>
              <a:buSzPct val="100000"/>
              <a:buChar char="•"/>
            </a:pPr>
            <a:r>
              <a:rPr lang="en-US" sz="1000" dirty="0">
                <a:solidFill>
                  <a:srgbClr val="374151"/>
                </a:solidFill>
                <a:latin typeface="Poppins" pitchFamily="34" charset="0"/>
                <a:ea typeface="Poppins" pitchFamily="34" charset="-122"/>
                <a:cs typeface="Poppins" pitchFamily="34" charset="-120"/>
              </a:rPr>
              <a:t>4+ ans d'intégration ERP, IoT, SaaS</a:t>
            </a:r>
            <a:endParaRPr lang="en-US" sz="1000" dirty="0"/>
          </a:p>
          <a:p>
            <a:pPr marL="342900" indent="-342900">
              <a:lnSpc>
                <a:spcPct val="130000"/>
              </a:lnSpc>
              <a:buSzPct val="100000"/>
              <a:buChar char="•"/>
            </a:pPr>
            <a:r>
              <a:rPr lang="en-US" sz="1000" dirty="0">
                <a:solidFill>
                  <a:srgbClr val="374151"/>
                </a:solidFill>
                <a:latin typeface="Poppins" pitchFamily="34" charset="0"/>
                <a:ea typeface="Poppins" pitchFamily="34" charset="-122"/>
                <a:cs typeface="Poppins" pitchFamily="34" charset="-120"/>
              </a:rPr>
              <a:t>Architecte de KINN &amp; C4RBON Group</a:t>
            </a:r>
            <a:endParaRPr lang="en-US" sz="1000" dirty="0"/>
          </a:p>
          <a:p>
            <a:pPr marL="342900" indent="-342900">
              <a:lnSpc>
                <a:spcPct val="130000"/>
              </a:lnSpc>
              <a:buSzPct val="100000"/>
              <a:buChar char="•"/>
            </a:pPr>
            <a:r>
              <a:rPr lang="en-US" sz="1000" dirty="0">
                <a:solidFill>
                  <a:srgbClr val="374151"/>
                </a:solidFill>
                <a:latin typeface="Poppins" pitchFamily="34" charset="0"/>
                <a:ea typeface="Poppins" pitchFamily="34" charset="-122"/>
                <a:cs typeface="Poppins" pitchFamily="34" charset="-120"/>
              </a:rPr>
              <a:t>Direction produit, R&amp;D IA, connecteurs</a:t>
            </a:r>
            <a:endParaRPr lang="en-US" sz="1000" dirty="0"/>
          </a:p>
        </p:txBody>
      </p:sp>
      <p:sp>
        <p:nvSpPr>
          <p:cNvPr id="10" name="Shape 7"/>
          <p:cNvSpPr/>
          <p:nvPr/>
        </p:nvSpPr>
        <p:spPr>
          <a:xfrm>
            <a:off x="4754880" y="1005840"/>
            <a:ext cx="3474720" cy="3566160"/>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11" name="Shape 8"/>
          <p:cNvSpPr/>
          <p:nvPr/>
        </p:nvSpPr>
        <p:spPr>
          <a:xfrm>
            <a:off x="4754880" y="1005840"/>
            <a:ext cx="73152" cy="3566160"/>
          </a:xfrm>
          <a:prstGeom prst="rect">
            <a:avLst/>
          </a:prstGeom>
          <a:solidFill>
            <a:srgbClr val="16A34A"/>
          </a:solidFill>
          <a:ln/>
        </p:spPr>
        <p:txBody>
          <a:bodyPr/>
          <a:lstStyle/>
          <a:p>
            <a:endParaRPr lang="fr-FR"/>
          </a:p>
        </p:txBody>
      </p:sp>
      <p:sp>
        <p:nvSpPr>
          <p:cNvPr id="12" name="Shape 9"/>
          <p:cNvSpPr/>
          <p:nvPr/>
        </p:nvSpPr>
        <p:spPr>
          <a:xfrm>
            <a:off x="5943600" y="1234440"/>
            <a:ext cx="1097280" cy="1097280"/>
          </a:xfrm>
          <a:prstGeom prst="ellipse">
            <a:avLst/>
          </a:prstGeom>
          <a:solidFill>
            <a:srgbClr val="E8F5E9"/>
          </a:solidFill>
          <a:ln/>
        </p:spPr>
        <p:txBody>
          <a:bodyPr/>
          <a:lstStyle/>
          <a:p>
            <a:endParaRPr lang="fr-FR"/>
          </a:p>
        </p:txBody>
      </p:sp>
      <p:pic>
        <p:nvPicPr>
          <p:cNvPr id="13" name="Image 1" descr="preencoded.png"/>
          <p:cNvPicPr>
            <a:picLocks noChangeAspect="1"/>
          </p:cNvPicPr>
          <p:nvPr/>
        </p:nvPicPr>
        <p:blipFill>
          <a:blip r:embed="rId4"/>
          <a:stretch>
            <a:fillRect/>
          </a:stretch>
        </p:blipFill>
        <p:spPr>
          <a:xfrm>
            <a:off x="6172200" y="1463040"/>
            <a:ext cx="640080" cy="640080"/>
          </a:xfrm>
          <a:prstGeom prst="rect">
            <a:avLst/>
          </a:prstGeom>
        </p:spPr>
      </p:pic>
      <p:sp>
        <p:nvSpPr>
          <p:cNvPr id="14" name="Text 10"/>
          <p:cNvSpPr/>
          <p:nvPr/>
        </p:nvSpPr>
        <p:spPr>
          <a:xfrm>
            <a:off x="4937760" y="2423160"/>
            <a:ext cx="3108960" cy="320040"/>
          </a:xfrm>
          <a:prstGeom prst="rect">
            <a:avLst/>
          </a:prstGeom>
          <a:noFill/>
          <a:ln/>
        </p:spPr>
        <p:txBody>
          <a:bodyPr wrap="square" lIns="0" tIns="0" rIns="0" bIns="0" rtlCol="0" anchor="ctr"/>
          <a:lstStyle/>
          <a:p>
            <a:pPr marL="0" indent="0" algn="ctr">
              <a:buNone/>
            </a:pPr>
            <a:r>
              <a:rPr lang="en-US" sz="1600" b="1" dirty="0">
                <a:solidFill>
                  <a:srgbClr val="0F172A"/>
                </a:solidFill>
                <a:latin typeface="Poppins" pitchFamily="34" charset="0"/>
                <a:ea typeface="Poppins" pitchFamily="34" charset="-122"/>
                <a:cs typeface="Poppins" pitchFamily="34" charset="-120"/>
              </a:rPr>
              <a:t>Pierre Nahon</a:t>
            </a:r>
            <a:endParaRPr lang="en-US" sz="1600" dirty="0"/>
          </a:p>
        </p:txBody>
      </p:sp>
      <p:sp>
        <p:nvSpPr>
          <p:cNvPr id="15" name="Text 11"/>
          <p:cNvSpPr/>
          <p:nvPr/>
        </p:nvSpPr>
        <p:spPr>
          <a:xfrm>
            <a:off x="4937760" y="2743200"/>
            <a:ext cx="3108960" cy="228600"/>
          </a:xfrm>
          <a:prstGeom prst="rect">
            <a:avLst/>
          </a:prstGeom>
          <a:noFill/>
          <a:ln/>
        </p:spPr>
        <p:txBody>
          <a:bodyPr wrap="square" lIns="0" tIns="0" rIns="0" bIns="0" rtlCol="0" anchor="ctr"/>
          <a:lstStyle/>
          <a:p>
            <a:pPr marL="0" indent="0" algn="ctr">
              <a:buNone/>
            </a:pPr>
            <a:r>
              <a:rPr lang="en-US" sz="1200" dirty="0">
                <a:solidFill>
                  <a:srgbClr val="16A34A"/>
                </a:solidFill>
                <a:latin typeface="Poppins" pitchFamily="34" charset="0"/>
                <a:ea typeface="Poppins" pitchFamily="34" charset="-122"/>
                <a:cs typeface="Poppins" pitchFamily="34" charset="-120"/>
              </a:rPr>
              <a:t>Structuration &amp; Investissement</a:t>
            </a:r>
            <a:endParaRPr lang="en-US" sz="1200" dirty="0"/>
          </a:p>
        </p:txBody>
      </p:sp>
      <p:sp>
        <p:nvSpPr>
          <p:cNvPr id="16" name="Text 12"/>
          <p:cNvSpPr/>
          <p:nvPr/>
        </p:nvSpPr>
        <p:spPr>
          <a:xfrm>
            <a:off x="5029200" y="3063240"/>
            <a:ext cx="2926080" cy="1280160"/>
          </a:xfrm>
          <a:prstGeom prst="rect">
            <a:avLst/>
          </a:prstGeom>
          <a:noFill/>
          <a:ln/>
        </p:spPr>
        <p:txBody>
          <a:bodyPr wrap="square" lIns="0" tIns="0" rIns="0" bIns="0" rtlCol="0" anchor="ctr"/>
          <a:lstStyle/>
          <a:p>
            <a:pPr marL="342900" indent="-342900">
              <a:lnSpc>
                <a:spcPct val="130000"/>
              </a:lnSpc>
              <a:buSzPct val="100000"/>
              <a:buChar char="•"/>
            </a:pPr>
            <a:r>
              <a:rPr lang="en-US" sz="1000" dirty="0">
                <a:solidFill>
                  <a:srgbClr val="374151"/>
                </a:solidFill>
                <a:latin typeface="Poppins" pitchFamily="34" charset="0"/>
                <a:ea typeface="Poppins" pitchFamily="34" charset="-122"/>
                <a:cs typeface="Poppins" pitchFamily="34" charset="-120"/>
              </a:rPr>
              <a:t>Ancien banquier SMC</a:t>
            </a:r>
            <a:endParaRPr lang="en-US" sz="1000" dirty="0"/>
          </a:p>
          <a:p>
            <a:pPr marL="342900" indent="-342900">
              <a:lnSpc>
                <a:spcPct val="130000"/>
              </a:lnSpc>
              <a:buSzPct val="100000"/>
              <a:buChar char="•"/>
            </a:pPr>
            <a:r>
              <a:rPr lang="en-US" sz="1000" dirty="0">
                <a:solidFill>
                  <a:srgbClr val="374151"/>
                </a:solidFill>
                <a:latin typeface="Poppins" pitchFamily="34" charset="0"/>
                <a:ea typeface="Poppins" pitchFamily="34" charset="-122"/>
                <a:cs typeface="Poppins" pitchFamily="34" charset="-120"/>
              </a:rPr>
              <a:t>Expertise finance &amp; administration</a:t>
            </a:r>
            <a:endParaRPr lang="en-US" sz="1000" dirty="0"/>
          </a:p>
          <a:p>
            <a:pPr marL="342900" indent="-342900">
              <a:lnSpc>
                <a:spcPct val="130000"/>
              </a:lnSpc>
              <a:buSzPct val="100000"/>
              <a:buChar char="•"/>
            </a:pPr>
            <a:r>
              <a:rPr lang="en-US" sz="1000" dirty="0">
                <a:solidFill>
                  <a:srgbClr val="374151"/>
                </a:solidFill>
                <a:latin typeface="Poppins" pitchFamily="34" charset="0"/>
                <a:ea typeface="Poppins" pitchFamily="34" charset="-122"/>
                <a:cs typeface="Poppins" pitchFamily="34" charset="-120"/>
              </a:rPr>
              <a:t>Support stratégique direction</a:t>
            </a:r>
            <a:endParaRPr lang="en-US" sz="1000" dirty="0"/>
          </a:p>
          <a:p>
            <a:pPr marL="342900" indent="-342900">
              <a:lnSpc>
                <a:spcPct val="130000"/>
              </a:lnSpc>
              <a:buSzPct val="100000"/>
              <a:buChar char="•"/>
            </a:pPr>
            <a:r>
              <a:rPr lang="en-US" sz="1000" dirty="0">
                <a:solidFill>
                  <a:srgbClr val="374151"/>
                </a:solidFill>
                <a:latin typeface="Poppins" pitchFamily="34" charset="0"/>
                <a:ea typeface="Poppins" pitchFamily="34" charset="-122"/>
                <a:cs typeface="Poppins" pitchFamily="34" charset="-120"/>
              </a:rPr>
              <a:t>Cadre financier &amp; gouvernance</a:t>
            </a:r>
            <a:endParaRPr lang="en-US" sz="1000" dirty="0"/>
          </a:p>
        </p:txBody>
      </p:sp>
      <p:sp>
        <p:nvSpPr>
          <p:cNvPr id="17" name="Text 13"/>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900" dirty="0">
                <a:solidFill>
                  <a:srgbClr val="9CA3AF"/>
                </a:solidFill>
                <a:latin typeface="Poppins" pitchFamily="34" charset="0"/>
                <a:ea typeface="Poppins" pitchFamily="34" charset="-122"/>
                <a:cs typeface="Poppins"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182880"/>
            <a:ext cx="8229600" cy="411480"/>
          </a:xfrm>
          <a:prstGeom prst="rect">
            <a:avLst/>
          </a:prstGeom>
          <a:noFill/>
          <a:ln/>
        </p:spPr>
        <p:txBody>
          <a:bodyPr wrap="square" lIns="0" tIns="0" rIns="0" bIns="0" rtlCol="0" anchor="ctr"/>
          <a:lstStyle/>
          <a:p>
            <a:pPr marL="0" indent="0">
              <a:buNone/>
            </a:pPr>
            <a:r>
              <a:rPr lang="en-US" sz="2800" b="1" dirty="0">
                <a:solidFill>
                  <a:srgbClr val="0F172A"/>
                </a:solidFill>
                <a:latin typeface="Poppins" pitchFamily="34" charset="0"/>
                <a:ea typeface="Poppins" pitchFamily="34" charset="-122"/>
                <a:cs typeface="Poppins" pitchFamily="34" charset="-120"/>
              </a:rPr>
              <a:t>Organisation &amp; Board stratégique</a:t>
            </a:r>
            <a:endParaRPr lang="en-US" sz="2800" dirty="0"/>
          </a:p>
        </p:txBody>
      </p:sp>
      <p:sp>
        <p:nvSpPr>
          <p:cNvPr id="3" name="Shape 1"/>
          <p:cNvSpPr/>
          <p:nvPr/>
        </p:nvSpPr>
        <p:spPr>
          <a:xfrm>
            <a:off x="3200400" y="685800"/>
            <a:ext cx="2743200" cy="640080"/>
          </a:xfrm>
          <a:prstGeom prst="rect">
            <a:avLst/>
          </a:prstGeom>
          <a:solidFill>
            <a:srgbClr val="1677FF"/>
          </a:solidFill>
          <a:ln/>
        </p:spPr>
        <p:txBody>
          <a:bodyPr/>
          <a:lstStyle/>
          <a:p>
            <a:endParaRPr lang="fr-FR"/>
          </a:p>
        </p:txBody>
      </p:sp>
      <p:sp>
        <p:nvSpPr>
          <p:cNvPr id="4" name="Text 2"/>
          <p:cNvSpPr/>
          <p:nvPr/>
        </p:nvSpPr>
        <p:spPr>
          <a:xfrm>
            <a:off x="3200400" y="685800"/>
            <a:ext cx="2743200" cy="640080"/>
          </a:xfrm>
          <a:prstGeom prst="rect">
            <a:avLst/>
          </a:prstGeom>
          <a:noFill/>
          <a:ln/>
        </p:spPr>
        <p:txBody>
          <a:bodyPr wrap="square" lIns="0" tIns="0" rIns="0" bIns="0" rtlCol="0" anchor="ctr"/>
          <a:lstStyle/>
          <a:p>
            <a:pPr marL="0" indent="0" algn="ctr">
              <a:buNone/>
            </a:pPr>
            <a:r>
              <a:rPr lang="en-US" sz="1200" b="1" dirty="0">
                <a:solidFill>
                  <a:srgbClr val="FFFFFF"/>
                </a:solidFill>
                <a:latin typeface="Poppins" pitchFamily="34" charset="0"/>
                <a:ea typeface="Poppins" pitchFamily="34" charset="-122"/>
                <a:cs typeface="Poppins" pitchFamily="34" charset="-120"/>
              </a:rPr>
              <a:t>Edouard Bernier - CEO</a:t>
            </a:r>
            <a:endParaRPr lang="en-US" sz="1200" dirty="0"/>
          </a:p>
        </p:txBody>
      </p:sp>
      <p:sp>
        <p:nvSpPr>
          <p:cNvPr id="5" name="Shape 3"/>
          <p:cNvSpPr/>
          <p:nvPr/>
        </p:nvSpPr>
        <p:spPr>
          <a:xfrm>
            <a:off x="4572000" y="1325880"/>
            <a:ext cx="0" cy="274320"/>
          </a:xfrm>
          <a:prstGeom prst="line">
            <a:avLst/>
          </a:prstGeom>
          <a:noFill/>
          <a:ln w="19050">
            <a:solidFill>
              <a:srgbClr val="E5E7EB"/>
            </a:solidFill>
            <a:prstDash val="solid"/>
          </a:ln>
        </p:spPr>
        <p:txBody>
          <a:bodyPr/>
          <a:lstStyle/>
          <a:p>
            <a:endParaRPr lang="fr-FR"/>
          </a:p>
        </p:txBody>
      </p:sp>
      <p:sp>
        <p:nvSpPr>
          <p:cNvPr id="6" name="Shape 4"/>
          <p:cNvSpPr/>
          <p:nvPr/>
        </p:nvSpPr>
        <p:spPr>
          <a:xfrm>
            <a:off x="2103120" y="1600200"/>
            <a:ext cx="4937760" cy="0"/>
          </a:xfrm>
          <a:prstGeom prst="line">
            <a:avLst/>
          </a:prstGeom>
          <a:noFill/>
          <a:ln w="19050">
            <a:solidFill>
              <a:srgbClr val="E5E7EB"/>
            </a:solidFill>
            <a:prstDash val="solid"/>
          </a:ln>
        </p:spPr>
        <p:txBody>
          <a:bodyPr/>
          <a:lstStyle/>
          <a:p>
            <a:endParaRPr lang="fr-FR"/>
          </a:p>
        </p:txBody>
      </p:sp>
      <p:sp>
        <p:nvSpPr>
          <p:cNvPr id="7" name="Shape 5"/>
          <p:cNvSpPr/>
          <p:nvPr/>
        </p:nvSpPr>
        <p:spPr>
          <a:xfrm>
            <a:off x="2103120" y="1600200"/>
            <a:ext cx="0" cy="182880"/>
          </a:xfrm>
          <a:prstGeom prst="line">
            <a:avLst/>
          </a:prstGeom>
          <a:noFill/>
          <a:ln w="19050">
            <a:solidFill>
              <a:srgbClr val="E5E7EB"/>
            </a:solidFill>
            <a:prstDash val="solid"/>
          </a:ln>
        </p:spPr>
        <p:txBody>
          <a:bodyPr/>
          <a:lstStyle/>
          <a:p>
            <a:endParaRPr lang="fr-FR"/>
          </a:p>
        </p:txBody>
      </p:sp>
      <p:sp>
        <p:nvSpPr>
          <p:cNvPr id="8" name="Shape 6"/>
          <p:cNvSpPr/>
          <p:nvPr/>
        </p:nvSpPr>
        <p:spPr>
          <a:xfrm>
            <a:off x="1005840" y="1783080"/>
            <a:ext cx="2194560" cy="594360"/>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9" name="Text 7"/>
          <p:cNvSpPr/>
          <p:nvPr/>
        </p:nvSpPr>
        <p:spPr>
          <a:xfrm>
            <a:off x="1097280" y="1810512"/>
            <a:ext cx="2011680" cy="274320"/>
          </a:xfrm>
          <a:prstGeom prst="rect">
            <a:avLst/>
          </a:prstGeom>
          <a:noFill/>
          <a:ln/>
        </p:spPr>
        <p:txBody>
          <a:bodyPr wrap="square" lIns="0" tIns="0" rIns="0" bIns="0" rtlCol="0" anchor="ctr"/>
          <a:lstStyle/>
          <a:p>
            <a:pPr marL="0" indent="0">
              <a:buNone/>
            </a:pPr>
            <a:r>
              <a:rPr lang="en-US" sz="1000" b="1" dirty="0">
                <a:solidFill>
                  <a:srgbClr val="0F172A"/>
                </a:solidFill>
                <a:latin typeface="Poppins" pitchFamily="34" charset="0"/>
                <a:ea typeface="Poppins" pitchFamily="34" charset="-122"/>
                <a:cs typeface="Poppins" pitchFamily="34" charset="-120"/>
              </a:rPr>
              <a:t>Aurélien Mosini</a:t>
            </a:r>
            <a:endParaRPr lang="en-US" sz="1000" dirty="0"/>
          </a:p>
        </p:txBody>
      </p:sp>
      <p:sp>
        <p:nvSpPr>
          <p:cNvPr id="10" name="Text 8"/>
          <p:cNvSpPr/>
          <p:nvPr/>
        </p:nvSpPr>
        <p:spPr>
          <a:xfrm>
            <a:off x="1097280" y="2084832"/>
            <a:ext cx="2011680" cy="228600"/>
          </a:xfrm>
          <a:prstGeom prst="rect">
            <a:avLst/>
          </a:prstGeom>
          <a:noFill/>
          <a:ln/>
        </p:spPr>
        <p:txBody>
          <a:bodyPr wrap="square" lIns="0" tIns="0" rIns="0" bIns="0" rtlCol="0" anchor="ctr"/>
          <a:lstStyle/>
          <a:p>
            <a:pPr marL="0" indent="0">
              <a:buNone/>
            </a:pPr>
            <a:r>
              <a:rPr lang="en-US" sz="900" dirty="0">
                <a:solidFill>
                  <a:srgbClr val="1677FF"/>
                </a:solidFill>
                <a:latin typeface="Poppins" pitchFamily="34" charset="0"/>
                <a:ea typeface="Poppins" pitchFamily="34" charset="-122"/>
                <a:cs typeface="Poppins" pitchFamily="34" charset="-120"/>
              </a:rPr>
              <a:t>CTO</a:t>
            </a:r>
            <a:endParaRPr lang="en-US" sz="900" dirty="0"/>
          </a:p>
        </p:txBody>
      </p:sp>
      <p:sp>
        <p:nvSpPr>
          <p:cNvPr id="11" name="Shape 9"/>
          <p:cNvSpPr/>
          <p:nvPr/>
        </p:nvSpPr>
        <p:spPr>
          <a:xfrm>
            <a:off x="4572000" y="1600200"/>
            <a:ext cx="0" cy="182880"/>
          </a:xfrm>
          <a:prstGeom prst="line">
            <a:avLst/>
          </a:prstGeom>
          <a:noFill/>
          <a:ln w="19050">
            <a:solidFill>
              <a:srgbClr val="E5E7EB"/>
            </a:solidFill>
            <a:prstDash val="solid"/>
          </a:ln>
        </p:spPr>
        <p:txBody>
          <a:bodyPr/>
          <a:lstStyle/>
          <a:p>
            <a:endParaRPr lang="fr-FR"/>
          </a:p>
        </p:txBody>
      </p:sp>
      <p:sp>
        <p:nvSpPr>
          <p:cNvPr id="12" name="Shape 10"/>
          <p:cNvSpPr/>
          <p:nvPr/>
        </p:nvSpPr>
        <p:spPr>
          <a:xfrm>
            <a:off x="3474720" y="1783080"/>
            <a:ext cx="2194560" cy="594360"/>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13" name="Text 11"/>
          <p:cNvSpPr/>
          <p:nvPr/>
        </p:nvSpPr>
        <p:spPr>
          <a:xfrm>
            <a:off x="3566160" y="1810512"/>
            <a:ext cx="2011680" cy="274320"/>
          </a:xfrm>
          <a:prstGeom prst="rect">
            <a:avLst/>
          </a:prstGeom>
          <a:noFill/>
          <a:ln/>
        </p:spPr>
        <p:txBody>
          <a:bodyPr wrap="square" lIns="0" tIns="0" rIns="0" bIns="0" rtlCol="0" anchor="ctr"/>
          <a:lstStyle/>
          <a:p>
            <a:pPr marL="0" indent="0">
              <a:buNone/>
            </a:pPr>
            <a:r>
              <a:rPr lang="en-US" sz="1000" b="1" dirty="0">
                <a:solidFill>
                  <a:srgbClr val="0F172A"/>
                </a:solidFill>
                <a:latin typeface="Poppins" pitchFamily="34" charset="0"/>
                <a:ea typeface="Poppins" pitchFamily="34" charset="-122"/>
                <a:cs typeface="Poppins" pitchFamily="34" charset="-120"/>
              </a:rPr>
              <a:t>Caroline Aellig</a:t>
            </a:r>
            <a:endParaRPr lang="en-US" sz="1000" dirty="0"/>
          </a:p>
        </p:txBody>
      </p:sp>
      <p:sp>
        <p:nvSpPr>
          <p:cNvPr id="14" name="Text 12"/>
          <p:cNvSpPr/>
          <p:nvPr/>
        </p:nvSpPr>
        <p:spPr>
          <a:xfrm>
            <a:off x="3566160" y="2084832"/>
            <a:ext cx="2011680" cy="228600"/>
          </a:xfrm>
          <a:prstGeom prst="rect">
            <a:avLst/>
          </a:prstGeom>
          <a:noFill/>
          <a:ln/>
        </p:spPr>
        <p:txBody>
          <a:bodyPr wrap="square" lIns="0" tIns="0" rIns="0" bIns="0" rtlCol="0" anchor="ctr"/>
          <a:lstStyle/>
          <a:p>
            <a:pPr marL="0" indent="0">
              <a:buNone/>
            </a:pPr>
            <a:r>
              <a:rPr lang="en-US" sz="900" dirty="0">
                <a:solidFill>
                  <a:srgbClr val="1677FF"/>
                </a:solidFill>
                <a:latin typeface="Poppins" pitchFamily="34" charset="0"/>
                <a:ea typeface="Poppins" pitchFamily="34" charset="-122"/>
                <a:cs typeface="Poppins" pitchFamily="34" charset="-120"/>
              </a:rPr>
              <a:t>Commercial</a:t>
            </a:r>
            <a:endParaRPr lang="en-US" sz="900" dirty="0"/>
          </a:p>
        </p:txBody>
      </p:sp>
      <p:sp>
        <p:nvSpPr>
          <p:cNvPr id="15" name="Shape 13"/>
          <p:cNvSpPr/>
          <p:nvPr/>
        </p:nvSpPr>
        <p:spPr>
          <a:xfrm>
            <a:off x="7040880" y="1600200"/>
            <a:ext cx="0" cy="182880"/>
          </a:xfrm>
          <a:prstGeom prst="line">
            <a:avLst/>
          </a:prstGeom>
          <a:noFill/>
          <a:ln w="19050">
            <a:solidFill>
              <a:srgbClr val="E5E7EB"/>
            </a:solidFill>
            <a:prstDash val="solid"/>
          </a:ln>
        </p:spPr>
        <p:txBody>
          <a:bodyPr/>
          <a:lstStyle/>
          <a:p>
            <a:endParaRPr lang="fr-FR"/>
          </a:p>
        </p:txBody>
      </p:sp>
      <p:sp>
        <p:nvSpPr>
          <p:cNvPr id="16" name="Shape 14"/>
          <p:cNvSpPr/>
          <p:nvPr/>
        </p:nvSpPr>
        <p:spPr>
          <a:xfrm>
            <a:off x="5943600" y="1783080"/>
            <a:ext cx="2194560" cy="594360"/>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17" name="Text 15"/>
          <p:cNvSpPr/>
          <p:nvPr/>
        </p:nvSpPr>
        <p:spPr>
          <a:xfrm>
            <a:off x="6035040" y="1810512"/>
            <a:ext cx="2011680" cy="274320"/>
          </a:xfrm>
          <a:prstGeom prst="rect">
            <a:avLst/>
          </a:prstGeom>
          <a:noFill/>
          <a:ln/>
        </p:spPr>
        <p:txBody>
          <a:bodyPr wrap="square" lIns="0" tIns="0" rIns="0" bIns="0" rtlCol="0" anchor="ctr"/>
          <a:lstStyle/>
          <a:p>
            <a:pPr marL="0" indent="0">
              <a:buNone/>
            </a:pPr>
            <a:r>
              <a:rPr lang="en-US" sz="1000" b="1" dirty="0">
                <a:solidFill>
                  <a:srgbClr val="0F172A"/>
                </a:solidFill>
                <a:latin typeface="Poppins" pitchFamily="34" charset="0"/>
                <a:ea typeface="Poppins" pitchFamily="34" charset="-122"/>
                <a:cs typeface="Poppins" pitchFamily="34" charset="-120"/>
              </a:rPr>
              <a:t>Mathéo Rose</a:t>
            </a:r>
            <a:endParaRPr lang="en-US" sz="1000" dirty="0"/>
          </a:p>
        </p:txBody>
      </p:sp>
      <p:sp>
        <p:nvSpPr>
          <p:cNvPr id="18" name="Text 16"/>
          <p:cNvSpPr/>
          <p:nvPr/>
        </p:nvSpPr>
        <p:spPr>
          <a:xfrm>
            <a:off x="6035040" y="2084832"/>
            <a:ext cx="2011680" cy="228600"/>
          </a:xfrm>
          <a:prstGeom prst="rect">
            <a:avLst/>
          </a:prstGeom>
          <a:noFill/>
          <a:ln/>
        </p:spPr>
        <p:txBody>
          <a:bodyPr wrap="square" lIns="0" tIns="0" rIns="0" bIns="0" rtlCol="0" anchor="ctr"/>
          <a:lstStyle/>
          <a:p>
            <a:pPr marL="0" indent="0">
              <a:buNone/>
            </a:pPr>
            <a:r>
              <a:rPr lang="en-US" sz="900" dirty="0">
                <a:solidFill>
                  <a:srgbClr val="1677FF"/>
                </a:solidFill>
                <a:latin typeface="Poppins" pitchFamily="34" charset="0"/>
                <a:ea typeface="Poppins" pitchFamily="34" charset="-122"/>
                <a:cs typeface="Poppins" pitchFamily="34" charset="-120"/>
              </a:rPr>
              <a:t>Apprenti</a:t>
            </a:r>
            <a:endParaRPr lang="en-US" sz="900" dirty="0"/>
          </a:p>
        </p:txBody>
      </p:sp>
      <p:sp>
        <p:nvSpPr>
          <p:cNvPr id="19" name="Shape 17"/>
          <p:cNvSpPr/>
          <p:nvPr/>
        </p:nvSpPr>
        <p:spPr>
          <a:xfrm>
            <a:off x="4572000" y="2377440"/>
            <a:ext cx="0" cy="228600"/>
          </a:xfrm>
          <a:prstGeom prst="line">
            <a:avLst/>
          </a:prstGeom>
          <a:noFill/>
          <a:ln w="19050">
            <a:solidFill>
              <a:srgbClr val="E5E7EB"/>
            </a:solidFill>
            <a:prstDash val="solid"/>
          </a:ln>
        </p:spPr>
        <p:txBody>
          <a:bodyPr/>
          <a:lstStyle/>
          <a:p>
            <a:endParaRPr lang="fr-FR"/>
          </a:p>
        </p:txBody>
      </p:sp>
      <p:sp>
        <p:nvSpPr>
          <p:cNvPr id="20" name="Shape 18"/>
          <p:cNvSpPr/>
          <p:nvPr/>
        </p:nvSpPr>
        <p:spPr>
          <a:xfrm>
            <a:off x="640080" y="2606040"/>
            <a:ext cx="7863840" cy="502920"/>
          </a:xfrm>
          <a:prstGeom prst="rect">
            <a:avLst/>
          </a:prstGeom>
          <a:solidFill>
            <a:srgbClr val="EBF5FF"/>
          </a:solidFill>
          <a:ln/>
        </p:spPr>
        <p:txBody>
          <a:bodyPr/>
          <a:lstStyle/>
          <a:p>
            <a:endParaRPr lang="fr-FR"/>
          </a:p>
        </p:txBody>
      </p:sp>
      <p:sp>
        <p:nvSpPr>
          <p:cNvPr id="21" name="Text 19"/>
          <p:cNvSpPr/>
          <p:nvPr/>
        </p:nvSpPr>
        <p:spPr>
          <a:xfrm>
            <a:off x="640080" y="2606040"/>
            <a:ext cx="7863840" cy="502920"/>
          </a:xfrm>
          <a:prstGeom prst="rect">
            <a:avLst/>
          </a:prstGeom>
          <a:noFill/>
          <a:ln/>
        </p:spPr>
        <p:txBody>
          <a:bodyPr wrap="square" lIns="0" tIns="0" rIns="0" bIns="0" rtlCol="0" anchor="ctr"/>
          <a:lstStyle/>
          <a:p>
            <a:pPr marL="0" indent="0" algn="ctr">
              <a:buNone/>
            </a:pPr>
            <a:r>
              <a:rPr lang="en-US" sz="1100" dirty="0">
                <a:solidFill>
                  <a:srgbClr val="1677FF"/>
                </a:solidFill>
                <a:latin typeface="Poppins" pitchFamily="34" charset="0"/>
                <a:ea typeface="Poppins" pitchFamily="34" charset="-122"/>
                <a:cs typeface="Poppins" pitchFamily="34" charset="-120"/>
              </a:rPr>
              <a:t>+ Réseau de consultants IA / </a:t>
            </a:r>
            <a:r>
              <a:rPr lang="en-US" sz="1100" dirty="0" err="1">
                <a:solidFill>
                  <a:srgbClr val="1677FF"/>
                </a:solidFill>
                <a:latin typeface="Poppins" pitchFamily="34" charset="0"/>
                <a:ea typeface="Poppins" pitchFamily="34" charset="-122"/>
                <a:cs typeface="Poppins" pitchFamily="34" charset="-120"/>
              </a:rPr>
              <a:t>Automatisation</a:t>
            </a:r>
            <a:r>
              <a:rPr lang="en-US" sz="1100" dirty="0">
                <a:solidFill>
                  <a:srgbClr val="1677FF"/>
                </a:solidFill>
                <a:latin typeface="Poppins" pitchFamily="34" charset="0"/>
                <a:ea typeface="Poppins" pitchFamily="34" charset="-122"/>
                <a:cs typeface="Poppins" pitchFamily="34" charset="-120"/>
              </a:rPr>
              <a:t> - Ambassadeurs terrain</a:t>
            </a:r>
            <a:endParaRPr lang="en-US" sz="1100" dirty="0"/>
          </a:p>
        </p:txBody>
      </p:sp>
      <p:sp>
        <p:nvSpPr>
          <p:cNvPr id="22" name="Text 20"/>
          <p:cNvSpPr/>
          <p:nvPr/>
        </p:nvSpPr>
        <p:spPr>
          <a:xfrm>
            <a:off x="640080" y="3291840"/>
            <a:ext cx="3657600" cy="274320"/>
          </a:xfrm>
          <a:prstGeom prst="rect">
            <a:avLst/>
          </a:prstGeom>
          <a:noFill/>
          <a:ln/>
        </p:spPr>
        <p:txBody>
          <a:bodyPr wrap="square" lIns="0" tIns="0" rIns="0" bIns="0" rtlCol="0" anchor="ctr"/>
          <a:lstStyle/>
          <a:p>
            <a:pPr marL="0" indent="0">
              <a:buNone/>
            </a:pPr>
            <a:r>
              <a:rPr lang="en-US" sz="1300" b="1" dirty="0">
                <a:solidFill>
                  <a:srgbClr val="1677FF"/>
                </a:solidFill>
                <a:latin typeface="Poppins" pitchFamily="34" charset="0"/>
                <a:ea typeface="Poppins" pitchFamily="34" charset="-122"/>
                <a:cs typeface="Poppins" pitchFamily="34" charset="-120"/>
              </a:rPr>
              <a:t>Board stratégique</a:t>
            </a:r>
            <a:endParaRPr lang="en-US" sz="1300" dirty="0"/>
          </a:p>
        </p:txBody>
      </p:sp>
      <p:sp>
        <p:nvSpPr>
          <p:cNvPr id="23" name="Shape 21"/>
          <p:cNvSpPr/>
          <p:nvPr/>
        </p:nvSpPr>
        <p:spPr>
          <a:xfrm>
            <a:off x="731520" y="3657600"/>
            <a:ext cx="3657600" cy="1188720"/>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24" name="Shape 22"/>
          <p:cNvSpPr/>
          <p:nvPr/>
        </p:nvSpPr>
        <p:spPr>
          <a:xfrm>
            <a:off x="731520" y="3657600"/>
            <a:ext cx="54864" cy="1188720"/>
          </a:xfrm>
          <a:prstGeom prst="rect">
            <a:avLst/>
          </a:prstGeom>
          <a:solidFill>
            <a:srgbClr val="F59E0B"/>
          </a:solidFill>
          <a:ln/>
        </p:spPr>
        <p:txBody>
          <a:bodyPr/>
          <a:lstStyle/>
          <a:p>
            <a:endParaRPr lang="fr-FR"/>
          </a:p>
        </p:txBody>
      </p:sp>
      <p:sp>
        <p:nvSpPr>
          <p:cNvPr id="25" name="Text 23"/>
          <p:cNvSpPr/>
          <p:nvPr/>
        </p:nvSpPr>
        <p:spPr>
          <a:xfrm>
            <a:off x="914400" y="3730752"/>
            <a:ext cx="3291840" cy="228600"/>
          </a:xfrm>
          <a:prstGeom prst="rect">
            <a:avLst/>
          </a:prstGeom>
          <a:noFill/>
          <a:ln/>
        </p:spPr>
        <p:txBody>
          <a:bodyPr wrap="square" lIns="0" tIns="0" rIns="0" bIns="0" rtlCol="0" anchor="ctr"/>
          <a:lstStyle/>
          <a:p>
            <a:pPr marL="0" indent="0">
              <a:buNone/>
            </a:pPr>
            <a:r>
              <a:rPr lang="en-US" sz="1200" b="1" dirty="0">
                <a:solidFill>
                  <a:srgbClr val="0F172A"/>
                </a:solidFill>
                <a:latin typeface="Poppins" pitchFamily="34" charset="0"/>
                <a:ea typeface="Poppins" pitchFamily="34" charset="-122"/>
                <a:cs typeface="Poppins" pitchFamily="34" charset="-120"/>
              </a:rPr>
              <a:t>Nicolas Gitton</a:t>
            </a:r>
            <a:endParaRPr lang="en-US" sz="1200" dirty="0"/>
          </a:p>
        </p:txBody>
      </p:sp>
      <p:sp>
        <p:nvSpPr>
          <p:cNvPr id="26" name="Text 24"/>
          <p:cNvSpPr/>
          <p:nvPr/>
        </p:nvSpPr>
        <p:spPr>
          <a:xfrm>
            <a:off x="914400" y="3959352"/>
            <a:ext cx="3291840" cy="201168"/>
          </a:xfrm>
          <a:prstGeom prst="rect">
            <a:avLst/>
          </a:prstGeom>
          <a:noFill/>
          <a:ln/>
        </p:spPr>
        <p:txBody>
          <a:bodyPr wrap="square" lIns="0" tIns="0" rIns="0" bIns="0" rtlCol="0" anchor="ctr"/>
          <a:lstStyle/>
          <a:p>
            <a:pPr marL="0" indent="0">
              <a:buNone/>
            </a:pPr>
            <a:r>
              <a:rPr lang="en-US" sz="1000" dirty="0">
                <a:solidFill>
                  <a:srgbClr val="F59E0B"/>
                </a:solidFill>
                <a:latin typeface="Poppins" pitchFamily="34" charset="0"/>
                <a:ea typeface="Poppins" pitchFamily="34" charset="-122"/>
                <a:cs typeface="Poppins" pitchFamily="34" charset="-120"/>
              </a:rPr>
              <a:t>Expert Supply Chain &amp; Industrie</a:t>
            </a:r>
            <a:endParaRPr lang="en-US" sz="1000" dirty="0"/>
          </a:p>
        </p:txBody>
      </p:sp>
      <p:sp>
        <p:nvSpPr>
          <p:cNvPr id="27" name="Text 25"/>
          <p:cNvSpPr/>
          <p:nvPr/>
        </p:nvSpPr>
        <p:spPr>
          <a:xfrm>
            <a:off x="914400" y="4206240"/>
            <a:ext cx="3291840" cy="502920"/>
          </a:xfrm>
          <a:prstGeom prst="rect">
            <a:avLst/>
          </a:prstGeom>
          <a:noFill/>
          <a:ln/>
        </p:spPr>
        <p:txBody>
          <a:bodyPr wrap="square" lIns="0" tIns="0" rIns="0" bIns="0" rtlCol="0" anchor="ctr"/>
          <a:lstStyle/>
          <a:p>
            <a:pPr marL="0" indent="0">
              <a:lnSpc>
                <a:spcPct val="130000"/>
              </a:lnSpc>
              <a:buNone/>
            </a:pPr>
            <a:r>
              <a:rPr lang="en-US" sz="900" dirty="0">
                <a:solidFill>
                  <a:srgbClr val="374151"/>
                </a:solidFill>
                <a:latin typeface="Poppins" pitchFamily="34" charset="0"/>
                <a:ea typeface="Poppins" pitchFamily="34" charset="-122"/>
                <a:cs typeface="Poppins" pitchFamily="34" charset="-120"/>
              </a:rPr>
              <a:t>Ancien directeur supply chain.</a:t>
            </a:r>
            <a:endParaRPr lang="en-US" sz="900" dirty="0"/>
          </a:p>
          <a:p>
            <a:pPr marL="0" indent="0">
              <a:lnSpc>
                <a:spcPct val="130000"/>
              </a:lnSpc>
              <a:buNone/>
            </a:pPr>
            <a:r>
              <a:rPr lang="en-US" sz="900" dirty="0">
                <a:solidFill>
                  <a:srgbClr val="374151"/>
                </a:solidFill>
                <a:latin typeface="Poppins" pitchFamily="34" charset="0"/>
                <a:ea typeface="Poppins" pitchFamily="34" charset="-122"/>
                <a:cs typeface="Poppins" pitchFamily="34" charset="-120"/>
              </a:rPr>
              <a:t>Réseau industriel &amp; retours terrain.</a:t>
            </a:r>
            <a:endParaRPr lang="en-US" sz="900" dirty="0"/>
          </a:p>
        </p:txBody>
      </p:sp>
      <p:sp>
        <p:nvSpPr>
          <p:cNvPr id="28" name="Shape 26"/>
          <p:cNvSpPr/>
          <p:nvPr/>
        </p:nvSpPr>
        <p:spPr>
          <a:xfrm>
            <a:off x="4754880" y="3657600"/>
            <a:ext cx="3657600" cy="1188720"/>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29" name="Shape 27"/>
          <p:cNvSpPr/>
          <p:nvPr/>
        </p:nvSpPr>
        <p:spPr>
          <a:xfrm>
            <a:off x="4754880" y="3657600"/>
            <a:ext cx="54864" cy="1188720"/>
          </a:xfrm>
          <a:prstGeom prst="rect">
            <a:avLst/>
          </a:prstGeom>
          <a:solidFill>
            <a:srgbClr val="16A34A"/>
          </a:solidFill>
          <a:ln/>
        </p:spPr>
        <p:txBody>
          <a:bodyPr/>
          <a:lstStyle/>
          <a:p>
            <a:endParaRPr lang="fr-FR"/>
          </a:p>
        </p:txBody>
      </p:sp>
      <p:sp>
        <p:nvSpPr>
          <p:cNvPr id="30" name="Text 28"/>
          <p:cNvSpPr/>
          <p:nvPr/>
        </p:nvSpPr>
        <p:spPr>
          <a:xfrm>
            <a:off x="4937760" y="3730752"/>
            <a:ext cx="3291840" cy="228600"/>
          </a:xfrm>
          <a:prstGeom prst="rect">
            <a:avLst/>
          </a:prstGeom>
          <a:noFill/>
          <a:ln/>
        </p:spPr>
        <p:txBody>
          <a:bodyPr wrap="square" lIns="0" tIns="0" rIns="0" bIns="0" rtlCol="0" anchor="ctr"/>
          <a:lstStyle/>
          <a:p>
            <a:pPr marL="0" indent="0">
              <a:buNone/>
            </a:pPr>
            <a:r>
              <a:rPr lang="en-US" sz="1200" b="1" dirty="0">
                <a:solidFill>
                  <a:srgbClr val="0F172A"/>
                </a:solidFill>
                <a:latin typeface="Poppins" pitchFamily="34" charset="0"/>
                <a:ea typeface="Poppins" pitchFamily="34" charset="-122"/>
                <a:cs typeface="Poppins" pitchFamily="34" charset="-120"/>
              </a:rPr>
              <a:t>Jérôme Joly</a:t>
            </a:r>
            <a:endParaRPr lang="en-US" sz="1200" dirty="0"/>
          </a:p>
        </p:txBody>
      </p:sp>
      <p:sp>
        <p:nvSpPr>
          <p:cNvPr id="31" name="Text 29"/>
          <p:cNvSpPr/>
          <p:nvPr/>
        </p:nvSpPr>
        <p:spPr>
          <a:xfrm>
            <a:off x="4937760" y="3959352"/>
            <a:ext cx="3291840" cy="201168"/>
          </a:xfrm>
          <a:prstGeom prst="rect">
            <a:avLst/>
          </a:prstGeom>
          <a:noFill/>
          <a:ln/>
        </p:spPr>
        <p:txBody>
          <a:bodyPr wrap="square" lIns="0" tIns="0" rIns="0" bIns="0" rtlCol="0" anchor="ctr"/>
          <a:lstStyle/>
          <a:p>
            <a:pPr marL="0" indent="0">
              <a:buNone/>
            </a:pPr>
            <a:r>
              <a:rPr lang="en-US" sz="1000" dirty="0">
                <a:solidFill>
                  <a:srgbClr val="16A34A"/>
                </a:solidFill>
                <a:latin typeface="Poppins" pitchFamily="34" charset="0"/>
                <a:ea typeface="Poppins" pitchFamily="34" charset="-122"/>
                <a:cs typeface="Poppins" pitchFamily="34" charset="-120"/>
              </a:rPr>
              <a:t>PDG Joly Formation</a:t>
            </a:r>
            <a:endParaRPr lang="en-US" sz="1000" dirty="0"/>
          </a:p>
        </p:txBody>
      </p:sp>
      <p:sp>
        <p:nvSpPr>
          <p:cNvPr id="32" name="Text 30"/>
          <p:cNvSpPr/>
          <p:nvPr/>
        </p:nvSpPr>
        <p:spPr>
          <a:xfrm>
            <a:off x="4937760" y="4206240"/>
            <a:ext cx="3291840" cy="502920"/>
          </a:xfrm>
          <a:prstGeom prst="rect">
            <a:avLst/>
          </a:prstGeom>
          <a:noFill/>
          <a:ln/>
        </p:spPr>
        <p:txBody>
          <a:bodyPr wrap="square" lIns="0" tIns="0" rIns="0" bIns="0" rtlCol="0" anchor="ctr"/>
          <a:lstStyle/>
          <a:p>
            <a:pPr marL="0" indent="0">
              <a:lnSpc>
                <a:spcPct val="130000"/>
              </a:lnSpc>
              <a:buNone/>
            </a:pPr>
            <a:r>
              <a:rPr lang="en-US" sz="900" dirty="0">
                <a:solidFill>
                  <a:srgbClr val="374151"/>
                </a:solidFill>
                <a:latin typeface="Poppins" pitchFamily="34" charset="0"/>
                <a:ea typeface="Poppins" pitchFamily="34" charset="-122"/>
                <a:cs typeface="Poppins" pitchFamily="34" charset="-120"/>
              </a:rPr>
              <a:t>Directeur d'un organisme de formation.</a:t>
            </a:r>
            <a:endParaRPr lang="en-US" sz="900" dirty="0"/>
          </a:p>
          <a:p>
            <a:pPr marL="0" indent="0">
              <a:lnSpc>
                <a:spcPct val="130000"/>
              </a:lnSpc>
              <a:buNone/>
            </a:pPr>
            <a:r>
              <a:rPr lang="en-US" sz="900" dirty="0">
                <a:solidFill>
                  <a:srgbClr val="374151"/>
                </a:solidFill>
                <a:latin typeface="Poppins" pitchFamily="34" charset="0"/>
                <a:ea typeface="Poppins" pitchFamily="34" charset="-122"/>
                <a:cs typeface="Poppins" pitchFamily="34" charset="-120"/>
              </a:rPr>
              <a:t>Structure la KINN Academy.</a:t>
            </a:r>
            <a:endParaRPr lang="en-US" sz="900" dirty="0"/>
          </a:p>
        </p:txBody>
      </p:sp>
      <p:sp>
        <p:nvSpPr>
          <p:cNvPr id="33" name="Text 31"/>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900" dirty="0">
                <a:solidFill>
                  <a:srgbClr val="9CA3AF"/>
                </a:solidFill>
                <a:latin typeface="Poppins" pitchFamily="34" charset="0"/>
                <a:ea typeface="Poppins" pitchFamily="34" charset="-122"/>
                <a:cs typeface="Poppins"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74320"/>
            <a:ext cx="8229600" cy="411480"/>
          </a:xfrm>
          <a:prstGeom prst="rect">
            <a:avLst/>
          </a:prstGeom>
          <a:noFill/>
          <a:ln/>
        </p:spPr>
        <p:txBody>
          <a:bodyPr wrap="square" lIns="0" tIns="0" rIns="0" bIns="0" rtlCol="0" anchor="ctr"/>
          <a:lstStyle/>
          <a:p>
            <a:pPr marL="0" indent="0">
              <a:buNone/>
            </a:pPr>
            <a:r>
              <a:rPr lang="en-US" sz="3000" b="1" dirty="0">
                <a:solidFill>
                  <a:srgbClr val="0F172A"/>
                </a:solidFill>
                <a:latin typeface="Poppins" pitchFamily="34" charset="0"/>
                <a:ea typeface="Poppins" pitchFamily="34" charset="-122"/>
                <a:cs typeface="Poppins" pitchFamily="34" charset="-120"/>
              </a:rPr>
              <a:t>Concurrence</a:t>
            </a:r>
            <a:endParaRPr lang="en-US" sz="3000" dirty="0"/>
          </a:p>
        </p:txBody>
      </p:sp>
      <p:sp>
        <p:nvSpPr>
          <p:cNvPr id="3" name="Text 1"/>
          <p:cNvSpPr/>
          <p:nvPr/>
        </p:nvSpPr>
        <p:spPr>
          <a:xfrm>
            <a:off x="640080" y="685800"/>
            <a:ext cx="7315200" cy="274320"/>
          </a:xfrm>
          <a:prstGeom prst="rect">
            <a:avLst/>
          </a:prstGeom>
          <a:noFill/>
          <a:ln/>
        </p:spPr>
        <p:txBody>
          <a:bodyPr wrap="square" lIns="0" tIns="0" rIns="0" bIns="0" rtlCol="0" anchor="ctr"/>
          <a:lstStyle/>
          <a:p>
            <a:pPr marL="0" indent="0">
              <a:buNone/>
            </a:pPr>
            <a:r>
              <a:rPr lang="en-US" sz="1200" dirty="0">
                <a:solidFill>
                  <a:srgbClr val="6B7280"/>
                </a:solidFill>
                <a:latin typeface="Poppins" pitchFamily="34" charset="0"/>
                <a:ea typeface="Poppins" pitchFamily="34" charset="-122"/>
                <a:cs typeface="Poppins" pitchFamily="34" charset="-120"/>
              </a:rPr>
              <a:t>KINN unifie automatisation + interfaces + interopérabilité profonde</a:t>
            </a:r>
            <a:endParaRPr lang="en-US" sz="1200" dirty="0"/>
          </a:p>
        </p:txBody>
      </p:sp>
      <p:sp>
        <p:nvSpPr>
          <p:cNvPr id="4" name="Shape 2"/>
          <p:cNvSpPr/>
          <p:nvPr/>
        </p:nvSpPr>
        <p:spPr>
          <a:xfrm>
            <a:off x="640080" y="1051560"/>
            <a:ext cx="2377440" cy="384048"/>
          </a:xfrm>
          <a:prstGeom prst="rect">
            <a:avLst/>
          </a:prstGeom>
          <a:solidFill>
            <a:srgbClr val="1E293B"/>
          </a:solidFill>
          <a:ln/>
        </p:spPr>
        <p:txBody>
          <a:bodyPr/>
          <a:lstStyle/>
          <a:p>
            <a:endParaRPr lang="fr-FR"/>
          </a:p>
        </p:txBody>
      </p:sp>
      <p:sp>
        <p:nvSpPr>
          <p:cNvPr id="5" name="Text 3"/>
          <p:cNvSpPr/>
          <p:nvPr/>
        </p:nvSpPr>
        <p:spPr>
          <a:xfrm>
            <a:off x="731520" y="1051560"/>
            <a:ext cx="2194560" cy="384048"/>
          </a:xfrm>
          <a:prstGeom prst="rect">
            <a:avLst/>
          </a:prstGeom>
          <a:noFill/>
          <a:ln/>
        </p:spPr>
        <p:txBody>
          <a:bodyPr wrap="square" lIns="0" tIns="0" rIns="0" bIns="0" rtlCol="0" anchor="ctr"/>
          <a:lstStyle/>
          <a:p>
            <a:pPr marL="0" indent="0">
              <a:buNone/>
            </a:pPr>
            <a:r>
              <a:rPr lang="en-US" sz="1000" b="1" dirty="0">
                <a:solidFill>
                  <a:srgbClr val="FFFFFF"/>
                </a:solidFill>
                <a:latin typeface="Poppins" pitchFamily="34" charset="0"/>
                <a:ea typeface="Poppins" pitchFamily="34" charset="-122"/>
                <a:cs typeface="Poppins" pitchFamily="34" charset="-120"/>
              </a:rPr>
              <a:t>Critère</a:t>
            </a:r>
            <a:endParaRPr lang="en-US" sz="1000" dirty="0"/>
          </a:p>
        </p:txBody>
      </p:sp>
      <p:sp>
        <p:nvSpPr>
          <p:cNvPr id="6" name="Shape 4"/>
          <p:cNvSpPr/>
          <p:nvPr/>
        </p:nvSpPr>
        <p:spPr>
          <a:xfrm>
            <a:off x="3017520" y="1051560"/>
            <a:ext cx="1097280" cy="384048"/>
          </a:xfrm>
          <a:prstGeom prst="rect">
            <a:avLst/>
          </a:prstGeom>
          <a:solidFill>
            <a:srgbClr val="1E293B"/>
          </a:solidFill>
          <a:ln/>
        </p:spPr>
        <p:txBody>
          <a:bodyPr/>
          <a:lstStyle/>
          <a:p>
            <a:endParaRPr lang="fr-FR"/>
          </a:p>
        </p:txBody>
      </p:sp>
      <p:sp>
        <p:nvSpPr>
          <p:cNvPr id="7" name="Text 5"/>
          <p:cNvSpPr/>
          <p:nvPr/>
        </p:nvSpPr>
        <p:spPr>
          <a:xfrm>
            <a:off x="3017520" y="1051560"/>
            <a:ext cx="1097280" cy="384048"/>
          </a:xfrm>
          <a:prstGeom prst="rect">
            <a:avLst/>
          </a:prstGeom>
          <a:noFill/>
          <a:ln/>
        </p:spPr>
        <p:txBody>
          <a:bodyPr wrap="square" lIns="0" tIns="0" rIns="0" bIns="0" rtlCol="0" anchor="ctr"/>
          <a:lstStyle/>
          <a:p>
            <a:pPr marL="0" indent="0" algn="ctr">
              <a:buNone/>
            </a:pPr>
            <a:r>
              <a:rPr lang="en-US" sz="1000" b="1" dirty="0">
                <a:solidFill>
                  <a:srgbClr val="FFFFFF"/>
                </a:solidFill>
                <a:latin typeface="Poppins" pitchFamily="34" charset="0"/>
                <a:ea typeface="Poppins" pitchFamily="34" charset="-122"/>
                <a:cs typeface="Poppins" pitchFamily="34" charset="-120"/>
              </a:rPr>
              <a:t>Zapier</a:t>
            </a:r>
            <a:endParaRPr lang="en-US" sz="1000" dirty="0"/>
          </a:p>
        </p:txBody>
      </p:sp>
      <p:sp>
        <p:nvSpPr>
          <p:cNvPr id="8" name="Shape 6"/>
          <p:cNvSpPr/>
          <p:nvPr/>
        </p:nvSpPr>
        <p:spPr>
          <a:xfrm>
            <a:off x="4114800" y="1051560"/>
            <a:ext cx="1097280" cy="384048"/>
          </a:xfrm>
          <a:prstGeom prst="rect">
            <a:avLst/>
          </a:prstGeom>
          <a:solidFill>
            <a:srgbClr val="1E293B"/>
          </a:solidFill>
          <a:ln/>
        </p:spPr>
        <p:txBody>
          <a:bodyPr/>
          <a:lstStyle/>
          <a:p>
            <a:endParaRPr lang="fr-FR"/>
          </a:p>
        </p:txBody>
      </p:sp>
      <p:sp>
        <p:nvSpPr>
          <p:cNvPr id="9" name="Text 7"/>
          <p:cNvSpPr/>
          <p:nvPr/>
        </p:nvSpPr>
        <p:spPr>
          <a:xfrm>
            <a:off x="4114800" y="1051560"/>
            <a:ext cx="1097280" cy="384048"/>
          </a:xfrm>
          <a:prstGeom prst="rect">
            <a:avLst/>
          </a:prstGeom>
          <a:noFill/>
          <a:ln/>
        </p:spPr>
        <p:txBody>
          <a:bodyPr wrap="square" lIns="0" tIns="0" rIns="0" bIns="0" rtlCol="0" anchor="ctr"/>
          <a:lstStyle/>
          <a:p>
            <a:pPr marL="0" indent="0" algn="ctr">
              <a:buNone/>
            </a:pPr>
            <a:r>
              <a:rPr lang="en-US" sz="1000" b="1" dirty="0">
                <a:solidFill>
                  <a:srgbClr val="FFFFFF"/>
                </a:solidFill>
                <a:latin typeface="Poppins" pitchFamily="34" charset="0"/>
                <a:ea typeface="Poppins" pitchFamily="34" charset="-122"/>
                <a:cs typeface="Poppins" pitchFamily="34" charset="-120"/>
              </a:rPr>
              <a:t>Make</a:t>
            </a:r>
            <a:endParaRPr lang="en-US" sz="1000" dirty="0"/>
          </a:p>
        </p:txBody>
      </p:sp>
      <p:sp>
        <p:nvSpPr>
          <p:cNvPr id="10" name="Shape 8"/>
          <p:cNvSpPr/>
          <p:nvPr/>
        </p:nvSpPr>
        <p:spPr>
          <a:xfrm>
            <a:off x="5212080" y="1051560"/>
            <a:ext cx="1097280" cy="384048"/>
          </a:xfrm>
          <a:prstGeom prst="rect">
            <a:avLst/>
          </a:prstGeom>
          <a:solidFill>
            <a:srgbClr val="1E293B"/>
          </a:solidFill>
          <a:ln/>
        </p:spPr>
        <p:txBody>
          <a:bodyPr/>
          <a:lstStyle/>
          <a:p>
            <a:endParaRPr lang="fr-FR"/>
          </a:p>
        </p:txBody>
      </p:sp>
      <p:sp>
        <p:nvSpPr>
          <p:cNvPr id="11" name="Text 9"/>
          <p:cNvSpPr/>
          <p:nvPr/>
        </p:nvSpPr>
        <p:spPr>
          <a:xfrm>
            <a:off x="5212080" y="1051560"/>
            <a:ext cx="1097280" cy="384048"/>
          </a:xfrm>
          <a:prstGeom prst="rect">
            <a:avLst/>
          </a:prstGeom>
          <a:noFill/>
          <a:ln/>
        </p:spPr>
        <p:txBody>
          <a:bodyPr wrap="square" lIns="0" tIns="0" rIns="0" bIns="0" rtlCol="0" anchor="ctr"/>
          <a:lstStyle/>
          <a:p>
            <a:pPr marL="0" indent="0" algn="ctr">
              <a:buNone/>
            </a:pPr>
            <a:r>
              <a:rPr lang="en-US" sz="1000" b="1" dirty="0">
                <a:solidFill>
                  <a:srgbClr val="FFFFFF"/>
                </a:solidFill>
                <a:latin typeface="Poppins" pitchFamily="34" charset="0"/>
                <a:ea typeface="Poppins" pitchFamily="34" charset="-122"/>
                <a:cs typeface="Poppins" pitchFamily="34" charset="-120"/>
              </a:rPr>
              <a:t>n8n</a:t>
            </a:r>
            <a:endParaRPr lang="en-US" sz="1000" dirty="0"/>
          </a:p>
        </p:txBody>
      </p:sp>
      <p:sp>
        <p:nvSpPr>
          <p:cNvPr id="12" name="Shape 10"/>
          <p:cNvSpPr/>
          <p:nvPr/>
        </p:nvSpPr>
        <p:spPr>
          <a:xfrm>
            <a:off x="6309360" y="1051560"/>
            <a:ext cx="1097280" cy="384048"/>
          </a:xfrm>
          <a:prstGeom prst="rect">
            <a:avLst/>
          </a:prstGeom>
          <a:solidFill>
            <a:srgbClr val="1E293B"/>
          </a:solidFill>
          <a:ln/>
        </p:spPr>
        <p:txBody>
          <a:bodyPr/>
          <a:lstStyle/>
          <a:p>
            <a:endParaRPr lang="fr-FR"/>
          </a:p>
        </p:txBody>
      </p:sp>
      <p:sp>
        <p:nvSpPr>
          <p:cNvPr id="13" name="Text 11"/>
          <p:cNvSpPr/>
          <p:nvPr/>
        </p:nvSpPr>
        <p:spPr>
          <a:xfrm>
            <a:off x="6309360" y="1051560"/>
            <a:ext cx="1097280" cy="384048"/>
          </a:xfrm>
          <a:prstGeom prst="rect">
            <a:avLst/>
          </a:prstGeom>
          <a:noFill/>
          <a:ln/>
        </p:spPr>
        <p:txBody>
          <a:bodyPr wrap="square" lIns="0" tIns="0" rIns="0" bIns="0" rtlCol="0" anchor="ctr"/>
          <a:lstStyle/>
          <a:p>
            <a:pPr marL="0" indent="0" algn="ctr">
              <a:buNone/>
            </a:pPr>
            <a:r>
              <a:rPr lang="en-US" sz="1000" b="1" dirty="0">
                <a:solidFill>
                  <a:srgbClr val="FFFFFF"/>
                </a:solidFill>
                <a:latin typeface="Poppins" pitchFamily="34" charset="0"/>
                <a:ea typeface="Poppins" pitchFamily="34" charset="-122"/>
                <a:cs typeface="Poppins" pitchFamily="34" charset="-120"/>
              </a:rPr>
              <a:t>Retool</a:t>
            </a:r>
            <a:endParaRPr lang="en-US" sz="1000" dirty="0"/>
          </a:p>
        </p:txBody>
      </p:sp>
      <p:sp>
        <p:nvSpPr>
          <p:cNvPr id="14" name="Shape 12"/>
          <p:cNvSpPr/>
          <p:nvPr/>
        </p:nvSpPr>
        <p:spPr>
          <a:xfrm>
            <a:off x="7406640" y="1051560"/>
            <a:ext cx="1097280" cy="384048"/>
          </a:xfrm>
          <a:prstGeom prst="rect">
            <a:avLst/>
          </a:prstGeom>
          <a:solidFill>
            <a:srgbClr val="1677FF"/>
          </a:solidFill>
          <a:ln/>
        </p:spPr>
        <p:txBody>
          <a:bodyPr/>
          <a:lstStyle/>
          <a:p>
            <a:endParaRPr lang="fr-FR"/>
          </a:p>
        </p:txBody>
      </p:sp>
      <p:sp>
        <p:nvSpPr>
          <p:cNvPr id="15" name="Text 13"/>
          <p:cNvSpPr/>
          <p:nvPr/>
        </p:nvSpPr>
        <p:spPr>
          <a:xfrm>
            <a:off x="7406640" y="1051560"/>
            <a:ext cx="1097280" cy="384048"/>
          </a:xfrm>
          <a:prstGeom prst="rect">
            <a:avLst/>
          </a:prstGeom>
          <a:noFill/>
          <a:ln/>
        </p:spPr>
        <p:txBody>
          <a:bodyPr wrap="square" lIns="0" tIns="0" rIns="0" bIns="0" rtlCol="0" anchor="ctr"/>
          <a:lstStyle/>
          <a:p>
            <a:pPr marL="0" indent="0" algn="ctr">
              <a:buNone/>
            </a:pPr>
            <a:r>
              <a:rPr lang="en-US" sz="1000" b="1" dirty="0">
                <a:solidFill>
                  <a:srgbClr val="FFFFFF"/>
                </a:solidFill>
                <a:latin typeface="Poppins" pitchFamily="34" charset="0"/>
                <a:ea typeface="Poppins" pitchFamily="34" charset="-122"/>
                <a:cs typeface="Poppins" pitchFamily="34" charset="-120"/>
              </a:rPr>
              <a:t>KINN</a:t>
            </a:r>
            <a:endParaRPr lang="en-US" sz="1000" dirty="0"/>
          </a:p>
        </p:txBody>
      </p:sp>
      <p:sp>
        <p:nvSpPr>
          <p:cNvPr id="16" name="Shape 14"/>
          <p:cNvSpPr/>
          <p:nvPr/>
        </p:nvSpPr>
        <p:spPr>
          <a:xfrm>
            <a:off x="640080" y="1435608"/>
            <a:ext cx="2377440" cy="384048"/>
          </a:xfrm>
          <a:prstGeom prst="rect">
            <a:avLst/>
          </a:prstGeom>
          <a:solidFill>
            <a:srgbClr val="F7F9FC"/>
          </a:solidFill>
          <a:ln w="3810">
            <a:solidFill>
              <a:srgbClr val="E5E7EB"/>
            </a:solidFill>
            <a:prstDash val="solid"/>
          </a:ln>
        </p:spPr>
        <p:txBody>
          <a:bodyPr/>
          <a:lstStyle/>
          <a:p>
            <a:endParaRPr lang="fr-FR"/>
          </a:p>
        </p:txBody>
      </p:sp>
      <p:sp>
        <p:nvSpPr>
          <p:cNvPr id="17" name="Text 15"/>
          <p:cNvSpPr/>
          <p:nvPr/>
        </p:nvSpPr>
        <p:spPr>
          <a:xfrm>
            <a:off x="731520" y="1435608"/>
            <a:ext cx="2194560" cy="384048"/>
          </a:xfrm>
          <a:prstGeom prst="rect">
            <a:avLst/>
          </a:prstGeom>
          <a:noFill/>
          <a:ln/>
        </p:spPr>
        <p:txBody>
          <a:bodyPr wrap="square" lIns="0" tIns="0" rIns="0" bIns="0" rtlCol="0" anchor="ctr"/>
          <a:lstStyle/>
          <a:p>
            <a:pPr marL="0" indent="0">
              <a:buNone/>
            </a:pPr>
            <a:r>
              <a:rPr lang="en-US" sz="1000" dirty="0">
                <a:solidFill>
                  <a:srgbClr val="0F172A"/>
                </a:solidFill>
                <a:latin typeface="Poppins" pitchFamily="34" charset="0"/>
                <a:ea typeface="Poppins" pitchFamily="34" charset="-122"/>
                <a:cs typeface="Poppins" pitchFamily="34" charset="-120"/>
              </a:rPr>
              <a:t>Automatisation</a:t>
            </a:r>
            <a:endParaRPr lang="en-US" sz="1000" dirty="0"/>
          </a:p>
        </p:txBody>
      </p:sp>
      <p:sp>
        <p:nvSpPr>
          <p:cNvPr id="18" name="Shape 16"/>
          <p:cNvSpPr/>
          <p:nvPr/>
        </p:nvSpPr>
        <p:spPr>
          <a:xfrm>
            <a:off x="3017520" y="1435608"/>
            <a:ext cx="1097280" cy="384048"/>
          </a:xfrm>
          <a:prstGeom prst="rect">
            <a:avLst/>
          </a:prstGeom>
          <a:solidFill>
            <a:srgbClr val="F7F9FC"/>
          </a:solidFill>
          <a:ln w="3810">
            <a:solidFill>
              <a:srgbClr val="E5E7EB"/>
            </a:solidFill>
            <a:prstDash val="solid"/>
          </a:ln>
        </p:spPr>
        <p:txBody>
          <a:bodyPr/>
          <a:lstStyle/>
          <a:p>
            <a:endParaRPr lang="fr-FR"/>
          </a:p>
        </p:txBody>
      </p:sp>
      <p:sp>
        <p:nvSpPr>
          <p:cNvPr id="19" name="Text 17"/>
          <p:cNvSpPr/>
          <p:nvPr/>
        </p:nvSpPr>
        <p:spPr>
          <a:xfrm>
            <a:off x="3017520" y="1435608"/>
            <a:ext cx="1097280" cy="384048"/>
          </a:xfrm>
          <a:prstGeom prst="rect">
            <a:avLst/>
          </a:prstGeom>
          <a:noFill/>
          <a:ln/>
        </p:spPr>
        <p:txBody>
          <a:bodyPr wrap="square" lIns="0" tIns="0" rIns="0" bIns="0" rtlCol="0" anchor="ctr"/>
          <a:lstStyle/>
          <a:p>
            <a:pPr marL="0" indent="0" algn="ctr">
              <a:buNone/>
            </a:pPr>
            <a:r>
              <a:rPr lang="en-US" sz="1200" b="1" dirty="0">
                <a:solidFill>
                  <a:srgbClr val="16A34A"/>
                </a:solidFill>
                <a:latin typeface="Poppins" pitchFamily="34" charset="0"/>
                <a:ea typeface="Poppins" pitchFamily="34" charset="-122"/>
                <a:cs typeface="Poppins" pitchFamily="34" charset="-120"/>
              </a:rPr>
              <a:t>✔</a:t>
            </a:r>
            <a:endParaRPr lang="en-US" sz="1200" dirty="0"/>
          </a:p>
        </p:txBody>
      </p:sp>
      <p:sp>
        <p:nvSpPr>
          <p:cNvPr id="20" name="Shape 18"/>
          <p:cNvSpPr/>
          <p:nvPr/>
        </p:nvSpPr>
        <p:spPr>
          <a:xfrm>
            <a:off x="4114800" y="1435608"/>
            <a:ext cx="1097280" cy="384048"/>
          </a:xfrm>
          <a:prstGeom prst="rect">
            <a:avLst/>
          </a:prstGeom>
          <a:solidFill>
            <a:srgbClr val="F7F9FC"/>
          </a:solidFill>
          <a:ln w="3810">
            <a:solidFill>
              <a:srgbClr val="E5E7EB"/>
            </a:solidFill>
            <a:prstDash val="solid"/>
          </a:ln>
        </p:spPr>
        <p:txBody>
          <a:bodyPr/>
          <a:lstStyle/>
          <a:p>
            <a:endParaRPr lang="fr-FR"/>
          </a:p>
        </p:txBody>
      </p:sp>
      <p:sp>
        <p:nvSpPr>
          <p:cNvPr id="21" name="Text 19"/>
          <p:cNvSpPr/>
          <p:nvPr/>
        </p:nvSpPr>
        <p:spPr>
          <a:xfrm>
            <a:off x="4114800" y="1435608"/>
            <a:ext cx="1097280" cy="384048"/>
          </a:xfrm>
          <a:prstGeom prst="rect">
            <a:avLst/>
          </a:prstGeom>
          <a:noFill/>
          <a:ln/>
        </p:spPr>
        <p:txBody>
          <a:bodyPr wrap="square" lIns="0" tIns="0" rIns="0" bIns="0" rtlCol="0" anchor="ctr"/>
          <a:lstStyle/>
          <a:p>
            <a:pPr marL="0" indent="0" algn="ctr">
              <a:buNone/>
            </a:pPr>
            <a:r>
              <a:rPr lang="en-US" sz="1200" b="1" dirty="0">
                <a:solidFill>
                  <a:srgbClr val="16A34A"/>
                </a:solidFill>
                <a:latin typeface="Poppins" pitchFamily="34" charset="0"/>
                <a:ea typeface="Poppins" pitchFamily="34" charset="-122"/>
                <a:cs typeface="Poppins" pitchFamily="34" charset="-120"/>
              </a:rPr>
              <a:t>✔</a:t>
            </a:r>
            <a:endParaRPr lang="en-US" sz="1200" dirty="0"/>
          </a:p>
        </p:txBody>
      </p:sp>
      <p:sp>
        <p:nvSpPr>
          <p:cNvPr id="22" name="Shape 20"/>
          <p:cNvSpPr/>
          <p:nvPr/>
        </p:nvSpPr>
        <p:spPr>
          <a:xfrm>
            <a:off x="5212080" y="1435608"/>
            <a:ext cx="1097280" cy="384048"/>
          </a:xfrm>
          <a:prstGeom prst="rect">
            <a:avLst/>
          </a:prstGeom>
          <a:solidFill>
            <a:srgbClr val="F7F9FC"/>
          </a:solidFill>
          <a:ln w="3810">
            <a:solidFill>
              <a:srgbClr val="E5E7EB"/>
            </a:solidFill>
            <a:prstDash val="solid"/>
          </a:ln>
        </p:spPr>
        <p:txBody>
          <a:bodyPr/>
          <a:lstStyle/>
          <a:p>
            <a:endParaRPr lang="fr-FR"/>
          </a:p>
        </p:txBody>
      </p:sp>
      <p:sp>
        <p:nvSpPr>
          <p:cNvPr id="23" name="Text 21"/>
          <p:cNvSpPr/>
          <p:nvPr/>
        </p:nvSpPr>
        <p:spPr>
          <a:xfrm>
            <a:off x="5212080" y="1435608"/>
            <a:ext cx="1097280" cy="384048"/>
          </a:xfrm>
          <a:prstGeom prst="rect">
            <a:avLst/>
          </a:prstGeom>
          <a:noFill/>
          <a:ln/>
        </p:spPr>
        <p:txBody>
          <a:bodyPr wrap="square" lIns="0" tIns="0" rIns="0" bIns="0" rtlCol="0" anchor="ctr"/>
          <a:lstStyle/>
          <a:p>
            <a:pPr marL="0" indent="0" algn="ctr">
              <a:buNone/>
            </a:pPr>
            <a:r>
              <a:rPr lang="en-US" sz="1200" b="1" dirty="0">
                <a:solidFill>
                  <a:srgbClr val="16A34A"/>
                </a:solidFill>
                <a:latin typeface="Poppins" pitchFamily="34" charset="0"/>
                <a:ea typeface="Poppins" pitchFamily="34" charset="-122"/>
                <a:cs typeface="Poppins" pitchFamily="34" charset="-120"/>
              </a:rPr>
              <a:t>✔</a:t>
            </a:r>
            <a:endParaRPr lang="en-US" sz="1200" dirty="0"/>
          </a:p>
        </p:txBody>
      </p:sp>
      <p:sp>
        <p:nvSpPr>
          <p:cNvPr id="24" name="Shape 22"/>
          <p:cNvSpPr/>
          <p:nvPr/>
        </p:nvSpPr>
        <p:spPr>
          <a:xfrm>
            <a:off x="6309360" y="1435608"/>
            <a:ext cx="1097280" cy="384048"/>
          </a:xfrm>
          <a:prstGeom prst="rect">
            <a:avLst/>
          </a:prstGeom>
          <a:solidFill>
            <a:srgbClr val="F7F9FC"/>
          </a:solidFill>
          <a:ln w="3810">
            <a:solidFill>
              <a:srgbClr val="E5E7EB"/>
            </a:solidFill>
            <a:prstDash val="solid"/>
          </a:ln>
        </p:spPr>
        <p:txBody>
          <a:bodyPr/>
          <a:lstStyle/>
          <a:p>
            <a:endParaRPr lang="fr-FR"/>
          </a:p>
        </p:txBody>
      </p:sp>
      <p:sp>
        <p:nvSpPr>
          <p:cNvPr id="25" name="Text 23"/>
          <p:cNvSpPr/>
          <p:nvPr/>
        </p:nvSpPr>
        <p:spPr>
          <a:xfrm>
            <a:off x="6309360" y="1435608"/>
            <a:ext cx="1097280" cy="384048"/>
          </a:xfrm>
          <a:prstGeom prst="rect">
            <a:avLst/>
          </a:prstGeom>
          <a:noFill/>
          <a:ln/>
        </p:spPr>
        <p:txBody>
          <a:bodyPr wrap="square" lIns="0" tIns="0" rIns="0" bIns="0" rtlCol="0" anchor="ctr"/>
          <a:lstStyle/>
          <a:p>
            <a:pPr marL="0" indent="0" algn="ctr">
              <a:buNone/>
            </a:pPr>
            <a:r>
              <a:rPr lang="en-US" sz="1200" b="1" dirty="0">
                <a:solidFill>
                  <a:srgbClr val="9CA3AF"/>
                </a:solidFill>
                <a:latin typeface="Poppins" pitchFamily="34" charset="0"/>
                <a:ea typeface="Poppins" pitchFamily="34" charset="-122"/>
                <a:cs typeface="Poppins" pitchFamily="34" charset="-120"/>
              </a:rPr>
              <a:t>-</a:t>
            </a:r>
            <a:endParaRPr lang="en-US" sz="1200" dirty="0"/>
          </a:p>
        </p:txBody>
      </p:sp>
      <p:sp>
        <p:nvSpPr>
          <p:cNvPr id="26" name="Shape 24"/>
          <p:cNvSpPr/>
          <p:nvPr/>
        </p:nvSpPr>
        <p:spPr>
          <a:xfrm>
            <a:off x="7406640" y="1435608"/>
            <a:ext cx="1097280" cy="384048"/>
          </a:xfrm>
          <a:prstGeom prst="rect">
            <a:avLst/>
          </a:prstGeom>
          <a:solidFill>
            <a:srgbClr val="F7F9FC"/>
          </a:solidFill>
          <a:ln w="3810">
            <a:solidFill>
              <a:srgbClr val="E5E7EB"/>
            </a:solidFill>
            <a:prstDash val="solid"/>
          </a:ln>
        </p:spPr>
        <p:txBody>
          <a:bodyPr/>
          <a:lstStyle/>
          <a:p>
            <a:endParaRPr lang="fr-FR"/>
          </a:p>
        </p:txBody>
      </p:sp>
      <p:sp>
        <p:nvSpPr>
          <p:cNvPr id="27" name="Text 25"/>
          <p:cNvSpPr/>
          <p:nvPr/>
        </p:nvSpPr>
        <p:spPr>
          <a:xfrm>
            <a:off x="7406640" y="1435608"/>
            <a:ext cx="1097280" cy="384048"/>
          </a:xfrm>
          <a:prstGeom prst="rect">
            <a:avLst/>
          </a:prstGeom>
          <a:noFill/>
          <a:ln/>
        </p:spPr>
        <p:txBody>
          <a:bodyPr wrap="square" lIns="0" tIns="0" rIns="0" bIns="0" rtlCol="0" anchor="ctr"/>
          <a:lstStyle/>
          <a:p>
            <a:pPr marL="0" indent="0" algn="ctr">
              <a:buNone/>
            </a:pPr>
            <a:r>
              <a:rPr lang="en-US" sz="1200" b="1" dirty="0">
                <a:solidFill>
                  <a:srgbClr val="1677FF"/>
                </a:solidFill>
                <a:latin typeface="Poppins" pitchFamily="34" charset="0"/>
                <a:ea typeface="Poppins" pitchFamily="34" charset="-122"/>
                <a:cs typeface="Poppins" pitchFamily="34" charset="-120"/>
              </a:rPr>
              <a:t>✔</a:t>
            </a:r>
            <a:endParaRPr lang="en-US" sz="1200" dirty="0"/>
          </a:p>
        </p:txBody>
      </p:sp>
      <p:sp>
        <p:nvSpPr>
          <p:cNvPr id="28" name="Shape 26"/>
          <p:cNvSpPr/>
          <p:nvPr/>
        </p:nvSpPr>
        <p:spPr>
          <a:xfrm>
            <a:off x="640080" y="1819656"/>
            <a:ext cx="2377440" cy="384048"/>
          </a:xfrm>
          <a:prstGeom prst="rect">
            <a:avLst/>
          </a:prstGeom>
          <a:solidFill>
            <a:srgbClr val="FFFFFF"/>
          </a:solidFill>
          <a:ln w="3810">
            <a:solidFill>
              <a:srgbClr val="E5E7EB"/>
            </a:solidFill>
            <a:prstDash val="solid"/>
          </a:ln>
        </p:spPr>
        <p:txBody>
          <a:bodyPr/>
          <a:lstStyle/>
          <a:p>
            <a:endParaRPr lang="fr-FR"/>
          </a:p>
        </p:txBody>
      </p:sp>
      <p:sp>
        <p:nvSpPr>
          <p:cNvPr id="29" name="Text 27"/>
          <p:cNvSpPr/>
          <p:nvPr/>
        </p:nvSpPr>
        <p:spPr>
          <a:xfrm>
            <a:off x="731520" y="1819656"/>
            <a:ext cx="2194560" cy="384048"/>
          </a:xfrm>
          <a:prstGeom prst="rect">
            <a:avLst/>
          </a:prstGeom>
          <a:noFill/>
          <a:ln/>
        </p:spPr>
        <p:txBody>
          <a:bodyPr wrap="square" lIns="0" tIns="0" rIns="0" bIns="0" rtlCol="0" anchor="ctr"/>
          <a:lstStyle/>
          <a:p>
            <a:pPr marL="0" indent="0">
              <a:buNone/>
            </a:pPr>
            <a:r>
              <a:rPr lang="en-US" sz="1000" dirty="0">
                <a:solidFill>
                  <a:srgbClr val="0F172A"/>
                </a:solidFill>
                <a:latin typeface="Poppins" pitchFamily="34" charset="0"/>
                <a:ea typeface="Poppins" pitchFamily="34" charset="-122"/>
                <a:cs typeface="Poppins" pitchFamily="34" charset="-120"/>
              </a:rPr>
              <a:t>Génération UI</a:t>
            </a:r>
            <a:endParaRPr lang="en-US" sz="1000" dirty="0"/>
          </a:p>
        </p:txBody>
      </p:sp>
      <p:sp>
        <p:nvSpPr>
          <p:cNvPr id="30" name="Shape 28"/>
          <p:cNvSpPr/>
          <p:nvPr/>
        </p:nvSpPr>
        <p:spPr>
          <a:xfrm>
            <a:off x="3017520" y="1819656"/>
            <a:ext cx="1097280" cy="384048"/>
          </a:xfrm>
          <a:prstGeom prst="rect">
            <a:avLst/>
          </a:prstGeom>
          <a:solidFill>
            <a:srgbClr val="FFFFFF"/>
          </a:solidFill>
          <a:ln w="3810">
            <a:solidFill>
              <a:srgbClr val="E5E7EB"/>
            </a:solidFill>
            <a:prstDash val="solid"/>
          </a:ln>
        </p:spPr>
        <p:txBody>
          <a:bodyPr/>
          <a:lstStyle/>
          <a:p>
            <a:endParaRPr lang="fr-FR"/>
          </a:p>
        </p:txBody>
      </p:sp>
      <p:sp>
        <p:nvSpPr>
          <p:cNvPr id="31" name="Text 29"/>
          <p:cNvSpPr/>
          <p:nvPr/>
        </p:nvSpPr>
        <p:spPr>
          <a:xfrm>
            <a:off x="3017520" y="1819656"/>
            <a:ext cx="1097280" cy="384048"/>
          </a:xfrm>
          <a:prstGeom prst="rect">
            <a:avLst/>
          </a:prstGeom>
          <a:noFill/>
          <a:ln/>
        </p:spPr>
        <p:txBody>
          <a:bodyPr wrap="square" lIns="0" tIns="0" rIns="0" bIns="0" rtlCol="0" anchor="ctr"/>
          <a:lstStyle/>
          <a:p>
            <a:pPr marL="0" indent="0" algn="ctr">
              <a:buNone/>
            </a:pPr>
            <a:r>
              <a:rPr lang="en-US" sz="1200" b="1" dirty="0">
                <a:solidFill>
                  <a:srgbClr val="9CA3AF"/>
                </a:solidFill>
                <a:latin typeface="Poppins" pitchFamily="34" charset="0"/>
                <a:ea typeface="Poppins" pitchFamily="34" charset="-122"/>
                <a:cs typeface="Poppins" pitchFamily="34" charset="-120"/>
              </a:rPr>
              <a:t>-</a:t>
            </a:r>
            <a:endParaRPr lang="en-US" sz="1200" dirty="0"/>
          </a:p>
        </p:txBody>
      </p:sp>
      <p:sp>
        <p:nvSpPr>
          <p:cNvPr id="32" name="Shape 30"/>
          <p:cNvSpPr/>
          <p:nvPr/>
        </p:nvSpPr>
        <p:spPr>
          <a:xfrm>
            <a:off x="4114800" y="1819656"/>
            <a:ext cx="1097280" cy="384048"/>
          </a:xfrm>
          <a:prstGeom prst="rect">
            <a:avLst/>
          </a:prstGeom>
          <a:solidFill>
            <a:srgbClr val="FFFFFF"/>
          </a:solidFill>
          <a:ln w="3810">
            <a:solidFill>
              <a:srgbClr val="E5E7EB"/>
            </a:solidFill>
            <a:prstDash val="solid"/>
          </a:ln>
        </p:spPr>
        <p:txBody>
          <a:bodyPr/>
          <a:lstStyle/>
          <a:p>
            <a:endParaRPr lang="fr-FR"/>
          </a:p>
        </p:txBody>
      </p:sp>
      <p:sp>
        <p:nvSpPr>
          <p:cNvPr id="33" name="Text 31"/>
          <p:cNvSpPr/>
          <p:nvPr/>
        </p:nvSpPr>
        <p:spPr>
          <a:xfrm>
            <a:off x="4114800" y="1819656"/>
            <a:ext cx="1097280" cy="384048"/>
          </a:xfrm>
          <a:prstGeom prst="rect">
            <a:avLst/>
          </a:prstGeom>
          <a:noFill/>
          <a:ln/>
        </p:spPr>
        <p:txBody>
          <a:bodyPr wrap="square" lIns="0" tIns="0" rIns="0" bIns="0" rtlCol="0" anchor="ctr"/>
          <a:lstStyle/>
          <a:p>
            <a:pPr marL="0" indent="0" algn="ctr">
              <a:buNone/>
            </a:pPr>
            <a:r>
              <a:rPr lang="en-US" sz="1200" b="1" dirty="0">
                <a:solidFill>
                  <a:srgbClr val="9CA3AF"/>
                </a:solidFill>
                <a:latin typeface="Poppins" pitchFamily="34" charset="0"/>
                <a:ea typeface="Poppins" pitchFamily="34" charset="-122"/>
                <a:cs typeface="Poppins" pitchFamily="34" charset="-120"/>
              </a:rPr>
              <a:t>-</a:t>
            </a:r>
            <a:endParaRPr lang="en-US" sz="1200" dirty="0"/>
          </a:p>
        </p:txBody>
      </p:sp>
      <p:sp>
        <p:nvSpPr>
          <p:cNvPr id="34" name="Shape 32"/>
          <p:cNvSpPr/>
          <p:nvPr/>
        </p:nvSpPr>
        <p:spPr>
          <a:xfrm>
            <a:off x="5212080" y="1819656"/>
            <a:ext cx="1097280" cy="384048"/>
          </a:xfrm>
          <a:prstGeom prst="rect">
            <a:avLst/>
          </a:prstGeom>
          <a:solidFill>
            <a:srgbClr val="FFFFFF"/>
          </a:solidFill>
          <a:ln w="3810">
            <a:solidFill>
              <a:srgbClr val="E5E7EB"/>
            </a:solidFill>
            <a:prstDash val="solid"/>
          </a:ln>
        </p:spPr>
        <p:txBody>
          <a:bodyPr/>
          <a:lstStyle/>
          <a:p>
            <a:endParaRPr lang="fr-FR"/>
          </a:p>
        </p:txBody>
      </p:sp>
      <p:sp>
        <p:nvSpPr>
          <p:cNvPr id="35" name="Text 33"/>
          <p:cNvSpPr/>
          <p:nvPr/>
        </p:nvSpPr>
        <p:spPr>
          <a:xfrm>
            <a:off x="5212080" y="1819656"/>
            <a:ext cx="1097280" cy="384048"/>
          </a:xfrm>
          <a:prstGeom prst="rect">
            <a:avLst/>
          </a:prstGeom>
          <a:noFill/>
          <a:ln/>
        </p:spPr>
        <p:txBody>
          <a:bodyPr wrap="square" lIns="0" tIns="0" rIns="0" bIns="0" rtlCol="0" anchor="ctr"/>
          <a:lstStyle/>
          <a:p>
            <a:pPr marL="0" indent="0" algn="ctr">
              <a:buNone/>
            </a:pPr>
            <a:r>
              <a:rPr lang="en-US" sz="1200" b="1" dirty="0">
                <a:solidFill>
                  <a:srgbClr val="9CA3AF"/>
                </a:solidFill>
                <a:latin typeface="Poppins" pitchFamily="34" charset="0"/>
                <a:ea typeface="Poppins" pitchFamily="34" charset="-122"/>
                <a:cs typeface="Poppins" pitchFamily="34" charset="-120"/>
              </a:rPr>
              <a:t>-</a:t>
            </a:r>
            <a:endParaRPr lang="en-US" sz="1200" dirty="0"/>
          </a:p>
        </p:txBody>
      </p:sp>
      <p:sp>
        <p:nvSpPr>
          <p:cNvPr id="36" name="Shape 34"/>
          <p:cNvSpPr/>
          <p:nvPr/>
        </p:nvSpPr>
        <p:spPr>
          <a:xfrm>
            <a:off x="6309360" y="1819656"/>
            <a:ext cx="1097280" cy="384048"/>
          </a:xfrm>
          <a:prstGeom prst="rect">
            <a:avLst/>
          </a:prstGeom>
          <a:solidFill>
            <a:srgbClr val="FFFFFF"/>
          </a:solidFill>
          <a:ln w="3810">
            <a:solidFill>
              <a:srgbClr val="E5E7EB"/>
            </a:solidFill>
            <a:prstDash val="solid"/>
          </a:ln>
        </p:spPr>
        <p:txBody>
          <a:bodyPr/>
          <a:lstStyle/>
          <a:p>
            <a:endParaRPr lang="fr-FR"/>
          </a:p>
        </p:txBody>
      </p:sp>
      <p:sp>
        <p:nvSpPr>
          <p:cNvPr id="37" name="Text 35"/>
          <p:cNvSpPr/>
          <p:nvPr/>
        </p:nvSpPr>
        <p:spPr>
          <a:xfrm>
            <a:off x="6309360" y="1819656"/>
            <a:ext cx="1097280" cy="384048"/>
          </a:xfrm>
          <a:prstGeom prst="rect">
            <a:avLst/>
          </a:prstGeom>
          <a:noFill/>
          <a:ln/>
        </p:spPr>
        <p:txBody>
          <a:bodyPr wrap="square" lIns="0" tIns="0" rIns="0" bIns="0" rtlCol="0" anchor="ctr"/>
          <a:lstStyle/>
          <a:p>
            <a:pPr marL="0" indent="0" algn="ctr">
              <a:buNone/>
            </a:pPr>
            <a:r>
              <a:rPr lang="en-US" sz="1200" b="1" dirty="0">
                <a:solidFill>
                  <a:srgbClr val="16A34A"/>
                </a:solidFill>
                <a:latin typeface="Poppins" pitchFamily="34" charset="0"/>
                <a:ea typeface="Poppins" pitchFamily="34" charset="-122"/>
                <a:cs typeface="Poppins" pitchFamily="34" charset="-120"/>
              </a:rPr>
              <a:t>✔</a:t>
            </a:r>
            <a:endParaRPr lang="en-US" sz="1200" dirty="0"/>
          </a:p>
        </p:txBody>
      </p:sp>
      <p:sp>
        <p:nvSpPr>
          <p:cNvPr id="38" name="Shape 36"/>
          <p:cNvSpPr/>
          <p:nvPr/>
        </p:nvSpPr>
        <p:spPr>
          <a:xfrm>
            <a:off x="7406640" y="1819656"/>
            <a:ext cx="1097280" cy="384048"/>
          </a:xfrm>
          <a:prstGeom prst="rect">
            <a:avLst/>
          </a:prstGeom>
          <a:solidFill>
            <a:srgbClr val="FFFFFF"/>
          </a:solidFill>
          <a:ln w="3810">
            <a:solidFill>
              <a:srgbClr val="E5E7EB"/>
            </a:solidFill>
            <a:prstDash val="solid"/>
          </a:ln>
        </p:spPr>
        <p:txBody>
          <a:bodyPr/>
          <a:lstStyle/>
          <a:p>
            <a:endParaRPr lang="fr-FR"/>
          </a:p>
        </p:txBody>
      </p:sp>
      <p:sp>
        <p:nvSpPr>
          <p:cNvPr id="39" name="Text 37"/>
          <p:cNvSpPr/>
          <p:nvPr/>
        </p:nvSpPr>
        <p:spPr>
          <a:xfrm>
            <a:off x="7406640" y="1819656"/>
            <a:ext cx="1097280" cy="384048"/>
          </a:xfrm>
          <a:prstGeom prst="rect">
            <a:avLst/>
          </a:prstGeom>
          <a:noFill/>
          <a:ln/>
        </p:spPr>
        <p:txBody>
          <a:bodyPr wrap="square" lIns="0" tIns="0" rIns="0" bIns="0" rtlCol="0" anchor="ctr"/>
          <a:lstStyle/>
          <a:p>
            <a:pPr marL="0" indent="0" algn="ctr">
              <a:buNone/>
            </a:pPr>
            <a:r>
              <a:rPr lang="en-US" sz="1200" b="1" dirty="0">
                <a:solidFill>
                  <a:srgbClr val="1677FF"/>
                </a:solidFill>
                <a:latin typeface="Poppins" pitchFamily="34" charset="0"/>
                <a:ea typeface="Poppins" pitchFamily="34" charset="-122"/>
                <a:cs typeface="Poppins" pitchFamily="34" charset="-120"/>
              </a:rPr>
              <a:t>✔</a:t>
            </a:r>
            <a:endParaRPr lang="en-US" sz="1200" dirty="0"/>
          </a:p>
        </p:txBody>
      </p:sp>
      <p:sp>
        <p:nvSpPr>
          <p:cNvPr id="40" name="Shape 38"/>
          <p:cNvSpPr/>
          <p:nvPr/>
        </p:nvSpPr>
        <p:spPr>
          <a:xfrm>
            <a:off x="640080" y="2203704"/>
            <a:ext cx="2377440" cy="384048"/>
          </a:xfrm>
          <a:prstGeom prst="rect">
            <a:avLst/>
          </a:prstGeom>
          <a:solidFill>
            <a:srgbClr val="F7F9FC"/>
          </a:solidFill>
          <a:ln w="3810">
            <a:solidFill>
              <a:srgbClr val="E5E7EB"/>
            </a:solidFill>
            <a:prstDash val="solid"/>
          </a:ln>
        </p:spPr>
        <p:txBody>
          <a:bodyPr/>
          <a:lstStyle/>
          <a:p>
            <a:endParaRPr lang="fr-FR"/>
          </a:p>
        </p:txBody>
      </p:sp>
      <p:sp>
        <p:nvSpPr>
          <p:cNvPr id="41" name="Text 39"/>
          <p:cNvSpPr/>
          <p:nvPr/>
        </p:nvSpPr>
        <p:spPr>
          <a:xfrm>
            <a:off x="731520" y="2203704"/>
            <a:ext cx="2194560" cy="384048"/>
          </a:xfrm>
          <a:prstGeom prst="rect">
            <a:avLst/>
          </a:prstGeom>
          <a:noFill/>
          <a:ln/>
        </p:spPr>
        <p:txBody>
          <a:bodyPr wrap="square" lIns="0" tIns="0" rIns="0" bIns="0" rtlCol="0" anchor="ctr"/>
          <a:lstStyle/>
          <a:p>
            <a:pPr marL="0" indent="0">
              <a:buNone/>
            </a:pPr>
            <a:r>
              <a:rPr lang="en-US" sz="1000" dirty="0">
                <a:solidFill>
                  <a:srgbClr val="0F172A"/>
                </a:solidFill>
                <a:latin typeface="Poppins" pitchFamily="34" charset="0"/>
                <a:ea typeface="Poppins" pitchFamily="34" charset="-122"/>
                <a:cs typeface="Poppins" pitchFamily="34" charset="-120"/>
              </a:rPr>
              <a:t>Normalisation data</a:t>
            </a:r>
            <a:endParaRPr lang="en-US" sz="1000" dirty="0"/>
          </a:p>
        </p:txBody>
      </p:sp>
      <p:sp>
        <p:nvSpPr>
          <p:cNvPr id="42" name="Shape 40"/>
          <p:cNvSpPr/>
          <p:nvPr/>
        </p:nvSpPr>
        <p:spPr>
          <a:xfrm>
            <a:off x="3017520" y="2203704"/>
            <a:ext cx="1097280" cy="384048"/>
          </a:xfrm>
          <a:prstGeom prst="rect">
            <a:avLst/>
          </a:prstGeom>
          <a:solidFill>
            <a:srgbClr val="F7F9FC"/>
          </a:solidFill>
          <a:ln w="3810">
            <a:solidFill>
              <a:srgbClr val="E5E7EB"/>
            </a:solidFill>
            <a:prstDash val="solid"/>
          </a:ln>
        </p:spPr>
        <p:txBody>
          <a:bodyPr/>
          <a:lstStyle/>
          <a:p>
            <a:endParaRPr lang="fr-FR"/>
          </a:p>
        </p:txBody>
      </p:sp>
      <p:sp>
        <p:nvSpPr>
          <p:cNvPr id="43" name="Text 41"/>
          <p:cNvSpPr/>
          <p:nvPr/>
        </p:nvSpPr>
        <p:spPr>
          <a:xfrm>
            <a:off x="3017520" y="2203704"/>
            <a:ext cx="1097280" cy="384048"/>
          </a:xfrm>
          <a:prstGeom prst="rect">
            <a:avLst/>
          </a:prstGeom>
          <a:noFill/>
          <a:ln/>
        </p:spPr>
        <p:txBody>
          <a:bodyPr wrap="square" lIns="0" tIns="0" rIns="0" bIns="0" rtlCol="0" anchor="ctr"/>
          <a:lstStyle/>
          <a:p>
            <a:pPr marL="0" indent="0" algn="ctr">
              <a:buNone/>
            </a:pPr>
            <a:r>
              <a:rPr lang="en-US" sz="1200" b="1" dirty="0">
                <a:solidFill>
                  <a:srgbClr val="9CA3AF"/>
                </a:solidFill>
                <a:latin typeface="Poppins" pitchFamily="34" charset="0"/>
                <a:ea typeface="Poppins" pitchFamily="34" charset="-122"/>
                <a:cs typeface="Poppins" pitchFamily="34" charset="-120"/>
              </a:rPr>
              <a:t>-</a:t>
            </a:r>
            <a:endParaRPr lang="en-US" sz="1200" dirty="0"/>
          </a:p>
        </p:txBody>
      </p:sp>
      <p:sp>
        <p:nvSpPr>
          <p:cNvPr id="44" name="Shape 42"/>
          <p:cNvSpPr/>
          <p:nvPr/>
        </p:nvSpPr>
        <p:spPr>
          <a:xfrm>
            <a:off x="4114800" y="2203704"/>
            <a:ext cx="1097280" cy="384048"/>
          </a:xfrm>
          <a:prstGeom prst="rect">
            <a:avLst/>
          </a:prstGeom>
          <a:solidFill>
            <a:srgbClr val="F7F9FC"/>
          </a:solidFill>
          <a:ln w="3810">
            <a:solidFill>
              <a:srgbClr val="E5E7EB"/>
            </a:solidFill>
            <a:prstDash val="solid"/>
          </a:ln>
        </p:spPr>
        <p:txBody>
          <a:bodyPr/>
          <a:lstStyle/>
          <a:p>
            <a:endParaRPr lang="fr-FR"/>
          </a:p>
        </p:txBody>
      </p:sp>
      <p:sp>
        <p:nvSpPr>
          <p:cNvPr id="45" name="Text 43"/>
          <p:cNvSpPr/>
          <p:nvPr/>
        </p:nvSpPr>
        <p:spPr>
          <a:xfrm>
            <a:off x="4114800" y="2203704"/>
            <a:ext cx="1097280" cy="384048"/>
          </a:xfrm>
          <a:prstGeom prst="rect">
            <a:avLst/>
          </a:prstGeom>
          <a:noFill/>
          <a:ln/>
        </p:spPr>
        <p:txBody>
          <a:bodyPr wrap="square" lIns="0" tIns="0" rIns="0" bIns="0" rtlCol="0" anchor="ctr"/>
          <a:lstStyle/>
          <a:p>
            <a:pPr marL="0" indent="0" algn="ctr">
              <a:buNone/>
            </a:pPr>
            <a:r>
              <a:rPr lang="en-US" sz="1200" b="1" dirty="0">
                <a:solidFill>
                  <a:srgbClr val="F59E0B"/>
                </a:solidFill>
                <a:latin typeface="Poppins" pitchFamily="34" charset="0"/>
                <a:ea typeface="Poppins" pitchFamily="34" charset="-122"/>
                <a:cs typeface="Poppins" pitchFamily="34" charset="-120"/>
              </a:rPr>
              <a:t>~</a:t>
            </a:r>
            <a:endParaRPr lang="en-US" sz="1200" dirty="0"/>
          </a:p>
        </p:txBody>
      </p:sp>
      <p:sp>
        <p:nvSpPr>
          <p:cNvPr id="46" name="Shape 44"/>
          <p:cNvSpPr/>
          <p:nvPr/>
        </p:nvSpPr>
        <p:spPr>
          <a:xfrm>
            <a:off x="5212080" y="2203704"/>
            <a:ext cx="1097280" cy="384048"/>
          </a:xfrm>
          <a:prstGeom prst="rect">
            <a:avLst/>
          </a:prstGeom>
          <a:solidFill>
            <a:srgbClr val="F7F9FC"/>
          </a:solidFill>
          <a:ln w="3810">
            <a:solidFill>
              <a:srgbClr val="E5E7EB"/>
            </a:solidFill>
            <a:prstDash val="solid"/>
          </a:ln>
        </p:spPr>
        <p:txBody>
          <a:bodyPr/>
          <a:lstStyle/>
          <a:p>
            <a:endParaRPr lang="fr-FR"/>
          </a:p>
        </p:txBody>
      </p:sp>
      <p:sp>
        <p:nvSpPr>
          <p:cNvPr id="47" name="Text 45"/>
          <p:cNvSpPr/>
          <p:nvPr/>
        </p:nvSpPr>
        <p:spPr>
          <a:xfrm>
            <a:off x="5212080" y="2203704"/>
            <a:ext cx="1097280" cy="384048"/>
          </a:xfrm>
          <a:prstGeom prst="rect">
            <a:avLst/>
          </a:prstGeom>
          <a:noFill/>
          <a:ln/>
        </p:spPr>
        <p:txBody>
          <a:bodyPr wrap="square" lIns="0" tIns="0" rIns="0" bIns="0" rtlCol="0" anchor="ctr"/>
          <a:lstStyle/>
          <a:p>
            <a:pPr marL="0" indent="0" algn="ctr">
              <a:buNone/>
            </a:pPr>
            <a:r>
              <a:rPr lang="en-US" sz="1200" b="1" dirty="0">
                <a:solidFill>
                  <a:srgbClr val="F59E0B"/>
                </a:solidFill>
                <a:latin typeface="Poppins" pitchFamily="34" charset="0"/>
                <a:ea typeface="Poppins" pitchFamily="34" charset="-122"/>
                <a:cs typeface="Poppins" pitchFamily="34" charset="-120"/>
              </a:rPr>
              <a:t>~</a:t>
            </a:r>
            <a:endParaRPr lang="en-US" sz="1200" dirty="0"/>
          </a:p>
        </p:txBody>
      </p:sp>
      <p:sp>
        <p:nvSpPr>
          <p:cNvPr id="48" name="Shape 46"/>
          <p:cNvSpPr/>
          <p:nvPr/>
        </p:nvSpPr>
        <p:spPr>
          <a:xfrm>
            <a:off x="6309360" y="2203704"/>
            <a:ext cx="1097280" cy="384048"/>
          </a:xfrm>
          <a:prstGeom prst="rect">
            <a:avLst/>
          </a:prstGeom>
          <a:solidFill>
            <a:srgbClr val="F7F9FC"/>
          </a:solidFill>
          <a:ln w="3810">
            <a:solidFill>
              <a:srgbClr val="E5E7EB"/>
            </a:solidFill>
            <a:prstDash val="solid"/>
          </a:ln>
        </p:spPr>
        <p:txBody>
          <a:bodyPr/>
          <a:lstStyle/>
          <a:p>
            <a:endParaRPr lang="fr-FR"/>
          </a:p>
        </p:txBody>
      </p:sp>
      <p:sp>
        <p:nvSpPr>
          <p:cNvPr id="49" name="Text 47"/>
          <p:cNvSpPr/>
          <p:nvPr/>
        </p:nvSpPr>
        <p:spPr>
          <a:xfrm>
            <a:off x="6309360" y="2203704"/>
            <a:ext cx="1097280" cy="384048"/>
          </a:xfrm>
          <a:prstGeom prst="rect">
            <a:avLst/>
          </a:prstGeom>
          <a:noFill/>
          <a:ln/>
        </p:spPr>
        <p:txBody>
          <a:bodyPr wrap="square" lIns="0" tIns="0" rIns="0" bIns="0" rtlCol="0" anchor="ctr"/>
          <a:lstStyle/>
          <a:p>
            <a:pPr marL="0" indent="0" algn="ctr">
              <a:buNone/>
            </a:pPr>
            <a:r>
              <a:rPr lang="en-US" sz="1200" b="1" dirty="0">
                <a:solidFill>
                  <a:srgbClr val="F59E0B"/>
                </a:solidFill>
                <a:latin typeface="Poppins" pitchFamily="34" charset="0"/>
                <a:ea typeface="Poppins" pitchFamily="34" charset="-122"/>
                <a:cs typeface="Poppins" pitchFamily="34" charset="-120"/>
              </a:rPr>
              <a:t>~</a:t>
            </a:r>
            <a:endParaRPr lang="en-US" sz="1200" dirty="0"/>
          </a:p>
        </p:txBody>
      </p:sp>
      <p:sp>
        <p:nvSpPr>
          <p:cNvPr id="50" name="Shape 48"/>
          <p:cNvSpPr/>
          <p:nvPr/>
        </p:nvSpPr>
        <p:spPr>
          <a:xfrm>
            <a:off x="7406640" y="2203704"/>
            <a:ext cx="1097280" cy="384048"/>
          </a:xfrm>
          <a:prstGeom prst="rect">
            <a:avLst/>
          </a:prstGeom>
          <a:solidFill>
            <a:srgbClr val="F7F9FC"/>
          </a:solidFill>
          <a:ln w="3810">
            <a:solidFill>
              <a:srgbClr val="E5E7EB"/>
            </a:solidFill>
            <a:prstDash val="solid"/>
          </a:ln>
        </p:spPr>
        <p:txBody>
          <a:bodyPr/>
          <a:lstStyle/>
          <a:p>
            <a:endParaRPr lang="fr-FR"/>
          </a:p>
        </p:txBody>
      </p:sp>
      <p:sp>
        <p:nvSpPr>
          <p:cNvPr id="51" name="Text 49"/>
          <p:cNvSpPr/>
          <p:nvPr/>
        </p:nvSpPr>
        <p:spPr>
          <a:xfrm>
            <a:off x="7406640" y="2203704"/>
            <a:ext cx="1097280" cy="384048"/>
          </a:xfrm>
          <a:prstGeom prst="rect">
            <a:avLst/>
          </a:prstGeom>
          <a:noFill/>
          <a:ln/>
        </p:spPr>
        <p:txBody>
          <a:bodyPr wrap="square" lIns="0" tIns="0" rIns="0" bIns="0" rtlCol="0" anchor="ctr"/>
          <a:lstStyle/>
          <a:p>
            <a:pPr marL="0" indent="0" algn="ctr">
              <a:buNone/>
            </a:pPr>
            <a:r>
              <a:rPr lang="en-US" sz="1200" b="1" dirty="0">
                <a:solidFill>
                  <a:srgbClr val="1677FF"/>
                </a:solidFill>
                <a:latin typeface="Poppins" pitchFamily="34" charset="0"/>
                <a:ea typeface="Poppins" pitchFamily="34" charset="-122"/>
                <a:cs typeface="Poppins" pitchFamily="34" charset="-120"/>
              </a:rPr>
              <a:t>✔</a:t>
            </a:r>
            <a:endParaRPr lang="en-US" sz="1200" dirty="0"/>
          </a:p>
        </p:txBody>
      </p:sp>
      <p:sp>
        <p:nvSpPr>
          <p:cNvPr id="52" name="Shape 50"/>
          <p:cNvSpPr/>
          <p:nvPr/>
        </p:nvSpPr>
        <p:spPr>
          <a:xfrm>
            <a:off x="640080" y="2587752"/>
            <a:ext cx="2377440" cy="384048"/>
          </a:xfrm>
          <a:prstGeom prst="rect">
            <a:avLst/>
          </a:prstGeom>
          <a:solidFill>
            <a:srgbClr val="FFFFFF"/>
          </a:solidFill>
          <a:ln w="3810">
            <a:solidFill>
              <a:srgbClr val="E5E7EB"/>
            </a:solidFill>
            <a:prstDash val="solid"/>
          </a:ln>
        </p:spPr>
        <p:txBody>
          <a:bodyPr/>
          <a:lstStyle/>
          <a:p>
            <a:endParaRPr lang="fr-FR"/>
          </a:p>
        </p:txBody>
      </p:sp>
      <p:sp>
        <p:nvSpPr>
          <p:cNvPr id="53" name="Text 51"/>
          <p:cNvSpPr/>
          <p:nvPr/>
        </p:nvSpPr>
        <p:spPr>
          <a:xfrm>
            <a:off x="731520" y="2587752"/>
            <a:ext cx="2194560" cy="384048"/>
          </a:xfrm>
          <a:prstGeom prst="rect">
            <a:avLst/>
          </a:prstGeom>
          <a:noFill/>
          <a:ln/>
        </p:spPr>
        <p:txBody>
          <a:bodyPr wrap="square" lIns="0" tIns="0" rIns="0" bIns="0" rtlCol="0" anchor="ctr"/>
          <a:lstStyle/>
          <a:p>
            <a:pPr marL="0" indent="0">
              <a:buNone/>
            </a:pPr>
            <a:r>
              <a:rPr lang="en-US" sz="1000" dirty="0">
                <a:solidFill>
                  <a:srgbClr val="0F172A"/>
                </a:solidFill>
                <a:latin typeface="Poppins" pitchFamily="34" charset="0"/>
                <a:ea typeface="Poppins" pitchFamily="34" charset="-122"/>
                <a:cs typeface="Poppins" pitchFamily="34" charset="-120"/>
              </a:rPr>
              <a:t>Interop IoT/ERP/OPC-UA</a:t>
            </a:r>
            <a:endParaRPr lang="en-US" sz="1000" dirty="0"/>
          </a:p>
        </p:txBody>
      </p:sp>
      <p:sp>
        <p:nvSpPr>
          <p:cNvPr id="54" name="Shape 52"/>
          <p:cNvSpPr/>
          <p:nvPr/>
        </p:nvSpPr>
        <p:spPr>
          <a:xfrm>
            <a:off x="3017520" y="2587752"/>
            <a:ext cx="1097280" cy="384048"/>
          </a:xfrm>
          <a:prstGeom prst="rect">
            <a:avLst/>
          </a:prstGeom>
          <a:solidFill>
            <a:srgbClr val="FFFFFF"/>
          </a:solidFill>
          <a:ln w="3810">
            <a:solidFill>
              <a:srgbClr val="E5E7EB"/>
            </a:solidFill>
            <a:prstDash val="solid"/>
          </a:ln>
        </p:spPr>
        <p:txBody>
          <a:bodyPr/>
          <a:lstStyle/>
          <a:p>
            <a:endParaRPr lang="fr-FR"/>
          </a:p>
        </p:txBody>
      </p:sp>
      <p:sp>
        <p:nvSpPr>
          <p:cNvPr id="55" name="Text 53"/>
          <p:cNvSpPr/>
          <p:nvPr/>
        </p:nvSpPr>
        <p:spPr>
          <a:xfrm>
            <a:off x="3017520" y="2587752"/>
            <a:ext cx="1097280" cy="384048"/>
          </a:xfrm>
          <a:prstGeom prst="rect">
            <a:avLst/>
          </a:prstGeom>
          <a:noFill/>
          <a:ln/>
        </p:spPr>
        <p:txBody>
          <a:bodyPr wrap="square" lIns="0" tIns="0" rIns="0" bIns="0" rtlCol="0" anchor="ctr"/>
          <a:lstStyle/>
          <a:p>
            <a:pPr marL="0" indent="0" algn="ctr">
              <a:buNone/>
            </a:pPr>
            <a:r>
              <a:rPr lang="en-US" sz="1200" b="1" dirty="0">
                <a:solidFill>
                  <a:srgbClr val="9CA3AF"/>
                </a:solidFill>
                <a:latin typeface="Poppins" pitchFamily="34" charset="0"/>
                <a:ea typeface="Poppins" pitchFamily="34" charset="-122"/>
                <a:cs typeface="Poppins" pitchFamily="34" charset="-120"/>
              </a:rPr>
              <a:t>-</a:t>
            </a:r>
            <a:endParaRPr lang="en-US" sz="1200" dirty="0"/>
          </a:p>
        </p:txBody>
      </p:sp>
      <p:sp>
        <p:nvSpPr>
          <p:cNvPr id="56" name="Shape 54"/>
          <p:cNvSpPr/>
          <p:nvPr/>
        </p:nvSpPr>
        <p:spPr>
          <a:xfrm>
            <a:off x="4114800" y="2587752"/>
            <a:ext cx="1097280" cy="384048"/>
          </a:xfrm>
          <a:prstGeom prst="rect">
            <a:avLst/>
          </a:prstGeom>
          <a:solidFill>
            <a:srgbClr val="FFFFFF"/>
          </a:solidFill>
          <a:ln w="3810">
            <a:solidFill>
              <a:srgbClr val="E5E7EB"/>
            </a:solidFill>
            <a:prstDash val="solid"/>
          </a:ln>
        </p:spPr>
        <p:txBody>
          <a:bodyPr/>
          <a:lstStyle/>
          <a:p>
            <a:endParaRPr lang="fr-FR"/>
          </a:p>
        </p:txBody>
      </p:sp>
      <p:sp>
        <p:nvSpPr>
          <p:cNvPr id="57" name="Text 55"/>
          <p:cNvSpPr/>
          <p:nvPr/>
        </p:nvSpPr>
        <p:spPr>
          <a:xfrm>
            <a:off x="4114800" y="2587752"/>
            <a:ext cx="1097280" cy="384048"/>
          </a:xfrm>
          <a:prstGeom prst="rect">
            <a:avLst/>
          </a:prstGeom>
          <a:noFill/>
          <a:ln/>
        </p:spPr>
        <p:txBody>
          <a:bodyPr wrap="square" lIns="0" tIns="0" rIns="0" bIns="0" rtlCol="0" anchor="ctr"/>
          <a:lstStyle/>
          <a:p>
            <a:pPr marL="0" indent="0" algn="ctr">
              <a:buNone/>
            </a:pPr>
            <a:r>
              <a:rPr lang="en-US" sz="1200" b="1" dirty="0">
                <a:solidFill>
                  <a:srgbClr val="9CA3AF"/>
                </a:solidFill>
                <a:latin typeface="Poppins" pitchFamily="34" charset="0"/>
                <a:ea typeface="Poppins" pitchFamily="34" charset="-122"/>
                <a:cs typeface="Poppins" pitchFamily="34" charset="-120"/>
              </a:rPr>
              <a:t>-</a:t>
            </a:r>
            <a:endParaRPr lang="en-US" sz="1200" dirty="0"/>
          </a:p>
        </p:txBody>
      </p:sp>
      <p:sp>
        <p:nvSpPr>
          <p:cNvPr id="58" name="Shape 56"/>
          <p:cNvSpPr/>
          <p:nvPr/>
        </p:nvSpPr>
        <p:spPr>
          <a:xfrm>
            <a:off x="5212080" y="2587752"/>
            <a:ext cx="1097280" cy="384048"/>
          </a:xfrm>
          <a:prstGeom prst="rect">
            <a:avLst/>
          </a:prstGeom>
          <a:solidFill>
            <a:srgbClr val="FFFFFF"/>
          </a:solidFill>
          <a:ln w="3810">
            <a:solidFill>
              <a:srgbClr val="E5E7EB"/>
            </a:solidFill>
            <a:prstDash val="solid"/>
          </a:ln>
        </p:spPr>
        <p:txBody>
          <a:bodyPr/>
          <a:lstStyle/>
          <a:p>
            <a:endParaRPr lang="fr-FR"/>
          </a:p>
        </p:txBody>
      </p:sp>
      <p:sp>
        <p:nvSpPr>
          <p:cNvPr id="59" name="Text 57"/>
          <p:cNvSpPr/>
          <p:nvPr/>
        </p:nvSpPr>
        <p:spPr>
          <a:xfrm>
            <a:off x="5212080" y="2587752"/>
            <a:ext cx="1097280" cy="384048"/>
          </a:xfrm>
          <a:prstGeom prst="rect">
            <a:avLst/>
          </a:prstGeom>
          <a:noFill/>
          <a:ln/>
        </p:spPr>
        <p:txBody>
          <a:bodyPr wrap="square" lIns="0" tIns="0" rIns="0" bIns="0" rtlCol="0" anchor="ctr"/>
          <a:lstStyle/>
          <a:p>
            <a:pPr marL="0" indent="0" algn="ctr">
              <a:buNone/>
            </a:pPr>
            <a:r>
              <a:rPr lang="en-US" sz="1200" b="1" dirty="0">
                <a:solidFill>
                  <a:srgbClr val="9CA3AF"/>
                </a:solidFill>
                <a:latin typeface="Poppins" pitchFamily="34" charset="0"/>
                <a:ea typeface="Poppins" pitchFamily="34" charset="-122"/>
                <a:cs typeface="Poppins" pitchFamily="34" charset="-120"/>
              </a:rPr>
              <a:t>-</a:t>
            </a:r>
            <a:endParaRPr lang="en-US" sz="1200" dirty="0"/>
          </a:p>
        </p:txBody>
      </p:sp>
      <p:sp>
        <p:nvSpPr>
          <p:cNvPr id="60" name="Shape 58"/>
          <p:cNvSpPr/>
          <p:nvPr/>
        </p:nvSpPr>
        <p:spPr>
          <a:xfrm>
            <a:off x="6309360" y="2587752"/>
            <a:ext cx="1097280" cy="384048"/>
          </a:xfrm>
          <a:prstGeom prst="rect">
            <a:avLst/>
          </a:prstGeom>
          <a:solidFill>
            <a:srgbClr val="FFFFFF"/>
          </a:solidFill>
          <a:ln w="3810">
            <a:solidFill>
              <a:srgbClr val="E5E7EB"/>
            </a:solidFill>
            <a:prstDash val="solid"/>
          </a:ln>
        </p:spPr>
        <p:txBody>
          <a:bodyPr/>
          <a:lstStyle/>
          <a:p>
            <a:endParaRPr lang="fr-FR"/>
          </a:p>
        </p:txBody>
      </p:sp>
      <p:sp>
        <p:nvSpPr>
          <p:cNvPr id="61" name="Text 59"/>
          <p:cNvSpPr/>
          <p:nvPr/>
        </p:nvSpPr>
        <p:spPr>
          <a:xfrm>
            <a:off x="6309360" y="2587752"/>
            <a:ext cx="1097280" cy="384048"/>
          </a:xfrm>
          <a:prstGeom prst="rect">
            <a:avLst/>
          </a:prstGeom>
          <a:noFill/>
          <a:ln/>
        </p:spPr>
        <p:txBody>
          <a:bodyPr wrap="square" lIns="0" tIns="0" rIns="0" bIns="0" rtlCol="0" anchor="ctr"/>
          <a:lstStyle/>
          <a:p>
            <a:pPr marL="0" indent="0" algn="ctr">
              <a:buNone/>
            </a:pPr>
            <a:r>
              <a:rPr lang="en-US" sz="1200" b="1" dirty="0">
                <a:solidFill>
                  <a:srgbClr val="9CA3AF"/>
                </a:solidFill>
                <a:latin typeface="Poppins" pitchFamily="34" charset="0"/>
                <a:ea typeface="Poppins" pitchFamily="34" charset="-122"/>
                <a:cs typeface="Poppins" pitchFamily="34" charset="-120"/>
              </a:rPr>
              <a:t>-</a:t>
            </a:r>
            <a:endParaRPr lang="en-US" sz="1200" dirty="0"/>
          </a:p>
        </p:txBody>
      </p:sp>
      <p:sp>
        <p:nvSpPr>
          <p:cNvPr id="62" name="Shape 60"/>
          <p:cNvSpPr/>
          <p:nvPr/>
        </p:nvSpPr>
        <p:spPr>
          <a:xfrm>
            <a:off x="7406640" y="2587752"/>
            <a:ext cx="1097280" cy="384048"/>
          </a:xfrm>
          <a:prstGeom prst="rect">
            <a:avLst/>
          </a:prstGeom>
          <a:solidFill>
            <a:srgbClr val="FFFFFF"/>
          </a:solidFill>
          <a:ln w="3810">
            <a:solidFill>
              <a:srgbClr val="E5E7EB"/>
            </a:solidFill>
            <a:prstDash val="solid"/>
          </a:ln>
        </p:spPr>
        <p:txBody>
          <a:bodyPr/>
          <a:lstStyle/>
          <a:p>
            <a:endParaRPr lang="fr-FR"/>
          </a:p>
        </p:txBody>
      </p:sp>
      <p:sp>
        <p:nvSpPr>
          <p:cNvPr id="63" name="Text 61"/>
          <p:cNvSpPr/>
          <p:nvPr/>
        </p:nvSpPr>
        <p:spPr>
          <a:xfrm>
            <a:off x="7406640" y="2587752"/>
            <a:ext cx="1097280" cy="384048"/>
          </a:xfrm>
          <a:prstGeom prst="rect">
            <a:avLst/>
          </a:prstGeom>
          <a:noFill/>
          <a:ln/>
        </p:spPr>
        <p:txBody>
          <a:bodyPr wrap="square" lIns="0" tIns="0" rIns="0" bIns="0" rtlCol="0" anchor="ctr"/>
          <a:lstStyle/>
          <a:p>
            <a:pPr marL="0" indent="0" algn="ctr">
              <a:buNone/>
            </a:pPr>
            <a:r>
              <a:rPr lang="en-US" sz="1200" b="1" dirty="0">
                <a:solidFill>
                  <a:srgbClr val="1677FF"/>
                </a:solidFill>
                <a:latin typeface="Poppins" pitchFamily="34" charset="0"/>
                <a:ea typeface="Poppins" pitchFamily="34" charset="-122"/>
                <a:cs typeface="Poppins" pitchFamily="34" charset="-120"/>
              </a:rPr>
              <a:t>✔</a:t>
            </a:r>
            <a:endParaRPr lang="en-US" sz="1200" dirty="0"/>
          </a:p>
        </p:txBody>
      </p:sp>
      <p:sp>
        <p:nvSpPr>
          <p:cNvPr id="64" name="Shape 62"/>
          <p:cNvSpPr/>
          <p:nvPr/>
        </p:nvSpPr>
        <p:spPr>
          <a:xfrm>
            <a:off x="640080" y="2971800"/>
            <a:ext cx="2377440" cy="384048"/>
          </a:xfrm>
          <a:prstGeom prst="rect">
            <a:avLst/>
          </a:prstGeom>
          <a:solidFill>
            <a:srgbClr val="F7F9FC"/>
          </a:solidFill>
          <a:ln w="3810">
            <a:solidFill>
              <a:srgbClr val="E5E7EB"/>
            </a:solidFill>
            <a:prstDash val="solid"/>
          </a:ln>
        </p:spPr>
        <p:txBody>
          <a:bodyPr/>
          <a:lstStyle/>
          <a:p>
            <a:endParaRPr lang="fr-FR"/>
          </a:p>
        </p:txBody>
      </p:sp>
      <p:sp>
        <p:nvSpPr>
          <p:cNvPr id="65" name="Text 63"/>
          <p:cNvSpPr/>
          <p:nvPr/>
        </p:nvSpPr>
        <p:spPr>
          <a:xfrm>
            <a:off x="731520" y="2971800"/>
            <a:ext cx="2194560" cy="384048"/>
          </a:xfrm>
          <a:prstGeom prst="rect">
            <a:avLst/>
          </a:prstGeom>
          <a:noFill/>
          <a:ln/>
        </p:spPr>
        <p:txBody>
          <a:bodyPr wrap="square" lIns="0" tIns="0" rIns="0" bIns="0" rtlCol="0" anchor="ctr"/>
          <a:lstStyle/>
          <a:p>
            <a:pPr marL="0" indent="0">
              <a:buNone/>
            </a:pPr>
            <a:r>
              <a:rPr lang="en-US" sz="1000" dirty="0">
                <a:solidFill>
                  <a:srgbClr val="0F172A"/>
                </a:solidFill>
                <a:latin typeface="Poppins" pitchFamily="34" charset="0"/>
                <a:ea typeface="Poppins" pitchFamily="34" charset="-122"/>
                <a:cs typeface="Poppins" pitchFamily="34" charset="-120"/>
              </a:rPr>
              <a:t>Agents IA natifs</a:t>
            </a:r>
            <a:endParaRPr lang="en-US" sz="1000" dirty="0"/>
          </a:p>
        </p:txBody>
      </p:sp>
      <p:sp>
        <p:nvSpPr>
          <p:cNvPr id="66" name="Shape 64"/>
          <p:cNvSpPr/>
          <p:nvPr/>
        </p:nvSpPr>
        <p:spPr>
          <a:xfrm>
            <a:off x="3017520" y="2971800"/>
            <a:ext cx="1097280" cy="384048"/>
          </a:xfrm>
          <a:prstGeom prst="rect">
            <a:avLst/>
          </a:prstGeom>
          <a:solidFill>
            <a:srgbClr val="F7F9FC"/>
          </a:solidFill>
          <a:ln w="3810">
            <a:solidFill>
              <a:srgbClr val="E5E7EB"/>
            </a:solidFill>
            <a:prstDash val="solid"/>
          </a:ln>
        </p:spPr>
        <p:txBody>
          <a:bodyPr/>
          <a:lstStyle/>
          <a:p>
            <a:endParaRPr lang="fr-FR"/>
          </a:p>
        </p:txBody>
      </p:sp>
      <p:sp>
        <p:nvSpPr>
          <p:cNvPr id="67" name="Text 65"/>
          <p:cNvSpPr/>
          <p:nvPr/>
        </p:nvSpPr>
        <p:spPr>
          <a:xfrm>
            <a:off x="3017520" y="2971800"/>
            <a:ext cx="1097280" cy="384048"/>
          </a:xfrm>
          <a:prstGeom prst="rect">
            <a:avLst/>
          </a:prstGeom>
          <a:noFill/>
          <a:ln/>
        </p:spPr>
        <p:txBody>
          <a:bodyPr wrap="square" lIns="0" tIns="0" rIns="0" bIns="0" rtlCol="0" anchor="ctr"/>
          <a:lstStyle/>
          <a:p>
            <a:pPr marL="0" indent="0" algn="ctr">
              <a:buNone/>
            </a:pPr>
            <a:r>
              <a:rPr lang="en-US" sz="1200" b="1" dirty="0">
                <a:solidFill>
                  <a:srgbClr val="9CA3AF"/>
                </a:solidFill>
                <a:latin typeface="Poppins" pitchFamily="34" charset="0"/>
                <a:ea typeface="Poppins" pitchFamily="34" charset="-122"/>
                <a:cs typeface="Poppins" pitchFamily="34" charset="-120"/>
              </a:rPr>
              <a:t>-</a:t>
            </a:r>
            <a:endParaRPr lang="en-US" sz="1200" dirty="0"/>
          </a:p>
        </p:txBody>
      </p:sp>
      <p:sp>
        <p:nvSpPr>
          <p:cNvPr id="68" name="Shape 66"/>
          <p:cNvSpPr/>
          <p:nvPr/>
        </p:nvSpPr>
        <p:spPr>
          <a:xfrm>
            <a:off x="4114800" y="2971800"/>
            <a:ext cx="1097280" cy="384048"/>
          </a:xfrm>
          <a:prstGeom prst="rect">
            <a:avLst/>
          </a:prstGeom>
          <a:solidFill>
            <a:srgbClr val="F7F9FC"/>
          </a:solidFill>
          <a:ln w="3810">
            <a:solidFill>
              <a:srgbClr val="E5E7EB"/>
            </a:solidFill>
            <a:prstDash val="solid"/>
          </a:ln>
        </p:spPr>
        <p:txBody>
          <a:bodyPr/>
          <a:lstStyle/>
          <a:p>
            <a:endParaRPr lang="fr-FR"/>
          </a:p>
        </p:txBody>
      </p:sp>
      <p:sp>
        <p:nvSpPr>
          <p:cNvPr id="69" name="Text 67"/>
          <p:cNvSpPr/>
          <p:nvPr/>
        </p:nvSpPr>
        <p:spPr>
          <a:xfrm>
            <a:off x="4114800" y="2971800"/>
            <a:ext cx="1097280" cy="384048"/>
          </a:xfrm>
          <a:prstGeom prst="rect">
            <a:avLst/>
          </a:prstGeom>
          <a:noFill/>
          <a:ln/>
        </p:spPr>
        <p:txBody>
          <a:bodyPr wrap="square" lIns="0" tIns="0" rIns="0" bIns="0" rtlCol="0" anchor="ctr"/>
          <a:lstStyle/>
          <a:p>
            <a:pPr marL="0" indent="0" algn="ctr">
              <a:buNone/>
            </a:pPr>
            <a:r>
              <a:rPr lang="en-US" sz="1200" b="1" dirty="0">
                <a:solidFill>
                  <a:srgbClr val="9CA3AF"/>
                </a:solidFill>
                <a:latin typeface="Poppins" pitchFamily="34" charset="0"/>
                <a:ea typeface="Poppins" pitchFamily="34" charset="-122"/>
                <a:cs typeface="Poppins" pitchFamily="34" charset="-120"/>
              </a:rPr>
              <a:t>-</a:t>
            </a:r>
            <a:endParaRPr lang="en-US" sz="1200" dirty="0"/>
          </a:p>
        </p:txBody>
      </p:sp>
      <p:sp>
        <p:nvSpPr>
          <p:cNvPr id="70" name="Shape 68"/>
          <p:cNvSpPr/>
          <p:nvPr/>
        </p:nvSpPr>
        <p:spPr>
          <a:xfrm>
            <a:off x="5212080" y="2971800"/>
            <a:ext cx="1097280" cy="384048"/>
          </a:xfrm>
          <a:prstGeom prst="rect">
            <a:avLst/>
          </a:prstGeom>
          <a:solidFill>
            <a:srgbClr val="F7F9FC"/>
          </a:solidFill>
          <a:ln w="3810">
            <a:solidFill>
              <a:srgbClr val="E5E7EB"/>
            </a:solidFill>
            <a:prstDash val="solid"/>
          </a:ln>
        </p:spPr>
        <p:txBody>
          <a:bodyPr/>
          <a:lstStyle/>
          <a:p>
            <a:endParaRPr lang="fr-FR"/>
          </a:p>
        </p:txBody>
      </p:sp>
      <p:sp>
        <p:nvSpPr>
          <p:cNvPr id="71" name="Text 69"/>
          <p:cNvSpPr/>
          <p:nvPr/>
        </p:nvSpPr>
        <p:spPr>
          <a:xfrm>
            <a:off x="5212080" y="2971800"/>
            <a:ext cx="1097280" cy="384048"/>
          </a:xfrm>
          <a:prstGeom prst="rect">
            <a:avLst/>
          </a:prstGeom>
          <a:noFill/>
          <a:ln/>
        </p:spPr>
        <p:txBody>
          <a:bodyPr wrap="square" lIns="0" tIns="0" rIns="0" bIns="0" rtlCol="0" anchor="ctr"/>
          <a:lstStyle/>
          <a:p>
            <a:pPr marL="0" indent="0" algn="ctr">
              <a:buNone/>
            </a:pPr>
            <a:r>
              <a:rPr lang="en-US" sz="1200" b="1" dirty="0">
                <a:solidFill>
                  <a:srgbClr val="16A34A"/>
                </a:solidFill>
                <a:latin typeface="Poppins" pitchFamily="34" charset="0"/>
                <a:ea typeface="Poppins" pitchFamily="34" charset="-122"/>
                <a:cs typeface="Poppins" pitchFamily="34" charset="-120"/>
              </a:rPr>
              <a:t>✔</a:t>
            </a:r>
            <a:endParaRPr lang="en-US" sz="1200" dirty="0"/>
          </a:p>
        </p:txBody>
      </p:sp>
      <p:sp>
        <p:nvSpPr>
          <p:cNvPr id="72" name="Shape 70"/>
          <p:cNvSpPr/>
          <p:nvPr/>
        </p:nvSpPr>
        <p:spPr>
          <a:xfrm>
            <a:off x="6309360" y="2971800"/>
            <a:ext cx="1097280" cy="384048"/>
          </a:xfrm>
          <a:prstGeom prst="rect">
            <a:avLst/>
          </a:prstGeom>
          <a:solidFill>
            <a:srgbClr val="F7F9FC"/>
          </a:solidFill>
          <a:ln w="3810">
            <a:solidFill>
              <a:srgbClr val="E5E7EB"/>
            </a:solidFill>
            <a:prstDash val="solid"/>
          </a:ln>
        </p:spPr>
        <p:txBody>
          <a:bodyPr/>
          <a:lstStyle/>
          <a:p>
            <a:endParaRPr lang="fr-FR"/>
          </a:p>
        </p:txBody>
      </p:sp>
      <p:sp>
        <p:nvSpPr>
          <p:cNvPr id="73" name="Text 71"/>
          <p:cNvSpPr/>
          <p:nvPr/>
        </p:nvSpPr>
        <p:spPr>
          <a:xfrm>
            <a:off x="6309360" y="2971800"/>
            <a:ext cx="1097280" cy="384048"/>
          </a:xfrm>
          <a:prstGeom prst="rect">
            <a:avLst/>
          </a:prstGeom>
          <a:noFill/>
          <a:ln/>
        </p:spPr>
        <p:txBody>
          <a:bodyPr wrap="square" lIns="0" tIns="0" rIns="0" bIns="0" rtlCol="0" anchor="ctr"/>
          <a:lstStyle/>
          <a:p>
            <a:pPr marL="0" indent="0" algn="ctr">
              <a:buNone/>
            </a:pPr>
            <a:r>
              <a:rPr lang="en-US" sz="1200" b="1" dirty="0">
                <a:solidFill>
                  <a:srgbClr val="9CA3AF"/>
                </a:solidFill>
                <a:latin typeface="Poppins" pitchFamily="34" charset="0"/>
                <a:ea typeface="Poppins" pitchFamily="34" charset="-122"/>
                <a:cs typeface="Poppins" pitchFamily="34" charset="-120"/>
              </a:rPr>
              <a:t>-</a:t>
            </a:r>
            <a:endParaRPr lang="en-US" sz="1200" dirty="0"/>
          </a:p>
        </p:txBody>
      </p:sp>
      <p:sp>
        <p:nvSpPr>
          <p:cNvPr id="74" name="Shape 72"/>
          <p:cNvSpPr/>
          <p:nvPr/>
        </p:nvSpPr>
        <p:spPr>
          <a:xfrm>
            <a:off x="7406640" y="2971800"/>
            <a:ext cx="1097280" cy="384048"/>
          </a:xfrm>
          <a:prstGeom prst="rect">
            <a:avLst/>
          </a:prstGeom>
          <a:solidFill>
            <a:srgbClr val="F7F9FC"/>
          </a:solidFill>
          <a:ln w="3810">
            <a:solidFill>
              <a:srgbClr val="E5E7EB"/>
            </a:solidFill>
            <a:prstDash val="solid"/>
          </a:ln>
        </p:spPr>
        <p:txBody>
          <a:bodyPr/>
          <a:lstStyle/>
          <a:p>
            <a:endParaRPr lang="fr-FR"/>
          </a:p>
        </p:txBody>
      </p:sp>
      <p:sp>
        <p:nvSpPr>
          <p:cNvPr id="75" name="Text 73"/>
          <p:cNvSpPr/>
          <p:nvPr/>
        </p:nvSpPr>
        <p:spPr>
          <a:xfrm>
            <a:off x="7406640" y="2971800"/>
            <a:ext cx="1097280" cy="384048"/>
          </a:xfrm>
          <a:prstGeom prst="rect">
            <a:avLst/>
          </a:prstGeom>
          <a:noFill/>
          <a:ln/>
        </p:spPr>
        <p:txBody>
          <a:bodyPr wrap="square" lIns="0" tIns="0" rIns="0" bIns="0" rtlCol="0" anchor="ctr"/>
          <a:lstStyle/>
          <a:p>
            <a:pPr marL="0" indent="0" algn="ctr">
              <a:buNone/>
            </a:pPr>
            <a:r>
              <a:rPr lang="en-US" sz="1200" b="1" dirty="0">
                <a:solidFill>
                  <a:srgbClr val="1677FF"/>
                </a:solidFill>
                <a:latin typeface="Poppins" pitchFamily="34" charset="0"/>
                <a:ea typeface="Poppins" pitchFamily="34" charset="-122"/>
                <a:cs typeface="Poppins" pitchFamily="34" charset="-120"/>
              </a:rPr>
              <a:t>✔</a:t>
            </a:r>
            <a:endParaRPr lang="en-US" sz="1200" dirty="0"/>
          </a:p>
        </p:txBody>
      </p:sp>
      <p:sp>
        <p:nvSpPr>
          <p:cNvPr id="76" name="Shape 74"/>
          <p:cNvSpPr/>
          <p:nvPr/>
        </p:nvSpPr>
        <p:spPr>
          <a:xfrm>
            <a:off x="640080" y="3355848"/>
            <a:ext cx="2377440" cy="384048"/>
          </a:xfrm>
          <a:prstGeom prst="rect">
            <a:avLst/>
          </a:prstGeom>
          <a:solidFill>
            <a:srgbClr val="FFFFFF"/>
          </a:solidFill>
          <a:ln w="3810">
            <a:solidFill>
              <a:srgbClr val="E5E7EB"/>
            </a:solidFill>
            <a:prstDash val="solid"/>
          </a:ln>
        </p:spPr>
        <p:txBody>
          <a:bodyPr/>
          <a:lstStyle/>
          <a:p>
            <a:endParaRPr lang="fr-FR"/>
          </a:p>
        </p:txBody>
      </p:sp>
      <p:sp>
        <p:nvSpPr>
          <p:cNvPr id="77" name="Text 75"/>
          <p:cNvSpPr/>
          <p:nvPr/>
        </p:nvSpPr>
        <p:spPr>
          <a:xfrm>
            <a:off x="731520" y="3355848"/>
            <a:ext cx="2194560" cy="384048"/>
          </a:xfrm>
          <a:prstGeom prst="rect">
            <a:avLst/>
          </a:prstGeom>
          <a:noFill/>
          <a:ln/>
        </p:spPr>
        <p:txBody>
          <a:bodyPr wrap="square" lIns="0" tIns="0" rIns="0" bIns="0" rtlCol="0" anchor="ctr"/>
          <a:lstStyle/>
          <a:p>
            <a:pPr marL="0" indent="0">
              <a:buNone/>
            </a:pPr>
            <a:r>
              <a:rPr lang="en-US" sz="1000" dirty="0">
                <a:solidFill>
                  <a:srgbClr val="0F172A"/>
                </a:solidFill>
                <a:latin typeface="Poppins" pitchFamily="34" charset="0"/>
                <a:ea typeface="Poppins" pitchFamily="34" charset="-122"/>
                <a:cs typeface="Poppins" pitchFamily="34" charset="-120"/>
              </a:rPr>
              <a:t>Cloud + On-Prem + Edge</a:t>
            </a:r>
            <a:endParaRPr lang="en-US" sz="1000" dirty="0"/>
          </a:p>
        </p:txBody>
      </p:sp>
      <p:sp>
        <p:nvSpPr>
          <p:cNvPr id="78" name="Shape 76"/>
          <p:cNvSpPr/>
          <p:nvPr/>
        </p:nvSpPr>
        <p:spPr>
          <a:xfrm>
            <a:off x="3017520" y="3355848"/>
            <a:ext cx="1097280" cy="384048"/>
          </a:xfrm>
          <a:prstGeom prst="rect">
            <a:avLst/>
          </a:prstGeom>
          <a:solidFill>
            <a:srgbClr val="FFFFFF"/>
          </a:solidFill>
          <a:ln w="3810">
            <a:solidFill>
              <a:srgbClr val="E5E7EB"/>
            </a:solidFill>
            <a:prstDash val="solid"/>
          </a:ln>
        </p:spPr>
        <p:txBody>
          <a:bodyPr/>
          <a:lstStyle/>
          <a:p>
            <a:endParaRPr lang="fr-FR"/>
          </a:p>
        </p:txBody>
      </p:sp>
      <p:sp>
        <p:nvSpPr>
          <p:cNvPr id="79" name="Text 77"/>
          <p:cNvSpPr/>
          <p:nvPr/>
        </p:nvSpPr>
        <p:spPr>
          <a:xfrm>
            <a:off x="3017520" y="3355848"/>
            <a:ext cx="1097280" cy="384048"/>
          </a:xfrm>
          <a:prstGeom prst="rect">
            <a:avLst/>
          </a:prstGeom>
          <a:noFill/>
          <a:ln/>
        </p:spPr>
        <p:txBody>
          <a:bodyPr wrap="square" lIns="0" tIns="0" rIns="0" bIns="0" rtlCol="0" anchor="ctr"/>
          <a:lstStyle/>
          <a:p>
            <a:pPr marL="0" indent="0" algn="ctr">
              <a:buNone/>
            </a:pPr>
            <a:r>
              <a:rPr lang="en-US" sz="1200" b="1" dirty="0">
                <a:solidFill>
                  <a:srgbClr val="9CA3AF"/>
                </a:solidFill>
                <a:latin typeface="Poppins" pitchFamily="34" charset="0"/>
                <a:ea typeface="Poppins" pitchFamily="34" charset="-122"/>
                <a:cs typeface="Poppins" pitchFamily="34" charset="-120"/>
              </a:rPr>
              <a:t>-</a:t>
            </a:r>
            <a:endParaRPr lang="en-US" sz="1200" dirty="0"/>
          </a:p>
        </p:txBody>
      </p:sp>
      <p:sp>
        <p:nvSpPr>
          <p:cNvPr id="80" name="Shape 78"/>
          <p:cNvSpPr/>
          <p:nvPr/>
        </p:nvSpPr>
        <p:spPr>
          <a:xfrm>
            <a:off x="4114800" y="3355848"/>
            <a:ext cx="1097280" cy="384048"/>
          </a:xfrm>
          <a:prstGeom prst="rect">
            <a:avLst/>
          </a:prstGeom>
          <a:solidFill>
            <a:srgbClr val="FFFFFF"/>
          </a:solidFill>
          <a:ln w="3810">
            <a:solidFill>
              <a:srgbClr val="E5E7EB"/>
            </a:solidFill>
            <a:prstDash val="solid"/>
          </a:ln>
        </p:spPr>
        <p:txBody>
          <a:bodyPr/>
          <a:lstStyle/>
          <a:p>
            <a:endParaRPr lang="fr-FR"/>
          </a:p>
        </p:txBody>
      </p:sp>
      <p:sp>
        <p:nvSpPr>
          <p:cNvPr id="81" name="Text 79"/>
          <p:cNvSpPr/>
          <p:nvPr/>
        </p:nvSpPr>
        <p:spPr>
          <a:xfrm>
            <a:off x="4114800" y="3355848"/>
            <a:ext cx="1097280" cy="384048"/>
          </a:xfrm>
          <a:prstGeom prst="rect">
            <a:avLst/>
          </a:prstGeom>
          <a:noFill/>
          <a:ln/>
        </p:spPr>
        <p:txBody>
          <a:bodyPr wrap="square" lIns="0" tIns="0" rIns="0" bIns="0" rtlCol="0" anchor="ctr"/>
          <a:lstStyle/>
          <a:p>
            <a:pPr marL="0" indent="0" algn="ctr">
              <a:buNone/>
            </a:pPr>
            <a:r>
              <a:rPr lang="en-US" sz="1200" b="1" dirty="0">
                <a:solidFill>
                  <a:srgbClr val="9CA3AF"/>
                </a:solidFill>
                <a:latin typeface="Poppins" pitchFamily="34" charset="0"/>
                <a:ea typeface="Poppins" pitchFamily="34" charset="-122"/>
                <a:cs typeface="Poppins" pitchFamily="34" charset="-120"/>
              </a:rPr>
              <a:t>-</a:t>
            </a:r>
            <a:endParaRPr lang="en-US" sz="1200" dirty="0"/>
          </a:p>
        </p:txBody>
      </p:sp>
      <p:sp>
        <p:nvSpPr>
          <p:cNvPr id="82" name="Shape 80"/>
          <p:cNvSpPr/>
          <p:nvPr/>
        </p:nvSpPr>
        <p:spPr>
          <a:xfrm>
            <a:off x="5212080" y="3355848"/>
            <a:ext cx="1097280" cy="384048"/>
          </a:xfrm>
          <a:prstGeom prst="rect">
            <a:avLst/>
          </a:prstGeom>
          <a:solidFill>
            <a:srgbClr val="FFFFFF"/>
          </a:solidFill>
          <a:ln w="3810">
            <a:solidFill>
              <a:srgbClr val="E5E7EB"/>
            </a:solidFill>
            <a:prstDash val="solid"/>
          </a:ln>
        </p:spPr>
        <p:txBody>
          <a:bodyPr/>
          <a:lstStyle/>
          <a:p>
            <a:endParaRPr lang="fr-FR"/>
          </a:p>
        </p:txBody>
      </p:sp>
      <p:sp>
        <p:nvSpPr>
          <p:cNvPr id="83" name="Text 81"/>
          <p:cNvSpPr/>
          <p:nvPr/>
        </p:nvSpPr>
        <p:spPr>
          <a:xfrm>
            <a:off x="5212080" y="3355848"/>
            <a:ext cx="1097280" cy="384048"/>
          </a:xfrm>
          <a:prstGeom prst="rect">
            <a:avLst/>
          </a:prstGeom>
          <a:noFill/>
          <a:ln/>
        </p:spPr>
        <p:txBody>
          <a:bodyPr wrap="square" lIns="0" tIns="0" rIns="0" bIns="0" rtlCol="0" anchor="ctr"/>
          <a:lstStyle/>
          <a:p>
            <a:pPr marL="0" indent="0" algn="ctr">
              <a:buNone/>
            </a:pPr>
            <a:r>
              <a:rPr lang="en-US" sz="1200" b="1" dirty="0">
                <a:solidFill>
                  <a:srgbClr val="16A34A"/>
                </a:solidFill>
                <a:latin typeface="Poppins" pitchFamily="34" charset="0"/>
                <a:ea typeface="Poppins" pitchFamily="34" charset="-122"/>
                <a:cs typeface="Poppins" pitchFamily="34" charset="-120"/>
              </a:rPr>
              <a:t>✔</a:t>
            </a:r>
            <a:endParaRPr lang="en-US" sz="1200" dirty="0"/>
          </a:p>
        </p:txBody>
      </p:sp>
      <p:sp>
        <p:nvSpPr>
          <p:cNvPr id="84" name="Shape 82"/>
          <p:cNvSpPr/>
          <p:nvPr/>
        </p:nvSpPr>
        <p:spPr>
          <a:xfrm>
            <a:off x="6309360" y="3355848"/>
            <a:ext cx="1097280" cy="384048"/>
          </a:xfrm>
          <a:prstGeom prst="rect">
            <a:avLst/>
          </a:prstGeom>
          <a:solidFill>
            <a:srgbClr val="FFFFFF"/>
          </a:solidFill>
          <a:ln w="3810">
            <a:solidFill>
              <a:srgbClr val="E5E7EB"/>
            </a:solidFill>
            <a:prstDash val="solid"/>
          </a:ln>
        </p:spPr>
        <p:txBody>
          <a:bodyPr/>
          <a:lstStyle/>
          <a:p>
            <a:endParaRPr lang="fr-FR"/>
          </a:p>
        </p:txBody>
      </p:sp>
      <p:sp>
        <p:nvSpPr>
          <p:cNvPr id="85" name="Text 83"/>
          <p:cNvSpPr/>
          <p:nvPr/>
        </p:nvSpPr>
        <p:spPr>
          <a:xfrm>
            <a:off x="6309360" y="3355848"/>
            <a:ext cx="1097280" cy="384048"/>
          </a:xfrm>
          <a:prstGeom prst="rect">
            <a:avLst/>
          </a:prstGeom>
          <a:noFill/>
          <a:ln/>
        </p:spPr>
        <p:txBody>
          <a:bodyPr wrap="square" lIns="0" tIns="0" rIns="0" bIns="0" rtlCol="0" anchor="ctr"/>
          <a:lstStyle/>
          <a:p>
            <a:pPr marL="0" indent="0" algn="ctr">
              <a:buNone/>
            </a:pPr>
            <a:r>
              <a:rPr lang="en-US" sz="1200" b="1" dirty="0">
                <a:solidFill>
                  <a:srgbClr val="F59E0B"/>
                </a:solidFill>
                <a:latin typeface="Poppins" pitchFamily="34" charset="0"/>
                <a:ea typeface="Poppins" pitchFamily="34" charset="-122"/>
                <a:cs typeface="Poppins" pitchFamily="34" charset="-120"/>
              </a:rPr>
              <a:t>~</a:t>
            </a:r>
            <a:endParaRPr lang="en-US" sz="1200" dirty="0"/>
          </a:p>
        </p:txBody>
      </p:sp>
      <p:sp>
        <p:nvSpPr>
          <p:cNvPr id="86" name="Shape 84"/>
          <p:cNvSpPr/>
          <p:nvPr/>
        </p:nvSpPr>
        <p:spPr>
          <a:xfrm>
            <a:off x="7406640" y="3355848"/>
            <a:ext cx="1097280" cy="384048"/>
          </a:xfrm>
          <a:prstGeom prst="rect">
            <a:avLst/>
          </a:prstGeom>
          <a:solidFill>
            <a:srgbClr val="FFFFFF"/>
          </a:solidFill>
          <a:ln w="3810">
            <a:solidFill>
              <a:srgbClr val="E5E7EB"/>
            </a:solidFill>
            <a:prstDash val="solid"/>
          </a:ln>
        </p:spPr>
        <p:txBody>
          <a:bodyPr/>
          <a:lstStyle/>
          <a:p>
            <a:endParaRPr lang="fr-FR"/>
          </a:p>
        </p:txBody>
      </p:sp>
      <p:sp>
        <p:nvSpPr>
          <p:cNvPr id="87" name="Text 85"/>
          <p:cNvSpPr/>
          <p:nvPr/>
        </p:nvSpPr>
        <p:spPr>
          <a:xfrm>
            <a:off x="7406640" y="3355848"/>
            <a:ext cx="1097280" cy="384048"/>
          </a:xfrm>
          <a:prstGeom prst="rect">
            <a:avLst/>
          </a:prstGeom>
          <a:noFill/>
          <a:ln/>
        </p:spPr>
        <p:txBody>
          <a:bodyPr wrap="square" lIns="0" tIns="0" rIns="0" bIns="0" rtlCol="0" anchor="ctr"/>
          <a:lstStyle/>
          <a:p>
            <a:pPr marL="0" indent="0" algn="ctr">
              <a:buNone/>
            </a:pPr>
            <a:r>
              <a:rPr lang="en-US" sz="1200" b="1" dirty="0">
                <a:solidFill>
                  <a:srgbClr val="1677FF"/>
                </a:solidFill>
                <a:latin typeface="Poppins" pitchFamily="34" charset="0"/>
                <a:ea typeface="Poppins" pitchFamily="34" charset="-122"/>
                <a:cs typeface="Poppins" pitchFamily="34" charset="-120"/>
              </a:rPr>
              <a:t>✔</a:t>
            </a:r>
            <a:endParaRPr lang="en-US" sz="1200" dirty="0"/>
          </a:p>
        </p:txBody>
      </p:sp>
      <p:sp>
        <p:nvSpPr>
          <p:cNvPr id="88" name="Shape 86"/>
          <p:cNvSpPr/>
          <p:nvPr/>
        </p:nvSpPr>
        <p:spPr>
          <a:xfrm>
            <a:off x="640080" y="3739896"/>
            <a:ext cx="2377440" cy="384048"/>
          </a:xfrm>
          <a:prstGeom prst="rect">
            <a:avLst/>
          </a:prstGeom>
          <a:solidFill>
            <a:srgbClr val="F7F9FC"/>
          </a:solidFill>
          <a:ln w="3810">
            <a:solidFill>
              <a:srgbClr val="E5E7EB"/>
            </a:solidFill>
            <a:prstDash val="solid"/>
          </a:ln>
        </p:spPr>
        <p:txBody>
          <a:bodyPr/>
          <a:lstStyle/>
          <a:p>
            <a:endParaRPr lang="fr-FR"/>
          </a:p>
        </p:txBody>
      </p:sp>
      <p:sp>
        <p:nvSpPr>
          <p:cNvPr id="89" name="Text 87"/>
          <p:cNvSpPr/>
          <p:nvPr/>
        </p:nvSpPr>
        <p:spPr>
          <a:xfrm>
            <a:off x="731520" y="3739896"/>
            <a:ext cx="2194560" cy="384048"/>
          </a:xfrm>
          <a:prstGeom prst="rect">
            <a:avLst/>
          </a:prstGeom>
          <a:noFill/>
          <a:ln/>
        </p:spPr>
        <p:txBody>
          <a:bodyPr wrap="square" lIns="0" tIns="0" rIns="0" bIns="0" rtlCol="0" anchor="ctr"/>
          <a:lstStyle/>
          <a:p>
            <a:pPr marL="0" indent="0">
              <a:buNone/>
            </a:pPr>
            <a:r>
              <a:rPr lang="en-US" sz="1000" dirty="0">
                <a:solidFill>
                  <a:srgbClr val="0F172A"/>
                </a:solidFill>
                <a:latin typeface="Poppins" pitchFamily="34" charset="0"/>
                <a:ea typeface="Poppins" pitchFamily="34" charset="-122"/>
                <a:cs typeface="Poppins" pitchFamily="34" charset="-120"/>
              </a:rPr>
              <a:t>MCP Server / Tools IA</a:t>
            </a:r>
            <a:endParaRPr lang="en-US" sz="1000" dirty="0"/>
          </a:p>
        </p:txBody>
      </p:sp>
      <p:sp>
        <p:nvSpPr>
          <p:cNvPr id="90" name="Shape 88"/>
          <p:cNvSpPr/>
          <p:nvPr/>
        </p:nvSpPr>
        <p:spPr>
          <a:xfrm>
            <a:off x="3017520" y="3739896"/>
            <a:ext cx="1097280" cy="384048"/>
          </a:xfrm>
          <a:prstGeom prst="rect">
            <a:avLst/>
          </a:prstGeom>
          <a:solidFill>
            <a:srgbClr val="F7F9FC"/>
          </a:solidFill>
          <a:ln w="3810">
            <a:solidFill>
              <a:srgbClr val="E5E7EB"/>
            </a:solidFill>
            <a:prstDash val="solid"/>
          </a:ln>
        </p:spPr>
        <p:txBody>
          <a:bodyPr/>
          <a:lstStyle/>
          <a:p>
            <a:endParaRPr lang="fr-FR"/>
          </a:p>
        </p:txBody>
      </p:sp>
      <p:sp>
        <p:nvSpPr>
          <p:cNvPr id="91" name="Text 89"/>
          <p:cNvSpPr/>
          <p:nvPr/>
        </p:nvSpPr>
        <p:spPr>
          <a:xfrm>
            <a:off x="3017520" y="3739896"/>
            <a:ext cx="1097280" cy="384048"/>
          </a:xfrm>
          <a:prstGeom prst="rect">
            <a:avLst/>
          </a:prstGeom>
          <a:noFill/>
          <a:ln/>
        </p:spPr>
        <p:txBody>
          <a:bodyPr wrap="square" lIns="0" tIns="0" rIns="0" bIns="0" rtlCol="0" anchor="ctr"/>
          <a:lstStyle/>
          <a:p>
            <a:pPr marL="0" indent="0" algn="ctr">
              <a:buNone/>
            </a:pPr>
            <a:r>
              <a:rPr lang="en-US" sz="1200" b="1" dirty="0">
                <a:solidFill>
                  <a:srgbClr val="9CA3AF"/>
                </a:solidFill>
                <a:latin typeface="Poppins" pitchFamily="34" charset="0"/>
                <a:ea typeface="Poppins" pitchFamily="34" charset="-122"/>
                <a:cs typeface="Poppins" pitchFamily="34" charset="-120"/>
              </a:rPr>
              <a:t>-</a:t>
            </a:r>
            <a:endParaRPr lang="en-US" sz="1200" dirty="0"/>
          </a:p>
        </p:txBody>
      </p:sp>
      <p:sp>
        <p:nvSpPr>
          <p:cNvPr id="92" name="Shape 90"/>
          <p:cNvSpPr/>
          <p:nvPr/>
        </p:nvSpPr>
        <p:spPr>
          <a:xfrm>
            <a:off x="4114800" y="3739896"/>
            <a:ext cx="1097280" cy="384048"/>
          </a:xfrm>
          <a:prstGeom prst="rect">
            <a:avLst/>
          </a:prstGeom>
          <a:solidFill>
            <a:srgbClr val="F7F9FC"/>
          </a:solidFill>
          <a:ln w="3810">
            <a:solidFill>
              <a:srgbClr val="E5E7EB"/>
            </a:solidFill>
            <a:prstDash val="solid"/>
          </a:ln>
        </p:spPr>
        <p:txBody>
          <a:bodyPr/>
          <a:lstStyle/>
          <a:p>
            <a:endParaRPr lang="fr-FR"/>
          </a:p>
        </p:txBody>
      </p:sp>
      <p:sp>
        <p:nvSpPr>
          <p:cNvPr id="93" name="Text 91"/>
          <p:cNvSpPr/>
          <p:nvPr/>
        </p:nvSpPr>
        <p:spPr>
          <a:xfrm>
            <a:off x="4114800" y="3739896"/>
            <a:ext cx="1097280" cy="384048"/>
          </a:xfrm>
          <a:prstGeom prst="rect">
            <a:avLst/>
          </a:prstGeom>
          <a:noFill/>
          <a:ln/>
        </p:spPr>
        <p:txBody>
          <a:bodyPr wrap="square" lIns="0" tIns="0" rIns="0" bIns="0" rtlCol="0" anchor="ctr"/>
          <a:lstStyle/>
          <a:p>
            <a:pPr marL="0" indent="0" algn="ctr">
              <a:buNone/>
            </a:pPr>
            <a:r>
              <a:rPr lang="en-US" sz="1200" b="1" dirty="0">
                <a:solidFill>
                  <a:srgbClr val="9CA3AF"/>
                </a:solidFill>
                <a:latin typeface="Poppins" pitchFamily="34" charset="0"/>
                <a:ea typeface="Poppins" pitchFamily="34" charset="-122"/>
                <a:cs typeface="Poppins" pitchFamily="34" charset="-120"/>
              </a:rPr>
              <a:t>-</a:t>
            </a:r>
            <a:endParaRPr lang="en-US" sz="1200" dirty="0"/>
          </a:p>
        </p:txBody>
      </p:sp>
      <p:sp>
        <p:nvSpPr>
          <p:cNvPr id="94" name="Shape 92"/>
          <p:cNvSpPr/>
          <p:nvPr/>
        </p:nvSpPr>
        <p:spPr>
          <a:xfrm>
            <a:off x="5212080" y="3739896"/>
            <a:ext cx="1097280" cy="384048"/>
          </a:xfrm>
          <a:prstGeom prst="rect">
            <a:avLst/>
          </a:prstGeom>
          <a:solidFill>
            <a:srgbClr val="F7F9FC"/>
          </a:solidFill>
          <a:ln w="3810">
            <a:solidFill>
              <a:srgbClr val="E5E7EB"/>
            </a:solidFill>
            <a:prstDash val="solid"/>
          </a:ln>
        </p:spPr>
        <p:txBody>
          <a:bodyPr/>
          <a:lstStyle/>
          <a:p>
            <a:endParaRPr lang="fr-FR"/>
          </a:p>
        </p:txBody>
      </p:sp>
      <p:sp>
        <p:nvSpPr>
          <p:cNvPr id="95" name="Text 93"/>
          <p:cNvSpPr/>
          <p:nvPr/>
        </p:nvSpPr>
        <p:spPr>
          <a:xfrm>
            <a:off x="5212080" y="3739896"/>
            <a:ext cx="1097280" cy="384048"/>
          </a:xfrm>
          <a:prstGeom prst="rect">
            <a:avLst/>
          </a:prstGeom>
          <a:noFill/>
          <a:ln/>
        </p:spPr>
        <p:txBody>
          <a:bodyPr wrap="square" lIns="0" tIns="0" rIns="0" bIns="0" rtlCol="0" anchor="ctr"/>
          <a:lstStyle/>
          <a:p>
            <a:pPr marL="0" indent="0" algn="ctr">
              <a:buNone/>
            </a:pPr>
            <a:r>
              <a:rPr lang="en-US" sz="1200" b="1" dirty="0">
                <a:solidFill>
                  <a:srgbClr val="F59E0B"/>
                </a:solidFill>
                <a:latin typeface="Poppins" pitchFamily="34" charset="0"/>
                <a:ea typeface="Poppins" pitchFamily="34" charset="-122"/>
                <a:cs typeface="Poppins" pitchFamily="34" charset="-120"/>
              </a:rPr>
              <a:t>~</a:t>
            </a:r>
            <a:endParaRPr lang="en-US" sz="1200" dirty="0"/>
          </a:p>
        </p:txBody>
      </p:sp>
      <p:sp>
        <p:nvSpPr>
          <p:cNvPr id="96" name="Shape 94"/>
          <p:cNvSpPr/>
          <p:nvPr/>
        </p:nvSpPr>
        <p:spPr>
          <a:xfrm>
            <a:off x="6309360" y="3739896"/>
            <a:ext cx="1097280" cy="384048"/>
          </a:xfrm>
          <a:prstGeom prst="rect">
            <a:avLst/>
          </a:prstGeom>
          <a:solidFill>
            <a:srgbClr val="F7F9FC"/>
          </a:solidFill>
          <a:ln w="3810">
            <a:solidFill>
              <a:srgbClr val="E5E7EB"/>
            </a:solidFill>
            <a:prstDash val="solid"/>
          </a:ln>
        </p:spPr>
        <p:txBody>
          <a:bodyPr/>
          <a:lstStyle/>
          <a:p>
            <a:endParaRPr lang="fr-FR"/>
          </a:p>
        </p:txBody>
      </p:sp>
      <p:sp>
        <p:nvSpPr>
          <p:cNvPr id="97" name="Text 95"/>
          <p:cNvSpPr/>
          <p:nvPr/>
        </p:nvSpPr>
        <p:spPr>
          <a:xfrm>
            <a:off x="6309360" y="3739896"/>
            <a:ext cx="1097280" cy="384048"/>
          </a:xfrm>
          <a:prstGeom prst="rect">
            <a:avLst/>
          </a:prstGeom>
          <a:noFill/>
          <a:ln/>
        </p:spPr>
        <p:txBody>
          <a:bodyPr wrap="square" lIns="0" tIns="0" rIns="0" bIns="0" rtlCol="0" anchor="ctr"/>
          <a:lstStyle/>
          <a:p>
            <a:pPr marL="0" indent="0" algn="ctr">
              <a:buNone/>
            </a:pPr>
            <a:r>
              <a:rPr lang="en-US" sz="1200" b="1" dirty="0">
                <a:solidFill>
                  <a:srgbClr val="9CA3AF"/>
                </a:solidFill>
                <a:latin typeface="Poppins" pitchFamily="34" charset="0"/>
                <a:ea typeface="Poppins" pitchFamily="34" charset="-122"/>
                <a:cs typeface="Poppins" pitchFamily="34" charset="-120"/>
              </a:rPr>
              <a:t>-</a:t>
            </a:r>
            <a:endParaRPr lang="en-US" sz="1200" dirty="0"/>
          </a:p>
        </p:txBody>
      </p:sp>
      <p:sp>
        <p:nvSpPr>
          <p:cNvPr id="98" name="Shape 96"/>
          <p:cNvSpPr/>
          <p:nvPr/>
        </p:nvSpPr>
        <p:spPr>
          <a:xfrm>
            <a:off x="7406640" y="3739896"/>
            <a:ext cx="1097280" cy="384048"/>
          </a:xfrm>
          <a:prstGeom prst="rect">
            <a:avLst/>
          </a:prstGeom>
          <a:solidFill>
            <a:srgbClr val="F7F9FC"/>
          </a:solidFill>
          <a:ln w="3810">
            <a:solidFill>
              <a:srgbClr val="E5E7EB"/>
            </a:solidFill>
            <a:prstDash val="solid"/>
          </a:ln>
        </p:spPr>
        <p:txBody>
          <a:bodyPr/>
          <a:lstStyle/>
          <a:p>
            <a:endParaRPr lang="fr-FR"/>
          </a:p>
        </p:txBody>
      </p:sp>
      <p:sp>
        <p:nvSpPr>
          <p:cNvPr id="99" name="Text 97"/>
          <p:cNvSpPr/>
          <p:nvPr/>
        </p:nvSpPr>
        <p:spPr>
          <a:xfrm>
            <a:off x="7406640" y="3739896"/>
            <a:ext cx="1097280" cy="384048"/>
          </a:xfrm>
          <a:prstGeom prst="rect">
            <a:avLst/>
          </a:prstGeom>
          <a:noFill/>
          <a:ln/>
        </p:spPr>
        <p:txBody>
          <a:bodyPr wrap="square" lIns="0" tIns="0" rIns="0" bIns="0" rtlCol="0" anchor="ctr"/>
          <a:lstStyle/>
          <a:p>
            <a:pPr marL="0" indent="0" algn="ctr">
              <a:buNone/>
            </a:pPr>
            <a:r>
              <a:rPr lang="en-US" sz="1200" b="1" dirty="0">
                <a:solidFill>
                  <a:srgbClr val="1677FF"/>
                </a:solidFill>
                <a:latin typeface="Poppins" pitchFamily="34" charset="0"/>
                <a:ea typeface="Poppins" pitchFamily="34" charset="-122"/>
                <a:cs typeface="Poppins" pitchFamily="34" charset="-120"/>
              </a:rPr>
              <a:t>✔</a:t>
            </a:r>
            <a:endParaRPr lang="en-US" sz="1200" dirty="0"/>
          </a:p>
        </p:txBody>
      </p:sp>
      <p:sp>
        <p:nvSpPr>
          <p:cNvPr id="100" name="Text 98"/>
          <p:cNvSpPr/>
          <p:nvPr/>
        </p:nvSpPr>
        <p:spPr>
          <a:xfrm>
            <a:off x="640080" y="4261104"/>
            <a:ext cx="7863840" cy="274320"/>
          </a:xfrm>
          <a:prstGeom prst="rect">
            <a:avLst/>
          </a:prstGeom>
          <a:noFill/>
          <a:ln/>
        </p:spPr>
        <p:txBody>
          <a:bodyPr wrap="square" lIns="0" tIns="0" rIns="0" bIns="0" rtlCol="0" anchor="ctr"/>
          <a:lstStyle/>
          <a:p>
            <a:pPr marL="0" indent="0" algn="ctr">
              <a:buNone/>
            </a:pPr>
            <a:r>
              <a:rPr lang="en-US" sz="900" dirty="0">
                <a:solidFill>
                  <a:srgbClr val="9CA3AF"/>
                </a:solidFill>
                <a:latin typeface="Poppins" pitchFamily="34" charset="0"/>
                <a:ea typeface="Poppins" pitchFamily="34" charset="-122"/>
                <a:cs typeface="Poppins" pitchFamily="34" charset="-120"/>
              </a:rPr>
              <a:t>✔ = natif   ~ = </a:t>
            </a:r>
            <a:r>
              <a:rPr lang="en-US" sz="900" dirty="0" err="1">
                <a:solidFill>
                  <a:srgbClr val="9CA3AF"/>
                </a:solidFill>
                <a:latin typeface="Poppins" pitchFamily="34" charset="0"/>
                <a:ea typeface="Poppins" pitchFamily="34" charset="-122"/>
                <a:cs typeface="Poppins" pitchFamily="34" charset="-120"/>
              </a:rPr>
              <a:t>partiel</a:t>
            </a:r>
            <a:r>
              <a:rPr lang="en-US" sz="900" dirty="0">
                <a:solidFill>
                  <a:srgbClr val="9CA3AF"/>
                </a:solidFill>
                <a:latin typeface="Poppins" pitchFamily="34" charset="0"/>
                <a:ea typeface="Poppins" pitchFamily="34" charset="-122"/>
                <a:cs typeface="Poppins" pitchFamily="34" charset="-120"/>
              </a:rPr>
              <a:t>   - = absent</a:t>
            </a:r>
            <a:endParaRPr lang="en-US" sz="900" dirty="0"/>
          </a:p>
        </p:txBody>
      </p:sp>
      <p:sp>
        <p:nvSpPr>
          <p:cNvPr id="101" name="Text 99"/>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900" dirty="0">
                <a:solidFill>
                  <a:srgbClr val="9CA3AF"/>
                </a:solidFill>
                <a:latin typeface="Poppins" pitchFamily="34" charset="0"/>
                <a:ea typeface="Poppins" pitchFamily="34" charset="-122"/>
                <a:cs typeface="Poppins"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74320"/>
            <a:ext cx="8229600" cy="411480"/>
          </a:xfrm>
          <a:prstGeom prst="rect">
            <a:avLst/>
          </a:prstGeom>
          <a:noFill/>
          <a:ln/>
        </p:spPr>
        <p:txBody>
          <a:bodyPr wrap="square" lIns="0" tIns="0" rIns="0" bIns="0" rtlCol="0" anchor="ctr"/>
          <a:lstStyle/>
          <a:p>
            <a:pPr marL="0" indent="0">
              <a:buNone/>
            </a:pPr>
            <a:r>
              <a:rPr lang="en-US" sz="2800" b="1" dirty="0">
                <a:solidFill>
                  <a:srgbClr val="0F172A"/>
                </a:solidFill>
                <a:latin typeface="Poppins" pitchFamily="34" charset="0"/>
                <a:ea typeface="Poppins" pitchFamily="34" charset="-122"/>
                <a:cs typeface="Poppins" pitchFamily="34" charset="-120"/>
              </a:rPr>
              <a:t>Synthèse comparative</a:t>
            </a:r>
            <a:endParaRPr lang="en-US" sz="2800" dirty="0"/>
          </a:p>
        </p:txBody>
      </p:sp>
      <p:graphicFrame>
        <p:nvGraphicFramePr>
          <p:cNvPr id="3" name="Chart 0"/>
          <p:cNvGraphicFramePr/>
          <p:nvPr/>
        </p:nvGraphicFramePr>
        <p:xfrm>
          <a:off x="914400" y="731520"/>
          <a:ext cx="731520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900" dirty="0">
                <a:solidFill>
                  <a:srgbClr val="9CA3AF"/>
                </a:solidFill>
                <a:latin typeface="Poppins" pitchFamily="34" charset="0"/>
                <a:ea typeface="Poppins" pitchFamily="34" charset="-122"/>
                <a:cs typeface="Poppins"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74320"/>
            <a:ext cx="8229600" cy="457200"/>
          </a:xfrm>
          <a:prstGeom prst="rect">
            <a:avLst/>
          </a:prstGeom>
          <a:noFill/>
          <a:ln/>
        </p:spPr>
        <p:txBody>
          <a:bodyPr wrap="square" lIns="0" tIns="0" rIns="0" bIns="0" rtlCol="0" anchor="ctr"/>
          <a:lstStyle/>
          <a:p>
            <a:pPr marL="0" indent="0">
              <a:buNone/>
            </a:pPr>
            <a:r>
              <a:rPr lang="en-US" sz="3000" b="1" dirty="0">
                <a:solidFill>
                  <a:srgbClr val="0F172A"/>
                </a:solidFill>
                <a:latin typeface="Poppins" pitchFamily="34" charset="0"/>
                <a:ea typeface="Poppins" pitchFamily="34" charset="-122"/>
                <a:cs typeface="Poppins" pitchFamily="34" charset="-120"/>
              </a:rPr>
              <a:t>KINN vs n8n</a:t>
            </a:r>
            <a:endParaRPr lang="en-US" sz="3000" dirty="0"/>
          </a:p>
        </p:txBody>
      </p:sp>
      <p:sp>
        <p:nvSpPr>
          <p:cNvPr id="3" name="Text 1"/>
          <p:cNvSpPr/>
          <p:nvPr/>
        </p:nvSpPr>
        <p:spPr>
          <a:xfrm>
            <a:off x="640080" y="731520"/>
            <a:ext cx="7315200" cy="274320"/>
          </a:xfrm>
          <a:prstGeom prst="rect">
            <a:avLst/>
          </a:prstGeom>
          <a:noFill/>
          <a:ln/>
        </p:spPr>
        <p:txBody>
          <a:bodyPr wrap="square" lIns="0" tIns="0" rIns="0" bIns="0" rtlCol="0" anchor="ctr"/>
          <a:lstStyle/>
          <a:p>
            <a:pPr marL="0" indent="0">
              <a:buNone/>
            </a:pPr>
            <a:r>
              <a:rPr lang="en-US" sz="1200" dirty="0">
                <a:solidFill>
                  <a:srgbClr val="6B7280"/>
                </a:solidFill>
                <a:latin typeface="Poppins" pitchFamily="34" charset="0"/>
                <a:ea typeface="Poppins" pitchFamily="34" charset="-122"/>
                <a:cs typeface="Poppins" pitchFamily="34" charset="-120"/>
              </a:rPr>
              <a:t>Deux philosophies différentes</a:t>
            </a:r>
            <a:endParaRPr lang="en-US" sz="1200" dirty="0"/>
          </a:p>
        </p:txBody>
      </p:sp>
      <p:sp>
        <p:nvSpPr>
          <p:cNvPr id="4" name="Text 2"/>
          <p:cNvSpPr/>
          <p:nvPr/>
        </p:nvSpPr>
        <p:spPr>
          <a:xfrm>
            <a:off x="3017520" y="1051560"/>
            <a:ext cx="2560320" cy="274320"/>
          </a:xfrm>
          <a:prstGeom prst="rect">
            <a:avLst/>
          </a:prstGeom>
          <a:noFill/>
          <a:ln/>
        </p:spPr>
        <p:txBody>
          <a:bodyPr wrap="square" lIns="0" tIns="0" rIns="0" bIns="0" rtlCol="0" anchor="ctr"/>
          <a:lstStyle/>
          <a:p>
            <a:pPr marL="0" indent="0">
              <a:buNone/>
            </a:pPr>
            <a:r>
              <a:rPr lang="en-US" sz="1200" b="1" dirty="0">
                <a:solidFill>
                  <a:srgbClr val="9CA3AF"/>
                </a:solidFill>
                <a:latin typeface="Poppins" pitchFamily="34" charset="0"/>
                <a:ea typeface="Poppins" pitchFamily="34" charset="-122"/>
                <a:cs typeface="Poppins" pitchFamily="34" charset="-120"/>
              </a:rPr>
              <a:t>n8n</a:t>
            </a:r>
            <a:endParaRPr lang="en-US" sz="1200" dirty="0"/>
          </a:p>
        </p:txBody>
      </p:sp>
      <p:sp>
        <p:nvSpPr>
          <p:cNvPr id="5" name="Text 3"/>
          <p:cNvSpPr/>
          <p:nvPr/>
        </p:nvSpPr>
        <p:spPr>
          <a:xfrm>
            <a:off x="5760720" y="1051560"/>
            <a:ext cx="2743200" cy="274320"/>
          </a:xfrm>
          <a:prstGeom prst="rect">
            <a:avLst/>
          </a:prstGeom>
          <a:noFill/>
          <a:ln/>
        </p:spPr>
        <p:txBody>
          <a:bodyPr wrap="square" lIns="0" tIns="0" rIns="0" bIns="0" rtlCol="0" anchor="ctr"/>
          <a:lstStyle/>
          <a:p>
            <a:pPr marL="0" indent="0">
              <a:buNone/>
            </a:pPr>
            <a:r>
              <a:rPr lang="en-US" sz="1200" b="1" dirty="0">
                <a:solidFill>
                  <a:srgbClr val="1677FF"/>
                </a:solidFill>
                <a:latin typeface="Poppins" pitchFamily="34" charset="0"/>
                <a:ea typeface="Poppins" pitchFamily="34" charset="-122"/>
                <a:cs typeface="Poppins" pitchFamily="34" charset="-120"/>
              </a:rPr>
              <a:t>KINN</a:t>
            </a:r>
            <a:endParaRPr lang="en-US" sz="1200" dirty="0"/>
          </a:p>
        </p:txBody>
      </p:sp>
      <p:sp>
        <p:nvSpPr>
          <p:cNvPr id="6" name="Shape 4"/>
          <p:cNvSpPr/>
          <p:nvPr/>
        </p:nvSpPr>
        <p:spPr>
          <a:xfrm>
            <a:off x="457200" y="1371600"/>
            <a:ext cx="8229600" cy="502920"/>
          </a:xfrm>
          <a:prstGeom prst="rect">
            <a:avLst/>
          </a:prstGeom>
          <a:solidFill>
            <a:srgbClr val="F7F9FC"/>
          </a:solidFill>
          <a:ln/>
        </p:spPr>
        <p:txBody>
          <a:bodyPr/>
          <a:lstStyle/>
          <a:p>
            <a:endParaRPr lang="fr-FR"/>
          </a:p>
        </p:txBody>
      </p:sp>
      <p:sp>
        <p:nvSpPr>
          <p:cNvPr id="7" name="Text 5"/>
          <p:cNvSpPr/>
          <p:nvPr/>
        </p:nvSpPr>
        <p:spPr>
          <a:xfrm>
            <a:off x="640080" y="1417320"/>
            <a:ext cx="2286000" cy="411480"/>
          </a:xfrm>
          <a:prstGeom prst="rect">
            <a:avLst/>
          </a:prstGeom>
          <a:noFill/>
          <a:ln/>
        </p:spPr>
        <p:txBody>
          <a:bodyPr wrap="square" lIns="0" tIns="0" rIns="0" bIns="0" rtlCol="0" anchor="ctr"/>
          <a:lstStyle/>
          <a:p>
            <a:pPr marL="0" indent="0">
              <a:buNone/>
            </a:pPr>
            <a:r>
              <a:rPr lang="en-US" sz="1000" b="1" dirty="0">
                <a:solidFill>
                  <a:srgbClr val="0F172A"/>
                </a:solidFill>
                <a:latin typeface="Poppins" pitchFamily="34" charset="0"/>
                <a:ea typeface="Poppins" pitchFamily="34" charset="-122"/>
                <a:cs typeface="Poppins" pitchFamily="34" charset="-120"/>
              </a:rPr>
              <a:t>Utilisateur cible</a:t>
            </a:r>
            <a:endParaRPr lang="en-US" sz="1000" dirty="0"/>
          </a:p>
        </p:txBody>
      </p:sp>
      <p:sp>
        <p:nvSpPr>
          <p:cNvPr id="8" name="Text 6"/>
          <p:cNvSpPr/>
          <p:nvPr/>
        </p:nvSpPr>
        <p:spPr>
          <a:xfrm>
            <a:off x="3017520" y="1417320"/>
            <a:ext cx="2560320" cy="411480"/>
          </a:xfrm>
          <a:prstGeom prst="rect">
            <a:avLst/>
          </a:prstGeom>
          <a:noFill/>
          <a:ln/>
        </p:spPr>
        <p:txBody>
          <a:bodyPr wrap="square" lIns="0" tIns="0" rIns="0" bIns="0" rtlCol="0" anchor="ctr"/>
          <a:lstStyle/>
          <a:p>
            <a:pPr marL="0" indent="0">
              <a:buNone/>
            </a:pPr>
            <a:r>
              <a:rPr lang="en-US" sz="1000" dirty="0">
                <a:solidFill>
                  <a:srgbClr val="6B7280"/>
                </a:solidFill>
                <a:latin typeface="Poppins" pitchFamily="34" charset="0"/>
                <a:ea typeface="Poppins" pitchFamily="34" charset="-122"/>
                <a:cs typeface="Poppins" pitchFamily="34" charset="-120"/>
              </a:rPr>
              <a:t>Ops / tech / DevOps</a:t>
            </a:r>
            <a:endParaRPr lang="en-US" sz="1000" dirty="0"/>
          </a:p>
        </p:txBody>
      </p:sp>
      <p:sp>
        <p:nvSpPr>
          <p:cNvPr id="9" name="Text 7"/>
          <p:cNvSpPr/>
          <p:nvPr/>
        </p:nvSpPr>
        <p:spPr>
          <a:xfrm>
            <a:off x="5760720" y="1417320"/>
            <a:ext cx="2743200" cy="411480"/>
          </a:xfrm>
          <a:prstGeom prst="rect">
            <a:avLst/>
          </a:prstGeom>
          <a:noFill/>
          <a:ln/>
        </p:spPr>
        <p:txBody>
          <a:bodyPr wrap="square" lIns="0" tIns="0" rIns="0" bIns="0" rtlCol="0" anchor="ctr"/>
          <a:lstStyle/>
          <a:p>
            <a:pPr marL="0" indent="0">
              <a:buNone/>
            </a:pPr>
            <a:r>
              <a:rPr lang="en-US" sz="1000" b="1" dirty="0">
                <a:solidFill>
                  <a:srgbClr val="1677FF"/>
                </a:solidFill>
                <a:latin typeface="Poppins" pitchFamily="34" charset="0"/>
                <a:ea typeface="Poppins" pitchFamily="34" charset="-122"/>
                <a:cs typeface="Poppins" pitchFamily="34" charset="-120"/>
              </a:rPr>
              <a:t>Métiers + Ops + DSI</a:t>
            </a:r>
            <a:endParaRPr lang="en-US" sz="1000" dirty="0"/>
          </a:p>
        </p:txBody>
      </p:sp>
      <p:sp>
        <p:nvSpPr>
          <p:cNvPr id="10" name="Text 8"/>
          <p:cNvSpPr/>
          <p:nvPr/>
        </p:nvSpPr>
        <p:spPr>
          <a:xfrm>
            <a:off x="640080" y="1984248"/>
            <a:ext cx="2286000" cy="411480"/>
          </a:xfrm>
          <a:prstGeom prst="rect">
            <a:avLst/>
          </a:prstGeom>
          <a:noFill/>
          <a:ln/>
        </p:spPr>
        <p:txBody>
          <a:bodyPr wrap="square" lIns="0" tIns="0" rIns="0" bIns="0" rtlCol="0" anchor="ctr"/>
          <a:lstStyle/>
          <a:p>
            <a:pPr marL="0" indent="0">
              <a:buNone/>
            </a:pPr>
            <a:r>
              <a:rPr lang="en-US" sz="1000" b="1" dirty="0">
                <a:solidFill>
                  <a:srgbClr val="0F172A"/>
                </a:solidFill>
                <a:latin typeface="Poppins" pitchFamily="34" charset="0"/>
                <a:ea typeface="Poppins" pitchFamily="34" charset="-122"/>
                <a:cs typeface="Poppins" pitchFamily="34" charset="-120"/>
              </a:rPr>
              <a:t>Interface auto</a:t>
            </a:r>
            <a:endParaRPr lang="en-US" sz="1000" dirty="0"/>
          </a:p>
        </p:txBody>
      </p:sp>
      <p:sp>
        <p:nvSpPr>
          <p:cNvPr id="11" name="Text 9"/>
          <p:cNvSpPr/>
          <p:nvPr/>
        </p:nvSpPr>
        <p:spPr>
          <a:xfrm>
            <a:off x="3017520" y="1984248"/>
            <a:ext cx="2560320" cy="411480"/>
          </a:xfrm>
          <a:prstGeom prst="rect">
            <a:avLst/>
          </a:prstGeom>
          <a:noFill/>
          <a:ln/>
        </p:spPr>
        <p:txBody>
          <a:bodyPr wrap="square" lIns="0" tIns="0" rIns="0" bIns="0" rtlCol="0" anchor="ctr"/>
          <a:lstStyle/>
          <a:p>
            <a:pPr marL="0" indent="0">
              <a:buNone/>
            </a:pPr>
            <a:r>
              <a:rPr lang="en-US" sz="1000" dirty="0">
                <a:solidFill>
                  <a:srgbClr val="6B7280"/>
                </a:solidFill>
                <a:latin typeface="Poppins" pitchFamily="34" charset="0"/>
                <a:ea typeface="Poppins" pitchFamily="34" charset="-122"/>
                <a:cs typeface="Poppins" pitchFamily="34" charset="-120"/>
              </a:rPr>
              <a:t>Aucune UI auto</a:t>
            </a:r>
            <a:endParaRPr lang="en-US" sz="1000" dirty="0"/>
          </a:p>
        </p:txBody>
      </p:sp>
      <p:sp>
        <p:nvSpPr>
          <p:cNvPr id="12" name="Text 10"/>
          <p:cNvSpPr/>
          <p:nvPr/>
        </p:nvSpPr>
        <p:spPr>
          <a:xfrm>
            <a:off x="5760720" y="1984248"/>
            <a:ext cx="2743200" cy="411480"/>
          </a:xfrm>
          <a:prstGeom prst="rect">
            <a:avLst/>
          </a:prstGeom>
          <a:noFill/>
          <a:ln/>
        </p:spPr>
        <p:txBody>
          <a:bodyPr wrap="square" lIns="0" tIns="0" rIns="0" bIns="0" rtlCol="0" anchor="ctr"/>
          <a:lstStyle/>
          <a:p>
            <a:pPr marL="0" indent="0">
              <a:buNone/>
            </a:pPr>
            <a:r>
              <a:rPr lang="en-US" sz="1000" b="1" dirty="0">
                <a:solidFill>
                  <a:srgbClr val="1677FF"/>
                </a:solidFill>
                <a:latin typeface="Poppins" pitchFamily="34" charset="0"/>
                <a:ea typeface="Poppins" pitchFamily="34" charset="-122"/>
                <a:cs typeface="Poppins" pitchFamily="34" charset="-120"/>
              </a:rPr>
              <a:t>Flow → Form → UI Builder</a:t>
            </a:r>
            <a:endParaRPr lang="en-US" sz="1000" dirty="0"/>
          </a:p>
        </p:txBody>
      </p:sp>
      <p:sp>
        <p:nvSpPr>
          <p:cNvPr id="13" name="Shape 11"/>
          <p:cNvSpPr/>
          <p:nvPr/>
        </p:nvSpPr>
        <p:spPr>
          <a:xfrm>
            <a:off x="457200" y="2505456"/>
            <a:ext cx="8229600" cy="502920"/>
          </a:xfrm>
          <a:prstGeom prst="rect">
            <a:avLst/>
          </a:prstGeom>
          <a:solidFill>
            <a:srgbClr val="F7F9FC"/>
          </a:solidFill>
          <a:ln/>
        </p:spPr>
        <p:txBody>
          <a:bodyPr/>
          <a:lstStyle/>
          <a:p>
            <a:endParaRPr lang="fr-FR"/>
          </a:p>
        </p:txBody>
      </p:sp>
      <p:sp>
        <p:nvSpPr>
          <p:cNvPr id="14" name="Text 12"/>
          <p:cNvSpPr/>
          <p:nvPr/>
        </p:nvSpPr>
        <p:spPr>
          <a:xfrm>
            <a:off x="640080" y="2551176"/>
            <a:ext cx="2286000" cy="411480"/>
          </a:xfrm>
          <a:prstGeom prst="rect">
            <a:avLst/>
          </a:prstGeom>
          <a:noFill/>
          <a:ln/>
        </p:spPr>
        <p:txBody>
          <a:bodyPr wrap="square" lIns="0" tIns="0" rIns="0" bIns="0" rtlCol="0" anchor="ctr"/>
          <a:lstStyle/>
          <a:p>
            <a:pPr marL="0" indent="0">
              <a:buNone/>
            </a:pPr>
            <a:r>
              <a:rPr lang="en-US" sz="1000" b="1" dirty="0">
                <a:solidFill>
                  <a:srgbClr val="0F172A"/>
                </a:solidFill>
                <a:latin typeface="Poppins" pitchFamily="34" charset="0"/>
                <a:ea typeface="Poppins" pitchFamily="34" charset="-122"/>
                <a:cs typeface="Poppins" pitchFamily="34" charset="-120"/>
              </a:rPr>
              <a:t>Interop industrielle</a:t>
            </a:r>
            <a:endParaRPr lang="en-US" sz="1000" dirty="0"/>
          </a:p>
        </p:txBody>
      </p:sp>
      <p:sp>
        <p:nvSpPr>
          <p:cNvPr id="15" name="Text 13"/>
          <p:cNvSpPr/>
          <p:nvPr/>
        </p:nvSpPr>
        <p:spPr>
          <a:xfrm>
            <a:off x="3017520" y="2551176"/>
            <a:ext cx="2560320" cy="411480"/>
          </a:xfrm>
          <a:prstGeom prst="rect">
            <a:avLst/>
          </a:prstGeom>
          <a:noFill/>
          <a:ln/>
        </p:spPr>
        <p:txBody>
          <a:bodyPr wrap="square" lIns="0" tIns="0" rIns="0" bIns="0" rtlCol="0" anchor="ctr"/>
          <a:lstStyle/>
          <a:p>
            <a:pPr marL="0" indent="0">
              <a:buNone/>
            </a:pPr>
            <a:r>
              <a:rPr lang="en-US" sz="1000" dirty="0">
                <a:solidFill>
                  <a:srgbClr val="6B7280"/>
                </a:solidFill>
                <a:latin typeface="Poppins" pitchFamily="34" charset="0"/>
                <a:ea typeface="Poppins" pitchFamily="34" charset="-122"/>
                <a:cs typeface="Poppins" pitchFamily="34" charset="-120"/>
              </a:rPr>
              <a:t>Non natif</a:t>
            </a:r>
            <a:endParaRPr lang="en-US" sz="1000" dirty="0"/>
          </a:p>
        </p:txBody>
      </p:sp>
      <p:sp>
        <p:nvSpPr>
          <p:cNvPr id="16" name="Text 14"/>
          <p:cNvSpPr/>
          <p:nvPr/>
        </p:nvSpPr>
        <p:spPr>
          <a:xfrm>
            <a:off x="5760720" y="2551176"/>
            <a:ext cx="2743200" cy="411480"/>
          </a:xfrm>
          <a:prstGeom prst="rect">
            <a:avLst/>
          </a:prstGeom>
          <a:noFill/>
          <a:ln/>
        </p:spPr>
        <p:txBody>
          <a:bodyPr wrap="square" lIns="0" tIns="0" rIns="0" bIns="0" rtlCol="0" anchor="ctr"/>
          <a:lstStyle/>
          <a:p>
            <a:pPr marL="0" indent="0">
              <a:buNone/>
            </a:pPr>
            <a:r>
              <a:rPr lang="en-US" sz="1000" b="1" dirty="0">
                <a:solidFill>
                  <a:srgbClr val="1677FF"/>
                </a:solidFill>
                <a:latin typeface="Poppins" pitchFamily="34" charset="0"/>
                <a:ea typeface="Poppins" pitchFamily="34" charset="-122"/>
                <a:cs typeface="Poppins" pitchFamily="34" charset="-120"/>
              </a:rPr>
              <a:t>OPC-UA, MQTT, Modbus</a:t>
            </a:r>
            <a:endParaRPr lang="en-US" sz="1000" dirty="0"/>
          </a:p>
        </p:txBody>
      </p:sp>
      <p:sp>
        <p:nvSpPr>
          <p:cNvPr id="17" name="Text 15"/>
          <p:cNvSpPr/>
          <p:nvPr/>
        </p:nvSpPr>
        <p:spPr>
          <a:xfrm>
            <a:off x="640080" y="3118104"/>
            <a:ext cx="2286000" cy="411480"/>
          </a:xfrm>
          <a:prstGeom prst="rect">
            <a:avLst/>
          </a:prstGeom>
          <a:noFill/>
          <a:ln/>
        </p:spPr>
        <p:txBody>
          <a:bodyPr wrap="square" lIns="0" tIns="0" rIns="0" bIns="0" rtlCol="0" anchor="ctr"/>
          <a:lstStyle/>
          <a:p>
            <a:pPr marL="0" indent="0">
              <a:buNone/>
            </a:pPr>
            <a:r>
              <a:rPr lang="en-US" sz="1000" b="1" dirty="0">
                <a:solidFill>
                  <a:srgbClr val="0F172A"/>
                </a:solidFill>
                <a:latin typeface="Poppins" pitchFamily="34" charset="0"/>
                <a:ea typeface="Poppins" pitchFamily="34" charset="-122"/>
                <a:cs typeface="Poppins" pitchFamily="34" charset="-120"/>
              </a:rPr>
              <a:t>Multi-tenant</a:t>
            </a:r>
            <a:endParaRPr lang="en-US" sz="1000" dirty="0"/>
          </a:p>
        </p:txBody>
      </p:sp>
      <p:sp>
        <p:nvSpPr>
          <p:cNvPr id="18" name="Text 16"/>
          <p:cNvSpPr/>
          <p:nvPr/>
        </p:nvSpPr>
        <p:spPr>
          <a:xfrm>
            <a:off x="3017520" y="3118104"/>
            <a:ext cx="2560320" cy="411480"/>
          </a:xfrm>
          <a:prstGeom prst="rect">
            <a:avLst/>
          </a:prstGeom>
          <a:noFill/>
          <a:ln/>
        </p:spPr>
        <p:txBody>
          <a:bodyPr wrap="square" lIns="0" tIns="0" rIns="0" bIns="0" rtlCol="0" anchor="ctr"/>
          <a:lstStyle/>
          <a:p>
            <a:pPr marL="0" indent="0">
              <a:buNone/>
            </a:pPr>
            <a:r>
              <a:rPr lang="en-US" sz="1000" dirty="0">
                <a:solidFill>
                  <a:srgbClr val="6B7280"/>
                </a:solidFill>
                <a:latin typeface="Poppins" pitchFamily="34" charset="0"/>
                <a:ea typeface="Poppins" pitchFamily="34" charset="-122"/>
                <a:cs typeface="Poppins" pitchFamily="34" charset="-120"/>
              </a:rPr>
              <a:t>Non prévu</a:t>
            </a:r>
            <a:endParaRPr lang="en-US" sz="1000" dirty="0"/>
          </a:p>
        </p:txBody>
      </p:sp>
      <p:sp>
        <p:nvSpPr>
          <p:cNvPr id="19" name="Text 17"/>
          <p:cNvSpPr/>
          <p:nvPr/>
        </p:nvSpPr>
        <p:spPr>
          <a:xfrm>
            <a:off x="5760720" y="3118104"/>
            <a:ext cx="2743200" cy="411480"/>
          </a:xfrm>
          <a:prstGeom prst="rect">
            <a:avLst/>
          </a:prstGeom>
          <a:noFill/>
          <a:ln/>
        </p:spPr>
        <p:txBody>
          <a:bodyPr wrap="square" lIns="0" tIns="0" rIns="0" bIns="0" rtlCol="0" anchor="ctr"/>
          <a:lstStyle/>
          <a:p>
            <a:pPr marL="0" indent="0">
              <a:buNone/>
            </a:pPr>
            <a:r>
              <a:rPr lang="en-US" sz="1000" b="1" dirty="0">
                <a:solidFill>
                  <a:srgbClr val="1677FF"/>
                </a:solidFill>
                <a:latin typeface="Poppins" pitchFamily="34" charset="0"/>
                <a:ea typeface="Poppins" pitchFamily="34" charset="-122"/>
                <a:cs typeface="Poppins" pitchFamily="34" charset="-120"/>
              </a:rPr>
              <a:t>SaaS + consultants + marketplace</a:t>
            </a:r>
            <a:endParaRPr lang="en-US" sz="1000" dirty="0"/>
          </a:p>
        </p:txBody>
      </p:sp>
      <p:sp>
        <p:nvSpPr>
          <p:cNvPr id="20" name="Shape 18"/>
          <p:cNvSpPr/>
          <p:nvPr/>
        </p:nvSpPr>
        <p:spPr>
          <a:xfrm>
            <a:off x="457200" y="3639312"/>
            <a:ext cx="8229600" cy="502920"/>
          </a:xfrm>
          <a:prstGeom prst="rect">
            <a:avLst/>
          </a:prstGeom>
          <a:solidFill>
            <a:srgbClr val="F7F9FC"/>
          </a:solidFill>
          <a:ln/>
        </p:spPr>
        <p:txBody>
          <a:bodyPr/>
          <a:lstStyle/>
          <a:p>
            <a:endParaRPr lang="fr-FR"/>
          </a:p>
        </p:txBody>
      </p:sp>
      <p:sp>
        <p:nvSpPr>
          <p:cNvPr id="21" name="Text 19"/>
          <p:cNvSpPr/>
          <p:nvPr/>
        </p:nvSpPr>
        <p:spPr>
          <a:xfrm>
            <a:off x="640080" y="3685032"/>
            <a:ext cx="2286000" cy="411480"/>
          </a:xfrm>
          <a:prstGeom prst="rect">
            <a:avLst/>
          </a:prstGeom>
          <a:noFill/>
          <a:ln/>
        </p:spPr>
        <p:txBody>
          <a:bodyPr wrap="square" lIns="0" tIns="0" rIns="0" bIns="0" rtlCol="0" anchor="ctr"/>
          <a:lstStyle/>
          <a:p>
            <a:pPr marL="0" indent="0">
              <a:buNone/>
            </a:pPr>
            <a:r>
              <a:rPr lang="en-US" sz="1000" b="1" dirty="0">
                <a:solidFill>
                  <a:srgbClr val="0F172A"/>
                </a:solidFill>
                <a:latin typeface="Poppins" pitchFamily="34" charset="0"/>
                <a:ea typeface="Poppins" pitchFamily="34" charset="-122"/>
                <a:cs typeface="Poppins" pitchFamily="34" charset="-120"/>
              </a:rPr>
              <a:t>IA intégrée</a:t>
            </a:r>
            <a:endParaRPr lang="en-US" sz="1000" dirty="0"/>
          </a:p>
        </p:txBody>
      </p:sp>
      <p:sp>
        <p:nvSpPr>
          <p:cNvPr id="22" name="Text 20"/>
          <p:cNvSpPr/>
          <p:nvPr/>
        </p:nvSpPr>
        <p:spPr>
          <a:xfrm>
            <a:off x="3017520" y="3685032"/>
            <a:ext cx="2560320" cy="411480"/>
          </a:xfrm>
          <a:prstGeom prst="rect">
            <a:avLst/>
          </a:prstGeom>
          <a:noFill/>
          <a:ln/>
        </p:spPr>
        <p:txBody>
          <a:bodyPr wrap="square" lIns="0" tIns="0" rIns="0" bIns="0" rtlCol="0" anchor="ctr"/>
          <a:lstStyle/>
          <a:p>
            <a:pPr marL="0" indent="0">
              <a:buNone/>
            </a:pPr>
            <a:r>
              <a:rPr lang="en-US" sz="1000" dirty="0">
                <a:solidFill>
                  <a:srgbClr val="6B7280"/>
                </a:solidFill>
                <a:latin typeface="Poppins" pitchFamily="34" charset="0"/>
                <a:ea typeface="Poppins" pitchFamily="34" charset="-122"/>
                <a:cs typeface="Poppins" pitchFamily="34" charset="-120"/>
              </a:rPr>
              <a:t>Integration partielle</a:t>
            </a:r>
            <a:endParaRPr lang="en-US" sz="1000" dirty="0"/>
          </a:p>
        </p:txBody>
      </p:sp>
      <p:sp>
        <p:nvSpPr>
          <p:cNvPr id="23" name="Text 21"/>
          <p:cNvSpPr/>
          <p:nvPr/>
        </p:nvSpPr>
        <p:spPr>
          <a:xfrm>
            <a:off x="5760720" y="3685032"/>
            <a:ext cx="2743200" cy="411480"/>
          </a:xfrm>
          <a:prstGeom prst="rect">
            <a:avLst/>
          </a:prstGeom>
          <a:noFill/>
          <a:ln/>
        </p:spPr>
        <p:txBody>
          <a:bodyPr wrap="square" lIns="0" tIns="0" rIns="0" bIns="0" rtlCol="0" anchor="ctr"/>
          <a:lstStyle/>
          <a:p>
            <a:pPr marL="0" indent="0">
              <a:buNone/>
            </a:pPr>
            <a:r>
              <a:rPr lang="en-US" sz="1000" b="1" dirty="0">
                <a:solidFill>
                  <a:srgbClr val="1677FF"/>
                </a:solidFill>
                <a:latin typeface="Poppins" pitchFamily="34" charset="0"/>
                <a:ea typeface="Poppins" pitchFamily="34" charset="-122"/>
                <a:cs typeface="Poppins" pitchFamily="34" charset="-120"/>
              </a:rPr>
              <a:t>Spec-to-flow, agents, MCP</a:t>
            </a:r>
            <a:endParaRPr lang="en-US" sz="1000" dirty="0"/>
          </a:p>
        </p:txBody>
      </p:sp>
      <p:sp>
        <p:nvSpPr>
          <p:cNvPr id="24" name="Text 22"/>
          <p:cNvSpPr/>
          <p:nvPr/>
        </p:nvSpPr>
        <p:spPr>
          <a:xfrm>
            <a:off x="640080" y="4251960"/>
            <a:ext cx="2286000" cy="411480"/>
          </a:xfrm>
          <a:prstGeom prst="rect">
            <a:avLst/>
          </a:prstGeom>
          <a:noFill/>
          <a:ln/>
        </p:spPr>
        <p:txBody>
          <a:bodyPr wrap="square" lIns="0" tIns="0" rIns="0" bIns="0" rtlCol="0" anchor="ctr"/>
          <a:lstStyle/>
          <a:p>
            <a:pPr marL="0" indent="0">
              <a:buNone/>
            </a:pPr>
            <a:r>
              <a:rPr lang="en-US" sz="1000" b="1" dirty="0">
                <a:solidFill>
                  <a:srgbClr val="0F172A"/>
                </a:solidFill>
                <a:latin typeface="Poppins" pitchFamily="34" charset="0"/>
                <a:ea typeface="Poppins" pitchFamily="34" charset="-122"/>
                <a:cs typeface="Poppins" pitchFamily="34" charset="-120"/>
              </a:rPr>
              <a:t>Gouvernance</a:t>
            </a:r>
            <a:endParaRPr lang="en-US" sz="1000" dirty="0"/>
          </a:p>
        </p:txBody>
      </p:sp>
      <p:sp>
        <p:nvSpPr>
          <p:cNvPr id="25" name="Text 23"/>
          <p:cNvSpPr/>
          <p:nvPr/>
        </p:nvSpPr>
        <p:spPr>
          <a:xfrm>
            <a:off x="3017520" y="4251960"/>
            <a:ext cx="2560320" cy="411480"/>
          </a:xfrm>
          <a:prstGeom prst="rect">
            <a:avLst/>
          </a:prstGeom>
          <a:noFill/>
          <a:ln/>
        </p:spPr>
        <p:txBody>
          <a:bodyPr wrap="square" lIns="0" tIns="0" rIns="0" bIns="0" rtlCol="0" anchor="ctr"/>
          <a:lstStyle/>
          <a:p>
            <a:pPr marL="0" indent="0">
              <a:buNone/>
            </a:pPr>
            <a:r>
              <a:rPr lang="en-US" sz="1000" dirty="0">
                <a:solidFill>
                  <a:srgbClr val="6B7280"/>
                </a:solidFill>
                <a:latin typeface="Poppins" pitchFamily="34" charset="0"/>
                <a:ea typeface="Poppins" pitchFamily="34" charset="-122"/>
                <a:cs typeface="Poppins" pitchFamily="34" charset="-120"/>
              </a:rPr>
              <a:t>RBAC basique</a:t>
            </a:r>
            <a:endParaRPr lang="en-US" sz="1000" dirty="0"/>
          </a:p>
        </p:txBody>
      </p:sp>
      <p:sp>
        <p:nvSpPr>
          <p:cNvPr id="26" name="Text 24"/>
          <p:cNvSpPr/>
          <p:nvPr/>
        </p:nvSpPr>
        <p:spPr>
          <a:xfrm>
            <a:off x="5760720" y="4251960"/>
            <a:ext cx="2743200" cy="411480"/>
          </a:xfrm>
          <a:prstGeom prst="rect">
            <a:avLst/>
          </a:prstGeom>
          <a:noFill/>
          <a:ln/>
        </p:spPr>
        <p:txBody>
          <a:bodyPr wrap="square" lIns="0" tIns="0" rIns="0" bIns="0" rtlCol="0" anchor="ctr"/>
          <a:lstStyle/>
          <a:p>
            <a:pPr marL="0" indent="0">
              <a:buNone/>
            </a:pPr>
            <a:r>
              <a:rPr lang="en-US" sz="1000" b="1" dirty="0">
                <a:solidFill>
                  <a:srgbClr val="1677FF"/>
                </a:solidFill>
                <a:latin typeface="Poppins" pitchFamily="34" charset="0"/>
                <a:ea typeface="Poppins" pitchFamily="34" charset="-122"/>
                <a:cs typeface="Poppins" pitchFamily="34" charset="-120"/>
              </a:rPr>
              <a:t>RBAC avancé, audit, secrets</a:t>
            </a:r>
            <a:endParaRPr lang="en-US" sz="1000" dirty="0"/>
          </a:p>
        </p:txBody>
      </p:sp>
      <p:sp>
        <p:nvSpPr>
          <p:cNvPr id="27" name="Text 25"/>
          <p:cNvSpPr/>
          <p:nvPr/>
        </p:nvSpPr>
        <p:spPr>
          <a:xfrm>
            <a:off x="914400" y="4663440"/>
            <a:ext cx="7315200" cy="274320"/>
          </a:xfrm>
          <a:prstGeom prst="rect">
            <a:avLst/>
          </a:prstGeom>
          <a:noFill/>
          <a:ln/>
        </p:spPr>
        <p:txBody>
          <a:bodyPr wrap="square" lIns="0" tIns="0" rIns="0" bIns="0" rtlCol="0" anchor="ctr"/>
          <a:lstStyle/>
          <a:p>
            <a:pPr marL="0" indent="0" algn="ctr">
              <a:buNone/>
            </a:pPr>
            <a:r>
              <a:rPr lang="en-US" sz="1200" i="1" dirty="0">
                <a:solidFill>
                  <a:srgbClr val="6B7280"/>
                </a:solidFill>
                <a:latin typeface="Poppins" pitchFamily="34" charset="0"/>
                <a:ea typeface="Poppins" pitchFamily="34" charset="-122"/>
                <a:cs typeface="Poppins" pitchFamily="34" charset="-120"/>
              </a:rPr>
              <a:t>n8n exécute des tâches. KINN structure toute l'entreprise.</a:t>
            </a:r>
            <a:endParaRPr lang="en-US" sz="1200" dirty="0"/>
          </a:p>
        </p:txBody>
      </p:sp>
      <p:sp>
        <p:nvSpPr>
          <p:cNvPr id="28" name="Text 26"/>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900" dirty="0">
                <a:solidFill>
                  <a:srgbClr val="9CA3AF"/>
                </a:solidFill>
                <a:latin typeface="Poppins" pitchFamily="34" charset="0"/>
                <a:ea typeface="Poppins" pitchFamily="34" charset="-122"/>
                <a:cs typeface="Poppins"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74320"/>
            <a:ext cx="8229600" cy="457200"/>
          </a:xfrm>
          <a:prstGeom prst="rect">
            <a:avLst/>
          </a:prstGeom>
          <a:noFill/>
          <a:ln/>
        </p:spPr>
        <p:txBody>
          <a:bodyPr wrap="square" lIns="0" tIns="0" rIns="0" bIns="0" rtlCol="0" anchor="ctr"/>
          <a:lstStyle/>
          <a:p>
            <a:pPr marL="0" indent="0">
              <a:buNone/>
            </a:pPr>
            <a:r>
              <a:rPr lang="en-US" sz="3000" b="1" dirty="0">
                <a:solidFill>
                  <a:srgbClr val="0F172A"/>
                </a:solidFill>
                <a:latin typeface="Poppins" pitchFamily="34" charset="0"/>
                <a:ea typeface="Poppins" pitchFamily="34" charset="-122"/>
                <a:cs typeface="Poppins" pitchFamily="34" charset="-120"/>
              </a:rPr>
              <a:t>Étude de marché</a:t>
            </a:r>
            <a:endParaRPr lang="en-US" sz="3000" dirty="0"/>
          </a:p>
        </p:txBody>
      </p:sp>
      <p:sp>
        <p:nvSpPr>
          <p:cNvPr id="3" name="Text 1"/>
          <p:cNvSpPr/>
          <p:nvPr/>
        </p:nvSpPr>
        <p:spPr>
          <a:xfrm>
            <a:off x="640080" y="731520"/>
            <a:ext cx="7315200" cy="274320"/>
          </a:xfrm>
          <a:prstGeom prst="rect">
            <a:avLst/>
          </a:prstGeom>
          <a:noFill/>
          <a:ln/>
        </p:spPr>
        <p:txBody>
          <a:bodyPr wrap="square" lIns="0" tIns="0" rIns="0" bIns="0" rtlCol="0" anchor="ctr"/>
          <a:lstStyle/>
          <a:p>
            <a:pPr marL="0" indent="0">
              <a:buNone/>
            </a:pPr>
            <a:r>
              <a:rPr lang="en-US" sz="1200" dirty="0">
                <a:solidFill>
                  <a:srgbClr val="6B7280"/>
                </a:solidFill>
                <a:latin typeface="Poppins" pitchFamily="34" charset="0"/>
                <a:ea typeface="Poppins" pitchFamily="34" charset="-122"/>
                <a:cs typeface="Poppins" pitchFamily="34" charset="-120"/>
              </a:rPr>
              <a:t>Nous adressons un marché européen en forte croissance (&gt; 25% / an)</a:t>
            </a:r>
            <a:endParaRPr lang="en-US" sz="1200" dirty="0"/>
          </a:p>
        </p:txBody>
      </p:sp>
      <p:sp>
        <p:nvSpPr>
          <p:cNvPr id="4" name="Shape 2"/>
          <p:cNvSpPr/>
          <p:nvPr/>
        </p:nvSpPr>
        <p:spPr>
          <a:xfrm>
            <a:off x="457200" y="1371600"/>
            <a:ext cx="4206240" cy="3291840"/>
          </a:xfrm>
          <a:prstGeom prst="ellipse">
            <a:avLst/>
          </a:prstGeom>
          <a:solidFill>
            <a:srgbClr val="EBF5FF"/>
          </a:solidFill>
          <a:ln/>
        </p:spPr>
        <p:txBody>
          <a:bodyPr/>
          <a:lstStyle/>
          <a:p>
            <a:endParaRPr lang="fr-FR"/>
          </a:p>
        </p:txBody>
      </p:sp>
      <p:sp>
        <p:nvSpPr>
          <p:cNvPr id="5" name="Text 3"/>
          <p:cNvSpPr/>
          <p:nvPr/>
        </p:nvSpPr>
        <p:spPr>
          <a:xfrm>
            <a:off x="640080" y="1554480"/>
            <a:ext cx="914400" cy="274320"/>
          </a:xfrm>
          <a:prstGeom prst="rect">
            <a:avLst/>
          </a:prstGeom>
          <a:noFill/>
          <a:ln/>
        </p:spPr>
        <p:txBody>
          <a:bodyPr wrap="square" lIns="0" tIns="0" rIns="0" bIns="0" rtlCol="0" anchor="ctr"/>
          <a:lstStyle/>
          <a:p>
            <a:pPr marL="0" indent="0">
              <a:buNone/>
            </a:pPr>
            <a:r>
              <a:rPr lang="en-US" sz="1000" b="1" dirty="0">
                <a:solidFill>
                  <a:srgbClr val="1677FF"/>
                </a:solidFill>
                <a:latin typeface="Poppins" pitchFamily="34" charset="0"/>
                <a:ea typeface="Poppins" pitchFamily="34" charset="-122"/>
                <a:cs typeface="Poppins" pitchFamily="34" charset="-120"/>
              </a:rPr>
              <a:t>TAM</a:t>
            </a:r>
            <a:endParaRPr lang="en-US" sz="1000" dirty="0"/>
          </a:p>
        </p:txBody>
      </p:sp>
      <p:sp>
        <p:nvSpPr>
          <p:cNvPr id="6" name="Shape 4"/>
          <p:cNvSpPr/>
          <p:nvPr/>
        </p:nvSpPr>
        <p:spPr>
          <a:xfrm>
            <a:off x="1188720" y="2011680"/>
            <a:ext cx="2743200" cy="2011680"/>
          </a:xfrm>
          <a:prstGeom prst="ellipse">
            <a:avLst/>
          </a:prstGeom>
          <a:solidFill>
            <a:srgbClr val="D6EBFF"/>
          </a:solidFill>
          <a:ln/>
        </p:spPr>
        <p:txBody>
          <a:bodyPr/>
          <a:lstStyle/>
          <a:p>
            <a:endParaRPr lang="fr-FR"/>
          </a:p>
        </p:txBody>
      </p:sp>
      <p:sp>
        <p:nvSpPr>
          <p:cNvPr id="7" name="Text 5"/>
          <p:cNvSpPr/>
          <p:nvPr/>
        </p:nvSpPr>
        <p:spPr>
          <a:xfrm>
            <a:off x="1371600" y="2194560"/>
            <a:ext cx="914400" cy="274320"/>
          </a:xfrm>
          <a:prstGeom prst="rect">
            <a:avLst/>
          </a:prstGeom>
          <a:noFill/>
          <a:ln/>
        </p:spPr>
        <p:txBody>
          <a:bodyPr wrap="square" lIns="0" tIns="0" rIns="0" bIns="0" rtlCol="0" anchor="ctr"/>
          <a:lstStyle/>
          <a:p>
            <a:pPr marL="0" indent="0">
              <a:buNone/>
            </a:pPr>
            <a:r>
              <a:rPr lang="en-US" sz="1000" b="1" dirty="0">
                <a:solidFill>
                  <a:srgbClr val="1677FF"/>
                </a:solidFill>
                <a:latin typeface="Poppins" pitchFamily="34" charset="0"/>
                <a:ea typeface="Poppins" pitchFamily="34" charset="-122"/>
                <a:cs typeface="Poppins" pitchFamily="34" charset="-120"/>
              </a:rPr>
              <a:t>SAM</a:t>
            </a:r>
            <a:endParaRPr lang="en-US" sz="1000" dirty="0"/>
          </a:p>
        </p:txBody>
      </p:sp>
      <p:sp>
        <p:nvSpPr>
          <p:cNvPr id="8" name="Shape 6"/>
          <p:cNvSpPr/>
          <p:nvPr/>
        </p:nvSpPr>
        <p:spPr>
          <a:xfrm>
            <a:off x="1828800" y="2560320"/>
            <a:ext cx="1463040" cy="914400"/>
          </a:xfrm>
          <a:prstGeom prst="ellipse">
            <a:avLst/>
          </a:prstGeom>
          <a:solidFill>
            <a:srgbClr val="1677FF"/>
          </a:solidFill>
          <a:ln/>
        </p:spPr>
        <p:txBody>
          <a:bodyPr/>
          <a:lstStyle/>
          <a:p>
            <a:endParaRPr lang="fr-FR"/>
          </a:p>
        </p:txBody>
      </p:sp>
      <p:sp>
        <p:nvSpPr>
          <p:cNvPr id="9" name="Text 7"/>
          <p:cNvSpPr/>
          <p:nvPr/>
        </p:nvSpPr>
        <p:spPr>
          <a:xfrm>
            <a:off x="1828800" y="2697480"/>
            <a:ext cx="1463040" cy="640080"/>
          </a:xfrm>
          <a:prstGeom prst="rect">
            <a:avLst/>
          </a:prstGeom>
          <a:noFill/>
          <a:ln/>
        </p:spPr>
        <p:txBody>
          <a:bodyPr wrap="square" lIns="0" tIns="0" rIns="0" bIns="0" rtlCol="0" anchor="ctr"/>
          <a:lstStyle/>
          <a:p>
            <a:pPr marL="0" indent="0" algn="ctr">
              <a:buNone/>
            </a:pPr>
            <a:r>
              <a:rPr lang="en-US" sz="1200" b="1" dirty="0">
                <a:solidFill>
                  <a:srgbClr val="FFFFFF"/>
                </a:solidFill>
                <a:latin typeface="Poppins" pitchFamily="34" charset="0"/>
                <a:ea typeface="Poppins" pitchFamily="34" charset="-122"/>
                <a:cs typeface="Poppins" pitchFamily="34" charset="-120"/>
              </a:rPr>
              <a:t>SOM</a:t>
            </a:r>
            <a:endParaRPr lang="en-US" sz="1200" dirty="0"/>
          </a:p>
        </p:txBody>
      </p:sp>
      <p:sp>
        <p:nvSpPr>
          <p:cNvPr id="10" name="Shape 8"/>
          <p:cNvSpPr/>
          <p:nvPr/>
        </p:nvSpPr>
        <p:spPr>
          <a:xfrm>
            <a:off x="5303520" y="1188720"/>
            <a:ext cx="3383280" cy="1097280"/>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11" name="Shape 9"/>
          <p:cNvSpPr/>
          <p:nvPr/>
        </p:nvSpPr>
        <p:spPr>
          <a:xfrm>
            <a:off x="5303520" y="1188720"/>
            <a:ext cx="54864" cy="1097280"/>
          </a:xfrm>
          <a:prstGeom prst="rect">
            <a:avLst/>
          </a:prstGeom>
          <a:solidFill>
            <a:srgbClr val="1677FF"/>
          </a:solidFill>
          <a:ln/>
        </p:spPr>
        <p:txBody>
          <a:bodyPr/>
          <a:lstStyle/>
          <a:p>
            <a:endParaRPr lang="fr-FR"/>
          </a:p>
        </p:txBody>
      </p:sp>
      <p:sp>
        <p:nvSpPr>
          <p:cNvPr id="12" name="Text 10"/>
          <p:cNvSpPr/>
          <p:nvPr/>
        </p:nvSpPr>
        <p:spPr>
          <a:xfrm>
            <a:off x="5486400" y="1261872"/>
            <a:ext cx="914400" cy="228600"/>
          </a:xfrm>
          <a:prstGeom prst="rect">
            <a:avLst/>
          </a:prstGeom>
          <a:noFill/>
          <a:ln/>
        </p:spPr>
        <p:txBody>
          <a:bodyPr wrap="square" lIns="0" tIns="0" rIns="0" bIns="0" rtlCol="0" anchor="ctr"/>
          <a:lstStyle/>
          <a:p>
            <a:pPr marL="0" indent="0">
              <a:buNone/>
            </a:pPr>
            <a:r>
              <a:rPr lang="en-US" sz="1100" b="1" dirty="0">
                <a:solidFill>
                  <a:srgbClr val="1677FF"/>
                </a:solidFill>
                <a:latin typeface="Poppins" pitchFamily="34" charset="0"/>
                <a:ea typeface="Poppins" pitchFamily="34" charset="-122"/>
                <a:cs typeface="Poppins" pitchFamily="34" charset="-120"/>
              </a:rPr>
              <a:t>TAM</a:t>
            </a:r>
            <a:endParaRPr lang="en-US" sz="1100" dirty="0"/>
          </a:p>
        </p:txBody>
      </p:sp>
      <p:sp>
        <p:nvSpPr>
          <p:cNvPr id="13" name="Text 11"/>
          <p:cNvSpPr/>
          <p:nvPr/>
        </p:nvSpPr>
        <p:spPr>
          <a:xfrm>
            <a:off x="6858000" y="1261872"/>
            <a:ext cx="1645920" cy="228600"/>
          </a:xfrm>
          <a:prstGeom prst="rect">
            <a:avLst/>
          </a:prstGeom>
          <a:noFill/>
          <a:ln/>
        </p:spPr>
        <p:txBody>
          <a:bodyPr wrap="square" lIns="0" tIns="0" rIns="0" bIns="0" rtlCol="0" anchor="ctr"/>
          <a:lstStyle/>
          <a:p>
            <a:pPr marL="0" indent="0" algn="r">
              <a:buNone/>
            </a:pPr>
            <a:r>
              <a:rPr lang="en-US" sz="1500" b="1" dirty="0">
                <a:solidFill>
                  <a:srgbClr val="0F172A"/>
                </a:solidFill>
                <a:latin typeface="Poppins" pitchFamily="34" charset="0"/>
                <a:ea typeface="Poppins" pitchFamily="34" charset="-122"/>
                <a:cs typeface="Poppins" pitchFamily="34" charset="-120"/>
              </a:rPr>
              <a:t>44,5 Md$</a:t>
            </a:r>
            <a:endParaRPr lang="en-US" sz="1500" dirty="0"/>
          </a:p>
        </p:txBody>
      </p:sp>
      <p:sp>
        <p:nvSpPr>
          <p:cNvPr id="14" name="Text 12"/>
          <p:cNvSpPr/>
          <p:nvPr/>
        </p:nvSpPr>
        <p:spPr>
          <a:xfrm>
            <a:off x="5486400" y="1554480"/>
            <a:ext cx="3017520" cy="594360"/>
          </a:xfrm>
          <a:prstGeom prst="rect">
            <a:avLst/>
          </a:prstGeom>
          <a:noFill/>
          <a:ln/>
        </p:spPr>
        <p:txBody>
          <a:bodyPr wrap="square" lIns="0" tIns="0" rIns="0" bIns="0" rtlCol="0" anchor="ctr"/>
          <a:lstStyle/>
          <a:p>
            <a:pPr marL="0" indent="0">
              <a:lnSpc>
                <a:spcPct val="130000"/>
              </a:lnSpc>
              <a:buNone/>
            </a:pPr>
            <a:r>
              <a:rPr lang="en-US" sz="850" dirty="0">
                <a:solidFill>
                  <a:srgbClr val="374151"/>
                </a:solidFill>
                <a:latin typeface="Poppins" pitchFamily="34" charset="0"/>
                <a:ea typeface="Poppins" pitchFamily="34" charset="-122"/>
                <a:cs typeface="Poppins" pitchFamily="34" charset="-120"/>
              </a:rPr>
              <a:t>Marché mondial low-code/no-code + iPaaS</a:t>
            </a:r>
            <a:endParaRPr lang="en-US" sz="850" dirty="0"/>
          </a:p>
          <a:p>
            <a:pPr marL="0" indent="0">
              <a:lnSpc>
                <a:spcPct val="130000"/>
              </a:lnSpc>
              <a:buNone/>
            </a:pPr>
            <a:r>
              <a:rPr lang="en-US" sz="850" dirty="0">
                <a:solidFill>
                  <a:srgbClr val="374151"/>
                </a:solidFill>
                <a:latin typeface="Poppins" pitchFamily="34" charset="0"/>
                <a:ea typeface="Poppins" pitchFamily="34" charset="-122"/>
                <a:cs typeface="Poppins" pitchFamily="34" charset="-120"/>
              </a:rPr>
              <a:t>2026 (Gartner). CAGR 25%+/an → 82 Md$ en 2034</a:t>
            </a:r>
            <a:endParaRPr lang="en-US" sz="850" dirty="0"/>
          </a:p>
        </p:txBody>
      </p:sp>
      <p:sp>
        <p:nvSpPr>
          <p:cNvPr id="15" name="Shape 13"/>
          <p:cNvSpPr/>
          <p:nvPr/>
        </p:nvSpPr>
        <p:spPr>
          <a:xfrm>
            <a:off x="5303520" y="2514600"/>
            <a:ext cx="3383280" cy="1097280"/>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16" name="Shape 14"/>
          <p:cNvSpPr/>
          <p:nvPr/>
        </p:nvSpPr>
        <p:spPr>
          <a:xfrm>
            <a:off x="5303520" y="2514600"/>
            <a:ext cx="54864" cy="1097280"/>
          </a:xfrm>
          <a:prstGeom prst="rect">
            <a:avLst/>
          </a:prstGeom>
          <a:solidFill>
            <a:srgbClr val="1677FF"/>
          </a:solidFill>
          <a:ln/>
        </p:spPr>
        <p:txBody>
          <a:bodyPr/>
          <a:lstStyle/>
          <a:p>
            <a:endParaRPr lang="fr-FR"/>
          </a:p>
        </p:txBody>
      </p:sp>
      <p:sp>
        <p:nvSpPr>
          <p:cNvPr id="17" name="Text 15"/>
          <p:cNvSpPr/>
          <p:nvPr/>
        </p:nvSpPr>
        <p:spPr>
          <a:xfrm>
            <a:off x="5486400" y="2587752"/>
            <a:ext cx="914400" cy="228600"/>
          </a:xfrm>
          <a:prstGeom prst="rect">
            <a:avLst/>
          </a:prstGeom>
          <a:noFill/>
          <a:ln/>
        </p:spPr>
        <p:txBody>
          <a:bodyPr wrap="square" lIns="0" tIns="0" rIns="0" bIns="0" rtlCol="0" anchor="ctr"/>
          <a:lstStyle/>
          <a:p>
            <a:pPr marL="0" indent="0">
              <a:buNone/>
            </a:pPr>
            <a:r>
              <a:rPr lang="en-US" sz="1100" b="1" dirty="0">
                <a:solidFill>
                  <a:srgbClr val="1677FF"/>
                </a:solidFill>
                <a:latin typeface="Poppins" pitchFamily="34" charset="0"/>
                <a:ea typeface="Poppins" pitchFamily="34" charset="-122"/>
                <a:cs typeface="Poppins" pitchFamily="34" charset="-120"/>
              </a:rPr>
              <a:t>SAM</a:t>
            </a:r>
            <a:endParaRPr lang="en-US" sz="1100" dirty="0"/>
          </a:p>
        </p:txBody>
      </p:sp>
      <p:sp>
        <p:nvSpPr>
          <p:cNvPr id="18" name="Text 16"/>
          <p:cNvSpPr/>
          <p:nvPr/>
        </p:nvSpPr>
        <p:spPr>
          <a:xfrm>
            <a:off x="6858000" y="2587752"/>
            <a:ext cx="1645920" cy="228600"/>
          </a:xfrm>
          <a:prstGeom prst="rect">
            <a:avLst/>
          </a:prstGeom>
          <a:noFill/>
          <a:ln/>
        </p:spPr>
        <p:txBody>
          <a:bodyPr wrap="square" lIns="0" tIns="0" rIns="0" bIns="0" rtlCol="0" anchor="ctr"/>
          <a:lstStyle/>
          <a:p>
            <a:pPr marL="0" indent="0" algn="r">
              <a:buNone/>
            </a:pPr>
            <a:r>
              <a:rPr lang="en-US" sz="1500" b="1" dirty="0">
                <a:solidFill>
                  <a:srgbClr val="0F172A"/>
                </a:solidFill>
                <a:latin typeface="Poppins" pitchFamily="34" charset="0"/>
                <a:ea typeface="Poppins" pitchFamily="34" charset="-122"/>
                <a:cs typeface="Poppins" pitchFamily="34" charset="-120"/>
              </a:rPr>
              <a:t>2,9 Md€</a:t>
            </a:r>
            <a:endParaRPr lang="en-US" sz="1500" dirty="0"/>
          </a:p>
        </p:txBody>
      </p:sp>
      <p:sp>
        <p:nvSpPr>
          <p:cNvPr id="19" name="Text 17"/>
          <p:cNvSpPr/>
          <p:nvPr/>
        </p:nvSpPr>
        <p:spPr>
          <a:xfrm>
            <a:off x="5486400" y="2880360"/>
            <a:ext cx="3017520" cy="594360"/>
          </a:xfrm>
          <a:prstGeom prst="rect">
            <a:avLst/>
          </a:prstGeom>
          <a:noFill/>
          <a:ln/>
        </p:spPr>
        <p:txBody>
          <a:bodyPr wrap="square" lIns="0" tIns="0" rIns="0" bIns="0" rtlCol="0" anchor="ctr"/>
          <a:lstStyle/>
          <a:p>
            <a:pPr marL="0" indent="0">
              <a:lnSpc>
                <a:spcPct val="130000"/>
              </a:lnSpc>
              <a:buNone/>
            </a:pPr>
            <a:r>
              <a:rPr lang="en-US" sz="850" dirty="0">
                <a:solidFill>
                  <a:srgbClr val="374151"/>
                </a:solidFill>
                <a:latin typeface="Poppins" pitchFamily="34" charset="0"/>
                <a:ea typeface="Poppins" pitchFamily="34" charset="-122"/>
                <a:cs typeface="Poppins" pitchFamily="34" charset="-120"/>
              </a:rPr>
              <a:t>Europe low-code/no-code + automatisation</a:t>
            </a:r>
            <a:endParaRPr lang="en-US" sz="850" dirty="0"/>
          </a:p>
          <a:p>
            <a:pPr marL="0" indent="0">
              <a:lnSpc>
                <a:spcPct val="130000"/>
              </a:lnSpc>
              <a:buNone/>
            </a:pPr>
            <a:r>
              <a:rPr lang="en-US" sz="850" dirty="0">
                <a:solidFill>
                  <a:srgbClr val="374151"/>
                </a:solidFill>
                <a:latin typeface="Poppins" pitchFamily="34" charset="0"/>
                <a:ea typeface="Poppins" pitchFamily="34" charset="-122"/>
                <a:cs typeface="Poppins" pitchFamily="34" charset="-120"/>
              </a:rPr>
              <a:t>France + DACH + Benelux. CAGR 21,9% (Precedence)</a:t>
            </a:r>
            <a:endParaRPr lang="en-US" sz="850" dirty="0"/>
          </a:p>
        </p:txBody>
      </p:sp>
      <p:sp>
        <p:nvSpPr>
          <p:cNvPr id="20" name="Shape 18"/>
          <p:cNvSpPr/>
          <p:nvPr/>
        </p:nvSpPr>
        <p:spPr>
          <a:xfrm>
            <a:off x="5303520" y="3840480"/>
            <a:ext cx="3383280" cy="1097280"/>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21" name="Shape 19"/>
          <p:cNvSpPr/>
          <p:nvPr/>
        </p:nvSpPr>
        <p:spPr>
          <a:xfrm>
            <a:off x="5303520" y="3840480"/>
            <a:ext cx="54864" cy="1097280"/>
          </a:xfrm>
          <a:prstGeom prst="rect">
            <a:avLst/>
          </a:prstGeom>
          <a:solidFill>
            <a:srgbClr val="16A34A"/>
          </a:solidFill>
          <a:ln/>
        </p:spPr>
        <p:txBody>
          <a:bodyPr/>
          <a:lstStyle/>
          <a:p>
            <a:endParaRPr lang="fr-FR"/>
          </a:p>
        </p:txBody>
      </p:sp>
      <p:sp>
        <p:nvSpPr>
          <p:cNvPr id="22" name="Text 20"/>
          <p:cNvSpPr/>
          <p:nvPr/>
        </p:nvSpPr>
        <p:spPr>
          <a:xfrm>
            <a:off x="5486400" y="3913632"/>
            <a:ext cx="914400" cy="228600"/>
          </a:xfrm>
          <a:prstGeom prst="rect">
            <a:avLst/>
          </a:prstGeom>
          <a:noFill/>
          <a:ln/>
        </p:spPr>
        <p:txBody>
          <a:bodyPr wrap="square" lIns="0" tIns="0" rIns="0" bIns="0" rtlCol="0" anchor="ctr"/>
          <a:lstStyle/>
          <a:p>
            <a:pPr marL="0" indent="0">
              <a:buNone/>
            </a:pPr>
            <a:r>
              <a:rPr lang="en-US" sz="1100" b="1" dirty="0">
                <a:solidFill>
                  <a:srgbClr val="16A34A"/>
                </a:solidFill>
                <a:latin typeface="Poppins" pitchFamily="34" charset="0"/>
                <a:ea typeface="Poppins" pitchFamily="34" charset="-122"/>
                <a:cs typeface="Poppins" pitchFamily="34" charset="-120"/>
              </a:rPr>
              <a:t>SOM</a:t>
            </a:r>
            <a:endParaRPr lang="en-US" sz="1100" dirty="0"/>
          </a:p>
        </p:txBody>
      </p:sp>
      <p:sp>
        <p:nvSpPr>
          <p:cNvPr id="23" name="Text 21"/>
          <p:cNvSpPr/>
          <p:nvPr/>
        </p:nvSpPr>
        <p:spPr>
          <a:xfrm>
            <a:off x="6858000" y="3913632"/>
            <a:ext cx="1645920" cy="228600"/>
          </a:xfrm>
          <a:prstGeom prst="rect">
            <a:avLst/>
          </a:prstGeom>
          <a:noFill/>
          <a:ln/>
        </p:spPr>
        <p:txBody>
          <a:bodyPr wrap="square" lIns="0" tIns="0" rIns="0" bIns="0" rtlCol="0" anchor="ctr"/>
          <a:lstStyle/>
          <a:p>
            <a:pPr marL="0" indent="0" algn="r">
              <a:buNone/>
            </a:pPr>
            <a:r>
              <a:rPr lang="en-US" sz="1500" b="1" dirty="0">
                <a:solidFill>
                  <a:srgbClr val="0F172A"/>
                </a:solidFill>
                <a:latin typeface="Poppins" pitchFamily="34" charset="0"/>
                <a:ea typeface="Poppins" pitchFamily="34" charset="-122"/>
                <a:cs typeface="Poppins" pitchFamily="34" charset="-120"/>
              </a:rPr>
              <a:t>10-30 M€</a:t>
            </a:r>
            <a:endParaRPr lang="en-US" sz="1500" dirty="0"/>
          </a:p>
        </p:txBody>
      </p:sp>
      <p:sp>
        <p:nvSpPr>
          <p:cNvPr id="24" name="Text 22"/>
          <p:cNvSpPr/>
          <p:nvPr/>
        </p:nvSpPr>
        <p:spPr>
          <a:xfrm>
            <a:off x="5486400" y="4206240"/>
            <a:ext cx="3017520" cy="594360"/>
          </a:xfrm>
          <a:prstGeom prst="rect">
            <a:avLst/>
          </a:prstGeom>
          <a:noFill/>
          <a:ln/>
        </p:spPr>
        <p:txBody>
          <a:bodyPr wrap="square" lIns="0" tIns="0" rIns="0" bIns="0" rtlCol="0" anchor="ctr"/>
          <a:lstStyle/>
          <a:p>
            <a:pPr marL="0" indent="0">
              <a:lnSpc>
                <a:spcPct val="130000"/>
              </a:lnSpc>
              <a:buNone/>
            </a:pPr>
            <a:r>
              <a:rPr lang="en-US" sz="850" dirty="0">
                <a:solidFill>
                  <a:srgbClr val="374151"/>
                </a:solidFill>
                <a:latin typeface="Poppins" pitchFamily="34" charset="0"/>
                <a:ea typeface="Poppins" pitchFamily="34" charset="-122"/>
                <a:cs typeface="Poppins" pitchFamily="34" charset="-120"/>
              </a:rPr>
              <a:t>Objectif 36 mois. Consultants terrain,</a:t>
            </a:r>
            <a:endParaRPr lang="en-US" sz="850" dirty="0"/>
          </a:p>
          <a:p>
            <a:pPr marL="0" indent="0">
              <a:lnSpc>
                <a:spcPct val="130000"/>
              </a:lnSpc>
              <a:buNone/>
            </a:pPr>
            <a:r>
              <a:rPr lang="en-US" sz="850" dirty="0">
                <a:solidFill>
                  <a:srgbClr val="374151"/>
                </a:solidFill>
                <a:latin typeface="Poppins" pitchFamily="34" charset="0"/>
                <a:ea typeface="Poppins" pitchFamily="34" charset="-122"/>
                <a:cs typeface="Poppins" pitchFamily="34" charset="-120"/>
              </a:rPr>
              <a:t>marketplace, France → expansion EU</a:t>
            </a:r>
            <a:endParaRPr lang="en-US" sz="850" dirty="0"/>
          </a:p>
        </p:txBody>
      </p:sp>
      <p:sp>
        <p:nvSpPr>
          <p:cNvPr id="25" name="Text 23"/>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900" dirty="0">
                <a:solidFill>
                  <a:srgbClr val="9CA3AF"/>
                </a:solidFill>
                <a:latin typeface="Poppins" pitchFamily="34" charset="0"/>
                <a:ea typeface="Poppins" pitchFamily="34" charset="-122"/>
                <a:cs typeface="Poppins"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74320"/>
            <a:ext cx="8229600" cy="457200"/>
          </a:xfrm>
          <a:prstGeom prst="rect">
            <a:avLst/>
          </a:prstGeom>
          <a:noFill/>
          <a:ln/>
        </p:spPr>
        <p:txBody>
          <a:bodyPr wrap="square" lIns="0" tIns="0" rIns="0" bIns="0" rtlCol="0" anchor="ctr"/>
          <a:lstStyle/>
          <a:p>
            <a:pPr marL="0" indent="0">
              <a:buNone/>
            </a:pPr>
            <a:r>
              <a:rPr lang="en-US" sz="2800" b="1" dirty="0">
                <a:solidFill>
                  <a:srgbClr val="0F172A"/>
                </a:solidFill>
                <a:latin typeface="Poppins" pitchFamily="34" charset="0"/>
                <a:ea typeface="Poppins" pitchFamily="34" charset="-122"/>
                <a:cs typeface="Poppins" pitchFamily="34" charset="-120"/>
              </a:rPr>
              <a:t>Les signaux marché sont au vert</a:t>
            </a:r>
            <a:endParaRPr lang="en-US" sz="2800" dirty="0"/>
          </a:p>
        </p:txBody>
      </p:sp>
      <p:sp>
        <p:nvSpPr>
          <p:cNvPr id="3" name="Shape 1"/>
          <p:cNvSpPr/>
          <p:nvPr/>
        </p:nvSpPr>
        <p:spPr>
          <a:xfrm>
            <a:off x="457200" y="1410789"/>
            <a:ext cx="1572768" cy="2926080"/>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4" name="Shape 2"/>
          <p:cNvSpPr/>
          <p:nvPr/>
        </p:nvSpPr>
        <p:spPr>
          <a:xfrm>
            <a:off x="457200" y="1410789"/>
            <a:ext cx="1572768" cy="54864"/>
          </a:xfrm>
          <a:prstGeom prst="rect">
            <a:avLst/>
          </a:prstGeom>
          <a:solidFill>
            <a:srgbClr val="1677FF"/>
          </a:solidFill>
          <a:ln/>
        </p:spPr>
        <p:txBody>
          <a:bodyPr/>
          <a:lstStyle/>
          <a:p>
            <a:endParaRPr lang="fr-FR"/>
          </a:p>
        </p:txBody>
      </p:sp>
      <p:sp>
        <p:nvSpPr>
          <p:cNvPr id="5" name="Text 3"/>
          <p:cNvSpPr/>
          <p:nvPr/>
        </p:nvSpPr>
        <p:spPr>
          <a:xfrm>
            <a:off x="457200" y="1593669"/>
            <a:ext cx="1572768" cy="640080"/>
          </a:xfrm>
          <a:prstGeom prst="rect">
            <a:avLst/>
          </a:prstGeom>
          <a:noFill/>
          <a:ln/>
        </p:spPr>
        <p:txBody>
          <a:bodyPr wrap="square" lIns="0" tIns="0" rIns="0" bIns="0" rtlCol="0" anchor="ctr"/>
          <a:lstStyle/>
          <a:p>
            <a:pPr marL="0" indent="0" algn="ctr">
              <a:buNone/>
            </a:pPr>
            <a:r>
              <a:rPr lang="en-US" sz="3000" b="1" dirty="0">
                <a:solidFill>
                  <a:srgbClr val="1677FF"/>
                </a:solidFill>
                <a:latin typeface="Poppins" pitchFamily="34" charset="0"/>
                <a:ea typeface="Poppins" pitchFamily="34" charset="-122"/>
                <a:cs typeface="Poppins" pitchFamily="34" charset="-120"/>
              </a:rPr>
              <a:t>75%</a:t>
            </a:r>
            <a:endParaRPr lang="en-US" sz="3000" dirty="0"/>
          </a:p>
        </p:txBody>
      </p:sp>
      <p:sp>
        <p:nvSpPr>
          <p:cNvPr id="6" name="Text 4"/>
          <p:cNvSpPr/>
          <p:nvPr/>
        </p:nvSpPr>
        <p:spPr>
          <a:xfrm>
            <a:off x="502920" y="2370909"/>
            <a:ext cx="1481328" cy="640080"/>
          </a:xfrm>
          <a:prstGeom prst="rect">
            <a:avLst/>
          </a:prstGeom>
          <a:noFill/>
          <a:ln/>
        </p:spPr>
        <p:txBody>
          <a:bodyPr wrap="square" lIns="0" tIns="0" rIns="0" bIns="0" rtlCol="0" anchor="ctr"/>
          <a:lstStyle/>
          <a:p>
            <a:pPr marL="0" indent="0" algn="ctr">
              <a:lnSpc>
                <a:spcPct val="130000"/>
              </a:lnSpc>
              <a:buNone/>
            </a:pPr>
            <a:r>
              <a:rPr lang="en-US" sz="900" dirty="0">
                <a:solidFill>
                  <a:srgbClr val="0F172A"/>
                </a:solidFill>
                <a:latin typeface="Poppins" pitchFamily="34" charset="0"/>
                <a:ea typeface="Poppins" pitchFamily="34" charset="-122"/>
                <a:cs typeface="Poppins" pitchFamily="34" charset="-120"/>
              </a:rPr>
              <a:t>des nouvelles apps entreprise</a:t>
            </a:r>
            <a:endParaRPr lang="en-US" sz="900" dirty="0"/>
          </a:p>
          <a:p>
            <a:pPr marL="0" indent="0" algn="ctr">
              <a:lnSpc>
                <a:spcPct val="130000"/>
              </a:lnSpc>
              <a:buNone/>
            </a:pPr>
            <a:r>
              <a:rPr lang="en-US" sz="900" dirty="0">
                <a:solidFill>
                  <a:srgbClr val="0F172A"/>
                </a:solidFill>
                <a:latin typeface="Poppins" pitchFamily="34" charset="0"/>
                <a:ea typeface="Poppins" pitchFamily="34" charset="-122"/>
                <a:cs typeface="Poppins" pitchFamily="34" charset="-120"/>
              </a:rPr>
              <a:t>seront low-code d'ici 2026</a:t>
            </a:r>
            <a:endParaRPr lang="en-US" sz="900" dirty="0"/>
          </a:p>
        </p:txBody>
      </p:sp>
      <p:sp>
        <p:nvSpPr>
          <p:cNvPr id="7" name="Text 5"/>
          <p:cNvSpPr/>
          <p:nvPr/>
        </p:nvSpPr>
        <p:spPr>
          <a:xfrm>
            <a:off x="457200" y="3925389"/>
            <a:ext cx="1572768" cy="228600"/>
          </a:xfrm>
          <a:prstGeom prst="rect">
            <a:avLst/>
          </a:prstGeom>
          <a:noFill/>
          <a:ln/>
        </p:spPr>
        <p:txBody>
          <a:bodyPr wrap="square" lIns="0" tIns="0" rIns="0" bIns="0" rtlCol="0" anchor="ctr"/>
          <a:lstStyle/>
          <a:p>
            <a:pPr marL="0" indent="0" algn="ctr">
              <a:buNone/>
            </a:pPr>
            <a:r>
              <a:rPr lang="en-US" sz="800" dirty="0">
                <a:solidFill>
                  <a:srgbClr val="9CA3AF"/>
                </a:solidFill>
                <a:latin typeface="Poppins" pitchFamily="34" charset="0"/>
                <a:ea typeface="Poppins" pitchFamily="34" charset="-122"/>
                <a:cs typeface="Poppins" pitchFamily="34" charset="-120"/>
              </a:rPr>
              <a:t>Gartner, 2024</a:t>
            </a:r>
            <a:endParaRPr lang="en-US" sz="800" dirty="0"/>
          </a:p>
        </p:txBody>
      </p:sp>
      <p:sp>
        <p:nvSpPr>
          <p:cNvPr id="8" name="Shape 6"/>
          <p:cNvSpPr/>
          <p:nvPr/>
        </p:nvSpPr>
        <p:spPr>
          <a:xfrm>
            <a:off x="2121408" y="1410789"/>
            <a:ext cx="1572768" cy="2926080"/>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9" name="Shape 7"/>
          <p:cNvSpPr/>
          <p:nvPr/>
        </p:nvSpPr>
        <p:spPr>
          <a:xfrm>
            <a:off x="2121408" y="1410789"/>
            <a:ext cx="1572768" cy="54864"/>
          </a:xfrm>
          <a:prstGeom prst="rect">
            <a:avLst/>
          </a:prstGeom>
          <a:solidFill>
            <a:srgbClr val="1677FF"/>
          </a:solidFill>
          <a:ln/>
        </p:spPr>
        <p:txBody>
          <a:bodyPr/>
          <a:lstStyle/>
          <a:p>
            <a:endParaRPr lang="fr-FR"/>
          </a:p>
        </p:txBody>
      </p:sp>
      <p:sp>
        <p:nvSpPr>
          <p:cNvPr id="10" name="Text 8"/>
          <p:cNvSpPr/>
          <p:nvPr/>
        </p:nvSpPr>
        <p:spPr>
          <a:xfrm>
            <a:off x="2121408" y="1593669"/>
            <a:ext cx="1572768" cy="640080"/>
          </a:xfrm>
          <a:prstGeom prst="rect">
            <a:avLst/>
          </a:prstGeom>
          <a:noFill/>
          <a:ln/>
        </p:spPr>
        <p:txBody>
          <a:bodyPr wrap="square" lIns="0" tIns="0" rIns="0" bIns="0" rtlCol="0" anchor="ctr"/>
          <a:lstStyle/>
          <a:p>
            <a:pPr marL="0" indent="0" algn="ctr">
              <a:buNone/>
            </a:pPr>
            <a:r>
              <a:rPr lang="en-US" sz="3000" b="1" dirty="0">
                <a:solidFill>
                  <a:srgbClr val="1677FF"/>
                </a:solidFill>
                <a:latin typeface="Poppins" pitchFamily="34" charset="0"/>
                <a:ea typeface="Poppins" pitchFamily="34" charset="-122"/>
                <a:cs typeface="Poppins" pitchFamily="34" charset="-120"/>
              </a:rPr>
              <a:t>6h+</a:t>
            </a:r>
            <a:endParaRPr lang="en-US" sz="3000" dirty="0"/>
          </a:p>
        </p:txBody>
      </p:sp>
      <p:sp>
        <p:nvSpPr>
          <p:cNvPr id="11" name="Text 9"/>
          <p:cNvSpPr/>
          <p:nvPr/>
        </p:nvSpPr>
        <p:spPr>
          <a:xfrm>
            <a:off x="2167128" y="2370909"/>
            <a:ext cx="1481328" cy="640080"/>
          </a:xfrm>
          <a:prstGeom prst="rect">
            <a:avLst/>
          </a:prstGeom>
          <a:noFill/>
          <a:ln/>
        </p:spPr>
        <p:txBody>
          <a:bodyPr wrap="square" lIns="0" tIns="0" rIns="0" bIns="0" rtlCol="0" anchor="ctr"/>
          <a:lstStyle/>
          <a:p>
            <a:pPr marL="0" indent="0" algn="ctr">
              <a:lnSpc>
                <a:spcPct val="130000"/>
              </a:lnSpc>
              <a:buNone/>
            </a:pPr>
            <a:r>
              <a:rPr lang="en-US" sz="900" dirty="0">
                <a:solidFill>
                  <a:srgbClr val="0F172A"/>
                </a:solidFill>
                <a:latin typeface="Poppins" pitchFamily="34" charset="0"/>
                <a:ea typeface="Poppins" pitchFamily="34" charset="-122"/>
                <a:cs typeface="Poppins" pitchFamily="34" charset="-120"/>
              </a:rPr>
              <a:t>par semaine perdues</a:t>
            </a:r>
            <a:endParaRPr lang="en-US" sz="900" dirty="0"/>
          </a:p>
          <a:p>
            <a:pPr marL="0" indent="0" algn="ctr">
              <a:lnSpc>
                <a:spcPct val="130000"/>
              </a:lnSpc>
              <a:buNone/>
            </a:pPr>
            <a:r>
              <a:rPr lang="en-US" sz="900" dirty="0">
                <a:solidFill>
                  <a:srgbClr val="0F172A"/>
                </a:solidFill>
                <a:latin typeface="Poppins" pitchFamily="34" charset="0"/>
                <a:ea typeface="Poppins" pitchFamily="34" charset="-122"/>
                <a:cs typeface="Poppins" pitchFamily="34" charset="-120"/>
              </a:rPr>
              <a:t>en tâches automatisables</a:t>
            </a:r>
            <a:endParaRPr lang="en-US" sz="900" dirty="0"/>
          </a:p>
        </p:txBody>
      </p:sp>
      <p:sp>
        <p:nvSpPr>
          <p:cNvPr id="12" name="Text 10"/>
          <p:cNvSpPr/>
          <p:nvPr/>
        </p:nvSpPr>
        <p:spPr>
          <a:xfrm>
            <a:off x="2121408" y="3925389"/>
            <a:ext cx="1572768" cy="228600"/>
          </a:xfrm>
          <a:prstGeom prst="rect">
            <a:avLst/>
          </a:prstGeom>
          <a:noFill/>
          <a:ln/>
        </p:spPr>
        <p:txBody>
          <a:bodyPr wrap="square" lIns="0" tIns="0" rIns="0" bIns="0" rtlCol="0" anchor="ctr"/>
          <a:lstStyle/>
          <a:p>
            <a:pPr marL="0" indent="0" algn="ctr">
              <a:buNone/>
            </a:pPr>
            <a:r>
              <a:rPr lang="en-US" sz="800" dirty="0">
                <a:solidFill>
                  <a:srgbClr val="9CA3AF"/>
                </a:solidFill>
                <a:latin typeface="Poppins" pitchFamily="34" charset="0"/>
                <a:ea typeface="Poppins" pitchFamily="34" charset="-122"/>
                <a:cs typeface="Poppins" pitchFamily="34" charset="-120"/>
              </a:rPr>
              <a:t>Smartsheet, 2024</a:t>
            </a:r>
            <a:endParaRPr lang="en-US" sz="800" dirty="0"/>
          </a:p>
        </p:txBody>
      </p:sp>
      <p:sp>
        <p:nvSpPr>
          <p:cNvPr id="13" name="Shape 11"/>
          <p:cNvSpPr/>
          <p:nvPr/>
        </p:nvSpPr>
        <p:spPr>
          <a:xfrm>
            <a:off x="3785616" y="1410789"/>
            <a:ext cx="1572768" cy="2926080"/>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14" name="Shape 12"/>
          <p:cNvSpPr/>
          <p:nvPr/>
        </p:nvSpPr>
        <p:spPr>
          <a:xfrm>
            <a:off x="3785616" y="1410789"/>
            <a:ext cx="1572768" cy="54864"/>
          </a:xfrm>
          <a:prstGeom prst="rect">
            <a:avLst/>
          </a:prstGeom>
          <a:solidFill>
            <a:srgbClr val="1677FF"/>
          </a:solidFill>
          <a:ln/>
        </p:spPr>
        <p:txBody>
          <a:bodyPr/>
          <a:lstStyle/>
          <a:p>
            <a:endParaRPr lang="fr-FR"/>
          </a:p>
        </p:txBody>
      </p:sp>
      <p:sp>
        <p:nvSpPr>
          <p:cNvPr id="15" name="Text 13"/>
          <p:cNvSpPr/>
          <p:nvPr/>
        </p:nvSpPr>
        <p:spPr>
          <a:xfrm>
            <a:off x="3785616" y="1593669"/>
            <a:ext cx="1572768" cy="640080"/>
          </a:xfrm>
          <a:prstGeom prst="rect">
            <a:avLst/>
          </a:prstGeom>
          <a:noFill/>
          <a:ln/>
        </p:spPr>
        <p:txBody>
          <a:bodyPr wrap="square" lIns="0" tIns="0" rIns="0" bIns="0" rtlCol="0" anchor="ctr"/>
          <a:lstStyle/>
          <a:p>
            <a:pPr marL="0" indent="0" algn="ctr">
              <a:buNone/>
            </a:pPr>
            <a:r>
              <a:rPr lang="en-US" sz="3000" b="1" dirty="0">
                <a:solidFill>
                  <a:srgbClr val="1677FF"/>
                </a:solidFill>
                <a:latin typeface="Poppins" pitchFamily="34" charset="0"/>
                <a:ea typeface="Poppins" pitchFamily="34" charset="-122"/>
                <a:cs typeface="Poppins" pitchFamily="34" charset="-120"/>
              </a:rPr>
              <a:t>30%</a:t>
            </a:r>
            <a:endParaRPr lang="en-US" sz="3000" dirty="0"/>
          </a:p>
        </p:txBody>
      </p:sp>
      <p:sp>
        <p:nvSpPr>
          <p:cNvPr id="16" name="Text 14"/>
          <p:cNvSpPr/>
          <p:nvPr/>
        </p:nvSpPr>
        <p:spPr>
          <a:xfrm>
            <a:off x="3831336" y="2370909"/>
            <a:ext cx="1481328" cy="640080"/>
          </a:xfrm>
          <a:prstGeom prst="rect">
            <a:avLst/>
          </a:prstGeom>
          <a:noFill/>
          <a:ln/>
        </p:spPr>
        <p:txBody>
          <a:bodyPr wrap="square" lIns="0" tIns="0" rIns="0" bIns="0" rtlCol="0" anchor="ctr"/>
          <a:lstStyle/>
          <a:p>
            <a:pPr marL="0" indent="0" algn="ctr">
              <a:lnSpc>
                <a:spcPct val="130000"/>
              </a:lnSpc>
              <a:buNone/>
            </a:pPr>
            <a:r>
              <a:rPr lang="en-US" sz="900" dirty="0">
                <a:solidFill>
                  <a:srgbClr val="0F172A"/>
                </a:solidFill>
                <a:latin typeface="Poppins" pitchFamily="34" charset="0"/>
                <a:ea typeface="Poppins" pitchFamily="34" charset="-122"/>
                <a:cs typeface="Poppins" pitchFamily="34" charset="-120"/>
              </a:rPr>
              <a:t>des heures de travail</a:t>
            </a:r>
            <a:endParaRPr lang="en-US" sz="900" dirty="0"/>
          </a:p>
          <a:p>
            <a:pPr marL="0" indent="0" algn="ctr">
              <a:lnSpc>
                <a:spcPct val="130000"/>
              </a:lnSpc>
              <a:buNone/>
            </a:pPr>
            <a:r>
              <a:rPr lang="en-US" sz="900" dirty="0">
                <a:solidFill>
                  <a:srgbClr val="0F172A"/>
                </a:solidFill>
                <a:latin typeface="Poppins" pitchFamily="34" charset="0"/>
                <a:ea typeface="Poppins" pitchFamily="34" charset="-122"/>
                <a:cs typeface="Poppins" pitchFamily="34" charset="-120"/>
              </a:rPr>
              <a:t>automatisables par l'IA d'ici 2030</a:t>
            </a:r>
            <a:endParaRPr lang="en-US" sz="900" dirty="0"/>
          </a:p>
        </p:txBody>
      </p:sp>
      <p:sp>
        <p:nvSpPr>
          <p:cNvPr id="17" name="Text 15"/>
          <p:cNvSpPr/>
          <p:nvPr/>
        </p:nvSpPr>
        <p:spPr>
          <a:xfrm>
            <a:off x="3785616" y="3925389"/>
            <a:ext cx="1572768" cy="228600"/>
          </a:xfrm>
          <a:prstGeom prst="rect">
            <a:avLst/>
          </a:prstGeom>
          <a:noFill/>
          <a:ln/>
        </p:spPr>
        <p:txBody>
          <a:bodyPr wrap="square" lIns="0" tIns="0" rIns="0" bIns="0" rtlCol="0" anchor="ctr"/>
          <a:lstStyle/>
          <a:p>
            <a:pPr marL="0" indent="0" algn="ctr">
              <a:buNone/>
            </a:pPr>
            <a:r>
              <a:rPr lang="en-US" sz="800" dirty="0">
                <a:solidFill>
                  <a:srgbClr val="9CA3AF"/>
                </a:solidFill>
                <a:latin typeface="Poppins" pitchFamily="34" charset="0"/>
                <a:ea typeface="Poppins" pitchFamily="34" charset="-122"/>
                <a:cs typeface="Poppins" pitchFamily="34" charset="-120"/>
              </a:rPr>
              <a:t>McKinsey, 2024</a:t>
            </a:r>
            <a:endParaRPr lang="en-US" sz="800" dirty="0"/>
          </a:p>
        </p:txBody>
      </p:sp>
      <p:sp>
        <p:nvSpPr>
          <p:cNvPr id="18" name="Shape 16"/>
          <p:cNvSpPr/>
          <p:nvPr/>
        </p:nvSpPr>
        <p:spPr>
          <a:xfrm>
            <a:off x="5449824" y="1410789"/>
            <a:ext cx="1572768" cy="2926080"/>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19" name="Shape 17"/>
          <p:cNvSpPr/>
          <p:nvPr/>
        </p:nvSpPr>
        <p:spPr>
          <a:xfrm>
            <a:off x="5449824" y="1410789"/>
            <a:ext cx="1572768" cy="54864"/>
          </a:xfrm>
          <a:prstGeom prst="rect">
            <a:avLst/>
          </a:prstGeom>
          <a:solidFill>
            <a:srgbClr val="1677FF"/>
          </a:solidFill>
          <a:ln/>
        </p:spPr>
        <p:txBody>
          <a:bodyPr/>
          <a:lstStyle/>
          <a:p>
            <a:endParaRPr lang="fr-FR"/>
          </a:p>
        </p:txBody>
      </p:sp>
      <p:sp>
        <p:nvSpPr>
          <p:cNvPr id="20" name="Text 18"/>
          <p:cNvSpPr/>
          <p:nvPr/>
        </p:nvSpPr>
        <p:spPr>
          <a:xfrm>
            <a:off x="5449824" y="1593669"/>
            <a:ext cx="1572768" cy="640080"/>
          </a:xfrm>
          <a:prstGeom prst="rect">
            <a:avLst/>
          </a:prstGeom>
          <a:noFill/>
          <a:ln/>
        </p:spPr>
        <p:txBody>
          <a:bodyPr wrap="square" lIns="0" tIns="0" rIns="0" bIns="0" rtlCol="0" anchor="ctr"/>
          <a:lstStyle/>
          <a:p>
            <a:pPr marL="0" indent="0" algn="ctr">
              <a:buNone/>
            </a:pPr>
            <a:r>
              <a:rPr lang="en-US" sz="3000" b="1" dirty="0">
                <a:solidFill>
                  <a:srgbClr val="1677FF"/>
                </a:solidFill>
                <a:latin typeface="Poppins" pitchFamily="34" charset="0"/>
                <a:ea typeface="Poppins" pitchFamily="34" charset="-122"/>
                <a:cs typeface="Poppins" pitchFamily="34" charset="-120"/>
              </a:rPr>
              <a:t>12,9M$</a:t>
            </a:r>
            <a:endParaRPr lang="en-US" sz="3000" dirty="0"/>
          </a:p>
        </p:txBody>
      </p:sp>
      <p:sp>
        <p:nvSpPr>
          <p:cNvPr id="21" name="Text 19"/>
          <p:cNvSpPr/>
          <p:nvPr/>
        </p:nvSpPr>
        <p:spPr>
          <a:xfrm>
            <a:off x="5495544" y="2370909"/>
            <a:ext cx="1481328" cy="640080"/>
          </a:xfrm>
          <a:prstGeom prst="rect">
            <a:avLst/>
          </a:prstGeom>
          <a:noFill/>
          <a:ln/>
        </p:spPr>
        <p:txBody>
          <a:bodyPr wrap="square" lIns="0" tIns="0" rIns="0" bIns="0" rtlCol="0" anchor="ctr"/>
          <a:lstStyle/>
          <a:p>
            <a:pPr marL="0" indent="0" algn="ctr">
              <a:lnSpc>
                <a:spcPct val="130000"/>
              </a:lnSpc>
              <a:buNone/>
            </a:pPr>
            <a:r>
              <a:rPr lang="en-US" sz="900" dirty="0">
                <a:solidFill>
                  <a:srgbClr val="0F172A"/>
                </a:solidFill>
                <a:latin typeface="Poppins" pitchFamily="34" charset="0"/>
                <a:ea typeface="Poppins" pitchFamily="34" charset="-122"/>
                <a:cs typeface="Poppins" pitchFamily="34" charset="-120"/>
              </a:rPr>
              <a:t>coût annuel moyen des données</a:t>
            </a:r>
            <a:endParaRPr lang="en-US" sz="900" dirty="0"/>
          </a:p>
          <a:p>
            <a:pPr marL="0" indent="0" algn="ctr">
              <a:lnSpc>
                <a:spcPct val="130000"/>
              </a:lnSpc>
              <a:buNone/>
            </a:pPr>
            <a:r>
              <a:rPr lang="en-US" sz="900" dirty="0">
                <a:solidFill>
                  <a:srgbClr val="0F172A"/>
                </a:solidFill>
                <a:latin typeface="Poppins" pitchFamily="34" charset="0"/>
                <a:ea typeface="Poppins" pitchFamily="34" charset="-122"/>
                <a:cs typeface="Poppins" pitchFamily="34" charset="-120"/>
              </a:rPr>
              <a:t>de mauvaise qualité par entreprise</a:t>
            </a:r>
            <a:endParaRPr lang="en-US" sz="900" dirty="0"/>
          </a:p>
        </p:txBody>
      </p:sp>
      <p:sp>
        <p:nvSpPr>
          <p:cNvPr id="22" name="Text 20"/>
          <p:cNvSpPr/>
          <p:nvPr/>
        </p:nvSpPr>
        <p:spPr>
          <a:xfrm>
            <a:off x="5449824" y="3925389"/>
            <a:ext cx="1572768" cy="228600"/>
          </a:xfrm>
          <a:prstGeom prst="rect">
            <a:avLst/>
          </a:prstGeom>
          <a:noFill/>
          <a:ln/>
        </p:spPr>
        <p:txBody>
          <a:bodyPr wrap="square" lIns="0" tIns="0" rIns="0" bIns="0" rtlCol="0" anchor="ctr"/>
          <a:lstStyle/>
          <a:p>
            <a:pPr marL="0" indent="0" algn="ctr">
              <a:buNone/>
            </a:pPr>
            <a:r>
              <a:rPr lang="en-US" sz="800" dirty="0">
                <a:solidFill>
                  <a:srgbClr val="9CA3AF"/>
                </a:solidFill>
                <a:latin typeface="Poppins" pitchFamily="34" charset="0"/>
                <a:ea typeface="Poppins" pitchFamily="34" charset="-122"/>
                <a:cs typeface="Poppins" pitchFamily="34" charset="-120"/>
              </a:rPr>
              <a:t>Gartner, 2024</a:t>
            </a:r>
            <a:endParaRPr lang="en-US" sz="800" dirty="0"/>
          </a:p>
        </p:txBody>
      </p:sp>
      <p:sp>
        <p:nvSpPr>
          <p:cNvPr id="23" name="Shape 21"/>
          <p:cNvSpPr/>
          <p:nvPr/>
        </p:nvSpPr>
        <p:spPr>
          <a:xfrm>
            <a:off x="7114032" y="1410789"/>
            <a:ext cx="1572768" cy="2926080"/>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24" name="Shape 22"/>
          <p:cNvSpPr/>
          <p:nvPr/>
        </p:nvSpPr>
        <p:spPr>
          <a:xfrm>
            <a:off x="7114032" y="1410789"/>
            <a:ext cx="1572768" cy="54864"/>
          </a:xfrm>
          <a:prstGeom prst="rect">
            <a:avLst/>
          </a:prstGeom>
          <a:solidFill>
            <a:srgbClr val="1677FF"/>
          </a:solidFill>
          <a:ln/>
        </p:spPr>
        <p:txBody>
          <a:bodyPr/>
          <a:lstStyle/>
          <a:p>
            <a:endParaRPr lang="fr-FR"/>
          </a:p>
        </p:txBody>
      </p:sp>
      <p:sp>
        <p:nvSpPr>
          <p:cNvPr id="25" name="Text 23"/>
          <p:cNvSpPr/>
          <p:nvPr/>
        </p:nvSpPr>
        <p:spPr>
          <a:xfrm>
            <a:off x="7114032" y="1593669"/>
            <a:ext cx="1572768" cy="640080"/>
          </a:xfrm>
          <a:prstGeom prst="rect">
            <a:avLst/>
          </a:prstGeom>
          <a:noFill/>
          <a:ln/>
        </p:spPr>
        <p:txBody>
          <a:bodyPr wrap="square" lIns="0" tIns="0" rIns="0" bIns="0" rtlCol="0" anchor="ctr"/>
          <a:lstStyle/>
          <a:p>
            <a:pPr marL="0" indent="0" algn="ctr">
              <a:buNone/>
            </a:pPr>
            <a:r>
              <a:rPr lang="en-US" sz="3000" b="1" dirty="0">
                <a:solidFill>
                  <a:srgbClr val="1677FF"/>
                </a:solidFill>
                <a:latin typeface="Poppins" pitchFamily="34" charset="0"/>
                <a:ea typeface="Poppins" pitchFamily="34" charset="-122"/>
                <a:cs typeface="Poppins" pitchFamily="34" charset="-120"/>
              </a:rPr>
              <a:t>48%</a:t>
            </a:r>
            <a:endParaRPr lang="en-US" sz="3000" dirty="0"/>
          </a:p>
        </p:txBody>
      </p:sp>
      <p:sp>
        <p:nvSpPr>
          <p:cNvPr id="26" name="Text 24"/>
          <p:cNvSpPr/>
          <p:nvPr/>
        </p:nvSpPr>
        <p:spPr>
          <a:xfrm>
            <a:off x="7159752" y="2370909"/>
            <a:ext cx="1481328" cy="640080"/>
          </a:xfrm>
          <a:prstGeom prst="rect">
            <a:avLst/>
          </a:prstGeom>
          <a:noFill/>
          <a:ln/>
        </p:spPr>
        <p:txBody>
          <a:bodyPr wrap="square" lIns="0" tIns="0" rIns="0" bIns="0" rtlCol="0" anchor="ctr"/>
          <a:lstStyle/>
          <a:p>
            <a:pPr marL="0" indent="0" algn="ctr">
              <a:lnSpc>
                <a:spcPct val="130000"/>
              </a:lnSpc>
              <a:buNone/>
            </a:pPr>
            <a:r>
              <a:rPr lang="en-US" sz="900" dirty="0">
                <a:solidFill>
                  <a:srgbClr val="0F172A"/>
                </a:solidFill>
                <a:latin typeface="Poppins" pitchFamily="34" charset="0"/>
                <a:ea typeface="Poppins" pitchFamily="34" charset="-122"/>
                <a:cs typeface="Poppins" pitchFamily="34" charset="-120"/>
              </a:rPr>
              <a:t>des PME françaises peu</a:t>
            </a:r>
            <a:endParaRPr lang="en-US" sz="900" dirty="0"/>
          </a:p>
          <a:p>
            <a:pPr marL="0" indent="0" algn="ctr">
              <a:lnSpc>
                <a:spcPct val="130000"/>
              </a:lnSpc>
              <a:buNone/>
            </a:pPr>
            <a:r>
              <a:rPr lang="en-US" sz="900" dirty="0">
                <a:solidFill>
                  <a:srgbClr val="0F172A"/>
                </a:solidFill>
                <a:latin typeface="Poppins" pitchFamily="34" charset="0"/>
                <a:ea typeface="Poppins" pitchFamily="34" charset="-122"/>
                <a:cs typeface="Poppins" pitchFamily="34" charset="-120"/>
              </a:rPr>
              <a:t>digitalisées (vs 90% objectif EU 2030)</a:t>
            </a:r>
            <a:endParaRPr lang="en-US" sz="900" dirty="0"/>
          </a:p>
        </p:txBody>
      </p:sp>
      <p:sp>
        <p:nvSpPr>
          <p:cNvPr id="27" name="Text 25"/>
          <p:cNvSpPr/>
          <p:nvPr/>
        </p:nvSpPr>
        <p:spPr>
          <a:xfrm>
            <a:off x="7114032" y="3925389"/>
            <a:ext cx="1572768" cy="228600"/>
          </a:xfrm>
          <a:prstGeom prst="rect">
            <a:avLst/>
          </a:prstGeom>
          <a:noFill/>
          <a:ln/>
        </p:spPr>
        <p:txBody>
          <a:bodyPr wrap="square" lIns="0" tIns="0" rIns="0" bIns="0" rtlCol="0" anchor="ctr"/>
          <a:lstStyle/>
          <a:p>
            <a:pPr marL="0" indent="0" algn="ctr">
              <a:buNone/>
            </a:pPr>
            <a:r>
              <a:rPr lang="en-US" sz="800" dirty="0">
                <a:solidFill>
                  <a:srgbClr val="9CA3AF"/>
                </a:solidFill>
                <a:latin typeface="Poppins" pitchFamily="34" charset="0"/>
                <a:ea typeface="Poppins" pitchFamily="34" charset="-122"/>
                <a:cs typeface="Poppins" pitchFamily="34" charset="-120"/>
              </a:rPr>
              <a:t>Commission EU, 2024</a:t>
            </a:r>
            <a:endParaRPr lang="en-US" sz="800" dirty="0"/>
          </a:p>
        </p:txBody>
      </p:sp>
      <p:sp>
        <p:nvSpPr>
          <p:cNvPr id="28" name="Text 26"/>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900" dirty="0">
                <a:solidFill>
                  <a:srgbClr val="9CA3AF"/>
                </a:solidFill>
                <a:latin typeface="Poppins" pitchFamily="34" charset="0"/>
                <a:ea typeface="Poppins" pitchFamily="34" charset="-122"/>
                <a:cs typeface="Poppins"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74320"/>
            <a:ext cx="8229600" cy="457200"/>
          </a:xfrm>
          <a:prstGeom prst="rect">
            <a:avLst/>
          </a:prstGeom>
          <a:noFill/>
          <a:ln/>
        </p:spPr>
        <p:txBody>
          <a:bodyPr wrap="square" lIns="0" tIns="0" rIns="0" bIns="0" rtlCol="0" anchor="ctr"/>
          <a:lstStyle/>
          <a:p>
            <a:pPr marL="0" indent="0">
              <a:buNone/>
            </a:pPr>
            <a:r>
              <a:rPr lang="en-US" sz="3000" b="1" dirty="0">
                <a:solidFill>
                  <a:srgbClr val="0F172A"/>
                </a:solidFill>
                <a:latin typeface="Poppins" pitchFamily="34" charset="0"/>
                <a:ea typeface="Poppins" pitchFamily="34" charset="-122"/>
                <a:cs typeface="Poppins" pitchFamily="34" charset="-120"/>
              </a:rPr>
              <a:t>Go-to-market</a:t>
            </a:r>
            <a:endParaRPr lang="en-US" sz="3000" dirty="0"/>
          </a:p>
        </p:txBody>
      </p:sp>
      <p:sp>
        <p:nvSpPr>
          <p:cNvPr id="3" name="Text 1"/>
          <p:cNvSpPr/>
          <p:nvPr/>
        </p:nvSpPr>
        <p:spPr>
          <a:xfrm>
            <a:off x="640080" y="731520"/>
            <a:ext cx="7315200" cy="274320"/>
          </a:xfrm>
          <a:prstGeom prst="rect">
            <a:avLst/>
          </a:prstGeom>
          <a:noFill/>
          <a:ln/>
        </p:spPr>
        <p:txBody>
          <a:bodyPr wrap="square" lIns="0" tIns="0" rIns="0" bIns="0" rtlCol="0" anchor="ctr"/>
          <a:lstStyle/>
          <a:p>
            <a:pPr marL="0" indent="0">
              <a:buNone/>
            </a:pPr>
            <a:r>
              <a:rPr lang="en-US" sz="1200" dirty="0">
                <a:solidFill>
                  <a:srgbClr val="6B7280"/>
                </a:solidFill>
                <a:latin typeface="Poppins" pitchFamily="34" charset="0"/>
                <a:ea typeface="Poppins" pitchFamily="34" charset="-122"/>
                <a:cs typeface="Poppins" pitchFamily="34" charset="-120"/>
              </a:rPr>
              <a:t>Cibler les verticales à ROI immédiat, distribuer via les consultants</a:t>
            </a:r>
            <a:endParaRPr lang="en-US" sz="1200" dirty="0"/>
          </a:p>
        </p:txBody>
      </p:sp>
      <p:graphicFrame>
        <p:nvGraphicFramePr>
          <p:cNvPr id="4" name="Chart 0"/>
          <p:cNvGraphicFramePr/>
          <p:nvPr/>
        </p:nvGraphicFramePr>
        <p:xfrm>
          <a:off x="457200" y="1097280"/>
          <a:ext cx="5029200" cy="3200400"/>
        </p:xfrm>
        <a:graphic>
          <a:graphicData uri="http://schemas.openxmlformats.org/drawingml/2006/chart">
            <c:chart xmlns:c="http://schemas.openxmlformats.org/drawingml/2006/chart" xmlns:r="http://schemas.openxmlformats.org/officeDocument/2006/relationships" r:id="rId3"/>
          </a:graphicData>
        </a:graphic>
      </p:graphicFrame>
      <p:pic>
        <p:nvPicPr>
          <p:cNvPr id="5" name="Image 0" descr="preencoded.png"/>
          <p:cNvPicPr>
            <a:picLocks noChangeAspect="1"/>
          </p:cNvPicPr>
          <p:nvPr/>
        </p:nvPicPr>
        <p:blipFill>
          <a:blip r:embed="rId4"/>
          <a:stretch>
            <a:fillRect/>
          </a:stretch>
        </p:blipFill>
        <p:spPr>
          <a:xfrm>
            <a:off x="5760720" y="1234440"/>
            <a:ext cx="320040" cy="320040"/>
          </a:xfrm>
          <a:prstGeom prst="rect">
            <a:avLst/>
          </a:prstGeom>
        </p:spPr>
      </p:pic>
      <p:sp>
        <p:nvSpPr>
          <p:cNvPr id="6" name="Text 2"/>
          <p:cNvSpPr/>
          <p:nvPr/>
        </p:nvSpPr>
        <p:spPr>
          <a:xfrm>
            <a:off x="6217920" y="1188720"/>
            <a:ext cx="2468880" cy="228600"/>
          </a:xfrm>
          <a:prstGeom prst="rect">
            <a:avLst/>
          </a:prstGeom>
          <a:noFill/>
          <a:ln/>
        </p:spPr>
        <p:txBody>
          <a:bodyPr wrap="square" lIns="0" tIns="0" rIns="0" bIns="0" rtlCol="0" anchor="ctr"/>
          <a:lstStyle/>
          <a:p>
            <a:pPr marL="0" indent="0">
              <a:buNone/>
            </a:pPr>
            <a:r>
              <a:rPr lang="en-US" sz="1100" b="1" dirty="0">
                <a:solidFill>
                  <a:srgbClr val="0F172A"/>
                </a:solidFill>
                <a:latin typeface="Poppins" pitchFamily="34" charset="0"/>
                <a:ea typeface="Poppins" pitchFamily="34" charset="-122"/>
                <a:cs typeface="Poppins" pitchFamily="34" charset="-120"/>
              </a:rPr>
              <a:t>Industrie = levier d'entrée</a:t>
            </a:r>
            <a:endParaRPr lang="en-US" sz="1100" dirty="0"/>
          </a:p>
        </p:txBody>
      </p:sp>
      <p:sp>
        <p:nvSpPr>
          <p:cNvPr id="7" name="Text 3"/>
          <p:cNvSpPr/>
          <p:nvPr/>
        </p:nvSpPr>
        <p:spPr>
          <a:xfrm>
            <a:off x="6217920" y="1444752"/>
            <a:ext cx="2468880" cy="228600"/>
          </a:xfrm>
          <a:prstGeom prst="rect">
            <a:avLst/>
          </a:prstGeom>
          <a:noFill/>
          <a:ln/>
        </p:spPr>
        <p:txBody>
          <a:bodyPr wrap="square" lIns="0" tIns="0" rIns="0" bIns="0" rtlCol="0" anchor="ctr"/>
          <a:lstStyle/>
          <a:p>
            <a:pPr marL="0" indent="0">
              <a:buNone/>
            </a:pPr>
            <a:r>
              <a:rPr lang="en-US" sz="900" dirty="0">
                <a:solidFill>
                  <a:srgbClr val="374151"/>
                </a:solidFill>
                <a:latin typeface="Poppins" pitchFamily="34" charset="0"/>
                <a:ea typeface="Poppins" pitchFamily="34" charset="-122"/>
                <a:cs typeface="Poppins" pitchFamily="34" charset="-120"/>
              </a:rPr>
              <a:t>OPC-UA, IoT → ROI immédiat, ticket élevé</a:t>
            </a:r>
            <a:endParaRPr lang="en-US" sz="900" dirty="0"/>
          </a:p>
        </p:txBody>
      </p:sp>
      <p:pic>
        <p:nvPicPr>
          <p:cNvPr id="8" name="Image 1" descr="preencoded.png"/>
          <p:cNvPicPr>
            <a:picLocks noChangeAspect="1"/>
          </p:cNvPicPr>
          <p:nvPr/>
        </p:nvPicPr>
        <p:blipFill>
          <a:blip r:embed="rId5"/>
          <a:stretch>
            <a:fillRect/>
          </a:stretch>
        </p:blipFill>
        <p:spPr>
          <a:xfrm>
            <a:off x="5760720" y="2103120"/>
            <a:ext cx="320040" cy="320040"/>
          </a:xfrm>
          <a:prstGeom prst="rect">
            <a:avLst/>
          </a:prstGeom>
        </p:spPr>
      </p:pic>
      <p:sp>
        <p:nvSpPr>
          <p:cNvPr id="9" name="Text 4"/>
          <p:cNvSpPr/>
          <p:nvPr/>
        </p:nvSpPr>
        <p:spPr>
          <a:xfrm>
            <a:off x="6217920" y="2057400"/>
            <a:ext cx="2468880" cy="228600"/>
          </a:xfrm>
          <a:prstGeom prst="rect">
            <a:avLst/>
          </a:prstGeom>
          <a:noFill/>
          <a:ln/>
        </p:spPr>
        <p:txBody>
          <a:bodyPr wrap="square" lIns="0" tIns="0" rIns="0" bIns="0" rtlCol="0" anchor="ctr"/>
          <a:lstStyle/>
          <a:p>
            <a:pPr marL="0" indent="0">
              <a:buNone/>
            </a:pPr>
            <a:r>
              <a:rPr lang="en-US" sz="1100" b="1" dirty="0">
                <a:solidFill>
                  <a:srgbClr val="0F172A"/>
                </a:solidFill>
                <a:latin typeface="Poppins" pitchFamily="34" charset="0"/>
                <a:ea typeface="Poppins" pitchFamily="34" charset="-122"/>
                <a:cs typeface="Poppins" pitchFamily="34" charset="-120"/>
              </a:rPr>
              <a:t>Consultants = distribution</a:t>
            </a:r>
            <a:endParaRPr lang="en-US" sz="1100" dirty="0"/>
          </a:p>
        </p:txBody>
      </p:sp>
      <p:sp>
        <p:nvSpPr>
          <p:cNvPr id="10" name="Text 5"/>
          <p:cNvSpPr/>
          <p:nvPr/>
        </p:nvSpPr>
        <p:spPr>
          <a:xfrm>
            <a:off x="6217920" y="2313432"/>
            <a:ext cx="2468880" cy="228600"/>
          </a:xfrm>
          <a:prstGeom prst="rect">
            <a:avLst/>
          </a:prstGeom>
          <a:noFill/>
          <a:ln/>
        </p:spPr>
        <p:txBody>
          <a:bodyPr wrap="square" lIns="0" tIns="0" rIns="0" bIns="0" rtlCol="0" anchor="ctr"/>
          <a:lstStyle/>
          <a:p>
            <a:pPr marL="0" indent="0">
              <a:buNone/>
            </a:pPr>
            <a:r>
              <a:rPr lang="en-US" sz="900" dirty="0">
                <a:solidFill>
                  <a:srgbClr val="374151"/>
                </a:solidFill>
                <a:latin typeface="Poppins" pitchFamily="34" charset="0"/>
                <a:ea typeface="Poppins" pitchFamily="34" charset="-122"/>
                <a:cs typeface="Poppins" pitchFamily="34" charset="-120"/>
              </a:rPr>
              <a:t>15-20 recrues/an, réseau certifié terrain</a:t>
            </a:r>
            <a:endParaRPr lang="en-US" sz="900" dirty="0"/>
          </a:p>
        </p:txBody>
      </p:sp>
      <p:pic>
        <p:nvPicPr>
          <p:cNvPr id="11" name="Image 2" descr="preencoded.png"/>
          <p:cNvPicPr>
            <a:picLocks noChangeAspect="1"/>
          </p:cNvPicPr>
          <p:nvPr/>
        </p:nvPicPr>
        <p:blipFill>
          <a:blip r:embed="rId6"/>
          <a:stretch>
            <a:fillRect/>
          </a:stretch>
        </p:blipFill>
        <p:spPr>
          <a:xfrm>
            <a:off x="5760720" y="2971800"/>
            <a:ext cx="320040" cy="320040"/>
          </a:xfrm>
          <a:prstGeom prst="rect">
            <a:avLst/>
          </a:prstGeom>
        </p:spPr>
      </p:pic>
      <p:sp>
        <p:nvSpPr>
          <p:cNvPr id="12" name="Text 6"/>
          <p:cNvSpPr/>
          <p:nvPr/>
        </p:nvSpPr>
        <p:spPr>
          <a:xfrm>
            <a:off x="6217920" y="2926080"/>
            <a:ext cx="2468880" cy="228600"/>
          </a:xfrm>
          <a:prstGeom prst="rect">
            <a:avLst/>
          </a:prstGeom>
          <a:noFill/>
          <a:ln/>
        </p:spPr>
        <p:txBody>
          <a:bodyPr wrap="square" lIns="0" tIns="0" rIns="0" bIns="0" rtlCol="0" anchor="ctr"/>
          <a:lstStyle/>
          <a:p>
            <a:pPr marL="0" indent="0">
              <a:buNone/>
            </a:pPr>
            <a:r>
              <a:rPr lang="en-US" sz="1100" b="1" dirty="0">
                <a:solidFill>
                  <a:srgbClr val="0F172A"/>
                </a:solidFill>
                <a:latin typeface="Poppins" pitchFamily="34" charset="0"/>
                <a:ea typeface="Poppins" pitchFamily="34" charset="-122"/>
                <a:cs typeface="Poppins" pitchFamily="34" charset="-120"/>
              </a:rPr>
              <a:t>Marketplace = scale</a:t>
            </a:r>
            <a:endParaRPr lang="en-US" sz="1100" dirty="0"/>
          </a:p>
        </p:txBody>
      </p:sp>
      <p:sp>
        <p:nvSpPr>
          <p:cNvPr id="13" name="Text 7"/>
          <p:cNvSpPr/>
          <p:nvPr/>
        </p:nvSpPr>
        <p:spPr>
          <a:xfrm>
            <a:off x="6217920" y="3182112"/>
            <a:ext cx="2468880" cy="228600"/>
          </a:xfrm>
          <a:prstGeom prst="rect">
            <a:avLst/>
          </a:prstGeom>
          <a:noFill/>
          <a:ln/>
        </p:spPr>
        <p:txBody>
          <a:bodyPr wrap="square" lIns="0" tIns="0" rIns="0" bIns="0" rtlCol="0" anchor="ctr"/>
          <a:lstStyle/>
          <a:p>
            <a:pPr marL="0" indent="0">
              <a:buNone/>
            </a:pPr>
            <a:r>
              <a:rPr lang="en-US" sz="900" dirty="0">
                <a:solidFill>
                  <a:srgbClr val="374151"/>
                </a:solidFill>
                <a:latin typeface="Poppins" pitchFamily="34" charset="0"/>
                <a:ea typeface="Poppins" pitchFamily="34" charset="-122"/>
                <a:cs typeface="Poppins" pitchFamily="34" charset="-120"/>
              </a:rPr>
              <a:t>Templates, agents, nœuds partagés</a:t>
            </a:r>
            <a:endParaRPr lang="en-US" sz="900" dirty="0"/>
          </a:p>
        </p:txBody>
      </p:sp>
      <p:pic>
        <p:nvPicPr>
          <p:cNvPr id="14" name="Image 3" descr="preencoded.png"/>
          <p:cNvPicPr>
            <a:picLocks noChangeAspect="1"/>
          </p:cNvPicPr>
          <p:nvPr/>
        </p:nvPicPr>
        <p:blipFill>
          <a:blip r:embed="rId7"/>
          <a:stretch>
            <a:fillRect/>
          </a:stretch>
        </p:blipFill>
        <p:spPr>
          <a:xfrm>
            <a:off x="5760720" y="3840480"/>
            <a:ext cx="320040" cy="320040"/>
          </a:xfrm>
          <a:prstGeom prst="rect">
            <a:avLst/>
          </a:prstGeom>
        </p:spPr>
      </p:pic>
      <p:sp>
        <p:nvSpPr>
          <p:cNvPr id="15" name="Text 8"/>
          <p:cNvSpPr/>
          <p:nvPr/>
        </p:nvSpPr>
        <p:spPr>
          <a:xfrm>
            <a:off x="6217920" y="3794760"/>
            <a:ext cx="2468880" cy="228600"/>
          </a:xfrm>
          <a:prstGeom prst="rect">
            <a:avLst/>
          </a:prstGeom>
          <a:noFill/>
          <a:ln/>
        </p:spPr>
        <p:txBody>
          <a:bodyPr wrap="square" lIns="0" tIns="0" rIns="0" bIns="0" rtlCol="0" anchor="ctr"/>
          <a:lstStyle/>
          <a:p>
            <a:pPr marL="0" indent="0">
              <a:buNone/>
            </a:pPr>
            <a:r>
              <a:rPr lang="en-US" sz="1100" b="1" dirty="0">
                <a:solidFill>
                  <a:srgbClr val="0F172A"/>
                </a:solidFill>
                <a:latin typeface="Poppins" pitchFamily="34" charset="0"/>
                <a:ea typeface="Poppins" pitchFamily="34" charset="-122"/>
                <a:cs typeface="Poppins" pitchFamily="34" charset="-120"/>
              </a:rPr>
              <a:t>Expansion sectorielle</a:t>
            </a:r>
            <a:endParaRPr lang="en-US" sz="1100" dirty="0"/>
          </a:p>
        </p:txBody>
      </p:sp>
      <p:sp>
        <p:nvSpPr>
          <p:cNvPr id="16" name="Text 9"/>
          <p:cNvSpPr/>
          <p:nvPr/>
        </p:nvSpPr>
        <p:spPr>
          <a:xfrm>
            <a:off x="6217920" y="4050792"/>
            <a:ext cx="2468880" cy="228600"/>
          </a:xfrm>
          <a:prstGeom prst="rect">
            <a:avLst/>
          </a:prstGeom>
          <a:noFill/>
          <a:ln/>
        </p:spPr>
        <p:txBody>
          <a:bodyPr wrap="square" lIns="0" tIns="0" rIns="0" bIns="0" rtlCol="0" anchor="ctr"/>
          <a:lstStyle/>
          <a:p>
            <a:pPr marL="0" indent="0">
              <a:buNone/>
            </a:pPr>
            <a:r>
              <a:rPr lang="en-US" sz="900" dirty="0">
                <a:solidFill>
                  <a:srgbClr val="374151"/>
                </a:solidFill>
                <a:latin typeface="Poppins" pitchFamily="34" charset="0"/>
                <a:ea typeface="Poppins" pitchFamily="34" charset="-122"/>
                <a:cs typeface="Poppins" pitchFamily="34" charset="-120"/>
              </a:rPr>
              <a:t>Santé, collectivités, énergie → 2027-2028</a:t>
            </a:r>
            <a:endParaRPr lang="en-US" sz="900" dirty="0"/>
          </a:p>
        </p:txBody>
      </p:sp>
      <p:sp>
        <p:nvSpPr>
          <p:cNvPr id="17" name="Text 10"/>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900" dirty="0">
                <a:solidFill>
                  <a:srgbClr val="9CA3AF"/>
                </a:solidFill>
                <a:latin typeface="Poppins" pitchFamily="34" charset="0"/>
                <a:ea typeface="Poppins" pitchFamily="34" charset="-122"/>
                <a:cs typeface="Poppins"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182880"/>
            <a:ext cx="8229600" cy="411480"/>
          </a:xfrm>
          <a:prstGeom prst="rect">
            <a:avLst/>
          </a:prstGeom>
          <a:noFill/>
          <a:ln/>
        </p:spPr>
        <p:txBody>
          <a:bodyPr wrap="square" lIns="0" tIns="0" rIns="0" bIns="0" rtlCol="0" anchor="ctr"/>
          <a:lstStyle/>
          <a:p>
            <a:pPr marL="0" indent="0">
              <a:buNone/>
            </a:pPr>
            <a:r>
              <a:rPr lang="en-US" sz="2800" b="1" dirty="0">
                <a:solidFill>
                  <a:srgbClr val="0F172A"/>
                </a:solidFill>
                <a:latin typeface="Poppins" pitchFamily="34" charset="0"/>
                <a:ea typeface="Poppins" pitchFamily="34" charset="-122"/>
                <a:cs typeface="Poppins" pitchFamily="34" charset="-120"/>
              </a:rPr>
              <a:t>Un modèle de croissance circulaire</a:t>
            </a:r>
            <a:endParaRPr lang="en-US" sz="2800" dirty="0"/>
          </a:p>
        </p:txBody>
      </p:sp>
      <p:sp>
        <p:nvSpPr>
          <p:cNvPr id="3" name="Text 1"/>
          <p:cNvSpPr/>
          <p:nvPr/>
        </p:nvSpPr>
        <p:spPr>
          <a:xfrm>
            <a:off x="640080" y="594360"/>
            <a:ext cx="7772400" cy="274320"/>
          </a:xfrm>
          <a:prstGeom prst="rect">
            <a:avLst/>
          </a:prstGeom>
          <a:noFill/>
          <a:ln/>
        </p:spPr>
        <p:txBody>
          <a:bodyPr wrap="square" lIns="0" tIns="0" rIns="0" bIns="0" rtlCol="0" anchor="ctr"/>
          <a:lstStyle/>
          <a:p>
            <a:pPr marL="0" indent="0">
              <a:buNone/>
            </a:pPr>
            <a:r>
              <a:rPr lang="en-US" sz="1100" dirty="0">
                <a:solidFill>
                  <a:srgbClr val="6B7280"/>
                </a:solidFill>
                <a:latin typeface="Poppins" pitchFamily="34" charset="0"/>
                <a:ea typeface="Poppins" pitchFamily="34" charset="-122"/>
                <a:cs typeface="Poppins" pitchFamily="34" charset="-120"/>
              </a:rPr>
              <a:t>Chaque action terrain alimente la </a:t>
            </a:r>
            <a:r>
              <a:rPr lang="en-US" sz="1100" dirty="0" err="1">
                <a:solidFill>
                  <a:srgbClr val="6B7280"/>
                </a:solidFill>
                <a:latin typeface="Poppins" pitchFamily="34" charset="0"/>
                <a:ea typeface="Poppins" pitchFamily="34" charset="-122"/>
                <a:cs typeface="Poppins" pitchFamily="34" charset="-120"/>
              </a:rPr>
              <a:t>suivante</a:t>
            </a:r>
            <a:r>
              <a:rPr lang="en-US" sz="1100" dirty="0">
                <a:solidFill>
                  <a:srgbClr val="6B7280"/>
                </a:solidFill>
                <a:latin typeface="Poppins" pitchFamily="34" charset="0"/>
                <a:ea typeface="Poppins" pitchFamily="34" charset="-122"/>
                <a:cs typeface="Poppins" pitchFamily="34" charset="-120"/>
              </a:rPr>
              <a:t> - un mécanisme reproductible</a:t>
            </a:r>
            <a:endParaRPr lang="en-US" sz="1100" dirty="0"/>
          </a:p>
        </p:txBody>
      </p:sp>
      <p:sp>
        <p:nvSpPr>
          <p:cNvPr id="4" name="Shape 2"/>
          <p:cNvSpPr/>
          <p:nvPr/>
        </p:nvSpPr>
        <p:spPr>
          <a:xfrm>
            <a:off x="713232" y="1534884"/>
            <a:ext cx="1280160" cy="2377440"/>
          </a:xfrm>
          <a:prstGeom prst="rect">
            <a:avLst/>
          </a:prstGeom>
          <a:solidFill>
            <a:srgbClr val="F7F9FC"/>
          </a:solidFill>
          <a:ln w="25400">
            <a:solidFill>
              <a:srgbClr val="1677FF"/>
            </a:solidFill>
            <a:prstDash val="solid"/>
          </a:ln>
          <a:effectLst>
            <a:outerShdw blurRad="76200" dist="25400" dir="8100000" algn="bl" rotWithShape="0">
              <a:srgbClr val="000000">
                <a:alpha val="6000"/>
              </a:srgbClr>
            </a:outerShdw>
          </a:effectLst>
        </p:spPr>
        <p:txBody>
          <a:bodyPr/>
          <a:lstStyle/>
          <a:p>
            <a:endParaRPr lang="fr-FR"/>
          </a:p>
        </p:txBody>
      </p:sp>
      <p:sp>
        <p:nvSpPr>
          <p:cNvPr id="5" name="Shape 3"/>
          <p:cNvSpPr/>
          <p:nvPr/>
        </p:nvSpPr>
        <p:spPr>
          <a:xfrm>
            <a:off x="713232" y="1534884"/>
            <a:ext cx="1280160" cy="64008"/>
          </a:xfrm>
          <a:prstGeom prst="rect">
            <a:avLst/>
          </a:prstGeom>
          <a:solidFill>
            <a:srgbClr val="1677FF"/>
          </a:solidFill>
          <a:ln/>
        </p:spPr>
        <p:txBody>
          <a:bodyPr/>
          <a:lstStyle/>
          <a:p>
            <a:endParaRPr lang="fr-FR"/>
          </a:p>
        </p:txBody>
      </p:sp>
      <p:sp>
        <p:nvSpPr>
          <p:cNvPr id="6" name="Shape 4"/>
          <p:cNvSpPr/>
          <p:nvPr/>
        </p:nvSpPr>
        <p:spPr>
          <a:xfrm>
            <a:off x="1147572" y="1699476"/>
            <a:ext cx="411480" cy="411480"/>
          </a:xfrm>
          <a:prstGeom prst="ellipse">
            <a:avLst/>
          </a:prstGeom>
          <a:solidFill>
            <a:srgbClr val="1677FF"/>
          </a:solidFill>
          <a:ln/>
        </p:spPr>
        <p:txBody>
          <a:bodyPr/>
          <a:lstStyle/>
          <a:p>
            <a:endParaRPr lang="fr-FR"/>
          </a:p>
        </p:txBody>
      </p:sp>
      <p:sp>
        <p:nvSpPr>
          <p:cNvPr id="7" name="Text 5"/>
          <p:cNvSpPr/>
          <p:nvPr/>
        </p:nvSpPr>
        <p:spPr>
          <a:xfrm>
            <a:off x="1147572" y="1699476"/>
            <a:ext cx="411480" cy="411480"/>
          </a:xfrm>
          <a:prstGeom prst="rect">
            <a:avLst/>
          </a:prstGeom>
          <a:noFill/>
          <a:ln/>
        </p:spPr>
        <p:txBody>
          <a:bodyPr wrap="square" lIns="0" tIns="0" rIns="0" bIns="0" rtlCol="0" anchor="ctr"/>
          <a:lstStyle/>
          <a:p>
            <a:pPr marL="0" indent="0" algn="ctr">
              <a:buNone/>
            </a:pPr>
            <a:r>
              <a:rPr lang="en-US" sz="1700" b="1" dirty="0">
                <a:solidFill>
                  <a:srgbClr val="FFFFFF"/>
                </a:solidFill>
                <a:latin typeface="Poppins" pitchFamily="34" charset="0"/>
                <a:ea typeface="Poppins" pitchFamily="34" charset="-122"/>
                <a:cs typeface="Poppins" pitchFamily="34" charset="-120"/>
              </a:rPr>
              <a:t>1</a:t>
            </a:r>
            <a:endParaRPr lang="en-US" sz="1700" dirty="0"/>
          </a:p>
        </p:txBody>
      </p:sp>
      <p:pic>
        <p:nvPicPr>
          <p:cNvPr id="8" name="Image 0" descr="preencoded.png"/>
          <p:cNvPicPr>
            <a:picLocks noChangeAspect="1"/>
          </p:cNvPicPr>
          <p:nvPr/>
        </p:nvPicPr>
        <p:blipFill>
          <a:blip r:embed="rId3"/>
          <a:stretch>
            <a:fillRect/>
          </a:stretch>
        </p:blipFill>
        <p:spPr>
          <a:xfrm>
            <a:off x="1193292" y="2193252"/>
            <a:ext cx="320040" cy="320040"/>
          </a:xfrm>
          <a:prstGeom prst="rect">
            <a:avLst/>
          </a:prstGeom>
        </p:spPr>
      </p:pic>
      <p:sp>
        <p:nvSpPr>
          <p:cNvPr id="9" name="Text 6"/>
          <p:cNvSpPr/>
          <p:nvPr/>
        </p:nvSpPr>
        <p:spPr>
          <a:xfrm>
            <a:off x="740664" y="2586444"/>
            <a:ext cx="1225296" cy="274320"/>
          </a:xfrm>
          <a:prstGeom prst="rect">
            <a:avLst/>
          </a:prstGeom>
          <a:noFill/>
          <a:ln/>
        </p:spPr>
        <p:txBody>
          <a:bodyPr wrap="square" lIns="0" tIns="0" rIns="0" bIns="0" rtlCol="0" anchor="ctr"/>
          <a:lstStyle/>
          <a:p>
            <a:pPr marL="0" indent="0" algn="ctr">
              <a:buNone/>
            </a:pPr>
            <a:r>
              <a:rPr lang="en-US" sz="1050" b="1" dirty="0">
                <a:solidFill>
                  <a:srgbClr val="0F172A"/>
                </a:solidFill>
                <a:latin typeface="Poppins" pitchFamily="34" charset="0"/>
                <a:ea typeface="Poppins" pitchFamily="34" charset="-122"/>
                <a:cs typeface="Poppins" pitchFamily="34" charset="-120"/>
              </a:rPr>
              <a:t>Former</a:t>
            </a:r>
            <a:endParaRPr lang="en-US" sz="1050" dirty="0"/>
          </a:p>
        </p:txBody>
      </p:sp>
      <p:sp>
        <p:nvSpPr>
          <p:cNvPr id="10" name="Text 7"/>
          <p:cNvSpPr/>
          <p:nvPr/>
        </p:nvSpPr>
        <p:spPr>
          <a:xfrm>
            <a:off x="740664" y="2906484"/>
            <a:ext cx="1225296" cy="777240"/>
          </a:xfrm>
          <a:prstGeom prst="rect">
            <a:avLst/>
          </a:prstGeom>
          <a:noFill/>
          <a:ln/>
        </p:spPr>
        <p:txBody>
          <a:bodyPr wrap="square" lIns="0" tIns="0" rIns="0" bIns="0" rtlCol="0" anchor="ctr"/>
          <a:lstStyle/>
          <a:p>
            <a:pPr marL="0" indent="0" algn="ctr">
              <a:lnSpc>
                <a:spcPct val="130000"/>
              </a:lnSpc>
              <a:buNone/>
            </a:pPr>
            <a:r>
              <a:rPr lang="en-US" sz="800" dirty="0">
                <a:solidFill>
                  <a:srgbClr val="374151"/>
                </a:solidFill>
                <a:latin typeface="Poppins" pitchFamily="34" charset="0"/>
                <a:ea typeface="Poppins" pitchFamily="34" charset="-122"/>
                <a:cs typeface="Poppins" pitchFamily="34" charset="-120"/>
              </a:rPr>
              <a:t>15-20 consultants/an</a:t>
            </a:r>
            <a:endParaRPr lang="en-US" sz="800" dirty="0"/>
          </a:p>
          <a:p>
            <a:pPr marL="0" indent="0" algn="ctr">
              <a:lnSpc>
                <a:spcPct val="130000"/>
              </a:lnSpc>
              <a:buNone/>
            </a:pPr>
            <a:r>
              <a:rPr lang="en-US" sz="800" dirty="0">
                <a:solidFill>
                  <a:srgbClr val="374151"/>
                </a:solidFill>
                <a:latin typeface="Poppins" pitchFamily="34" charset="0"/>
                <a:ea typeface="Poppins" pitchFamily="34" charset="-122"/>
                <a:cs typeface="Poppins" pitchFamily="34" charset="-120"/>
              </a:rPr>
              <a:t>certifiés KINN Academy</a:t>
            </a:r>
            <a:endParaRPr lang="en-US" sz="800" dirty="0"/>
          </a:p>
        </p:txBody>
      </p:sp>
      <p:sp>
        <p:nvSpPr>
          <p:cNvPr id="11" name="Text 8"/>
          <p:cNvSpPr/>
          <p:nvPr/>
        </p:nvSpPr>
        <p:spPr>
          <a:xfrm>
            <a:off x="2048256" y="2540724"/>
            <a:ext cx="219456" cy="365760"/>
          </a:xfrm>
          <a:prstGeom prst="rect">
            <a:avLst/>
          </a:prstGeom>
          <a:noFill/>
          <a:ln/>
        </p:spPr>
        <p:txBody>
          <a:bodyPr wrap="square" lIns="0" tIns="0" rIns="0" bIns="0" rtlCol="0" anchor="ctr"/>
          <a:lstStyle/>
          <a:p>
            <a:pPr marL="0" indent="0" algn="ctr">
              <a:buNone/>
            </a:pPr>
            <a:r>
              <a:rPr lang="en-US" sz="1800" b="1" dirty="0">
                <a:solidFill>
                  <a:srgbClr val="1677FF"/>
                </a:solidFill>
                <a:latin typeface="Poppins" pitchFamily="34" charset="0"/>
                <a:ea typeface="Poppins" pitchFamily="34" charset="-122"/>
                <a:cs typeface="Poppins" pitchFamily="34" charset="-120"/>
              </a:rPr>
              <a:t>→</a:t>
            </a:r>
            <a:endParaRPr lang="en-US" sz="1800" dirty="0"/>
          </a:p>
        </p:txBody>
      </p:sp>
      <p:sp>
        <p:nvSpPr>
          <p:cNvPr id="12" name="Shape 9"/>
          <p:cNvSpPr/>
          <p:nvPr/>
        </p:nvSpPr>
        <p:spPr>
          <a:xfrm>
            <a:off x="2322576" y="1534884"/>
            <a:ext cx="1280160" cy="2377440"/>
          </a:xfrm>
          <a:prstGeom prst="rect">
            <a:avLst/>
          </a:prstGeom>
          <a:solidFill>
            <a:srgbClr val="F7F9FC"/>
          </a:solidFill>
          <a:ln w="25400">
            <a:solidFill>
              <a:srgbClr val="0891B2"/>
            </a:solidFill>
            <a:prstDash val="solid"/>
          </a:ln>
          <a:effectLst>
            <a:outerShdw blurRad="76200" dist="25400" dir="8100000" algn="bl" rotWithShape="0">
              <a:srgbClr val="000000">
                <a:alpha val="6000"/>
              </a:srgbClr>
            </a:outerShdw>
          </a:effectLst>
        </p:spPr>
        <p:txBody>
          <a:bodyPr/>
          <a:lstStyle/>
          <a:p>
            <a:endParaRPr lang="fr-FR"/>
          </a:p>
        </p:txBody>
      </p:sp>
      <p:sp>
        <p:nvSpPr>
          <p:cNvPr id="13" name="Shape 10"/>
          <p:cNvSpPr/>
          <p:nvPr/>
        </p:nvSpPr>
        <p:spPr>
          <a:xfrm>
            <a:off x="2322576" y="1534884"/>
            <a:ext cx="1280160" cy="64008"/>
          </a:xfrm>
          <a:prstGeom prst="rect">
            <a:avLst/>
          </a:prstGeom>
          <a:solidFill>
            <a:srgbClr val="0891B2"/>
          </a:solidFill>
          <a:ln/>
        </p:spPr>
        <p:txBody>
          <a:bodyPr/>
          <a:lstStyle/>
          <a:p>
            <a:endParaRPr lang="fr-FR"/>
          </a:p>
        </p:txBody>
      </p:sp>
      <p:sp>
        <p:nvSpPr>
          <p:cNvPr id="14" name="Shape 11"/>
          <p:cNvSpPr/>
          <p:nvPr/>
        </p:nvSpPr>
        <p:spPr>
          <a:xfrm>
            <a:off x="2756916" y="1699476"/>
            <a:ext cx="411480" cy="411480"/>
          </a:xfrm>
          <a:prstGeom prst="ellipse">
            <a:avLst/>
          </a:prstGeom>
          <a:solidFill>
            <a:srgbClr val="0891B2"/>
          </a:solidFill>
          <a:ln/>
        </p:spPr>
        <p:txBody>
          <a:bodyPr/>
          <a:lstStyle/>
          <a:p>
            <a:endParaRPr lang="fr-FR"/>
          </a:p>
        </p:txBody>
      </p:sp>
      <p:sp>
        <p:nvSpPr>
          <p:cNvPr id="15" name="Text 12"/>
          <p:cNvSpPr/>
          <p:nvPr/>
        </p:nvSpPr>
        <p:spPr>
          <a:xfrm>
            <a:off x="2756916" y="1699476"/>
            <a:ext cx="411480" cy="411480"/>
          </a:xfrm>
          <a:prstGeom prst="rect">
            <a:avLst/>
          </a:prstGeom>
          <a:noFill/>
          <a:ln/>
        </p:spPr>
        <p:txBody>
          <a:bodyPr wrap="square" lIns="0" tIns="0" rIns="0" bIns="0" rtlCol="0" anchor="ctr"/>
          <a:lstStyle/>
          <a:p>
            <a:pPr marL="0" indent="0" algn="ctr">
              <a:buNone/>
            </a:pPr>
            <a:r>
              <a:rPr lang="en-US" sz="1700" b="1" dirty="0">
                <a:solidFill>
                  <a:srgbClr val="FFFFFF"/>
                </a:solidFill>
                <a:latin typeface="Poppins" pitchFamily="34" charset="0"/>
                <a:ea typeface="Poppins" pitchFamily="34" charset="-122"/>
                <a:cs typeface="Poppins" pitchFamily="34" charset="-120"/>
              </a:rPr>
              <a:t>2</a:t>
            </a:r>
            <a:endParaRPr lang="en-US" sz="1700" dirty="0"/>
          </a:p>
        </p:txBody>
      </p:sp>
      <p:pic>
        <p:nvPicPr>
          <p:cNvPr id="16" name="Image 1" descr="preencoded.png"/>
          <p:cNvPicPr>
            <a:picLocks noChangeAspect="1"/>
          </p:cNvPicPr>
          <p:nvPr/>
        </p:nvPicPr>
        <p:blipFill>
          <a:blip r:embed="rId4"/>
          <a:stretch>
            <a:fillRect/>
          </a:stretch>
        </p:blipFill>
        <p:spPr>
          <a:xfrm>
            <a:off x="2802636" y="2193252"/>
            <a:ext cx="320040" cy="320040"/>
          </a:xfrm>
          <a:prstGeom prst="rect">
            <a:avLst/>
          </a:prstGeom>
        </p:spPr>
      </p:pic>
      <p:sp>
        <p:nvSpPr>
          <p:cNvPr id="17" name="Text 13"/>
          <p:cNvSpPr/>
          <p:nvPr/>
        </p:nvSpPr>
        <p:spPr>
          <a:xfrm>
            <a:off x="2350008" y="2586444"/>
            <a:ext cx="1225296" cy="274320"/>
          </a:xfrm>
          <a:prstGeom prst="rect">
            <a:avLst/>
          </a:prstGeom>
          <a:noFill/>
          <a:ln/>
        </p:spPr>
        <p:txBody>
          <a:bodyPr wrap="square" lIns="0" tIns="0" rIns="0" bIns="0" rtlCol="0" anchor="ctr"/>
          <a:lstStyle/>
          <a:p>
            <a:pPr marL="0" indent="0" algn="ctr">
              <a:buNone/>
            </a:pPr>
            <a:r>
              <a:rPr lang="en-US" sz="1050" b="1" dirty="0">
                <a:solidFill>
                  <a:srgbClr val="0F172A"/>
                </a:solidFill>
                <a:latin typeface="Poppins" pitchFamily="34" charset="0"/>
                <a:ea typeface="Poppins" pitchFamily="34" charset="-122"/>
                <a:cs typeface="Poppins" pitchFamily="34" charset="-120"/>
              </a:rPr>
              <a:t>Déployer</a:t>
            </a:r>
            <a:endParaRPr lang="en-US" sz="1050" dirty="0"/>
          </a:p>
        </p:txBody>
      </p:sp>
      <p:sp>
        <p:nvSpPr>
          <p:cNvPr id="18" name="Text 14"/>
          <p:cNvSpPr/>
          <p:nvPr/>
        </p:nvSpPr>
        <p:spPr>
          <a:xfrm>
            <a:off x="2350008" y="2906484"/>
            <a:ext cx="1225296" cy="777240"/>
          </a:xfrm>
          <a:prstGeom prst="rect">
            <a:avLst/>
          </a:prstGeom>
          <a:noFill/>
          <a:ln/>
        </p:spPr>
        <p:txBody>
          <a:bodyPr wrap="square" lIns="0" tIns="0" rIns="0" bIns="0" rtlCol="0" anchor="ctr"/>
          <a:lstStyle/>
          <a:p>
            <a:pPr marL="0" indent="0" algn="ctr">
              <a:lnSpc>
                <a:spcPct val="130000"/>
              </a:lnSpc>
              <a:buNone/>
            </a:pPr>
            <a:r>
              <a:rPr lang="en-US" sz="800" dirty="0">
                <a:solidFill>
                  <a:srgbClr val="374151"/>
                </a:solidFill>
                <a:latin typeface="Poppins" pitchFamily="34" charset="0"/>
                <a:ea typeface="Poppins" pitchFamily="34" charset="-122"/>
                <a:cs typeface="Poppins" pitchFamily="34" charset="-120"/>
              </a:rPr>
              <a:t>1 client/consultant/mois</a:t>
            </a:r>
            <a:endParaRPr lang="en-US" sz="800" dirty="0"/>
          </a:p>
          <a:p>
            <a:pPr marL="0" indent="0" algn="ctr">
              <a:lnSpc>
                <a:spcPct val="130000"/>
              </a:lnSpc>
              <a:buNone/>
            </a:pPr>
            <a:r>
              <a:rPr lang="en-US" sz="800" dirty="0">
                <a:solidFill>
                  <a:srgbClr val="374151"/>
                </a:solidFill>
                <a:latin typeface="Poppins" pitchFamily="34" charset="0"/>
                <a:ea typeface="Poppins" pitchFamily="34" charset="-122"/>
                <a:cs typeface="Poppins" pitchFamily="34" charset="-120"/>
              </a:rPr>
              <a:t>Max 10 clients actifs</a:t>
            </a:r>
            <a:endParaRPr lang="en-US" sz="800" dirty="0"/>
          </a:p>
        </p:txBody>
      </p:sp>
      <p:sp>
        <p:nvSpPr>
          <p:cNvPr id="19" name="Text 15"/>
          <p:cNvSpPr/>
          <p:nvPr/>
        </p:nvSpPr>
        <p:spPr>
          <a:xfrm>
            <a:off x="3657600" y="2540724"/>
            <a:ext cx="219456" cy="365760"/>
          </a:xfrm>
          <a:prstGeom prst="rect">
            <a:avLst/>
          </a:prstGeom>
          <a:noFill/>
          <a:ln/>
        </p:spPr>
        <p:txBody>
          <a:bodyPr wrap="square" lIns="0" tIns="0" rIns="0" bIns="0" rtlCol="0" anchor="ctr"/>
          <a:lstStyle/>
          <a:p>
            <a:pPr marL="0" indent="0" algn="ctr">
              <a:buNone/>
            </a:pPr>
            <a:r>
              <a:rPr lang="en-US" sz="1800" b="1" dirty="0">
                <a:solidFill>
                  <a:srgbClr val="1677FF"/>
                </a:solidFill>
                <a:latin typeface="Poppins" pitchFamily="34" charset="0"/>
                <a:ea typeface="Poppins" pitchFamily="34" charset="-122"/>
                <a:cs typeface="Poppins" pitchFamily="34" charset="-120"/>
              </a:rPr>
              <a:t>→</a:t>
            </a:r>
            <a:endParaRPr lang="en-US" sz="1800" dirty="0"/>
          </a:p>
        </p:txBody>
      </p:sp>
      <p:sp>
        <p:nvSpPr>
          <p:cNvPr id="20" name="Shape 16"/>
          <p:cNvSpPr/>
          <p:nvPr/>
        </p:nvSpPr>
        <p:spPr>
          <a:xfrm>
            <a:off x="3931920" y="1534884"/>
            <a:ext cx="1280160" cy="2377440"/>
          </a:xfrm>
          <a:prstGeom prst="rect">
            <a:avLst/>
          </a:prstGeom>
          <a:solidFill>
            <a:srgbClr val="F7F9FC"/>
          </a:solidFill>
          <a:ln w="25400">
            <a:solidFill>
              <a:srgbClr val="16A34A"/>
            </a:solidFill>
            <a:prstDash val="solid"/>
          </a:ln>
          <a:effectLst>
            <a:outerShdw blurRad="76200" dist="25400" dir="8100000" algn="bl" rotWithShape="0">
              <a:srgbClr val="000000">
                <a:alpha val="6000"/>
              </a:srgbClr>
            </a:outerShdw>
          </a:effectLst>
        </p:spPr>
        <p:txBody>
          <a:bodyPr/>
          <a:lstStyle/>
          <a:p>
            <a:endParaRPr lang="fr-FR"/>
          </a:p>
        </p:txBody>
      </p:sp>
      <p:sp>
        <p:nvSpPr>
          <p:cNvPr id="21" name="Shape 17"/>
          <p:cNvSpPr/>
          <p:nvPr/>
        </p:nvSpPr>
        <p:spPr>
          <a:xfrm>
            <a:off x="3931920" y="1534884"/>
            <a:ext cx="1280160" cy="64008"/>
          </a:xfrm>
          <a:prstGeom prst="rect">
            <a:avLst/>
          </a:prstGeom>
          <a:solidFill>
            <a:srgbClr val="16A34A"/>
          </a:solidFill>
          <a:ln/>
        </p:spPr>
        <p:txBody>
          <a:bodyPr/>
          <a:lstStyle/>
          <a:p>
            <a:endParaRPr lang="fr-FR"/>
          </a:p>
        </p:txBody>
      </p:sp>
      <p:sp>
        <p:nvSpPr>
          <p:cNvPr id="22" name="Shape 18"/>
          <p:cNvSpPr/>
          <p:nvPr/>
        </p:nvSpPr>
        <p:spPr>
          <a:xfrm>
            <a:off x="4366260" y="1699476"/>
            <a:ext cx="411480" cy="411480"/>
          </a:xfrm>
          <a:prstGeom prst="ellipse">
            <a:avLst/>
          </a:prstGeom>
          <a:solidFill>
            <a:srgbClr val="16A34A"/>
          </a:solidFill>
          <a:ln/>
        </p:spPr>
        <p:txBody>
          <a:bodyPr/>
          <a:lstStyle/>
          <a:p>
            <a:endParaRPr lang="fr-FR"/>
          </a:p>
        </p:txBody>
      </p:sp>
      <p:sp>
        <p:nvSpPr>
          <p:cNvPr id="23" name="Text 19"/>
          <p:cNvSpPr/>
          <p:nvPr/>
        </p:nvSpPr>
        <p:spPr>
          <a:xfrm>
            <a:off x="4366260" y="1699476"/>
            <a:ext cx="411480" cy="411480"/>
          </a:xfrm>
          <a:prstGeom prst="rect">
            <a:avLst/>
          </a:prstGeom>
          <a:noFill/>
          <a:ln/>
        </p:spPr>
        <p:txBody>
          <a:bodyPr wrap="square" lIns="0" tIns="0" rIns="0" bIns="0" rtlCol="0" anchor="ctr"/>
          <a:lstStyle/>
          <a:p>
            <a:pPr marL="0" indent="0" algn="ctr">
              <a:buNone/>
            </a:pPr>
            <a:r>
              <a:rPr lang="en-US" sz="1700" b="1" dirty="0">
                <a:solidFill>
                  <a:srgbClr val="FFFFFF"/>
                </a:solidFill>
                <a:latin typeface="Poppins" pitchFamily="34" charset="0"/>
                <a:ea typeface="Poppins" pitchFamily="34" charset="-122"/>
                <a:cs typeface="Poppins" pitchFamily="34" charset="-120"/>
              </a:rPr>
              <a:t>3</a:t>
            </a:r>
            <a:endParaRPr lang="en-US" sz="1700" dirty="0"/>
          </a:p>
        </p:txBody>
      </p:sp>
      <p:pic>
        <p:nvPicPr>
          <p:cNvPr id="24" name="Image 2" descr="preencoded.png"/>
          <p:cNvPicPr>
            <a:picLocks noChangeAspect="1"/>
          </p:cNvPicPr>
          <p:nvPr/>
        </p:nvPicPr>
        <p:blipFill>
          <a:blip r:embed="rId5"/>
          <a:stretch>
            <a:fillRect/>
          </a:stretch>
        </p:blipFill>
        <p:spPr>
          <a:xfrm>
            <a:off x="4411980" y="2193252"/>
            <a:ext cx="320040" cy="320040"/>
          </a:xfrm>
          <a:prstGeom prst="rect">
            <a:avLst/>
          </a:prstGeom>
        </p:spPr>
      </p:pic>
      <p:sp>
        <p:nvSpPr>
          <p:cNvPr id="25" name="Text 20"/>
          <p:cNvSpPr/>
          <p:nvPr/>
        </p:nvSpPr>
        <p:spPr>
          <a:xfrm>
            <a:off x="3959352" y="2586444"/>
            <a:ext cx="1225296" cy="274320"/>
          </a:xfrm>
          <a:prstGeom prst="rect">
            <a:avLst/>
          </a:prstGeom>
          <a:noFill/>
          <a:ln/>
        </p:spPr>
        <p:txBody>
          <a:bodyPr wrap="square" lIns="0" tIns="0" rIns="0" bIns="0" rtlCol="0" anchor="ctr"/>
          <a:lstStyle/>
          <a:p>
            <a:pPr marL="0" indent="0" algn="ctr">
              <a:buNone/>
            </a:pPr>
            <a:r>
              <a:rPr lang="en-US" sz="1050" b="1" dirty="0">
                <a:solidFill>
                  <a:srgbClr val="0F172A"/>
                </a:solidFill>
                <a:latin typeface="Poppins" pitchFamily="34" charset="0"/>
                <a:ea typeface="Poppins" pitchFamily="34" charset="-122"/>
                <a:cs typeface="Poppins" pitchFamily="34" charset="-120"/>
              </a:rPr>
              <a:t>Récurrence</a:t>
            </a:r>
            <a:endParaRPr lang="en-US" sz="1050" dirty="0"/>
          </a:p>
        </p:txBody>
      </p:sp>
      <p:sp>
        <p:nvSpPr>
          <p:cNvPr id="26" name="Text 21"/>
          <p:cNvSpPr/>
          <p:nvPr/>
        </p:nvSpPr>
        <p:spPr>
          <a:xfrm>
            <a:off x="3959352" y="2906484"/>
            <a:ext cx="1225296" cy="777240"/>
          </a:xfrm>
          <a:prstGeom prst="rect">
            <a:avLst/>
          </a:prstGeom>
          <a:noFill/>
          <a:ln/>
        </p:spPr>
        <p:txBody>
          <a:bodyPr wrap="square" lIns="0" tIns="0" rIns="0" bIns="0" rtlCol="0" anchor="ctr"/>
          <a:lstStyle/>
          <a:p>
            <a:pPr marL="0" indent="0" algn="ctr">
              <a:lnSpc>
                <a:spcPct val="130000"/>
              </a:lnSpc>
              <a:buNone/>
            </a:pPr>
            <a:r>
              <a:rPr lang="en-US" sz="800" dirty="0">
                <a:solidFill>
                  <a:srgbClr val="374151"/>
                </a:solidFill>
                <a:latin typeface="Poppins" pitchFamily="34" charset="0"/>
                <a:ea typeface="Poppins" pitchFamily="34" charset="-122"/>
                <a:cs typeface="Poppins" pitchFamily="34" charset="-120"/>
              </a:rPr>
              <a:t>99€ ou 199€/mois</a:t>
            </a:r>
            <a:endParaRPr lang="en-US" sz="800" dirty="0"/>
          </a:p>
          <a:p>
            <a:pPr marL="0" indent="0" algn="ctr">
              <a:lnSpc>
                <a:spcPct val="130000"/>
              </a:lnSpc>
              <a:buNone/>
            </a:pPr>
            <a:r>
              <a:rPr lang="en-US" sz="800" dirty="0">
                <a:solidFill>
                  <a:srgbClr val="374151"/>
                </a:solidFill>
                <a:latin typeface="Poppins" pitchFamily="34" charset="0"/>
                <a:ea typeface="Poppins" pitchFamily="34" charset="-122"/>
                <a:cs typeface="Poppins" pitchFamily="34" charset="-120"/>
              </a:rPr>
              <a:t>MRR prévisible</a:t>
            </a:r>
            <a:endParaRPr lang="en-US" sz="800" dirty="0"/>
          </a:p>
        </p:txBody>
      </p:sp>
      <p:sp>
        <p:nvSpPr>
          <p:cNvPr id="27" name="Text 22"/>
          <p:cNvSpPr/>
          <p:nvPr/>
        </p:nvSpPr>
        <p:spPr>
          <a:xfrm>
            <a:off x="5266944" y="2540724"/>
            <a:ext cx="219456" cy="365760"/>
          </a:xfrm>
          <a:prstGeom prst="rect">
            <a:avLst/>
          </a:prstGeom>
          <a:noFill/>
          <a:ln/>
        </p:spPr>
        <p:txBody>
          <a:bodyPr wrap="square" lIns="0" tIns="0" rIns="0" bIns="0" rtlCol="0" anchor="ctr"/>
          <a:lstStyle/>
          <a:p>
            <a:pPr marL="0" indent="0" algn="ctr">
              <a:buNone/>
            </a:pPr>
            <a:r>
              <a:rPr lang="en-US" sz="1800" b="1" dirty="0">
                <a:solidFill>
                  <a:srgbClr val="1677FF"/>
                </a:solidFill>
                <a:latin typeface="Poppins" pitchFamily="34" charset="0"/>
                <a:ea typeface="Poppins" pitchFamily="34" charset="-122"/>
                <a:cs typeface="Poppins" pitchFamily="34" charset="-120"/>
              </a:rPr>
              <a:t>→</a:t>
            </a:r>
            <a:endParaRPr lang="en-US" sz="1800" dirty="0"/>
          </a:p>
        </p:txBody>
      </p:sp>
      <p:sp>
        <p:nvSpPr>
          <p:cNvPr id="28" name="Shape 23"/>
          <p:cNvSpPr/>
          <p:nvPr/>
        </p:nvSpPr>
        <p:spPr>
          <a:xfrm>
            <a:off x="5541264" y="1534884"/>
            <a:ext cx="1280160" cy="2377440"/>
          </a:xfrm>
          <a:prstGeom prst="rect">
            <a:avLst/>
          </a:prstGeom>
          <a:solidFill>
            <a:srgbClr val="F7F9FC"/>
          </a:solidFill>
          <a:ln w="25400">
            <a:solidFill>
              <a:srgbClr val="F59E0B"/>
            </a:solidFill>
            <a:prstDash val="solid"/>
          </a:ln>
          <a:effectLst>
            <a:outerShdw blurRad="76200" dist="25400" dir="8100000" algn="bl" rotWithShape="0">
              <a:srgbClr val="000000">
                <a:alpha val="6000"/>
              </a:srgbClr>
            </a:outerShdw>
          </a:effectLst>
        </p:spPr>
        <p:txBody>
          <a:bodyPr/>
          <a:lstStyle/>
          <a:p>
            <a:endParaRPr lang="fr-FR"/>
          </a:p>
        </p:txBody>
      </p:sp>
      <p:sp>
        <p:nvSpPr>
          <p:cNvPr id="29" name="Shape 24"/>
          <p:cNvSpPr/>
          <p:nvPr/>
        </p:nvSpPr>
        <p:spPr>
          <a:xfrm>
            <a:off x="5541264" y="1534884"/>
            <a:ext cx="1280160" cy="64008"/>
          </a:xfrm>
          <a:prstGeom prst="rect">
            <a:avLst/>
          </a:prstGeom>
          <a:solidFill>
            <a:srgbClr val="F59E0B"/>
          </a:solidFill>
          <a:ln/>
        </p:spPr>
        <p:txBody>
          <a:bodyPr/>
          <a:lstStyle/>
          <a:p>
            <a:endParaRPr lang="fr-FR"/>
          </a:p>
        </p:txBody>
      </p:sp>
      <p:sp>
        <p:nvSpPr>
          <p:cNvPr id="30" name="Shape 25"/>
          <p:cNvSpPr/>
          <p:nvPr/>
        </p:nvSpPr>
        <p:spPr>
          <a:xfrm>
            <a:off x="5975604" y="1699476"/>
            <a:ext cx="411480" cy="411480"/>
          </a:xfrm>
          <a:prstGeom prst="ellipse">
            <a:avLst/>
          </a:prstGeom>
          <a:solidFill>
            <a:srgbClr val="F59E0B"/>
          </a:solidFill>
          <a:ln/>
        </p:spPr>
        <p:txBody>
          <a:bodyPr/>
          <a:lstStyle/>
          <a:p>
            <a:endParaRPr lang="fr-FR"/>
          </a:p>
        </p:txBody>
      </p:sp>
      <p:sp>
        <p:nvSpPr>
          <p:cNvPr id="31" name="Text 26"/>
          <p:cNvSpPr/>
          <p:nvPr/>
        </p:nvSpPr>
        <p:spPr>
          <a:xfrm>
            <a:off x="5975604" y="1699476"/>
            <a:ext cx="411480" cy="411480"/>
          </a:xfrm>
          <a:prstGeom prst="rect">
            <a:avLst/>
          </a:prstGeom>
          <a:noFill/>
          <a:ln/>
        </p:spPr>
        <p:txBody>
          <a:bodyPr wrap="square" lIns="0" tIns="0" rIns="0" bIns="0" rtlCol="0" anchor="ctr"/>
          <a:lstStyle/>
          <a:p>
            <a:pPr marL="0" indent="0" algn="ctr">
              <a:buNone/>
            </a:pPr>
            <a:r>
              <a:rPr lang="en-US" sz="1700" b="1" dirty="0">
                <a:solidFill>
                  <a:srgbClr val="FFFFFF"/>
                </a:solidFill>
                <a:latin typeface="Poppins" pitchFamily="34" charset="0"/>
                <a:ea typeface="Poppins" pitchFamily="34" charset="-122"/>
                <a:cs typeface="Poppins" pitchFamily="34" charset="-120"/>
              </a:rPr>
              <a:t>4</a:t>
            </a:r>
            <a:endParaRPr lang="en-US" sz="1700" dirty="0"/>
          </a:p>
        </p:txBody>
      </p:sp>
      <p:pic>
        <p:nvPicPr>
          <p:cNvPr id="32" name="Image 3" descr="preencoded.png"/>
          <p:cNvPicPr>
            <a:picLocks noChangeAspect="1"/>
          </p:cNvPicPr>
          <p:nvPr/>
        </p:nvPicPr>
        <p:blipFill>
          <a:blip r:embed="rId6"/>
          <a:stretch>
            <a:fillRect/>
          </a:stretch>
        </p:blipFill>
        <p:spPr>
          <a:xfrm>
            <a:off x="6021324" y="2193252"/>
            <a:ext cx="320040" cy="320040"/>
          </a:xfrm>
          <a:prstGeom prst="rect">
            <a:avLst/>
          </a:prstGeom>
        </p:spPr>
      </p:pic>
      <p:sp>
        <p:nvSpPr>
          <p:cNvPr id="33" name="Text 27"/>
          <p:cNvSpPr/>
          <p:nvPr/>
        </p:nvSpPr>
        <p:spPr>
          <a:xfrm>
            <a:off x="5568696" y="2586444"/>
            <a:ext cx="1225296" cy="274320"/>
          </a:xfrm>
          <a:prstGeom prst="rect">
            <a:avLst/>
          </a:prstGeom>
          <a:noFill/>
          <a:ln/>
        </p:spPr>
        <p:txBody>
          <a:bodyPr wrap="square" lIns="0" tIns="0" rIns="0" bIns="0" rtlCol="0" anchor="ctr"/>
          <a:lstStyle/>
          <a:p>
            <a:pPr marL="0" indent="0" algn="ctr">
              <a:buNone/>
            </a:pPr>
            <a:r>
              <a:rPr lang="en-US" sz="1050" b="1" dirty="0">
                <a:solidFill>
                  <a:srgbClr val="0F172A"/>
                </a:solidFill>
                <a:latin typeface="Poppins" pitchFamily="34" charset="0"/>
                <a:ea typeface="Poppins" pitchFamily="34" charset="-122"/>
                <a:cs typeface="Poppins" pitchFamily="34" charset="-120"/>
              </a:rPr>
              <a:t>Satisfaction</a:t>
            </a:r>
            <a:endParaRPr lang="en-US" sz="1050" dirty="0"/>
          </a:p>
        </p:txBody>
      </p:sp>
      <p:sp>
        <p:nvSpPr>
          <p:cNvPr id="34" name="Text 28"/>
          <p:cNvSpPr/>
          <p:nvPr/>
        </p:nvSpPr>
        <p:spPr>
          <a:xfrm>
            <a:off x="5568696" y="2906484"/>
            <a:ext cx="1225296" cy="777240"/>
          </a:xfrm>
          <a:prstGeom prst="rect">
            <a:avLst/>
          </a:prstGeom>
          <a:noFill/>
          <a:ln/>
        </p:spPr>
        <p:txBody>
          <a:bodyPr wrap="square" lIns="0" tIns="0" rIns="0" bIns="0" rtlCol="0" anchor="ctr"/>
          <a:lstStyle/>
          <a:p>
            <a:pPr marL="0" indent="0" algn="ctr">
              <a:lnSpc>
                <a:spcPct val="130000"/>
              </a:lnSpc>
              <a:buNone/>
            </a:pPr>
            <a:r>
              <a:rPr lang="en-US" sz="800" dirty="0">
                <a:solidFill>
                  <a:srgbClr val="374151"/>
                </a:solidFill>
                <a:latin typeface="Poppins" pitchFamily="34" charset="0"/>
                <a:ea typeface="Poppins" pitchFamily="34" charset="-122"/>
                <a:cs typeface="Poppins" pitchFamily="34" charset="-120"/>
              </a:rPr>
              <a:t>Résultat terrain prouvé</a:t>
            </a:r>
            <a:endParaRPr lang="en-US" sz="800" dirty="0"/>
          </a:p>
          <a:p>
            <a:pPr marL="0" indent="0" algn="ctr">
              <a:lnSpc>
                <a:spcPct val="130000"/>
              </a:lnSpc>
              <a:buNone/>
            </a:pPr>
            <a:r>
              <a:rPr lang="en-US" sz="800" dirty="0">
                <a:solidFill>
                  <a:srgbClr val="374151"/>
                </a:solidFill>
                <a:latin typeface="Poppins" pitchFamily="34" charset="0"/>
                <a:ea typeface="Poppins" pitchFamily="34" charset="-122"/>
                <a:cs typeface="Poppins" pitchFamily="34" charset="-120"/>
              </a:rPr>
              <a:t>ROI mesurable</a:t>
            </a:r>
            <a:endParaRPr lang="en-US" sz="800" dirty="0"/>
          </a:p>
        </p:txBody>
      </p:sp>
      <p:sp>
        <p:nvSpPr>
          <p:cNvPr id="35" name="Text 29"/>
          <p:cNvSpPr/>
          <p:nvPr/>
        </p:nvSpPr>
        <p:spPr>
          <a:xfrm>
            <a:off x="6876288" y="2540724"/>
            <a:ext cx="219456" cy="365760"/>
          </a:xfrm>
          <a:prstGeom prst="rect">
            <a:avLst/>
          </a:prstGeom>
          <a:noFill/>
          <a:ln/>
        </p:spPr>
        <p:txBody>
          <a:bodyPr wrap="square" lIns="0" tIns="0" rIns="0" bIns="0" rtlCol="0" anchor="ctr"/>
          <a:lstStyle/>
          <a:p>
            <a:pPr marL="0" indent="0" algn="ctr">
              <a:buNone/>
            </a:pPr>
            <a:r>
              <a:rPr lang="en-US" sz="1800" b="1" dirty="0">
                <a:solidFill>
                  <a:srgbClr val="1677FF"/>
                </a:solidFill>
                <a:latin typeface="Poppins" pitchFamily="34" charset="0"/>
                <a:ea typeface="Poppins" pitchFamily="34" charset="-122"/>
                <a:cs typeface="Poppins" pitchFamily="34" charset="-120"/>
              </a:rPr>
              <a:t>→</a:t>
            </a:r>
            <a:endParaRPr lang="en-US" sz="1800" dirty="0"/>
          </a:p>
        </p:txBody>
      </p:sp>
      <p:sp>
        <p:nvSpPr>
          <p:cNvPr id="36" name="Shape 30"/>
          <p:cNvSpPr/>
          <p:nvPr/>
        </p:nvSpPr>
        <p:spPr>
          <a:xfrm>
            <a:off x="7150608" y="1534884"/>
            <a:ext cx="1280160" cy="2377440"/>
          </a:xfrm>
          <a:prstGeom prst="rect">
            <a:avLst/>
          </a:prstGeom>
          <a:solidFill>
            <a:srgbClr val="F7F9FC"/>
          </a:solidFill>
          <a:ln w="25400">
            <a:solidFill>
              <a:srgbClr val="7C3AED"/>
            </a:solidFill>
            <a:prstDash val="solid"/>
          </a:ln>
          <a:effectLst>
            <a:outerShdw blurRad="76200" dist="25400" dir="8100000" algn="bl" rotWithShape="0">
              <a:srgbClr val="000000">
                <a:alpha val="6000"/>
              </a:srgbClr>
            </a:outerShdw>
          </a:effectLst>
        </p:spPr>
        <p:txBody>
          <a:bodyPr/>
          <a:lstStyle/>
          <a:p>
            <a:endParaRPr lang="fr-FR"/>
          </a:p>
        </p:txBody>
      </p:sp>
      <p:sp>
        <p:nvSpPr>
          <p:cNvPr id="37" name="Shape 31"/>
          <p:cNvSpPr/>
          <p:nvPr/>
        </p:nvSpPr>
        <p:spPr>
          <a:xfrm>
            <a:off x="7150608" y="1534884"/>
            <a:ext cx="1280160" cy="64008"/>
          </a:xfrm>
          <a:prstGeom prst="rect">
            <a:avLst/>
          </a:prstGeom>
          <a:solidFill>
            <a:srgbClr val="7C3AED"/>
          </a:solidFill>
          <a:ln/>
        </p:spPr>
        <p:txBody>
          <a:bodyPr/>
          <a:lstStyle/>
          <a:p>
            <a:endParaRPr lang="fr-FR"/>
          </a:p>
        </p:txBody>
      </p:sp>
      <p:sp>
        <p:nvSpPr>
          <p:cNvPr id="38" name="Shape 32"/>
          <p:cNvSpPr/>
          <p:nvPr/>
        </p:nvSpPr>
        <p:spPr>
          <a:xfrm>
            <a:off x="7584948" y="1699476"/>
            <a:ext cx="411480" cy="411480"/>
          </a:xfrm>
          <a:prstGeom prst="ellipse">
            <a:avLst/>
          </a:prstGeom>
          <a:solidFill>
            <a:srgbClr val="7C3AED"/>
          </a:solidFill>
          <a:ln/>
        </p:spPr>
        <p:txBody>
          <a:bodyPr/>
          <a:lstStyle/>
          <a:p>
            <a:endParaRPr lang="fr-FR"/>
          </a:p>
        </p:txBody>
      </p:sp>
      <p:sp>
        <p:nvSpPr>
          <p:cNvPr id="39" name="Text 33"/>
          <p:cNvSpPr/>
          <p:nvPr/>
        </p:nvSpPr>
        <p:spPr>
          <a:xfrm>
            <a:off x="7584948" y="1699476"/>
            <a:ext cx="411480" cy="411480"/>
          </a:xfrm>
          <a:prstGeom prst="rect">
            <a:avLst/>
          </a:prstGeom>
          <a:noFill/>
          <a:ln/>
        </p:spPr>
        <p:txBody>
          <a:bodyPr wrap="square" lIns="0" tIns="0" rIns="0" bIns="0" rtlCol="0" anchor="ctr"/>
          <a:lstStyle/>
          <a:p>
            <a:pPr marL="0" indent="0" algn="ctr">
              <a:buNone/>
            </a:pPr>
            <a:r>
              <a:rPr lang="en-US" sz="1700" b="1" dirty="0">
                <a:solidFill>
                  <a:srgbClr val="FFFFFF"/>
                </a:solidFill>
                <a:latin typeface="Poppins" pitchFamily="34" charset="0"/>
                <a:ea typeface="Poppins" pitchFamily="34" charset="-122"/>
                <a:cs typeface="Poppins" pitchFamily="34" charset="-120"/>
              </a:rPr>
              <a:t>5</a:t>
            </a:r>
            <a:endParaRPr lang="en-US" sz="1700" dirty="0"/>
          </a:p>
        </p:txBody>
      </p:sp>
      <p:pic>
        <p:nvPicPr>
          <p:cNvPr id="40" name="Image 4" descr="preencoded.png"/>
          <p:cNvPicPr>
            <a:picLocks noChangeAspect="1"/>
          </p:cNvPicPr>
          <p:nvPr/>
        </p:nvPicPr>
        <p:blipFill>
          <a:blip r:embed="rId7"/>
          <a:stretch>
            <a:fillRect/>
          </a:stretch>
        </p:blipFill>
        <p:spPr>
          <a:xfrm>
            <a:off x="7630668" y="2193252"/>
            <a:ext cx="320040" cy="320040"/>
          </a:xfrm>
          <a:prstGeom prst="rect">
            <a:avLst/>
          </a:prstGeom>
        </p:spPr>
      </p:pic>
      <p:sp>
        <p:nvSpPr>
          <p:cNvPr id="41" name="Text 34"/>
          <p:cNvSpPr/>
          <p:nvPr/>
        </p:nvSpPr>
        <p:spPr>
          <a:xfrm>
            <a:off x="7178040" y="2586444"/>
            <a:ext cx="1225296" cy="274320"/>
          </a:xfrm>
          <a:prstGeom prst="rect">
            <a:avLst/>
          </a:prstGeom>
          <a:noFill/>
          <a:ln/>
        </p:spPr>
        <p:txBody>
          <a:bodyPr wrap="square" lIns="0" tIns="0" rIns="0" bIns="0" rtlCol="0" anchor="ctr"/>
          <a:lstStyle/>
          <a:p>
            <a:pPr marL="0" indent="0" algn="ctr">
              <a:buNone/>
            </a:pPr>
            <a:r>
              <a:rPr lang="en-US" sz="1050" b="1" dirty="0">
                <a:solidFill>
                  <a:srgbClr val="0F172A"/>
                </a:solidFill>
                <a:latin typeface="Poppins" pitchFamily="34" charset="0"/>
                <a:ea typeface="Poppins" pitchFamily="34" charset="-122"/>
                <a:cs typeface="Poppins" pitchFamily="34" charset="-120"/>
              </a:rPr>
              <a:t>Recommander</a:t>
            </a:r>
            <a:endParaRPr lang="en-US" sz="1050" dirty="0"/>
          </a:p>
        </p:txBody>
      </p:sp>
      <p:sp>
        <p:nvSpPr>
          <p:cNvPr id="42" name="Text 35"/>
          <p:cNvSpPr/>
          <p:nvPr/>
        </p:nvSpPr>
        <p:spPr>
          <a:xfrm>
            <a:off x="7178040" y="2906484"/>
            <a:ext cx="1225296" cy="777240"/>
          </a:xfrm>
          <a:prstGeom prst="rect">
            <a:avLst/>
          </a:prstGeom>
          <a:noFill/>
          <a:ln/>
        </p:spPr>
        <p:txBody>
          <a:bodyPr wrap="square" lIns="0" tIns="0" rIns="0" bIns="0" rtlCol="0" anchor="ctr"/>
          <a:lstStyle/>
          <a:p>
            <a:pPr marL="0" indent="0" algn="ctr">
              <a:lnSpc>
                <a:spcPct val="130000"/>
              </a:lnSpc>
              <a:buNone/>
            </a:pPr>
            <a:r>
              <a:rPr lang="en-US" sz="800" dirty="0">
                <a:solidFill>
                  <a:srgbClr val="374151"/>
                </a:solidFill>
                <a:latin typeface="Poppins" pitchFamily="34" charset="0"/>
                <a:ea typeface="Poppins" pitchFamily="34" charset="-122"/>
                <a:cs typeface="Poppins" pitchFamily="34" charset="-120"/>
              </a:rPr>
              <a:t>50% de reco après</a:t>
            </a:r>
            <a:endParaRPr lang="en-US" sz="800" dirty="0"/>
          </a:p>
          <a:p>
            <a:pPr marL="0" indent="0" algn="ctr">
              <a:lnSpc>
                <a:spcPct val="130000"/>
              </a:lnSpc>
              <a:buNone/>
            </a:pPr>
            <a:r>
              <a:rPr lang="en-US" sz="800" dirty="0">
                <a:solidFill>
                  <a:srgbClr val="374151"/>
                </a:solidFill>
                <a:latin typeface="Poppins" pitchFamily="34" charset="0"/>
                <a:ea typeface="Poppins" pitchFamily="34" charset="-122"/>
                <a:cs typeface="Poppins" pitchFamily="34" charset="-120"/>
              </a:rPr>
              <a:t>15 projets réalisés</a:t>
            </a:r>
            <a:endParaRPr lang="en-US" sz="800" dirty="0"/>
          </a:p>
        </p:txBody>
      </p:sp>
      <p:sp>
        <p:nvSpPr>
          <p:cNvPr id="43" name="Shape 36"/>
          <p:cNvSpPr/>
          <p:nvPr/>
        </p:nvSpPr>
        <p:spPr>
          <a:xfrm>
            <a:off x="1353312" y="4022052"/>
            <a:ext cx="6437376" cy="0"/>
          </a:xfrm>
          <a:prstGeom prst="line">
            <a:avLst/>
          </a:prstGeom>
          <a:noFill/>
          <a:ln w="19050">
            <a:solidFill>
              <a:srgbClr val="1677FF"/>
            </a:solidFill>
            <a:prstDash val="dash"/>
          </a:ln>
        </p:spPr>
        <p:txBody>
          <a:bodyPr/>
          <a:lstStyle/>
          <a:p>
            <a:endParaRPr lang="fr-FR"/>
          </a:p>
        </p:txBody>
      </p:sp>
      <p:sp>
        <p:nvSpPr>
          <p:cNvPr id="44" name="Text 37"/>
          <p:cNvSpPr/>
          <p:nvPr/>
        </p:nvSpPr>
        <p:spPr>
          <a:xfrm>
            <a:off x="1371600" y="4140924"/>
            <a:ext cx="6400800" cy="320040"/>
          </a:xfrm>
          <a:prstGeom prst="rect">
            <a:avLst/>
          </a:prstGeom>
          <a:noFill/>
          <a:ln/>
        </p:spPr>
        <p:txBody>
          <a:bodyPr wrap="square" lIns="0" tIns="0" rIns="0" bIns="0" rtlCol="0" anchor="ctr"/>
          <a:lstStyle/>
          <a:p>
            <a:pPr marL="0" indent="0" algn="ctr">
              <a:buNone/>
            </a:pPr>
            <a:r>
              <a:rPr lang="en-US" sz="1000" i="1" dirty="0">
                <a:solidFill>
                  <a:srgbClr val="1677FF"/>
                </a:solidFill>
                <a:latin typeface="Poppins" pitchFamily="34" charset="0"/>
                <a:ea typeface="Poppins" pitchFamily="34" charset="-122"/>
                <a:cs typeface="Poppins" pitchFamily="34" charset="-120"/>
              </a:rPr>
              <a:t>↺  Le cycle se </a:t>
            </a:r>
            <a:r>
              <a:rPr lang="en-US" sz="1000" i="1" dirty="0" err="1">
                <a:solidFill>
                  <a:srgbClr val="1677FF"/>
                </a:solidFill>
                <a:latin typeface="Poppins" pitchFamily="34" charset="0"/>
                <a:ea typeface="Poppins" pitchFamily="34" charset="-122"/>
                <a:cs typeface="Poppins" pitchFamily="34" charset="-120"/>
              </a:rPr>
              <a:t>répète</a:t>
            </a:r>
            <a:r>
              <a:rPr lang="en-US" sz="1000" i="1" dirty="0">
                <a:solidFill>
                  <a:srgbClr val="1677FF"/>
                </a:solidFill>
                <a:latin typeface="Poppins" pitchFamily="34" charset="0"/>
                <a:ea typeface="Poppins" pitchFamily="34" charset="-122"/>
                <a:cs typeface="Poppins" pitchFamily="34" charset="-120"/>
              </a:rPr>
              <a:t> - croissance organique auto-alimentée</a:t>
            </a:r>
            <a:endParaRPr lang="en-US" sz="1000" dirty="0"/>
          </a:p>
        </p:txBody>
      </p:sp>
      <p:sp>
        <p:nvSpPr>
          <p:cNvPr id="45" name="Text 38"/>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900" dirty="0">
                <a:solidFill>
                  <a:srgbClr val="9CA3AF"/>
                </a:solidFill>
                <a:latin typeface="Poppins" pitchFamily="34" charset="0"/>
                <a:ea typeface="Poppins" pitchFamily="34" charset="-122"/>
                <a:cs typeface="Poppins"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74320"/>
            <a:ext cx="8229600" cy="457200"/>
          </a:xfrm>
          <a:prstGeom prst="rect">
            <a:avLst/>
          </a:prstGeom>
          <a:noFill/>
          <a:ln/>
        </p:spPr>
        <p:txBody>
          <a:bodyPr wrap="square" lIns="0" tIns="0" rIns="0" bIns="0" rtlCol="0" anchor="ctr"/>
          <a:lstStyle/>
          <a:p>
            <a:pPr marL="0" indent="0">
              <a:buNone/>
            </a:pPr>
            <a:r>
              <a:rPr lang="en-US" sz="3000" b="1" dirty="0">
                <a:solidFill>
                  <a:srgbClr val="0F172A"/>
                </a:solidFill>
                <a:latin typeface="Poppins" pitchFamily="34" charset="0"/>
                <a:ea typeface="Poppins" pitchFamily="34" charset="-122"/>
                <a:cs typeface="Poppins" pitchFamily="34" charset="-120"/>
              </a:rPr>
              <a:t>Business Model</a:t>
            </a:r>
            <a:endParaRPr lang="en-US" sz="3000" dirty="0"/>
          </a:p>
        </p:txBody>
      </p:sp>
      <p:sp>
        <p:nvSpPr>
          <p:cNvPr id="3" name="Text 1"/>
          <p:cNvSpPr/>
          <p:nvPr/>
        </p:nvSpPr>
        <p:spPr>
          <a:xfrm>
            <a:off x="640080" y="731520"/>
            <a:ext cx="7315200" cy="274320"/>
          </a:xfrm>
          <a:prstGeom prst="rect">
            <a:avLst/>
          </a:prstGeom>
          <a:noFill/>
          <a:ln/>
        </p:spPr>
        <p:txBody>
          <a:bodyPr wrap="square" lIns="0" tIns="0" rIns="0" bIns="0" rtlCol="0" anchor="ctr"/>
          <a:lstStyle/>
          <a:p>
            <a:pPr marL="0" indent="0">
              <a:buNone/>
            </a:pPr>
            <a:r>
              <a:rPr lang="en-US" sz="1200" dirty="0">
                <a:solidFill>
                  <a:srgbClr val="6B7280"/>
                </a:solidFill>
                <a:latin typeface="Poppins" pitchFamily="34" charset="0"/>
                <a:ea typeface="Poppins" pitchFamily="34" charset="-122"/>
                <a:cs typeface="Poppins" pitchFamily="34" charset="-120"/>
              </a:rPr>
              <a:t>5 piliers qui se renforcent mutuellement</a:t>
            </a:r>
            <a:endParaRPr lang="en-US" sz="1200" dirty="0"/>
          </a:p>
        </p:txBody>
      </p:sp>
      <p:sp>
        <p:nvSpPr>
          <p:cNvPr id="4" name="Shape 2"/>
          <p:cNvSpPr/>
          <p:nvPr/>
        </p:nvSpPr>
        <p:spPr>
          <a:xfrm>
            <a:off x="466344" y="1097280"/>
            <a:ext cx="1554480" cy="2468880"/>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5" name="Shape 3"/>
          <p:cNvSpPr/>
          <p:nvPr/>
        </p:nvSpPr>
        <p:spPr>
          <a:xfrm>
            <a:off x="466344" y="1097280"/>
            <a:ext cx="1554480" cy="73152"/>
          </a:xfrm>
          <a:prstGeom prst="rect">
            <a:avLst/>
          </a:prstGeom>
          <a:solidFill>
            <a:srgbClr val="1677FF"/>
          </a:solidFill>
          <a:ln/>
        </p:spPr>
        <p:txBody>
          <a:bodyPr/>
          <a:lstStyle/>
          <a:p>
            <a:endParaRPr lang="fr-FR"/>
          </a:p>
        </p:txBody>
      </p:sp>
      <p:sp>
        <p:nvSpPr>
          <p:cNvPr id="6" name="Shape 4"/>
          <p:cNvSpPr/>
          <p:nvPr/>
        </p:nvSpPr>
        <p:spPr>
          <a:xfrm>
            <a:off x="923544" y="1325880"/>
            <a:ext cx="502920" cy="502920"/>
          </a:xfrm>
          <a:prstGeom prst="ellipse">
            <a:avLst/>
          </a:prstGeom>
          <a:solidFill>
            <a:srgbClr val="EBF5FF"/>
          </a:solidFill>
          <a:ln/>
        </p:spPr>
        <p:txBody>
          <a:bodyPr/>
          <a:lstStyle/>
          <a:p>
            <a:endParaRPr lang="fr-FR"/>
          </a:p>
        </p:txBody>
      </p:sp>
      <p:pic>
        <p:nvPicPr>
          <p:cNvPr id="7" name="Image 0" descr="preencoded.png"/>
          <p:cNvPicPr>
            <a:picLocks noChangeAspect="1"/>
          </p:cNvPicPr>
          <p:nvPr/>
        </p:nvPicPr>
        <p:blipFill>
          <a:blip r:embed="rId3"/>
          <a:stretch>
            <a:fillRect/>
          </a:stretch>
        </p:blipFill>
        <p:spPr>
          <a:xfrm>
            <a:off x="996696" y="1399032"/>
            <a:ext cx="347472" cy="347472"/>
          </a:xfrm>
          <a:prstGeom prst="rect">
            <a:avLst/>
          </a:prstGeom>
        </p:spPr>
      </p:pic>
      <p:sp>
        <p:nvSpPr>
          <p:cNvPr id="8" name="Text 5"/>
          <p:cNvSpPr/>
          <p:nvPr/>
        </p:nvSpPr>
        <p:spPr>
          <a:xfrm>
            <a:off x="512064" y="1965960"/>
            <a:ext cx="1463040" cy="274320"/>
          </a:xfrm>
          <a:prstGeom prst="rect">
            <a:avLst/>
          </a:prstGeom>
          <a:noFill/>
          <a:ln/>
        </p:spPr>
        <p:txBody>
          <a:bodyPr wrap="square" lIns="0" tIns="0" rIns="0" bIns="0" rtlCol="0" anchor="ctr"/>
          <a:lstStyle/>
          <a:p>
            <a:pPr marL="0" indent="0" algn="ctr">
              <a:buNone/>
            </a:pPr>
            <a:r>
              <a:rPr lang="en-US" sz="1100" b="1" dirty="0">
                <a:solidFill>
                  <a:srgbClr val="0F172A"/>
                </a:solidFill>
                <a:latin typeface="Poppins" pitchFamily="34" charset="0"/>
                <a:ea typeface="Poppins" pitchFamily="34" charset="-122"/>
                <a:cs typeface="Poppins" pitchFamily="34" charset="-120"/>
              </a:rPr>
              <a:t>SaaS Cloud</a:t>
            </a:r>
            <a:endParaRPr lang="en-US" sz="1100" dirty="0"/>
          </a:p>
        </p:txBody>
      </p:sp>
      <p:sp>
        <p:nvSpPr>
          <p:cNvPr id="9" name="Text 6"/>
          <p:cNvSpPr/>
          <p:nvPr/>
        </p:nvSpPr>
        <p:spPr>
          <a:xfrm>
            <a:off x="512064" y="2286000"/>
            <a:ext cx="1463040" cy="594360"/>
          </a:xfrm>
          <a:prstGeom prst="rect">
            <a:avLst/>
          </a:prstGeom>
          <a:noFill/>
          <a:ln/>
        </p:spPr>
        <p:txBody>
          <a:bodyPr wrap="square" lIns="0" tIns="0" rIns="0" bIns="0" rtlCol="0" anchor="ctr"/>
          <a:lstStyle/>
          <a:p>
            <a:pPr marL="0" indent="0" algn="ctr">
              <a:lnSpc>
                <a:spcPct val="130000"/>
              </a:lnSpc>
              <a:buNone/>
            </a:pPr>
            <a:r>
              <a:rPr lang="en-US" sz="900" dirty="0">
                <a:solidFill>
                  <a:srgbClr val="374151"/>
                </a:solidFill>
                <a:latin typeface="Poppins" pitchFamily="34" charset="0"/>
                <a:ea typeface="Poppins" pitchFamily="34" charset="-122"/>
                <a:cs typeface="Poppins" pitchFamily="34" charset="-120"/>
              </a:rPr>
              <a:t>99-199€/mois</a:t>
            </a:r>
            <a:endParaRPr lang="en-US" sz="900" dirty="0"/>
          </a:p>
          <a:p>
            <a:pPr marL="0" indent="0" algn="ctr">
              <a:lnSpc>
                <a:spcPct val="130000"/>
              </a:lnSpc>
              <a:buNone/>
            </a:pPr>
            <a:r>
              <a:rPr lang="en-US" sz="900" dirty="0">
                <a:solidFill>
                  <a:srgbClr val="374151"/>
                </a:solidFill>
                <a:latin typeface="Poppins" pitchFamily="34" charset="0"/>
                <a:ea typeface="Poppins" pitchFamily="34" charset="-122"/>
                <a:cs typeface="Poppins" pitchFamily="34" charset="-120"/>
              </a:rPr>
              <a:t>Récurrent, prévisible</a:t>
            </a:r>
            <a:endParaRPr lang="en-US" sz="900" dirty="0"/>
          </a:p>
        </p:txBody>
      </p:sp>
      <p:sp>
        <p:nvSpPr>
          <p:cNvPr id="10" name="Shape 7"/>
          <p:cNvSpPr/>
          <p:nvPr/>
        </p:nvSpPr>
        <p:spPr>
          <a:xfrm>
            <a:off x="2130552" y="1097280"/>
            <a:ext cx="1554480" cy="2468880"/>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11" name="Shape 8"/>
          <p:cNvSpPr/>
          <p:nvPr/>
        </p:nvSpPr>
        <p:spPr>
          <a:xfrm>
            <a:off x="2130552" y="1097280"/>
            <a:ext cx="1554480" cy="73152"/>
          </a:xfrm>
          <a:prstGeom prst="rect">
            <a:avLst/>
          </a:prstGeom>
          <a:solidFill>
            <a:srgbClr val="16A34A"/>
          </a:solidFill>
          <a:ln/>
        </p:spPr>
        <p:txBody>
          <a:bodyPr/>
          <a:lstStyle/>
          <a:p>
            <a:endParaRPr lang="fr-FR"/>
          </a:p>
        </p:txBody>
      </p:sp>
      <p:sp>
        <p:nvSpPr>
          <p:cNvPr id="12" name="Shape 9"/>
          <p:cNvSpPr/>
          <p:nvPr/>
        </p:nvSpPr>
        <p:spPr>
          <a:xfrm>
            <a:off x="2587752" y="1325880"/>
            <a:ext cx="502920" cy="502920"/>
          </a:xfrm>
          <a:prstGeom prst="ellipse">
            <a:avLst/>
          </a:prstGeom>
          <a:solidFill>
            <a:srgbClr val="EBF5FF"/>
          </a:solidFill>
          <a:ln/>
        </p:spPr>
        <p:txBody>
          <a:bodyPr/>
          <a:lstStyle/>
          <a:p>
            <a:endParaRPr lang="fr-FR"/>
          </a:p>
        </p:txBody>
      </p:sp>
      <p:pic>
        <p:nvPicPr>
          <p:cNvPr id="13" name="Image 1" descr="preencoded.png"/>
          <p:cNvPicPr>
            <a:picLocks noChangeAspect="1"/>
          </p:cNvPicPr>
          <p:nvPr/>
        </p:nvPicPr>
        <p:blipFill>
          <a:blip r:embed="rId4"/>
          <a:stretch>
            <a:fillRect/>
          </a:stretch>
        </p:blipFill>
        <p:spPr>
          <a:xfrm>
            <a:off x="2660904" y="1399032"/>
            <a:ext cx="347472" cy="347472"/>
          </a:xfrm>
          <a:prstGeom prst="rect">
            <a:avLst/>
          </a:prstGeom>
        </p:spPr>
      </p:pic>
      <p:sp>
        <p:nvSpPr>
          <p:cNvPr id="14" name="Text 10"/>
          <p:cNvSpPr/>
          <p:nvPr/>
        </p:nvSpPr>
        <p:spPr>
          <a:xfrm>
            <a:off x="2176272" y="1965960"/>
            <a:ext cx="1463040" cy="274320"/>
          </a:xfrm>
          <a:prstGeom prst="rect">
            <a:avLst/>
          </a:prstGeom>
          <a:noFill/>
          <a:ln/>
        </p:spPr>
        <p:txBody>
          <a:bodyPr wrap="square" lIns="0" tIns="0" rIns="0" bIns="0" rtlCol="0" anchor="ctr"/>
          <a:lstStyle/>
          <a:p>
            <a:pPr marL="0" indent="0" algn="ctr">
              <a:buNone/>
            </a:pPr>
            <a:r>
              <a:rPr lang="en-US" sz="1100" b="1" dirty="0">
                <a:solidFill>
                  <a:srgbClr val="0F172A"/>
                </a:solidFill>
                <a:latin typeface="Poppins" pitchFamily="34" charset="0"/>
                <a:ea typeface="Poppins" pitchFamily="34" charset="-122"/>
                <a:cs typeface="Poppins" pitchFamily="34" charset="-120"/>
              </a:rPr>
              <a:t>On-Premise</a:t>
            </a:r>
            <a:endParaRPr lang="en-US" sz="1100" dirty="0"/>
          </a:p>
        </p:txBody>
      </p:sp>
      <p:sp>
        <p:nvSpPr>
          <p:cNvPr id="15" name="Text 11"/>
          <p:cNvSpPr/>
          <p:nvPr/>
        </p:nvSpPr>
        <p:spPr>
          <a:xfrm>
            <a:off x="2176272" y="2286000"/>
            <a:ext cx="1463040" cy="594360"/>
          </a:xfrm>
          <a:prstGeom prst="rect">
            <a:avLst/>
          </a:prstGeom>
          <a:noFill/>
          <a:ln/>
        </p:spPr>
        <p:txBody>
          <a:bodyPr wrap="square" lIns="0" tIns="0" rIns="0" bIns="0" rtlCol="0" anchor="ctr"/>
          <a:lstStyle/>
          <a:p>
            <a:pPr marL="0" indent="0" algn="ctr">
              <a:lnSpc>
                <a:spcPct val="130000"/>
              </a:lnSpc>
              <a:buNone/>
            </a:pPr>
            <a:r>
              <a:rPr lang="en-US" sz="900" dirty="0">
                <a:solidFill>
                  <a:srgbClr val="374151"/>
                </a:solidFill>
                <a:latin typeface="Poppins" pitchFamily="34" charset="0"/>
                <a:ea typeface="Poppins" pitchFamily="34" charset="-122"/>
                <a:cs typeface="Poppins" pitchFamily="34" charset="-120"/>
              </a:rPr>
              <a:t>10-15k€/an</a:t>
            </a:r>
            <a:endParaRPr lang="en-US" sz="900" dirty="0"/>
          </a:p>
          <a:p>
            <a:pPr marL="0" indent="0" algn="ctr">
              <a:lnSpc>
                <a:spcPct val="130000"/>
              </a:lnSpc>
              <a:buNone/>
            </a:pPr>
            <a:r>
              <a:rPr lang="en-US" sz="900" dirty="0">
                <a:solidFill>
                  <a:srgbClr val="374151"/>
                </a:solidFill>
                <a:latin typeface="Poppins" pitchFamily="34" charset="0"/>
                <a:ea typeface="Poppins" pitchFamily="34" charset="-122"/>
                <a:cs typeface="Poppins" pitchFamily="34" charset="-120"/>
              </a:rPr>
              <a:t>Industrie, santé, public</a:t>
            </a:r>
            <a:endParaRPr lang="en-US" sz="900" dirty="0"/>
          </a:p>
        </p:txBody>
      </p:sp>
      <p:sp>
        <p:nvSpPr>
          <p:cNvPr id="16" name="Shape 12"/>
          <p:cNvSpPr/>
          <p:nvPr/>
        </p:nvSpPr>
        <p:spPr>
          <a:xfrm>
            <a:off x="3794760" y="1097280"/>
            <a:ext cx="1554480" cy="2468880"/>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17" name="Shape 13"/>
          <p:cNvSpPr/>
          <p:nvPr/>
        </p:nvSpPr>
        <p:spPr>
          <a:xfrm>
            <a:off x="3794760" y="1097280"/>
            <a:ext cx="1554480" cy="73152"/>
          </a:xfrm>
          <a:prstGeom prst="rect">
            <a:avLst/>
          </a:prstGeom>
          <a:solidFill>
            <a:srgbClr val="F59E0B"/>
          </a:solidFill>
          <a:ln/>
        </p:spPr>
        <p:txBody>
          <a:bodyPr/>
          <a:lstStyle/>
          <a:p>
            <a:endParaRPr lang="fr-FR"/>
          </a:p>
        </p:txBody>
      </p:sp>
      <p:sp>
        <p:nvSpPr>
          <p:cNvPr id="18" name="Shape 14"/>
          <p:cNvSpPr/>
          <p:nvPr/>
        </p:nvSpPr>
        <p:spPr>
          <a:xfrm>
            <a:off x="4251960" y="1325880"/>
            <a:ext cx="502920" cy="502920"/>
          </a:xfrm>
          <a:prstGeom prst="ellipse">
            <a:avLst/>
          </a:prstGeom>
          <a:solidFill>
            <a:srgbClr val="EBF5FF"/>
          </a:solidFill>
          <a:ln/>
        </p:spPr>
        <p:txBody>
          <a:bodyPr/>
          <a:lstStyle/>
          <a:p>
            <a:endParaRPr lang="fr-FR"/>
          </a:p>
        </p:txBody>
      </p:sp>
      <p:pic>
        <p:nvPicPr>
          <p:cNvPr id="19" name="Image 2" descr="preencoded.png"/>
          <p:cNvPicPr>
            <a:picLocks noChangeAspect="1"/>
          </p:cNvPicPr>
          <p:nvPr/>
        </p:nvPicPr>
        <p:blipFill>
          <a:blip r:embed="rId5"/>
          <a:stretch>
            <a:fillRect/>
          </a:stretch>
        </p:blipFill>
        <p:spPr>
          <a:xfrm>
            <a:off x="4325112" y="1399032"/>
            <a:ext cx="347472" cy="347472"/>
          </a:xfrm>
          <a:prstGeom prst="rect">
            <a:avLst/>
          </a:prstGeom>
        </p:spPr>
      </p:pic>
      <p:sp>
        <p:nvSpPr>
          <p:cNvPr id="20" name="Text 15"/>
          <p:cNvSpPr/>
          <p:nvPr/>
        </p:nvSpPr>
        <p:spPr>
          <a:xfrm>
            <a:off x="3840480" y="1965960"/>
            <a:ext cx="1463040" cy="274320"/>
          </a:xfrm>
          <a:prstGeom prst="rect">
            <a:avLst/>
          </a:prstGeom>
          <a:noFill/>
          <a:ln/>
        </p:spPr>
        <p:txBody>
          <a:bodyPr wrap="square" lIns="0" tIns="0" rIns="0" bIns="0" rtlCol="0" anchor="ctr"/>
          <a:lstStyle/>
          <a:p>
            <a:pPr marL="0" indent="0" algn="ctr">
              <a:buNone/>
            </a:pPr>
            <a:r>
              <a:rPr lang="en-US" sz="1100" b="1" dirty="0">
                <a:solidFill>
                  <a:srgbClr val="0F172A"/>
                </a:solidFill>
                <a:latin typeface="Poppins" pitchFamily="34" charset="0"/>
                <a:ea typeface="Poppins" pitchFamily="34" charset="-122"/>
                <a:cs typeface="Poppins" pitchFamily="34" charset="-120"/>
              </a:rPr>
              <a:t>Marketplace</a:t>
            </a:r>
            <a:endParaRPr lang="en-US" sz="1100" dirty="0"/>
          </a:p>
        </p:txBody>
      </p:sp>
      <p:sp>
        <p:nvSpPr>
          <p:cNvPr id="21" name="Text 16"/>
          <p:cNvSpPr/>
          <p:nvPr/>
        </p:nvSpPr>
        <p:spPr>
          <a:xfrm>
            <a:off x="3840480" y="2286000"/>
            <a:ext cx="1463040" cy="594360"/>
          </a:xfrm>
          <a:prstGeom prst="rect">
            <a:avLst/>
          </a:prstGeom>
          <a:noFill/>
          <a:ln/>
        </p:spPr>
        <p:txBody>
          <a:bodyPr wrap="square" lIns="0" tIns="0" rIns="0" bIns="0" rtlCol="0" anchor="ctr"/>
          <a:lstStyle/>
          <a:p>
            <a:pPr marL="0" indent="0" algn="ctr">
              <a:lnSpc>
                <a:spcPct val="130000"/>
              </a:lnSpc>
              <a:buNone/>
            </a:pPr>
            <a:r>
              <a:rPr lang="en-US" sz="900" dirty="0">
                <a:solidFill>
                  <a:srgbClr val="374151"/>
                </a:solidFill>
                <a:latin typeface="Poppins" pitchFamily="34" charset="0"/>
                <a:ea typeface="Poppins" pitchFamily="34" charset="-122"/>
                <a:cs typeface="Poppins" pitchFamily="34" charset="-120"/>
              </a:rPr>
              <a:t>Templates, agents</a:t>
            </a:r>
            <a:endParaRPr lang="en-US" sz="900" dirty="0"/>
          </a:p>
          <a:p>
            <a:pPr marL="0" indent="0" algn="ctr">
              <a:lnSpc>
                <a:spcPct val="130000"/>
              </a:lnSpc>
              <a:buNone/>
            </a:pPr>
            <a:r>
              <a:rPr lang="en-US" sz="900" dirty="0">
                <a:solidFill>
                  <a:srgbClr val="374151"/>
                </a:solidFill>
                <a:latin typeface="Poppins" pitchFamily="34" charset="0"/>
                <a:ea typeface="Poppins" pitchFamily="34" charset="-122"/>
                <a:cs typeface="Poppins" pitchFamily="34" charset="-120"/>
              </a:rPr>
              <a:t>Revenue-share 20-30%</a:t>
            </a:r>
            <a:endParaRPr lang="en-US" sz="900" dirty="0"/>
          </a:p>
        </p:txBody>
      </p:sp>
      <p:sp>
        <p:nvSpPr>
          <p:cNvPr id="22" name="Shape 17"/>
          <p:cNvSpPr/>
          <p:nvPr/>
        </p:nvSpPr>
        <p:spPr>
          <a:xfrm>
            <a:off x="5458968" y="1097280"/>
            <a:ext cx="1554480" cy="2468880"/>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23" name="Shape 18"/>
          <p:cNvSpPr/>
          <p:nvPr/>
        </p:nvSpPr>
        <p:spPr>
          <a:xfrm>
            <a:off x="5458968" y="1097280"/>
            <a:ext cx="1554480" cy="73152"/>
          </a:xfrm>
          <a:prstGeom prst="rect">
            <a:avLst/>
          </a:prstGeom>
          <a:solidFill>
            <a:srgbClr val="0891B2"/>
          </a:solidFill>
          <a:ln/>
        </p:spPr>
        <p:txBody>
          <a:bodyPr/>
          <a:lstStyle/>
          <a:p>
            <a:endParaRPr lang="fr-FR"/>
          </a:p>
        </p:txBody>
      </p:sp>
      <p:sp>
        <p:nvSpPr>
          <p:cNvPr id="24" name="Shape 19"/>
          <p:cNvSpPr/>
          <p:nvPr/>
        </p:nvSpPr>
        <p:spPr>
          <a:xfrm>
            <a:off x="5916168" y="1325880"/>
            <a:ext cx="502920" cy="502920"/>
          </a:xfrm>
          <a:prstGeom prst="ellipse">
            <a:avLst/>
          </a:prstGeom>
          <a:solidFill>
            <a:srgbClr val="EBF5FF"/>
          </a:solidFill>
          <a:ln/>
        </p:spPr>
        <p:txBody>
          <a:bodyPr/>
          <a:lstStyle/>
          <a:p>
            <a:endParaRPr lang="fr-FR"/>
          </a:p>
        </p:txBody>
      </p:sp>
      <p:pic>
        <p:nvPicPr>
          <p:cNvPr id="25" name="Image 3" descr="preencoded.png"/>
          <p:cNvPicPr>
            <a:picLocks noChangeAspect="1"/>
          </p:cNvPicPr>
          <p:nvPr/>
        </p:nvPicPr>
        <p:blipFill>
          <a:blip r:embed="rId6"/>
          <a:stretch>
            <a:fillRect/>
          </a:stretch>
        </p:blipFill>
        <p:spPr>
          <a:xfrm>
            <a:off x="5989320" y="1399032"/>
            <a:ext cx="347472" cy="347472"/>
          </a:xfrm>
          <a:prstGeom prst="rect">
            <a:avLst/>
          </a:prstGeom>
        </p:spPr>
      </p:pic>
      <p:sp>
        <p:nvSpPr>
          <p:cNvPr id="26" name="Text 20"/>
          <p:cNvSpPr/>
          <p:nvPr/>
        </p:nvSpPr>
        <p:spPr>
          <a:xfrm>
            <a:off x="5504688" y="1965960"/>
            <a:ext cx="1463040" cy="274320"/>
          </a:xfrm>
          <a:prstGeom prst="rect">
            <a:avLst/>
          </a:prstGeom>
          <a:noFill/>
          <a:ln/>
        </p:spPr>
        <p:txBody>
          <a:bodyPr wrap="square" lIns="0" tIns="0" rIns="0" bIns="0" rtlCol="0" anchor="ctr"/>
          <a:lstStyle/>
          <a:p>
            <a:pPr marL="0" indent="0" algn="ctr">
              <a:buNone/>
            </a:pPr>
            <a:r>
              <a:rPr lang="en-US" sz="1100" b="1" dirty="0">
                <a:solidFill>
                  <a:srgbClr val="0F172A"/>
                </a:solidFill>
                <a:latin typeface="Poppins" pitchFamily="34" charset="0"/>
                <a:ea typeface="Poppins" pitchFamily="34" charset="-122"/>
                <a:cs typeface="Poppins" pitchFamily="34" charset="-120"/>
              </a:rPr>
              <a:t>Services</a:t>
            </a:r>
            <a:endParaRPr lang="en-US" sz="1100" dirty="0"/>
          </a:p>
        </p:txBody>
      </p:sp>
      <p:sp>
        <p:nvSpPr>
          <p:cNvPr id="27" name="Text 21"/>
          <p:cNvSpPr/>
          <p:nvPr/>
        </p:nvSpPr>
        <p:spPr>
          <a:xfrm>
            <a:off x="5504688" y="2286000"/>
            <a:ext cx="1463040" cy="594360"/>
          </a:xfrm>
          <a:prstGeom prst="rect">
            <a:avLst/>
          </a:prstGeom>
          <a:noFill/>
          <a:ln/>
        </p:spPr>
        <p:txBody>
          <a:bodyPr wrap="square" lIns="0" tIns="0" rIns="0" bIns="0" rtlCol="0" anchor="ctr"/>
          <a:lstStyle/>
          <a:p>
            <a:pPr marL="0" indent="0" algn="ctr">
              <a:lnSpc>
                <a:spcPct val="130000"/>
              </a:lnSpc>
              <a:buNone/>
            </a:pPr>
            <a:r>
              <a:rPr lang="en-US" sz="900" dirty="0">
                <a:solidFill>
                  <a:srgbClr val="374151"/>
                </a:solidFill>
                <a:latin typeface="Poppins" pitchFamily="34" charset="0"/>
                <a:ea typeface="Poppins" pitchFamily="34" charset="-122"/>
                <a:cs typeface="Poppins" pitchFamily="34" charset="-120"/>
              </a:rPr>
              <a:t>Setup, migration,</a:t>
            </a:r>
            <a:endParaRPr lang="en-US" sz="900" dirty="0"/>
          </a:p>
          <a:p>
            <a:pPr marL="0" indent="0" algn="ctr">
              <a:lnSpc>
                <a:spcPct val="130000"/>
              </a:lnSpc>
              <a:buNone/>
            </a:pPr>
            <a:r>
              <a:rPr lang="en-US" sz="900" dirty="0">
                <a:solidFill>
                  <a:srgbClr val="374151"/>
                </a:solidFill>
                <a:latin typeface="Poppins" pitchFamily="34" charset="0"/>
                <a:ea typeface="Poppins" pitchFamily="34" charset="-122"/>
                <a:cs typeface="Poppins" pitchFamily="34" charset="-120"/>
              </a:rPr>
              <a:t>packs verticaux</a:t>
            </a:r>
            <a:endParaRPr lang="en-US" sz="900" dirty="0"/>
          </a:p>
        </p:txBody>
      </p:sp>
      <p:sp>
        <p:nvSpPr>
          <p:cNvPr id="28" name="Shape 22"/>
          <p:cNvSpPr/>
          <p:nvPr/>
        </p:nvSpPr>
        <p:spPr>
          <a:xfrm>
            <a:off x="7123176" y="1097280"/>
            <a:ext cx="1554480" cy="2468880"/>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29" name="Shape 23"/>
          <p:cNvSpPr/>
          <p:nvPr/>
        </p:nvSpPr>
        <p:spPr>
          <a:xfrm>
            <a:off x="7123176" y="1097280"/>
            <a:ext cx="1554480" cy="73152"/>
          </a:xfrm>
          <a:prstGeom prst="rect">
            <a:avLst/>
          </a:prstGeom>
          <a:solidFill>
            <a:srgbClr val="7C3AED"/>
          </a:solidFill>
          <a:ln/>
        </p:spPr>
        <p:txBody>
          <a:bodyPr/>
          <a:lstStyle/>
          <a:p>
            <a:endParaRPr lang="fr-FR"/>
          </a:p>
        </p:txBody>
      </p:sp>
      <p:sp>
        <p:nvSpPr>
          <p:cNvPr id="30" name="Shape 24"/>
          <p:cNvSpPr/>
          <p:nvPr/>
        </p:nvSpPr>
        <p:spPr>
          <a:xfrm>
            <a:off x="7580376" y="1325880"/>
            <a:ext cx="502920" cy="502920"/>
          </a:xfrm>
          <a:prstGeom prst="ellipse">
            <a:avLst/>
          </a:prstGeom>
          <a:solidFill>
            <a:srgbClr val="EBF5FF"/>
          </a:solidFill>
          <a:ln/>
        </p:spPr>
        <p:txBody>
          <a:bodyPr/>
          <a:lstStyle/>
          <a:p>
            <a:endParaRPr lang="fr-FR"/>
          </a:p>
        </p:txBody>
      </p:sp>
      <p:pic>
        <p:nvPicPr>
          <p:cNvPr id="31" name="Image 4" descr="preencoded.png"/>
          <p:cNvPicPr>
            <a:picLocks noChangeAspect="1"/>
          </p:cNvPicPr>
          <p:nvPr/>
        </p:nvPicPr>
        <p:blipFill>
          <a:blip r:embed="rId7"/>
          <a:stretch>
            <a:fillRect/>
          </a:stretch>
        </p:blipFill>
        <p:spPr>
          <a:xfrm>
            <a:off x="7653528" y="1399032"/>
            <a:ext cx="347472" cy="347472"/>
          </a:xfrm>
          <a:prstGeom prst="rect">
            <a:avLst/>
          </a:prstGeom>
        </p:spPr>
      </p:pic>
      <p:sp>
        <p:nvSpPr>
          <p:cNvPr id="32" name="Text 25"/>
          <p:cNvSpPr/>
          <p:nvPr/>
        </p:nvSpPr>
        <p:spPr>
          <a:xfrm>
            <a:off x="7168896" y="1965960"/>
            <a:ext cx="1463040" cy="274320"/>
          </a:xfrm>
          <a:prstGeom prst="rect">
            <a:avLst/>
          </a:prstGeom>
          <a:noFill/>
          <a:ln/>
        </p:spPr>
        <p:txBody>
          <a:bodyPr wrap="square" lIns="0" tIns="0" rIns="0" bIns="0" rtlCol="0" anchor="ctr"/>
          <a:lstStyle/>
          <a:p>
            <a:pPr marL="0" indent="0" algn="ctr">
              <a:buNone/>
            </a:pPr>
            <a:r>
              <a:rPr lang="en-US" sz="1100" b="1" dirty="0">
                <a:solidFill>
                  <a:srgbClr val="0F172A"/>
                </a:solidFill>
                <a:latin typeface="Poppins" pitchFamily="34" charset="0"/>
                <a:ea typeface="Poppins" pitchFamily="34" charset="-122"/>
                <a:cs typeface="Poppins" pitchFamily="34" charset="-120"/>
              </a:rPr>
              <a:t>Formation</a:t>
            </a:r>
            <a:endParaRPr lang="en-US" sz="1100" dirty="0"/>
          </a:p>
        </p:txBody>
      </p:sp>
      <p:sp>
        <p:nvSpPr>
          <p:cNvPr id="33" name="Text 26"/>
          <p:cNvSpPr/>
          <p:nvPr/>
        </p:nvSpPr>
        <p:spPr>
          <a:xfrm>
            <a:off x="7168896" y="2286000"/>
            <a:ext cx="1463040" cy="594360"/>
          </a:xfrm>
          <a:prstGeom prst="rect">
            <a:avLst/>
          </a:prstGeom>
          <a:noFill/>
          <a:ln/>
        </p:spPr>
        <p:txBody>
          <a:bodyPr wrap="square" lIns="0" tIns="0" rIns="0" bIns="0" rtlCol="0" anchor="ctr"/>
          <a:lstStyle/>
          <a:p>
            <a:pPr marL="0" indent="0" algn="ctr">
              <a:lnSpc>
                <a:spcPct val="130000"/>
              </a:lnSpc>
              <a:buNone/>
            </a:pPr>
            <a:r>
              <a:rPr lang="en-US" sz="900" dirty="0">
                <a:solidFill>
                  <a:srgbClr val="374151"/>
                </a:solidFill>
                <a:latin typeface="Poppins" pitchFamily="34" charset="0"/>
                <a:ea typeface="Poppins" pitchFamily="34" charset="-122"/>
                <a:cs typeface="Poppins" pitchFamily="34" charset="-120"/>
              </a:rPr>
              <a:t>KINN Academy</a:t>
            </a:r>
            <a:endParaRPr lang="en-US" sz="900" dirty="0"/>
          </a:p>
          <a:p>
            <a:pPr marL="0" indent="0" algn="ctr">
              <a:lnSpc>
                <a:spcPct val="130000"/>
              </a:lnSpc>
              <a:buNone/>
            </a:pPr>
            <a:r>
              <a:rPr lang="en-US" sz="900" dirty="0">
                <a:solidFill>
                  <a:srgbClr val="374151"/>
                </a:solidFill>
                <a:latin typeface="Poppins" pitchFamily="34" charset="0"/>
                <a:ea typeface="Poppins" pitchFamily="34" charset="-122"/>
                <a:cs typeface="Poppins" pitchFamily="34" charset="-120"/>
              </a:rPr>
              <a:t>Certification consultants</a:t>
            </a:r>
            <a:endParaRPr lang="en-US" sz="900" dirty="0"/>
          </a:p>
        </p:txBody>
      </p:sp>
      <p:sp>
        <p:nvSpPr>
          <p:cNvPr id="34" name="Shape 27"/>
          <p:cNvSpPr/>
          <p:nvPr/>
        </p:nvSpPr>
        <p:spPr>
          <a:xfrm>
            <a:off x="640080" y="3840480"/>
            <a:ext cx="7863840" cy="548640"/>
          </a:xfrm>
          <a:prstGeom prst="rect">
            <a:avLst/>
          </a:prstGeom>
          <a:solidFill>
            <a:srgbClr val="EBF5FF"/>
          </a:solidFill>
          <a:ln/>
        </p:spPr>
        <p:txBody>
          <a:bodyPr/>
          <a:lstStyle/>
          <a:p>
            <a:endParaRPr lang="fr-FR"/>
          </a:p>
        </p:txBody>
      </p:sp>
      <p:sp>
        <p:nvSpPr>
          <p:cNvPr id="35" name="Text 28"/>
          <p:cNvSpPr/>
          <p:nvPr/>
        </p:nvSpPr>
        <p:spPr>
          <a:xfrm>
            <a:off x="640080" y="3840480"/>
            <a:ext cx="7863840" cy="548640"/>
          </a:xfrm>
          <a:prstGeom prst="rect">
            <a:avLst/>
          </a:prstGeom>
          <a:noFill/>
          <a:ln/>
        </p:spPr>
        <p:txBody>
          <a:bodyPr wrap="square" lIns="0" tIns="0" rIns="0" bIns="0" rtlCol="0" anchor="ctr"/>
          <a:lstStyle/>
          <a:p>
            <a:pPr marL="0" indent="0" algn="ctr">
              <a:buNone/>
            </a:pPr>
            <a:r>
              <a:rPr lang="en-US" sz="1200" b="1" dirty="0">
                <a:solidFill>
                  <a:srgbClr val="1677FF"/>
                </a:solidFill>
                <a:latin typeface="Poppins" pitchFamily="34" charset="0"/>
                <a:ea typeface="Poppins" pitchFamily="34" charset="-122"/>
                <a:cs typeface="Poppins" pitchFamily="34" charset="-120"/>
              </a:rPr>
              <a:t>Un modèle conçu pour une croissance forte à faible coût d'acquisition</a:t>
            </a:r>
            <a:endParaRPr lang="en-US" sz="1200" dirty="0"/>
          </a:p>
        </p:txBody>
      </p:sp>
      <p:sp>
        <p:nvSpPr>
          <p:cNvPr id="36" name="Text 29"/>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900" dirty="0">
                <a:solidFill>
                  <a:srgbClr val="9CA3AF"/>
                </a:solidFill>
                <a:latin typeface="Poppins" pitchFamily="34" charset="0"/>
                <a:ea typeface="Poppins" pitchFamily="34" charset="-122"/>
                <a:cs typeface="Poppins"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74320"/>
            <a:ext cx="8229600" cy="457200"/>
          </a:xfrm>
          <a:prstGeom prst="rect">
            <a:avLst/>
          </a:prstGeom>
          <a:noFill/>
          <a:ln/>
        </p:spPr>
        <p:txBody>
          <a:bodyPr wrap="square" lIns="0" tIns="0" rIns="0" bIns="0" rtlCol="0" anchor="ctr"/>
          <a:lstStyle/>
          <a:p>
            <a:pPr marL="0" indent="0">
              <a:buNone/>
            </a:pPr>
            <a:r>
              <a:rPr lang="en-US" sz="2800" b="1" dirty="0">
                <a:solidFill>
                  <a:srgbClr val="0F172A"/>
                </a:solidFill>
                <a:latin typeface="Poppins" pitchFamily="34" charset="0"/>
                <a:ea typeface="Poppins" pitchFamily="34" charset="-122"/>
                <a:cs typeface="Poppins" pitchFamily="34" charset="-120"/>
              </a:rPr>
              <a:t>Projection réseau de consultants</a:t>
            </a:r>
            <a:endParaRPr lang="en-US" sz="2800" dirty="0"/>
          </a:p>
        </p:txBody>
      </p:sp>
      <p:sp>
        <p:nvSpPr>
          <p:cNvPr id="3" name="Text 1"/>
          <p:cNvSpPr/>
          <p:nvPr/>
        </p:nvSpPr>
        <p:spPr>
          <a:xfrm>
            <a:off x="640080" y="713232"/>
            <a:ext cx="7772400" cy="274320"/>
          </a:xfrm>
          <a:prstGeom prst="rect">
            <a:avLst/>
          </a:prstGeom>
          <a:noFill/>
          <a:ln/>
        </p:spPr>
        <p:txBody>
          <a:bodyPr wrap="square" lIns="0" tIns="0" rIns="0" bIns="0" rtlCol="0" anchor="ctr"/>
          <a:lstStyle/>
          <a:p>
            <a:pPr marL="0" indent="0">
              <a:buNone/>
            </a:pPr>
            <a:r>
              <a:rPr lang="en-US" sz="1000" dirty="0">
                <a:solidFill>
                  <a:srgbClr val="6B7280"/>
                </a:solidFill>
                <a:latin typeface="Poppins" pitchFamily="34" charset="0"/>
                <a:ea typeface="Poppins" pitchFamily="34" charset="-122"/>
                <a:cs typeface="Poppins" pitchFamily="34" charset="-120"/>
              </a:rPr>
              <a:t>Simulation avec churn : 1,8%/mois consultant · 1,5%/mois client · rétention partielle à l'exit</a:t>
            </a:r>
            <a:endParaRPr lang="en-US" sz="1000" dirty="0"/>
          </a:p>
        </p:txBody>
      </p:sp>
      <p:graphicFrame>
        <p:nvGraphicFramePr>
          <p:cNvPr id="4" name="Chart 0"/>
          <p:cNvGraphicFramePr/>
          <p:nvPr/>
        </p:nvGraphicFramePr>
        <p:xfrm>
          <a:off x="274320" y="1097280"/>
          <a:ext cx="502920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577840" y="1097280"/>
            <a:ext cx="3200400" cy="594360"/>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6" name="Text 3"/>
          <p:cNvSpPr/>
          <p:nvPr/>
        </p:nvSpPr>
        <p:spPr>
          <a:xfrm>
            <a:off x="5669280" y="1124712"/>
            <a:ext cx="1371600" cy="182880"/>
          </a:xfrm>
          <a:prstGeom prst="rect">
            <a:avLst/>
          </a:prstGeom>
          <a:noFill/>
          <a:ln/>
        </p:spPr>
        <p:txBody>
          <a:bodyPr wrap="square" lIns="0" tIns="0" rIns="0" bIns="0" rtlCol="0" anchor="ctr"/>
          <a:lstStyle/>
          <a:p>
            <a:pPr marL="0" indent="0">
              <a:buNone/>
            </a:pPr>
            <a:r>
              <a:rPr lang="en-US" sz="850" b="1" dirty="0">
                <a:solidFill>
                  <a:srgbClr val="1677FF"/>
                </a:solidFill>
                <a:latin typeface="Poppins" pitchFamily="34" charset="0"/>
                <a:ea typeface="Poppins" pitchFamily="34" charset="-122"/>
                <a:cs typeface="Poppins" pitchFamily="34" charset="-120"/>
              </a:rPr>
              <a:t>Recrutement</a:t>
            </a:r>
            <a:endParaRPr lang="en-US" sz="850" dirty="0"/>
          </a:p>
        </p:txBody>
      </p:sp>
      <p:sp>
        <p:nvSpPr>
          <p:cNvPr id="7" name="Text 4"/>
          <p:cNvSpPr/>
          <p:nvPr/>
        </p:nvSpPr>
        <p:spPr>
          <a:xfrm>
            <a:off x="7040880" y="1124712"/>
            <a:ext cx="1645920" cy="182880"/>
          </a:xfrm>
          <a:prstGeom prst="rect">
            <a:avLst/>
          </a:prstGeom>
          <a:noFill/>
          <a:ln/>
        </p:spPr>
        <p:txBody>
          <a:bodyPr wrap="square" lIns="0" tIns="0" rIns="0" bIns="0" rtlCol="0" anchor="ctr"/>
          <a:lstStyle/>
          <a:p>
            <a:pPr marL="0" indent="0" algn="r">
              <a:buNone/>
            </a:pPr>
            <a:r>
              <a:rPr lang="en-US" sz="1000" b="1" dirty="0">
                <a:solidFill>
                  <a:srgbClr val="0F172A"/>
                </a:solidFill>
                <a:latin typeface="Poppins" pitchFamily="34" charset="0"/>
                <a:ea typeface="Poppins" pitchFamily="34" charset="-122"/>
                <a:cs typeface="Poppins" pitchFamily="34" charset="-120"/>
              </a:rPr>
              <a:t>18/an +30%</a:t>
            </a:r>
            <a:endParaRPr lang="en-US" sz="1000" dirty="0"/>
          </a:p>
        </p:txBody>
      </p:sp>
      <p:sp>
        <p:nvSpPr>
          <p:cNvPr id="8" name="Text 5"/>
          <p:cNvSpPr/>
          <p:nvPr/>
        </p:nvSpPr>
        <p:spPr>
          <a:xfrm>
            <a:off x="5669280" y="1325880"/>
            <a:ext cx="2926080" cy="320040"/>
          </a:xfrm>
          <a:prstGeom prst="rect">
            <a:avLst/>
          </a:prstGeom>
          <a:noFill/>
          <a:ln/>
        </p:spPr>
        <p:txBody>
          <a:bodyPr wrap="square" lIns="0" tIns="0" rIns="0" bIns="0" rtlCol="0" anchor="ctr"/>
          <a:lstStyle/>
          <a:p>
            <a:pPr marL="0" indent="0">
              <a:lnSpc>
                <a:spcPct val="115000"/>
              </a:lnSpc>
              <a:buNone/>
            </a:pPr>
            <a:r>
              <a:rPr lang="en-US" sz="750" dirty="0">
                <a:solidFill>
                  <a:srgbClr val="374151"/>
                </a:solidFill>
                <a:latin typeface="Poppins" pitchFamily="34" charset="0"/>
                <a:ea typeface="Poppins" pitchFamily="34" charset="-122"/>
                <a:cs typeface="Poppins" pitchFamily="34" charset="-120"/>
              </a:rPr>
              <a:t>Certifiés KINN Academy</a:t>
            </a:r>
            <a:endParaRPr lang="en-US" sz="750" dirty="0"/>
          </a:p>
          <a:p>
            <a:pPr marL="0" indent="0">
              <a:lnSpc>
                <a:spcPct val="115000"/>
              </a:lnSpc>
              <a:buNone/>
            </a:pPr>
            <a:r>
              <a:rPr lang="en-US" sz="750" dirty="0">
                <a:solidFill>
                  <a:srgbClr val="374151"/>
                </a:solidFill>
                <a:latin typeface="Poppins" pitchFamily="34" charset="0"/>
                <a:ea typeface="Poppins" pitchFamily="34" charset="-122"/>
                <a:cs typeface="Poppins" pitchFamily="34" charset="-120"/>
              </a:rPr>
              <a:t>Croissance +30%/an du volume</a:t>
            </a:r>
            <a:endParaRPr lang="en-US" sz="750" dirty="0"/>
          </a:p>
        </p:txBody>
      </p:sp>
      <p:sp>
        <p:nvSpPr>
          <p:cNvPr id="9" name="Shape 6"/>
          <p:cNvSpPr/>
          <p:nvPr/>
        </p:nvSpPr>
        <p:spPr>
          <a:xfrm>
            <a:off x="5577840" y="1792224"/>
            <a:ext cx="3200400" cy="594360"/>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10" name="Text 7"/>
          <p:cNvSpPr/>
          <p:nvPr/>
        </p:nvSpPr>
        <p:spPr>
          <a:xfrm>
            <a:off x="5669280" y="1819656"/>
            <a:ext cx="1371600" cy="182880"/>
          </a:xfrm>
          <a:prstGeom prst="rect">
            <a:avLst/>
          </a:prstGeom>
          <a:noFill/>
          <a:ln/>
        </p:spPr>
        <p:txBody>
          <a:bodyPr wrap="square" lIns="0" tIns="0" rIns="0" bIns="0" rtlCol="0" anchor="ctr"/>
          <a:lstStyle/>
          <a:p>
            <a:pPr marL="0" indent="0">
              <a:buNone/>
            </a:pPr>
            <a:r>
              <a:rPr lang="en-US" sz="850" b="1" dirty="0">
                <a:solidFill>
                  <a:srgbClr val="1677FF"/>
                </a:solidFill>
                <a:latin typeface="Poppins" pitchFamily="34" charset="0"/>
                <a:ea typeface="Poppins" pitchFamily="34" charset="-122"/>
                <a:cs typeface="Poppins" pitchFamily="34" charset="-120"/>
              </a:rPr>
              <a:t>Production</a:t>
            </a:r>
            <a:endParaRPr lang="en-US" sz="850" dirty="0"/>
          </a:p>
        </p:txBody>
      </p:sp>
      <p:sp>
        <p:nvSpPr>
          <p:cNvPr id="11" name="Text 8"/>
          <p:cNvSpPr/>
          <p:nvPr/>
        </p:nvSpPr>
        <p:spPr>
          <a:xfrm>
            <a:off x="7040880" y="1819656"/>
            <a:ext cx="1645920" cy="182880"/>
          </a:xfrm>
          <a:prstGeom prst="rect">
            <a:avLst/>
          </a:prstGeom>
          <a:noFill/>
          <a:ln/>
        </p:spPr>
        <p:txBody>
          <a:bodyPr wrap="square" lIns="0" tIns="0" rIns="0" bIns="0" rtlCol="0" anchor="ctr"/>
          <a:lstStyle/>
          <a:p>
            <a:pPr marL="0" indent="0" algn="r">
              <a:buNone/>
            </a:pPr>
            <a:r>
              <a:rPr lang="en-US" sz="1000" b="1" dirty="0">
                <a:solidFill>
                  <a:srgbClr val="0F172A"/>
                </a:solidFill>
                <a:latin typeface="Poppins" pitchFamily="34" charset="0"/>
                <a:ea typeface="Poppins" pitchFamily="34" charset="-122"/>
                <a:cs typeface="Poppins" pitchFamily="34" charset="-120"/>
              </a:rPr>
              <a:t>0-3 clients/mois</a:t>
            </a:r>
            <a:endParaRPr lang="en-US" sz="1000" dirty="0"/>
          </a:p>
        </p:txBody>
      </p:sp>
      <p:sp>
        <p:nvSpPr>
          <p:cNvPr id="12" name="Text 9"/>
          <p:cNvSpPr/>
          <p:nvPr/>
        </p:nvSpPr>
        <p:spPr>
          <a:xfrm>
            <a:off x="5669280" y="2020824"/>
            <a:ext cx="2926080" cy="320040"/>
          </a:xfrm>
          <a:prstGeom prst="rect">
            <a:avLst/>
          </a:prstGeom>
          <a:noFill/>
          <a:ln/>
        </p:spPr>
        <p:txBody>
          <a:bodyPr wrap="square" lIns="0" tIns="0" rIns="0" bIns="0" rtlCol="0" anchor="ctr"/>
          <a:lstStyle/>
          <a:p>
            <a:pPr marL="0" indent="0">
              <a:lnSpc>
                <a:spcPct val="115000"/>
              </a:lnSpc>
              <a:buNone/>
            </a:pPr>
            <a:r>
              <a:rPr lang="en-US" sz="750" dirty="0">
                <a:solidFill>
                  <a:srgbClr val="374151"/>
                </a:solidFill>
                <a:latin typeface="Poppins" pitchFamily="34" charset="0"/>
                <a:ea typeface="Poppins" pitchFamily="34" charset="-122"/>
                <a:cs typeface="Poppins" pitchFamily="34" charset="-120"/>
              </a:rPr>
              <a:t>Par consultant actif · Ramp 2 mois</a:t>
            </a:r>
            <a:endParaRPr lang="en-US" sz="750" dirty="0"/>
          </a:p>
          <a:p>
            <a:pPr marL="0" indent="0">
              <a:lnSpc>
                <a:spcPct val="115000"/>
              </a:lnSpc>
              <a:buNone/>
            </a:pPr>
            <a:r>
              <a:rPr lang="en-US" sz="750" dirty="0">
                <a:solidFill>
                  <a:srgbClr val="374151"/>
                </a:solidFill>
                <a:latin typeface="Poppins" pitchFamily="34" charset="0"/>
                <a:ea typeface="Poppins" pitchFamily="34" charset="-122"/>
                <a:cs typeface="Poppins" pitchFamily="34" charset="-120"/>
              </a:rPr>
              <a:t>Max portfolio : 10 clients</a:t>
            </a:r>
            <a:endParaRPr lang="en-US" sz="750" dirty="0"/>
          </a:p>
        </p:txBody>
      </p:sp>
      <p:sp>
        <p:nvSpPr>
          <p:cNvPr id="13" name="Shape 10"/>
          <p:cNvSpPr/>
          <p:nvPr/>
        </p:nvSpPr>
        <p:spPr>
          <a:xfrm>
            <a:off x="5577840" y="2487168"/>
            <a:ext cx="3200400" cy="594360"/>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14" name="Text 11"/>
          <p:cNvSpPr/>
          <p:nvPr/>
        </p:nvSpPr>
        <p:spPr>
          <a:xfrm>
            <a:off x="5669280" y="2514600"/>
            <a:ext cx="1371600" cy="182880"/>
          </a:xfrm>
          <a:prstGeom prst="rect">
            <a:avLst/>
          </a:prstGeom>
          <a:noFill/>
          <a:ln/>
        </p:spPr>
        <p:txBody>
          <a:bodyPr wrap="square" lIns="0" tIns="0" rIns="0" bIns="0" rtlCol="0" anchor="ctr"/>
          <a:lstStyle/>
          <a:p>
            <a:pPr marL="0" indent="0">
              <a:buNone/>
            </a:pPr>
            <a:r>
              <a:rPr lang="en-US" sz="850" b="1" dirty="0">
                <a:solidFill>
                  <a:srgbClr val="1677FF"/>
                </a:solidFill>
                <a:latin typeface="Poppins" pitchFamily="34" charset="0"/>
                <a:ea typeface="Poppins" pitchFamily="34" charset="-122"/>
                <a:cs typeface="Poppins" pitchFamily="34" charset="-120"/>
              </a:rPr>
              <a:t>Churn consultant</a:t>
            </a:r>
            <a:endParaRPr lang="en-US" sz="850" dirty="0"/>
          </a:p>
        </p:txBody>
      </p:sp>
      <p:sp>
        <p:nvSpPr>
          <p:cNvPr id="15" name="Text 12"/>
          <p:cNvSpPr/>
          <p:nvPr/>
        </p:nvSpPr>
        <p:spPr>
          <a:xfrm>
            <a:off x="7040880" y="2514600"/>
            <a:ext cx="1645920" cy="182880"/>
          </a:xfrm>
          <a:prstGeom prst="rect">
            <a:avLst/>
          </a:prstGeom>
          <a:noFill/>
          <a:ln/>
        </p:spPr>
        <p:txBody>
          <a:bodyPr wrap="square" lIns="0" tIns="0" rIns="0" bIns="0" rtlCol="0" anchor="ctr"/>
          <a:lstStyle/>
          <a:p>
            <a:pPr marL="0" indent="0" algn="r">
              <a:buNone/>
            </a:pPr>
            <a:r>
              <a:rPr lang="en-US" sz="1000" b="1" dirty="0">
                <a:solidFill>
                  <a:srgbClr val="0F172A"/>
                </a:solidFill>
                <a:latin typeface="Poppins" pitchFamily="34" charset="0"/>
                <a:ea typeface="Poppins" pitchFamily="34" charset="-122"/>
                <a:cs typeface="Poppins" pitchFamily="34" charset="-120"/>
              </a:rPr>
              <a:t>~20%/an</a:t>
            </a:r>
            <a:endParaRPr lang="en-US" sz="1000" dirty="0"/>
          </a:p>
        </p:txBody>
      </p:sp>
      <p:sp>
        <p:nvSpPr>
          <p:cNvPr id="16" name="Text 13"/>
          <p:cNvSpPr/>
          <p:nvPr/>
        </p:nvSpPr>
        <p:spPr>
          <a:xfrm>
            <a:off x="5669280" y="2715768"/>
            <a:ext cx="2926080" cy="320040"/>
          </a:xfrm>
          <a:prstGeom prst="rect">
            <a:avLst/>
          </a:prstGeom>
          <a:noFill/>
          <a:ln/>
        </p:spPr>
        <p:txBody>
          <a:bodyPr wrap="square" lIns="0" tIns="0" rIns="0" bIns="0" rtlCol="0" anchor="ctr"/>
          <a:lstStyle/>
          <a:p>
            <a:pPr marL="0" indent="0">
              <a:lnSpc>
                <a:spcPct val="115000"/>
              </a:lnSpc>
              <a:buNone/>
            </a:pPr>
            <a:r>
              <a:rPr lang="en-US" sz="750" dirty="0">
                <a:solidFill>
                  <a:srgbClr val="374151"/>
                </a:solidFill>
                <a:latin typeface="Poppins" pitchFamily="34" charset="0"/>
                <a:ea typeface="Poppins" pitchFamily="34" charset="-122"/>
                <a:cs typeface="Poppins" pitchFamily="34" charset="-120"/>
              </a:rPr>
              <a:t>1,8%/mois · 40% partent avec clients</a:t>
            </a:r>
            <a:endParaRPr lang="en-US" sz="750" dirty="0"/>
          </a:p>
          <a:p>
            <a:pPr marL="0" indent="0">
              <a:lnSpc>
                <a:spcPct val="115000"/>
              </a:lnSpc>
              <a:buNone/>
            </a:pPr>
            <a:r>
              <a:rPr lang="en-US" sz="750" dirty="0">
                <a:solidFill>
                  <a:srgbClr val="374151"/>
                </a:solidFill>
                <a:latin typeface="Poppins" pitchFamily="34" charset="0"/>
                <a:ea typeface="Poppins" pitchFamily="34" charset="-122"/>
                <a:cs typeface="Poppins" pitchFamily="34" charset="-120"/>
              </a:rPr>
              <a:t>30% rétention partielle (pool)</a:t>
            </a:r>
            <a:endParaRPr lang="en-US" sz="750" dirty="0"/>
          </a:p>
        </p:txBody>
      </p:sp>
      <p:sp>
        <p:nvSpPr>
          <p:cNvPr id="17" name="Shape 14"/>
          <p:cNvSpPr/>
          <p:nvPr/>
        </p:nvSpPr>
        <p:spPr>
          <a:xfrm>
            <a:off x="5577840" y="3182112"/>
            <a:ext cx="3200400" cy="594360"/>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18" name="Text 15"/>
          <p:cNvSpPr/>
          <p:nvPr/>
        </p:nvSpPr>
        <p:spPr>
          <a:xfrm>
            <a:off x="5669280" y="3209544"/>
            <a:ext cx="1371600" cy="182880"/>
          </a:xfrm>
          <a:prstGeom prst="rect">
            <a:avLst/>
          </a:prstGeom>
          <a:noFill/>
          <a:ln/>
        </p:spPr>
        <p:txBody>
          <a:bodyPr wrap="square" lIns="0" tIns="0" rIns="0" bIns="0" rtlCol="0" anchor="ctr"/>
          <a:lstStyle/>
          <a:p>
            <a:pPr marL="0" indent="0">
              <a:buNone/>
            </a:pPr>
            <a:r>
              <a:rPr lang="en-US" sz="850" b="1" dirty="0">
                <a:solidFill>
                  <a:srgbClr val="1677FF"/>
                </a:solidFill>
                <a:latin typeface="Poppins" pitchFamily="34" charset="0"/>
                <a:ea typeface="Poppins" pitchFamily="34" charset="-122"/>
                <a:cs typeface="Poppins" pitchFamily="34" charset="-120"/>
              </a:rPr>
              <a:t>Churn client</a:t>
            </a:r>
            <a:endParaRPr lang="en-US" sz="850" dirty="0"/>
          </a:p>
        </p:txBody>
      </p:sp>
      <p:sp>
        <p:nvSpPr>
          <p:cNvPr id="19" name="Text 16"/>
          <p:cNvSpPr/>
          <p:nvPr/>
        </p:nvSpPr>
        <p:spPr>
          <a:xfrm>
            <a:off x="7040880" y="3209544"/>
            <a:ext cx="1645920" cy="182880"/>
          </a:xfrm>
          <a:prstGeom prst="rect">
            <a:avLst/>
          </a:prstGeom>
          <a:noFill/>
          <a:ln/>
        </p:spPr>
        <p:txBody>
          <a:bodyPr wrap="square" lIns="0" tIns="0" rIns="0" bIns="0" rtlCol="0" anchor="ctr"/>
          <a:lstStyle/>
          <a:p>
            <a:pPr marL="0" indent="0" algn="r">
              <a:buNone/>
            </a:pPr>
            <a:r>
              <a:rPr lang="en-US" sz="1000" b="1" dirty="0">
                <a:solidFill>
                  <a:srgbClr val="0F172A"/>
                </a:solidFill>
                <a:latin typeface="Poppins" pitchFamily="34" charset="0"/>
                <a:ea typeface="Poppins" pitchFamily="34" charset="-122"/>
                <a:cs typeface="Poppins" pitchFamily="34" charset="-120"/>
              </a:rPr>
              <a:t>~1,5%/mois</a:t>
            </a:r>
            <a:endParaRPr lang="en-US" sz="1000" dirty="0"/>
          </a:p>
        </p:txBody>
      </p:sp>
      <p:sp>
        <p:nvSpPr>
          <p:cNvPr id="20" name="Text 17"/>
          <p:cNvSpPr/>
          <p:nvPr/>
        </p:nvSpPr>
        <p:spPr>
          <a:xfrm>
            <a:off x="5669280" y="3410712"/>
            <a:ext cx="2926080" cy="320040"/>
          </a:xfrm>
          <a:prstGeom prst="rect">
            <a:avLst/>
          </a:prstGeom>
          <a:noFill/>
          <a:ln/>
        </p:spPr>
        <p:txBody>
          <a:bodyPr wrap="square" lIns="0" tIns="0" rIns="0" bIns="0" rtlCol="0" anchor="ctr"/>
          <a:lstStyle/>
          <a:p>
            <a:pPr marL="0" indent="0">
              <a:lnSpc>
                <a:spcPct val="115000"/>
              </a:lnSpc>
              <a:buNone/>
            </a:pPr>
            <a:r>
              <a:rPr lang="en-US" sz="750" dirty="0">
                <a:solidFill>
                  <a:srgbClr val="374151"/>
                </a:solidFill>
                <a:latin typeface="Poppins" pitchFamily="34" charset="0"/>
                <a:ea typeface="Poppins" pitchFamily="34" charset="-122"/>
                <a:cs typeface="Poppins" pitchFamily="34" charset="-120"/>
              </a:rPr>
              <a:t>Attrition naturelle attachée</a:t>
            </a:r>
            <a:endParaRPr lang="en-US" sz="750" dirty="0"/>
          </a:p>
          <a:p>
            <a:pPr marL="0" indent="0">
              <a:lnSpc>
                <a:spcPct val="115000"/>
              </a:lnSpc>
              <a:buNone/>
            </a:pPr>
            <a:r>
              <a:rPr lang="en-US" sz="750" dirty="0">
                <a:solidFill>
                  <a:srgbClr val="374151"/>
                </a:solidFill>
                <a:latin typeface="Poppins" pitchFamily="34" charset="0"/>
                <a:ea typeface="Poppins" pitchFamily="34" charset="-122"/>
                <a:cs typeface="Poppins" pitchFamily="34" charset="-120"/>
              </a:rPr>
              <a:t>Pool : churn réduit ×0,25</a:t>
            </a:r>
            <a:endParaRPr lang="en-US" sz="750" dirty="0"/>
          </a:p>
        </p:txBody>
      </p:sp>
      <p:sp>
        <p:nvSpPr>
          <p:cNvPr id="21" name="Shape 18"/>
          <p:cNvSpPr/>
          <p:nvPr/>
        </p:nvSpPr>
        <p:spPr>
          <a:xfrm>
            <a:off x="5577840" y="3877056"/>
            <a:ext cx="3200400" cy="594360"/>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22" name="Text 19"/>
          <p:cNvSpPr/>
          <p:nvPr/>
        </p:nvSpPr>
        <p:spPr>
          <a:xfrm>
            <a:off x="5669280" y="3904488"/>
            <a:ext cx="1371600" cy="182880"/>
          </a:xfrm>
          <a:prstGeom prst="rect">
            <a:avLst/>
          </a:prstGeom>
          <a:noFill/>
          <a:ln/>
        </p:spPr>
        <p:txBody>
          <a:bodyPr wrap="square" lIns="0" tIns="0" rIns="0" bIns="0" rtlCol="0" anchor="ctr"/>
          <a:lstStyle/>
          <a:p>
            <a:pPr marL="0" indent="0">
              <a:buNone/>
            </a:pPr>
            <a:r>
              <a:rPr lang="en-US" sz="850" b="1" dirty="0">
                <a:solidFill>
                  <a:srgbClr val="1677FF"/>
                </a:solidFill>
                <a:latin typeface="Poppins" pitchFamily="34" charset="0"/>
                <a:ea typeface="Poppins" pitchFamily="34" charset="-122"/>
                <a:cs typeface="Poppins" pitchFamily="34" charset="-120"/>
              </a:rPr>
              <a:t>Recommandation</a:t>
            </a:r>
            <a:endParaRPr lang="en-US" sz="850" dirty="0"/>
          </a:p>
        </p:txBody>
      </p:sp>
      <p:sp>
        <p:nvSpPr>
          <p:cNvPr id="23" name="Text 20"/>
          <p:cNvSpPr/>
          <p:nvPr/>
        </p:nvSpPr>
        <p:spPr>
          <a:xfrm>
            <a:off x="7040880" y="3904488"/>
            <a:ext cx="1645920" cy="182880"/>
          </a:xfrm>
          <a:prstGeom prst="rect">
            <a:avLst/>
          </a:prstGeom>
          <a:noFill/>
          <a:ln/>
        </p:spPr>
        <p:txBody>
          <a:bodyPr wrap="square" lIns="0" tIns="0" rIns="0" bIns="0" rtlCol="0" anchor="ctr"/>
          <a:lstStyle/>
          <a:p>
            <a:pPr marL="0" indent="0" algn="r">
              <a:buNone/>
            </a:pPr>
            <a:r>
              <a:rPr lang="en-US" sz="1000" b="1" dirty="0">
                <a:solidFill>
                  <a:srgbClr val="0F172A"/>
                </a:solidFill>
                <a:latin typeface="Poppins" pitchFamily="34" charset="0"/>
                <a:ea typeface="Poppins" pitchFamily="34" charset="-122"/>
                <a:cs typeface="Poppins" pitchFamily="34" charset="-120"/>
              </a:rPr>
              <a:t>55% conv.</a:t>
            </a:r>
            <a:endParaRPr lang="en-US" sz="1000" dirty="0"/>
          </a:p>
        </p:txBody>
      </p:sp>
      <p:sp>
        <p:nvSpPr>
          <p:cNvPr id="24" name="Text 21"/>
          <p:cNvSpPr/>
          <p:nvPr/>
        </p:nvSpPr>
        <p:spPr>
          <a:xfrm>
            <a:off x="5669280" y="4105656"/>
            <a:ext cx="2926080" cy="320040"/>
          </a:xfrm>
          <a:prstGeom prst="rect">
            <a:avLst/>
          </a:prstGeom>
          <a:noFill/>
          <a:ln/>
        </p:spPr>
        <p:txBody>
          <a:bodyPr wrap="square" lIns="0" tIns="0" rIns="0" bIns="0" rtlCol="0" anchor="ctr"/>
          <a:lstStyle/>
          <a:p>
            <a:pPr marL="0" indent="0">
              <a:lnSpc>
                <a:spcPct val="115000"/>
              </a:lnSpc>
              <a:buNone/>
            </a:pPr>
            <a:r>
              <a:rPr lang="en-US" sz="750" dirty="0">
                <a:solidFill>
                  <a:srgbClr val="374151"/>
                </a:solidFill>
                <a:latin typeface="Poppins" pitchFamily="34" charset="0"/>
                <a:ea typeface="Poppins" pitchFamily="34" charset="-122"/>
                <a:cs typeface="Poppins" pitchFamily="34" charset="-120"/>
              </a:rPr>
              <a:t>Après 12 projets réalisés</a:t>
            </a:r>
            <a:endParaRPr lang="en-US" sz="750" dirty="0"/>
          </a:p>
          <a:p>
            <a:pPr marL="0" indent="0">
              <a:lnSpc>
                <a:spcPct val="115000"/>
              </a:lnSpc>
              <a:buNone/>
            </a:pPr>
            <a:r>
              <a:rPr lang="en-US" sz="750" dirty="0">
                <a:solidFill>
                  <a:srgbClr val="374151"/>
                </a:solidFill>
                <a:latin typeface="Poppins" pitchFamily="34" charset="0"/>
                <a:ea typeface="Poppins" pitchFamily="34" charset="-122"/>
                <a:cs typeface="Poppins" pitchFamily="34" charset="-120"/>
              </a:rPr>
              <a:t>→ +1 consultant recommandé</a:t>
            </a:r>
            <a:endParaRPr lang="en-US" sz="750" dirty="0"/>
          </a:p>
        </p:txBody>
      </p:sp>
      <p:sp>
        <p:nvSpPr>
          <p:cNvPr id="25" name="Text 22"/>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900" dirty="0">
                <a:solidFill>
                  <a:srgbClr val="9CA3AF"/>
                </a:solidFill>
                <a:latin typeface="Poppins" pitchFamily="34" charset="0"/>
                <a:ea typeface="Poppins" pitchFamily="34" charset="-122"/>
                <a:cs typeface="Poppins"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74320"/>
            <a:ext cx="8229600" cy="457200"/>
          </a:xfrm>
          <a:prstGeom prst="rect">
            <a:avLst/>
          </a:prstGeom>
          <a:noFill/>
          <a:ln/>
        </p:spPr>
        <p:txBody>
          <a:bodyPr wrap="square" lIns="0" tIns="0" rIns="0" bIns="0" rtlCol="0" anchor="ctr"/>
          <a:lstStyle/>
          <a:p>
            <a:pPr marL="0" indent="0">
              <a:buNone/>
            </a:pPr>
            <a:r>
              <a:rPr lang="en-US" sz="2800" b="1" dirty="0">
                <a:solidFill>
                  <a:srgbClr val="0F172A"/>
                </a:solidFill>
                <a:latin typeface="Poppins" pitchFamily="34" charset="0"/>
                <a:ea typeface="Poppins" pitchFamily="34" charset="-122"/>
                <a:cs typeface="Poppins" pitchFamily="34" charset="-120"/>
              </a:rPr>
              <a:t>Prévisionnel 3 ans</a:t>
            </a:r>
            <a:endParaRPr lang="en-US" sz="2800" dirty="0"/>
          </a:p>
        </p:txBody>
      </p:sp>
      <p:sp>
        <p:nvSpPr>
          <p:cNvPr id="3" name="Text 1"/>
          <p:cNvSpPr/>
          <p:nvPr/>
        </p:nvSpPr>
        <p:spPr>
          <a:xfrm>
            <a:off x="640080" y="713232"/>
            <a:ext cx="7315200" cy="274320"/>
          </a:xfrm>
          <a:prstGeom prst="rect">
            <a:avLst/>
          </a:prstGeom>
          <a:noFill/>
          <a:ln/>
        </p:spPr>
        <p:txBody>
          <a:bodyPr wrap="square" lIns="0" tIns="0" rIns="0" bIns="0" rtlCol="0" anchor="ctr"/>
          <a:lstStyle/>
          <a:p>
            <a:pPr marL="0" indent="0">
              <a:buNone/>
            </a:pPr>
            <a:r>
              <a:rPr lang="en-US" sz="1200" dirty="0">
                <a:solidFill>
                  <a:srgbClr val="6B7280"/>
                </a:solidFill>
                <a:latin typeface="Poppins" pitchFamily="34" charset="0"/>
                <a:ea typeface="Poppins" pitchFamily="34" charset="-122"/>
                <a:cs typeface="Poppins" pitchFamily="34" charset="-120"/>
              </a:rPr>
              <a:t>Source : Prévisionnel Forekasts C4RBON Group - Break-even 2027</a:t>
            </a:r>
            <a:endParaRPr lang="en-US" sz="1200" dirty="0"/>
          </a:p>
        </p:txBody>
      </p:sp>
      <p:graphicFrame>
        <p:nvGraphicFramePr>
          <p:cNvPr id="4" name="Chart 0"/>
          <p:cNvGraphicFramePr/>
          <p:nvPr/>
        </p:nvGraphicFramePr>
        <p:xfrm>
          <a:off x="274320" y="1097280"/>
          <a:ext cx="502920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577840" y="1097280"/>
            <a:ext cx="3200400" cy="749808"/>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6" name="Text 3"/>
          <p:cNvSpPr/>
          <p:nvPr/>
        </p:nvSpPr>
        <p:spPr>
          <a:xfrm>
            <a:off x="5715000" y="1133856"/>
            <a:ext cx="1371600" cy="201168"/>
          </a:xfrm>
          <a:prstGeom prst="rect">
            <a:avLst/>
          </a:prstGeom>
          <a:noFill/>
          <a:ln/>
        </p:spPr>
        <p:txBody>
          <a:bodyPr wrap="square" lIns="0" tIns="0" rIns="0" bIns="0" rtlCol="0" anchor="ctr"/>
          <a:lstStyle/>
          <a:p>
            <a:pPr marL="0" indent="0">
              <a:buNone/>
            </a:pPr>
            <a:r>
              <a:rPr lang="en-US" sz="1000" b="1" dirty="0">
                <a:solidFill>
                  <a:srgbClr val="1677FF"/>
                </a:solidFill>
                <a:latin typeface="Poppins" pitchFamily="34" charset="0"/>
                <a:ea typeface="Poppins" pitchFamily="34" charset="-122"/>
                <a:cs typeface="Poppins" pitchFamily="34" charset="-120"/>
              </a:rPr>
              <a:t>2025-2026</a:t>
            </a:r>
            <a:endParaRPr lang="en-US" sz="1000" dirty="0"/>
          </a:p>
        </p:txBody>
      </p:sp>
      <p:sp>
        <p:nvSpPr>
          <p:cNvPr id="7" name="Text 4"/>
          <p:cNvSpPr/>
          <p:nvPr/>
        </p:nvSpPr>
        <p:spPr>
          <a:xfrm>
            <a:off x="5715000" y="1335024"/>
            <a:ext cx="2926080" cy="201168"/>
          </a:xfrm>
          <a:prstGeom prst="rect">
            <a:avLst/>
          </a:prstGeom>
          <a:noFill/>
          <a:ln/>
        </p:spPr>
        <p:txBody>
          <a:bodyPr wrap="square" lIns="0" tIns="0" rIns="0" bIns="0" rtlCol="0" anchor="ctr"/>
          <a:lstStyle/>
          <a:p>
            <a:pPr marL="0" indent="0">
              <a:buNone/>
            </a:pPr>
            <a:r>
              <a:rPr lang="en-US" sz="950" dirty="0">
                <a:solidFill>
                  <a:srgbClr val="0F172A"/>
                </a:solidFill>
                <a:latin typeface="Poppins" pitchFamily="34" charset="0"/>
                <a:ea typeface="Poppins" pitchFamily="34" charset="-122"/>
                <a:cs typeface="Poppins" pitchFamily="34" charset="-120"/>
              </a:rPr>
              <a:t>CA: 77,7 k€  |  Résultat: -32,6 k€</a:t>
            </a:r>
            <a:endParaRPr lang="en-US" sz="950" dirty="0"/>
          </a:p>
        </p:txBody>
      </p:sp>
      <p:sp>
        <p:nvSpPr>
          <p:cNvPr id="8" name="Text 5"/>
          <p:cNvSpPr/>
          <p:nvPr/>
        </p:nvSpPr>
        <p:spPr>
          <a:xfrm>
            <a:off x="5715000" y="1554480"/>
            <a:ext cx="2926080" cy="201168"/>
          </a:xfrm>
          <a:prstGeom prst="rect">
            <a:avLst/>
          </a:prstGeom>
          <a:noFill/>
          <a:ln/>
        </p:spPr>
        <p:txBody>
          <a:bodyPr wrap="square" lIns="0" tIns="0" rIns="0" bIns="0" rtlCol="0" anchor="ctr"/>
          <a:lstStyle/>
          <a:p>
            <a:pPr marL="0" indent="0">
              <a:buNone/>
            </a:pPr>
            <a:r>
              <a:rPr lang="en-US" sz="800" dirty="0">
                <a:solidFill>
                  <a:srgbClr val="374151"/>
                </a:solidFill>
                <a:latin typeface="Poppins" pitchFamily="34" charset="0"/>
                <a:ea typeface="Poppins" pitchFamily="34" charset="-122"/>
                <a:cs typeface="Poppins" pitchFamily="34" charset="-120"/>
              </a:rPr>
              <a:t>Phase de lancement, ~306 clients (après churn)</a:t>
            </a:r>
            <a:endParaRPr lang="en-US" sz="800" dirty="0"/>
          </a:p>
        </p:txBody>
      </p:sp>
      <p:sp>
        <p:nvSpPr>
          <p:cNvPr id="9" name="Shape 6"/>
          <p:cNvSpPr/>
          <p:nvPr/>
        </p:nvSpPr>
        <p:spPr>
          <a:xfrm>
            <a:off x="5577840" y="1965960"/>
            <a:ext cx="3200400" cy="749808"/>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10" name="Text 7"/>
          <p:cNvSpPr/>
          <p:nvPr/>
        </p:nvSpPr>
        <p:spPr>
          <a:xfrm>
            <a:off x="5715000" y="2002536"/>
            <a:ext cx="1371600" cy="201168"/>
          </a:xfrm>
          <a:prstGeom prst="rect">
            <a:avLst/>
          </a:prstGeom>
          <a:noFill/>
          <a:ln/>
        </p:spPr>
        <p:txBody>
          <a:bodyPr wrap="square" lIns="0" tIns="0" rIns="0" bIns="0" rtlCol="0" anchor="ctr"/>
          <a:lstStyle/>
          <a:p>
            <a:pPr marL="0" indent="0">
              <a:buNone/>
            </a:pPr>
            <a:r>
              <a:rPr lang="en-US" sz="1000" b="1" dirty="0">
                <a:solidFill>
                  <a:srgbClr val="1677FF"/>
                </a:solidFill>
                <a:latin typeface="Poppins" pitchFamily="34" charset="0"/>
                <a:ea typeface="Poppins" pitchFamily="34" charset="-122"/>
                <a:cs typeface="Poppins" pitchFamily="34" charset="-120"/>
              </a:rPr>
              <a:t>2027</a:t>
            </a:r>
            <a:endParaRPr lang="en-US" sz="1000" dirty="0"/>
          </a:p>
        </p:txBody>
      </p:sp>
      <p:sp>
        <p:nvSpPr>
          <p:cNvPr id="11" name="Text 8"/>
          <p:cNvSpPr/>
          <p:nvPr/>
        </p:nvSpPr>
        <p:spPr>
          <a:xfrm>
            <a:off x="5715000" y="2203704"/>
            <a:ext cx="2926080" cy="201168"/>
          </a:xfrm>
          <a:prstGeom prst="rect">
            <a:avLst/>
          </a:prstGeom>
          <a:noFill/>
          <a:ln/>
        </p:spPr>
        <p:txBody>
          <a:bodyPr wrap="square" lIns="0" tIns="0" rIns="0" bIns="0" rtlCol="0" anchor="ctr"/>
          <a:lstStyle/>
          <a:p>
            <a:pPr marL="0" indent="0">
              <a:buNone/>
            </a:pPr>
            <a:r>
              <a:rPr lang="en-US" sz="950" dirty="0">
                <a:solidFill>
                  <a:srgbClr val="0F172A"/>
                </a:solidFill>
                <a:latin typeface="Poppins" pitchFamily="34" charset="0"/>
                <a:ea typeface="Poppins" pitchFamily="34" charset="-122"/>
                <a:cs typeface="Poppins" pitchFamily="34" charset="-120"/>
              </a:rPr>
              <a:t>CA: 288,4 k€  |  Résultat: +1,9 k€</a:t>
            </a:r>
            <a:endParaRPr lang="en-US" sz="950" dirty="0"/>
          </a:p>
        </p:txBody>
      </p:sp>
      <p:sp>
        <p:nvSpPr>
          <p:cNvPr id="12" name="Text 9"/>
          <p:cNvSpPr/>
          <p:nvPr/>
        </p:nvSpPr>
        <p:spPr>
          <a:xfrm>
            <a:off x="5715000" y="2423160"/>
            <a:ext cx="2926080" cy="201168"/>
          </a:xfrm>
          <a:prstGeom prst="rect">
            <a:avLst/>
          </a:prstGeom>
          <a:noFill/>
          <a:ln/>
        </p:spPr>
        <p:txBody>
          <a:bodyPr wrap="square" lIns="0" tIns="0" rIns="0" bIns="0" rtlCol="0" anchor="ctr"/>
          <a:lstStyle/>
          <a:p>
            <a:pPr marL="0" indent="0">
              <a:buNone/>
            </a:pPr>
            <a:r>
              <a:rPr lang="en-US" sz="800" dirty="0">
                <a:solidFill>
                  <a:srgbClr val="374151"/>
                </a:solidFill>
                <a:latin typeface="Poppins" pitchFamily="34" charset="0"/>
                <a:ea typeface="Poppins" pitchFamily="34" charset="-122"/>
                <a:cs typeface="Poppins" pitchFamily="34" charset="-120"/>
              </a:rPr>
              <a:t>Break-even, ~554 clients, marge nette 0,6%</a:t>
            </a:r>
            <a:endParaRPr lang="en-US" sz="800" dirty="0"/>
          </a:p>
        </p:txBody>
      </p:sp>
      <p:sp>
        <p:nvSpPr>
          <p:cNvPr id="13" name="Shape 10"/>
          <p:cNvSpPr/>
          <p:nvPr/>
        </p:nvSpPr>
        <p:spPr>
          <a:xfrm>
            <a:off x="5577840" y="2834640"/>
            <a:ext cx="3200400" cy="749808"/>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14" name="Text 11"/>
          <p:cNvSpPr/>
          <p:nvPr/>
        </p:nvSpPr>
        <p:spPr>
          <a:xfrm>
            <a:off x="5715000" y="2871216"/>
            <a:ext cx="1371600" cy="201168"/>
          </a:xfrm>
          <a:prstGeom prst="rect">
            <a:avLst/>
          </a:prstGeom>
          <a:noFill/>
          <a:ln/>
        </p:spPr>
        <p:txBody>
          <a:bodyPr wrap="square" lIns="0" tIns="0" rIns="0" bIns="0" rtlCol="0" anchor="ctr"/>
          <a:lstStyle/>
          <a:p>
            <a:pPr marL="0" indent="0">
              <a:buNone/>
            </a:pPr>
            <a:r>
              <a:rPr lang="en-US" sz="1000" b="1" dirty="0">
                <a:solidFill>
                  <a:srgbClr val="1677FF"/>
                </a:solidFill>
                <a:latin typeface="Poppins" pitchFamily="34" charset="0"/>
                <a:ea typeface="Poppins" pitchFamily="34" charset="-122"/>
                <a:cs typeface="Poppins" pitchFamily="34" charset="-120"/>
              </a:rPr>
              <a:t>2028</a:t>
            </a:r>
            <a:endParaRPr lang="en-US" sz="1000" dirty="0"/>
          </a:p>
        </p:txBody>
      </p:sp>
      <p:sp>
        <p:nvSpPr>
          <p:cNvPr id="15" name="Text 12"/>
          <p:cNvSpPr/>
          <p:nvPr/>
        </p:nvSpPr>
        <p:spPr>
          <a:xfrm>
            <a:off x="5715000" y="3072384"/>
            <a:ext cx="2926080" cy="201168"/>
          </a:xfrm>
          <a:prstGeom prst="rect">
            <a:avLst/>
          </a:prstGeom>
          <a:noFill/>
          <a:ln/>
        </p:spPr>
        <p:txBody>
          <a:bodyPr wrap="square" lIns="0" tIns="0" rIns="0" bIns="0" rtlCol="0" anchor="ctr"/>
          <a:lstStyle/>
          <a:p>
            <a:pPr marL="0" indent="0">
              <a:buNone/>
            </a:pPr>
            <a:r>
              <a:rPr lang="en-US" sz="950" dirty="0">
                <a:solidFill>
                  <a:srgbClr val="0F172A"/>
                </a:solidFill>
                <a:latin typeface="Poppins" pitchFamily="34" charset="0"/>
                <a:ea typeface="Poppins" pitchFamily="34" charset="-122"/>
                <a:cs typeface="Poppins" pitchFamily="34" charset="-120"/>
              </a:rPr>
              <a:t>CA: 816,9 k€  |  Résultat: +143,5 k€</a:t>
            </a:r>
            <a:endParaRPr lang="en-US" sz="950" dirty="0"/>
          </a:p>
        </p:txBody>
      </p:sp>
      <p:sp>
        <p:nvSpPr>
          <p:cNvPr id="16" name="Text 13"/>
          <p:cNvSpPr/>
          <p:nvPr/>
        </p:nvSpPr>
        <p:spPr>
          <a:xfrm>
            <a:off x="5715000" y="3291840"/>
            <a:ext cx="2926080" cy="201168"/>
          </a:xfrm>
          <a:prstGeom prst="rect">
            <a:avLst/>
          </a:prstGeom>
          <a:noFill/>
          <a:ln/>
        </p:spPr>
        <p:txBody>
          <a:bodyPr wrap="square" lIns="0" tIns="0" rIns="0" bIns="0" rtlCol="0" anchor="ctr"/>
          <a:lstStyle/>
          <a:p>
            <a:pPr marL="0" indent="0">
              <a:buNone/>
            </a:pPr>
            <a:r>
              <a:rPr lang="en-US" sz="800" dirty="0">
                <a:solidFill>
                  <a:srgbClr val="374151"/>
                </a:solidFill>
                <a:latin typeface="Poppins" pitchFamily="34" charset="0"/>
                <a:ea typeface="Poppins" pitchFamily="34" charset="-122"/>
                <a:cs typeface="Poppins" pitchFamily="34" charset="-120"/>
              </a:rPr>
              <a:t>~848 clients, marge nette 17,6%</a:t>
            </a:r>
            <a:endParaRPr lang="en-US" sz="800" dirty="0"/>
          </a:p>
        </p:txBody>
      </p:sp>
      <p:sp>
        <p:nvSpPr>
          <p:cNvPr id="17" name="Shape 14"/>
          <p:cNvSpPr/>
          <p:nvPr/>
        </p:nvSpPr>
        <p:spPr>
          <a:xfrm>
            <a:off x="5577840" y="3703320"/>
            <a:ext cx="3200400" cy="749808"/>
          </a:xfrm>
          <a:prstGeom prst="rect">
            <a:avLst/>
          </a:prstGeom>
          <a:solidFill>
            <a:srgbClr val="F7F9FC"/>
          </a:solidFill>
          <a:ln/>
          <a:effectLst>
            <a:outerShdw blurRad="76200" dist="25400" dir="8100000" algn="bl" rotWithShape="0">
              <a:srgbClr val="000000">
                <a:alpha val="6000"/>
              </a:srgbClr>
            </a:outerShdw>
          </a:effectLst>
        </p:spPr>
        <p:txBody>
          <a:bodyPr/>
          <a:lstStyle/>
          <a:p>
            <a:endParaRPr lang="fr-FR"/>
          </a:p>
        </p:txBody>
      </p:sp>
      <p:sp>
        <p:nvSpPr>
          <p:cNvPr id="18" name="Text 15"/>
          <p:cNvSpPr/>
          <p:nvPr/>
        </p:nvSpPr>
        <p:spPr>
          <a:xfrm>
            <a:off x="5715000" y="3739896"/>
            <a:ext cx="1371600" cy="201168"/>
          </a:xfrm>
          <a:prstGeom prst="rect">
            <a:avLst/>
          </a:prstGeom>
          <a:noFill/>
          <a:ln/>
        </p:spPr>
        <p:txBody>
          <a:bodyPr wrap="square" lIns="0" tIns="0" rIns="0" bIns="0" rtlCol="0" anchor="ctr"/>
          <a:lstStyle/>
          <a:p>
            <a:pPr marL="0" indent="0">
              <a:buNone/>
            </a:pPr>
            <a:r>
              <a:rPr lang="en-US" sz="1000" b="1" dirty="0">
                <a:solidFill>
                  <a:srgbClr val="1677FF"/>
                </a:solidFill>
                <a:latin typeface="Poppins" pitchFamily="34" charset="0"/>
                <a:ea typeface="Poppins" pitchFamily="34" charset="-122"/>
                <a:cs typeface="Poppins" pitchFamily="34" charset="-120"/>
              </a:rPr>
              <a:t>2029</a:t>
            </a:r>
            <a:endParaRPr lang="en-US" sz="1000" dirty="0"/>
          </a:p>
        </p:txBody>
      </p:sp>
      <p:sp>
        <p:nvSpPr>
          <p:cNvPr id="19" name="Text 16"/>
          <p:cNvSpPr/>
          <p:nvPr/>
        </p:nvSpPr>
        <p:spPr>
          <a:xfrm>
            <a:off x="5715000" y="3941064"/>
            <a:ext cx="2926080" cy="201168"/>
          </a:xfrm>
          <a:prstGeom prst="rect">
            <a:avLst/>
          </a:prstGeom>
          <a:noFill/>
          <a:ln/>
        </p:spPr>
        <p:txBody>
          <a:bodyPr wrap="square" lIns="0" tIns="0" rIns="0" bIns="0" rtlCol="0" anchor="ctr"/>
          <a:lstStyle/>
          <a:p>
            <a:pPr marL="0" indent="0">
              <a:buNone/>
            </a:pPr>
            <a:r>
              <a:rPr lang="en-US" sz="950" dirty="0">
                <a:solidFill>
                  <a:srgbClr val="0F172A"/>
                </a:solidFill>
                <a:latin typeface="Poppins" pitchFamily="34" charset="0"/>
                <a:ea typeface="Poppins" pitchFamily="34" charset="-122"/>
                <a:cs typeface="Poppins" pitchFamily="34" charset="-120"/>
              </a:rPr>
              <a:t>CA: 1 411,7 k€  |  Résultat: +346,9 k€</a:t>
            </a:r>
            <a:endParaRPr lang="en-US" sz="950" dirty="0"/>
          </a:p>
        </p:txBody>
      </p:sp>
      <p:sp>
        <p:nvSpPr>
          <p:cNvPr id="20" name="Text 17"/>
          <p:cNvSpPr/>
          <p:nvPr/>
        </p:nvSpPr>
        <p:spPr>
          <a:xfrm>
            <a:off x="5715000" y="4160520"/>
            <a:ext cx="2926080" cy="201168"/>
          </a:xfrm>
          <a:prstGeom prst="rect">
            <a:avLst/>
          </a:prstGeom>
          <a:noFill/>
          <a:ln/>
        </p:spPr>
        <p:txBody>
          <a:bodyPr wrap="square" lIns="0" tIns="0" rIns="0" bIns="0" rtlCol="0" anchor="ctr"/>
          <a:lstStyle/>
          <a:p>
            <a:pPr marL="0" indent="0">
              <a:buNone/>
            </a:pPr>
            <a:r>
              <a:rPr lang="en-US" sz="800" dirty="0">
                <a:solidFill>
                  <a:srgbClr val="374151"/>
                </a:solidFill>
                <a:latin typeface="Poppins" pitchFamily="34" charset="0"/>
                <a:ea typeface="Poppins" pitchFamily="34" charset="-122"/>
                <a:cs typeface="Poppins" pitchFamily="34" charset="-120"/>
              </a:rPr>
              <a:t>~1 225 clients, marge nette 24,6%</a:t>
            </a:r>
            <a:endParaRPr lang="en-US" sz="800" dirty="0"/>
          </a:p>
        </p:txBody>
      </p:sp>
      <p:sp>
        <p:nvSpPr>
          <p:cNvPr id="21" name="Text 18"/>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900" dirty="0">
                <a:solidFill>
                  <a:srgbClr val="9CA3AF"/>
                </a:solidFill>
                <a:latin typeface="Poppins" pitchFamily="34" charset="0"/>
                <a:ea typeface="Poppins" pitchFamily="34" charset="-122"/>
                <a:cs typeface="Poppins"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74320"/>
            <a:ext cx="8229600" cy="457200"/>
          </a:xfrm>
          <a:prstGeom prst="rect">
            <a:avLst/>
          </a:prstGeom>
          <a:noFill/>
          <a:ln/>
        </p:spPr>
        <p:txBody>
          <a:bodyPr wrap="square" lIns="0" tIns="0" rIns="0" bIns="0" rtlCol="0" anchor="ctr"/>
          <a:lstStyle/>
          <a:p>
            <a:pPr marL="0" indent="0">
              <a:buNone/>
            </a:pPr>
            <a:r>
              <a:rPr lang="en-US" sz="2800" b="1" dirty="0">
                <a:solidFill>
                  <a:srgbClr val="0F172A"/>
                </a:solidFill>
                <a:latin typeface="Poppins" pitchFamily="34" charset="0"/>
                <a:ea typeface="Poppins" pitchFamily="34" charset="-122"/>
                <a:cs typeface="Poppins" pitchFamily="34" charset="-120"/>
              </a:rPr>
              <a:t>Roadmap stratégique</a:t>
            </a:r>
            <a:endParaRPr lang="en-US" sz="2800" dirty="0"/>
          </a:p>
        </p:txBody>
      </p:sp>
      <p:sp>
        <p:nvSpPr>
          <p:cNvPr id="3" name="Text 1"/>
          <p:cNvSpPr/>
          <p:nvPr/>
        </p:nvSpPr>
        <p:spPr>
          <a:xfrm>
            <a:off x="1993392" y="777240"/>
            <a:ext cx="1600200" cy="274320"/>
          </a:xfrm>
          <a:prstGeom prst="rect">
            <a:avLst/>
          </a:prstGeom>
          <a:noFill/>
          <a:ln/>
        </p:spPr>
        <p:txBody>
          <a:bodyPr wrap="square" lIns="0" tIns="0" rIns="0" bIns="0" rtlCol="0" anchor="ctr"/>
          <a:lstStyle/>
          <a:p>
            <a:pPr marL="0" indent="0" algn="ctr">
              <a:buNone/>
            </a:pPr>
            <a:r>
              <a:rPr lang="en-US" sz="1200" b="1" dirty="0">
                <a:solidFill>
                  <a:srgbClr val="0F172A"/>
                </a:solidFill>
                <a:latin typeface="Poppins" pitchFamily="34" charset="0"/>
                <a:ea typeface="Poppins" pitchFamily="34" charset="-122"/>
                <a:cs typeface="Poppins" pitchFamily="34" charset="-120"/>
              </a:rPr>
              <a:t>2025</a:t>
            </a:r>
            <a:endParaRPr lang="en-US" sz="1200" dirty="0"/>
          </a:p>
        </p:txBody>
      </p:sp>
      <p:sp>
        <p:nvSpPr>
          <p:cNvPr id="4" name="Text 2"/>
          <p:cNvSpPr/>
          <p:nvPr/>
        </p:nvSpPr>
        <p:spPr>
          <a:xfrm>
            <a:off x="3666744" y="777240"/>
            <a:ext cx="1600200" cy="274320"/>
          </a:xfrm>
          <a:prstGeom prst="rect">
            <a:avLst/>
          </a:prstGeom>
          <a:noFill/>
          <a:ln/>
        </p:spPr>
        <p:txBody>
          <a:bodyPr wrap="square" lIns="0" tIns="0" rIns="0" bIns="0" rtlCol="0" anchor="ctr"/>
          <a:lstStyle/>
          <a:p>
            <a:pPr marL="0" indent="0" algn="ctr">
              <a:buNone/>
            </a:pPr>
            <a:r>
              <a:rPr lang="en-US" sz="1200" b="1" dirty="0">
                <a:solidFill>
                  <a:srgbClr val="0F172A"/>
                </a:solidFill>
                <a:latin typeface="Poppins" pitchFamily="34" charset="0"/>
                <a:ea typeface="Poppins" pitchFamily="34" charset="-122"/>
                <a:cs typeface="Poppins" pitchFamily="34" charset="-120"/>
              </a:rPr>
              <a:t>2026</a:t>
            </a:r>
            <a:endParaRPr lang="en-US" sz="1200" dirty="0"/>
          </a:p>
        </p:txBody>
      </p:sp>
      <p:sp>
        <p:nvSpPr>
          <p:cNvPr id="5" name="Text 3"/>
          <p:cNvSpPr/>
          <p:nvPr/>
        </p:nvSpPr>
        <p:spPr>
          <a:xfrm>
            <a:off x="5340096" y="777240"/>
            <a:ext cx="1600200" cy="274320"/>
          </a:xfrm>
          <a:prstGeom prst="rect">
            <a:avLst/>
          </a:prstGeom>
          <a:noFill/>
          <a:ln/>
        </p:spPr>
        <p:txBody>
          <a:bodyPr wrap="square" lIns="0" tIns="0" rIns="0" bIns="0" rtlCol="0" anchor="ctr"/>
          <a:lstStyle/>
          <a:p>
            <a:pPr marL="0" indent="0" algn="ctr">
              <a:buNone/>
            </a:pPr>
            <a:r>
              <a:rPr lang="en-US" sz="1200" b="1" dirty="0">
                <a:solidFill>
                  <a:srgbClr val="0F172A"/>
                </a:solidFill>
                <a:latin typeface="Poppins" pitchFamily="34" charset="0"/>
                <a:ea typeface="Poppins" pitchFamily="34" charset="-122"/>
                <a:cs typeface="Poppins" pitchFamily="34" charset="-120"/>
              </a:rPr>
              <a:t>2027</a:t>
            </a:r>
            <a:endParaRPr lang="en-US" sz="1200" dirty="0"/>
          </a:p>
        </p:txBody>
      </p:sp>
      <p:sp>
        <p:nvSpPr>
          <p:cNvPr id="6" name="Text 4"/>
          <p:cNvSpPr/>
          <p:nvPr/>
        </p:nvSpPr>
        <p:spPr>
          <a:xfrm>
            <a:off x="7013448" y="777240"/>
            <a:ext cx="1600200" cy="274320"/>
          </a:xfrm>
          <a:prstGeom prst="rect">
            <a:avLst/>
          </a:prstGeom>
          <a:noFill/>
          <a:ln/>
        </p:spPr>
        <p:txBody>
          <a:bodyPr wrap="square" lIns="0" tIns="0" rIns="0" bIns="0" rtlCol="0" anchor="ctr"/>
          <a:lstStyle/>
          <a:p>
            <a:pPr marL="0" indent="0" algn="ctr">
              <a:buNone/>
            </a:pPr>
            <a:r>
              <a:rPr lang="en-US" sz="1200" b="1" dirty="0">
                <a:solidFill>
                  <a:srgbClr val="0F172A"/>
                </a:solidFill>
                <a:latin typeface="Poppins" pitchFamily="34" charset="0"/>
                <a:ea typeface="Poppins" pitchFamily="34" charset="-122"/>
                <a:cs typeface="Poppins" pitchFamily="34" charset="-120"/>
              </a:rPr>
              <a:t>2028-2029</a:t>
            </a:r>
            <a:endParaRPr lang="en-US" sz="1200" dirty="0"/>
          </a:p>
        </p:txBody>
      </p:sp>
      <p:sp>
        <p:nvSpPr>
          <p:cNvPr id="7" name="Shape 5"/>
          <p:cNvSpPr/>
          <p:nvPr/>
        </p:nvSpPr>
        <p:spPr>
          <a:xfrm>
            <a:off x="457200" y="1143000"/>
            <a:ext cx="1463040" cy="1188720"/>
          </a:xfrm>
          <a:prstGeom prst="rect">
            <a:avLst/>
          </a:prstGeom>
          <a:solidFill>
            <a:srgbClr val="1677FF"/>
          </a:solidFill>
          <a:ln/>
        </p:spPr>
        <p:txBody>
          <a:bodyPr/>
          <a:lstStyle/>
          <a:p>
            <a:endParaRPr lang="fr-FR"/>
          </a:p>
        </p:txBody>
      </p:sp>
      <p:sp>
        <p:nvSpPr>
          <p:cNvPr id="8" name="Text 6"/>
          <p:cNvSpPr/>
          <p:nvPr/>
        </p:nvSpPr>
        <p:spPr>
          <a:xfrm>
            <a:off x="457200" y="1143000"/>
            <a:ext cx="1463040" cy="1188720"/>
          </a:xfrm>
          <a:prstGeom prst="rect">
            <a:avLst/>
          </a:prstGeom>
          <a:noFill/>
          <a:ln/>
        </p:spPr>
        <p:txBody>
          <a:bodyPr wrap="square" lIns="0" tIns="0" rIns="0" bIns="0" rtlCol="0" anchor="ctr"/>
          <a:lstStyle/>
          <a:p>
            <a:pPr marL="0" indent="0" algn="ctr">
              <a:buNone/>
            </a:pPr>
            <a:r>
              <a:rPr lang="en-US" sz="1100" b="1" dirty="0">
                <a:solidFill>
                  <a:srgbClr val="FFFFFF"/>
                </a:solidFill>
                <a:latin typeface="Poppins" pitchFamily="34" charset="0"/>
                <a:ea typeface="Poppins" pitchFamily="34" charset="-122"/>
                <a:cs typeface="Poppins" pitchFamily="34" charset="-120"/>
              </a:rPr>
              <a:t>Technologique</a:t>
            </a:r>
            <a:endParaRPr lang="en-US" sz="1100" dirty="0"/>
          </a:p>
        </p:txBody>
      </p:sp>
      <p:sp>
        <p:nvSpPr>
          <p:cNvPr id="9" name="Shape 7"/>
          <p:cNvSpPr/>
          <p:nvPr/>
        </p:nvSpPr>
        <p:spPr>
          <a:xfrm>
            <a:off x="1993392" y="1143000"/>
            <a:ext cx="1600200" cy="1188720"/>
          </a:xfrm>
          <a:prstGeom prst="rect">
            <a:avLst/>
          </a:prstGeom>
          <a:solidFill>
            <a:srgbClr val="F7F9FC"/>
          </a:solidFill>
          <a:ln w="6350">
            <a:solidFill>
              <a:srgbClr val="E5E7EB"/>
            </a:solidFill>
            <a:prstDash val="solid"/>
          </a:ln>
        </p:spPr>
        <p:txBody>
          <a:bodyPr/>
          <a:lstStyle/>
          <a:p>
            <a:endParaRPr lang="fr-FR"/>
          </a:p>
        </p:txBody>
      </p:sp>
      <p:sp>
        <p:nvSpPr>
          <p:cNvPr id="10" name="Text 8"/>
          <p:cNvSpPr/>
          <p:nvPr/>
        </p:nvSpPr>
        <p:spPr>
          <a:xfrm>
            <a:off x="2066544" y="1188720"/>
            <a:ext cx="1453896" cy="1097280"/>
          </a:xfrm>
          <a:prstGeom prst="rect">
            <a:avLst/>
          </a:prstGeom>
          <a:noFill/>
          <a:ln/>
        </p:spPr>
        <p:txBody>
          <a:bodyPr wrap="square" lIns="0" tIns="0" rIns="0" bIns="0" rtlCol="0" anchor="ctr"/>
          <a:lstStyle/>
          <a:p>
            <a:pPr marL="0" indent="0">
              <a:lnSpc>
                <a:spcPct val="130000"/>
              </a:lnSpc>
              <a:buNone/>
            </a:pPr>
            <a:r>
              <a:rPr lang="en-US" sz="800" dirty="0">
                <a:solidFill>
                  <a:srgbClr val="374151"/>
                </a:solidFill>
                <a:latin typeface="Poppins" pitchFamily="34" charset="0"/>
                <a:ea typeface="Poppins" pitchFamily="34" charset="-122"/>
                <a:cs typeface="Poppins" pitchFamily="34" charset="-120"/>
              </a:rPr>
              <a:t>MCP Server v1</a:t>
            </a:r>
            <a:endParaRPr lang="en-US" sz="800" dirty="0"/>
          </a:p>
          <a:p>
            <a:pPr marL="0" indent="0">
              <a:lnSpc>
                <a:spcPct val="130000"/>
              </a:lnSpc>
              <a:buNone/>
            </a:pPr>
            <a:r>
              <a:rPr lang="en-US" sz="800" dirty="0">
                <a:solidFill>
                  <a:srgbClr val="374151"/>
                </a:solidFill>
                <a:latin typeface="Poppins" pitchFamily="34" charset="0"/>
                <a:ea typeface="Poppins" pitchFamily="34" charset="-122"/>
                <a:cs typeface="Poppins" pitchFamily="34" charset="-120"/>
              </a:rPr>
              <a:t>Import n8n/Make</a:t>
            </a:r>
            <a:endParaRPr lang="en-US" sz="800" dirty="0"/>
          </a:p>
          <a:p>
            <a:pPr marL="0" indent="0">
              <a:lnSpc>
                <a:spcPct val="130000"/>
              </a:lnSpc>
              <a:buNone/>
            </a:pPr>
            <a:r>
              <a:rPr lang="en-US" sz="800" dirty="0">
                <a:solidFill>
                  <a:srgbClr val="374151"/>
                </a:solidFill>
                <a:latin typeface="Poppins" pitchFamily="34" charset="0"/>
                <a:ea typeface="Poppins" pitchFamily="34" charset="-122"/>
                <a:cs typeface="Poppins" pitchFamily="34" charset="-120"/>
              </a:rPr>
              <a:t>Data Fusion v1</a:t>
            </a:r>
            <a:endParaRPr lang="en-US" sz="800" dirty="0"/>
          </a:p>
        </p:txBody>
      </p:sp>
      <p:sp>
        <p:nvSpPr>
          <p:cNvPr id="11" name="Shape 9"/>
          <p:cNvSpPr/>
          <p:nvPr/>
        </p:nvSpPr>
        <p:spPr>
          <a:xfrm>
            <a:off x="3666744" y="1143000"/>
            <a:ext cx="1600200" cy="1188720"/>
          </a:xfrm>
          <a:prstGeom prst="rect">
            <a:avLst/>
          </a:prstGeom>
          <a:solidFill>
            <a:srgbClr val="F7F9FC"/>
          </a:solidFill>
          <a:ln w="6350">
            <a:solidFill>
              <a:srgbClr val="E5E7EB"/>
            </a:solidFill>
            <a:prstDash val="solid"/>
          </a:ln>
        </p:spPr>
        <p:txBody>
          <a:bodyPr/>
          <a:lstStyle/>
          <a:p>
            <a:endParaRPr lang="fr-FR"/>
          </a:p>
        </p:txBody>
      </p:sp>
      <p:sp>
        <p:nvSpPr>
          <p:cNvPr id="12" name="Text 10"/>
          <p:cNvSpPr/>
          <p:nvPr/>
        </p:nvSpPr>
        <p:spPr>
          <a:xfrm>
            <a:off x="3739896" y="1188720"/>
            <a:ext cx="1453896" cy="1097280"/>
          </a:xfrm>
          <a:prstGeom prst="rect">
            <a:avLst/>
          </a:prstGeom>
          <a:noFill/>
          <a:ln/>
        </p:spPr>
        <p:txBody>
          <a:bodyPr wrap="square" lIns="0" tIns="0" rIns="0" bIns="0" rtlCol="0" anchor="ctr"/>
          <a:lstStyle/>
          <a:p>
            <a:pPr marL="0" indent="0">
              <a:lnSpc>
                <a:spcPct val="130000"/>
              </a:lnSpc>
              <a:buNone/>
            </a:pPr>
            <a:r>
              <a:rPr lang="en-US" sz="800" dirty="0">
                <a:solidFill>
                  <a:srgbClr val="374151"/>
                </a:solidFill>
                <a:latin typeface="Poppins" pitchFamily="34" charset="0"/>
                <a:ea typeface="Poppins" pitchFamily="34" charset="-122"/>
                <a:cs typeface="Poppins" pitchFamily="34" charset="-120"/>
              </a:rPr>
              <a:t>Marketplace</a:t>
            </a:r>
            <a:endParaRPr lang="en-US" sz="800" dirty="0"/>
          </a:p>
          <a:p>
            <a:pPr marL="0" indent="0">
              <a:lnSpc>
                <a:spcPct val="130000"/>
              </a:lnSpc>
              <a:buNone/>
            </a:pPr>
            <a:r>
              <a:rPr lang="en-US" sz="800" dirty="0">
                <a:solidFill>
                  <a:srgbClr val="374151"/>
                </a:solidFill>
                <a:latin typeface="Poppins" pitchFamily="34" charset="0"/>
                <a:ea typeface="Poppins" pitchFamily="34" charset="-122"/>
                <a:cs typeface="Poppins" pitchFamily="34" charset="-120"/>
              </a:rPr>
              <a:t>Pack métier</a:t>
            </a:r>
            <a:endParaRPr lang="en-US" sz="800" dirty="0"/>
          </a:p>
          <a:p>
            <a:pPr marL="0" indent="0">
              <a:lnSpc>
                <a:spcPct val="130000"/>
              </a:lnSpc>
              <a:buNone/>
            </a:pPr>
            <a:r>
              <a:rPr lang="en-US" sz="800" dirty="0">
                <a:solidFill>
                  <a:srgbClr val="374151"/>
                </a:solidFill>
                <a:latin typeface="Poppins" pitchFamily="34" charset="0"/>
                <a:ea typeface="Poppins" pitchFamily="34" charset="-122"/>
                <a:cs typeface="Poppins" pitchFamily="34" charset="-120"/>
              </a:rPr>
              <a:t>Site Builder</a:t>
            </a:r>
            <a:endParaRPr lang="en-US" sz="800" dirty="0"/>
          </a:p>
        </p:txBody>
      </p:sp>
      <p:sp>
        <p:nvSpPr>
          <p:cNvPr id="13" name="Shape 11"/>
          <p:cNvSpPr/>
          <p:nvPr/>
        </p:nvSpPr>
        <p:spPr>
          <a:xfrm>
            <a:off x="5340096" y="1143000"/>
            <a:ext cx="1600200" cy="1188720"/>
          </a:xfrm>
          <a:prstGeom prst="rect">
            <a:avLst/>
          </a:prstGeom>
          <a:solidFill>
            <a:srgbClr val="F7F9FC"/>
          </a:solidFill>
          <a:ln w="6350">
            <a:solidFill>
              <a:srgbClr val="E5E7EB"/>
            </a:solidFill>
            <a:prstDash val="solid"/>
          </a:ln>
        </p:spPr>
        <p:txBody>
          <a:bodyPr/>
          <a:lstStyle/>
          <a:p>
            <a:endParaRPr lang="fr-FR"/>
          </a:p>
        </p:txBody>
      </p:sp>
      <p:sp>
        <p:nvSpPr>
          <p:cNvPr id="14" name="Text 12"/>
          <p:cNvSpPr/>
          <p:nvPr/>
        </p:nvSpPr>
        <p:spPr>
          <a:xfrm>
            <a:off x="5413248" y="1188720"/>
            <a:ext cx="1453896" cy="1097280"/>
          </a:xfrm>
          <a:prstGeom prst="rect">
            <a:avLst/>
          </a:prstGeom>
          <a:noFill/>
          <a:ln/>
        </p:spPr>
        <p:txBody>
          <a:bodyPr wrap="square" lIns="0" tIns="0" rIns="0" bIns="0" rtlCol="0" anchor="ctr"/>
          <a:lstStyle/>
          <a:p>
            <a:pPr marL="0" indent="0">
              <a:lnSpc>
                <a:spcPct val="130000"/>
              </a:lnSpc>
              <a:buNone/>
            </a:pPr>
            <a:r>
              <a:rPr lang="en-US" sz="800" dirty="0">
                <a:solidFill>
                  <a:srgbClr val="374151"/>
                </a:solidFill>
                <a:latin typeface="Poppins" pitchFamily="34" charset="0"/>
                <a:ea typeface="Poppins" pitchFamily="34" charset="-122"/>
                <a:cs typeface="Poppins" pitchFamily="34" charset="-120"/>
              </a:rPr>
              <a:t>IA locale</a:t>
            </a:r>
            <a:endParaRPr lang="en-US" sz="800" dirty="0"/>
          </a:p>
          <a:p>
            <a:pPr marL="0" indent="0">
              <a:lnSpc>
                <a:spcPct val="130000"/>
              </a:lnSpc>
              <a:buNone/>
            </a:pPr>
            <a:r>
              <a:rPr lang="en-US" sz="800" dirty="0">
                <a:solidFill>
                  <a:srgbClr val="374151"/>
                </a:solidFill>
                <a:latin typeface="Poppins" pitchFamily="34" charset="0"/>
                <a:ea typeface="Poppins" pitchFamily="34" charset="-122"/>
                <a:cs typeface="Poppins" pitchFamily="34" charset="-120"/>
              </a:rPr>
              <a:t>Multi-agents</a:t>
            </a:r>
            <a:endParaRPr lang="en-US" sz="800" dirty="0"/>
          </a:p>
          <a:p>
            <a:pPr marL="0" indent="0">
              <a:lnSpc>
                <a:spcPct val="130000"/>
              </a:lnSpc>
              <a:buNone/>
            </a:pPr>
            <a:r>
              <a:rPr lang="en-US" sz="800" dirty="0">
                <a:solidFill>
                  <a:srgbClr val="374151"/>
                </a:solidFill>
                <a:latin typeface="Poppins" pitchFamily="34" charset="0"/>
                <a:ea typeface="Poppins" pitchFamily="34" charset="-122"/>
                <a:cs typeface="Poppins" pitchFamily="34" charset="-120"/>
              </a:rPr>
              <a:t>Data Fusion v2</a:t>
            </a:r>
            <a:endParaRPr lang="en-US" sz="800" dirty="0"/>
          </a:p>
        </p:txBody>
      </p:sp>
      <p:sp>
        <p:nvSpPr>
          <p:cNvPr id="15" name="Shape 13"/>
          <p:cNvSpPr/>
          <p:nvPr/>
        </p:nvSpPr>
        <p:spPr>
          <a:xfrm>
            <a:off x="7013448" y="1143000"/>
            <a:ext cx="1600200" cy="1188720"/>
          </a:xfrm>
          <a:prstGeom prst="rect">
            <a:avLst/>
          </a:prstGeom>
          <a:solidFill>
            <a:srgbClr val="F7F9FC"/>
          </a:solidFill>
          <a:ln w="6350">
            <a:solidFill>
              <a:srgbClr val="E5E7EB"/>
            </a:solidFill>
            <a:prstDash val="solid"/>
          </a:ln>
        </p:spPr>
        <p:txBody>
          <a:bodyPr/>
          <a:lstStyle/>
          <a:p>
            <a:endParaRPr lang="fr-FR"/>
          </a:p>
        </p:txBody>
      </p:sp>
      <p:sp>
        <p:nvSpPr>
          <p:cNvPr id="16" name="Text 14"/>
          <p:cNvSpPr/>
          <p:nvPr/>
        </p:nvSpPr>
        <p:spPr>
          <a:xfrm>
            <a:off x="7086600" y="1188720"/>
            <a:ext cx="1453896" cy="1097280"/>
          </a:xfrm>
          <a:prstGeom prst="rect">
            <a:avLst/>
          </a:prstGeom>
          <a:noFill/>
          <a:ln/>
        </p:spPr>
        <p:txBody>
          <a:bodyPr wrap="square" lIns="0" tIns="0" rIns="0" bIns="0" rtlCol="0" anchor="ctr"/>
          <a:lstStyle/>
          <a:p>
            <a:pPr marL="0" indent="0">
              <a:lnSpc>
                <a:spcPct val="130000"/>
              </a:lnSpc>
              <a:buNone/>
            </a:pPr>
            <a:r>
              <a:rPr lang="en-US" sz="800" dirty="0">
                <a:solidFill>
                  <a:srgbClr val="374151"/>
                </a:solidFill>
                <a:latin typeface="Poppins" pitchFamily="34" charset="0"/>
                <a:ea typeface="Poppins" pitchFamily="34" charset="-122"/>
                <a:cs typeface="Poppins" pitchFamily="34" charset="-120"/>
              </a:rPr>
              <a:t>Souveraineté</a:t>
            </a:r>
            <a:endParaRPr lang="en-US" sz="800" dirty="0"/>
          </a:p>
          <a:p>
            <a:pPr marL="0" indent="0">
              <a:lnSpc>
                <a:spcPct val="130000"/>
              </a:lnSpc>
              <a:buNone/>
            </a:pPr>
            <a:r>
              <a:rPr lang="en-US" sz="800" dirty="0">
                <a:solidFill>
                  <a:srgbClr val="374151"/>
                </a:solidFill>
                <a:latin typeface="Poppins" pitchFamily="34" charset="0"/>
                <a:ea typeface="Poppins" pitchFamily="34" charset="-122"/>
                <a:cs typeface="Poppins" pitchFamily="34" charset="-120"/>
              </a:rPr>
              <a:t>Auto-optimisation</a:t>
            </a:r>
            <a:endParaRPr lang="en-US" sz="800" dirty="0"/>
          </a:p>
        </p:txBody>
      </p:sp>
      <p:sp>
        <p:nvSpPr>
          <p:cNvPr id="17" name="Shape 15"/>
          <p:cNvSpPr/>
          <p:nvPr/>
        </p:nvSpPr>
        <p:spPr>
          <a:xfrm>
            <a:off x="457200" y="2423160"/>
            <a:ext cx="1463040" cy="1188720"/>
          </a:xfrm>
          <a:prstGeom prst="rect">
            <a:avLst/>
          </a:prstGeom>
          <a:solidFill>
            <a:srgbClr val="16A34A"/>
          </a:solidFill>
          <a:ln/>
        </p:spPr>
        <p:txBody>
          <a:bodyPr/>
          <a:lstStyle/>
          <a:p>
            <a:endParaRPr lang="fr-FR"/>
          </a:p>
        </p:txBody>
      </p:sp>
      <p:sp>
        <p:nvSpPr>
          <p:cNvPr id="18" name="Text 16"/>
          <p:cNvSpPr/>
          <p:nvPr/>
        </p:nvSpPr>
        <p:spPr>
          <a:xfrm>
            <a:off x="457200" y="2423160"/>
            <a:ext cx="1463040" cy="1188720"/>
          </a:xfrm>
          <a:prstGeom prst="rect">
            <a:avLst/>
          </a:prstGeom>
          <a:noFill/>
          <a:ln/>
        </p:spPr>
        <p:txBody>
          <a:bodyPr wrap="square" lIns="0" tIns="0" rIns="0" bIns="0" rtlCol="0" anchor="ctr"/>
          <a:lstStyle/>
          <a:p>
            <a:pPr marL="0" indent="0" algn="ctr">
              <a:buNone/>
            </a:pPr>
            <a:r>
              <a:rPr lang="en-US" sz="1100" b="1" dirty="0">
                <a:solidFill>
                  <a:srgbClr val="FFFFFF"/>
                </a:solidFill>
                <a:latin typeface="Poppins" pitchFamily="34" charset="0"/>
                <a:ea typeface="Poppins" pitchFamily="34" charset="-122"/>
                <a:cs typeface="Poppins" pitchFamily="34" charset="-120"/>
              </a:rPr>
              <a:t>Commerciale</a:t>
            </a:r>
            <a:endParaRPr lang="en-US" sz="1100" dirty="0"/>
          </a:p>
        </p:txBody>
      </p:sp>
      <p:sp>
        <p:nvSpPr>
          <p:cNvPr id="19" name="Shape 17"/>
          <p:cNvSpPr/>
          <p:nvPr/>
        </p:nvSpPr>
        <p:spPr>
          <a:xfrm>
            <a:off x="1993392" y="2423160"/>
            <a:ext cx="1600200" cy="1188720"/>
          </a:xfrm>
          <a:prstGeom prst="rect">
            <a:avLst/>
          </a:prstGeom>
          <a:solidFill>
            <a:srgbClr val="F7F9FC"/>
          </a:solidFill>
          <a:ln w="6350">
            <a:solidFill>
              <a:srgbClr val="E5E7EB"/>
            </a:solidFill>
            <a:prstDash val="solid"/>
          </a:ln>
        </p:spPr>
        <p:txBody>
          <a:bodyPr/>
          <a:lstStyle/>
          <a:p>
            <a:endParaRPr lang="fr-FR"/>
          </a:p>
        </p:txBody>
      </p:sp>
      <p:sp>
        <p:nvSpPr>
          <p:cNvPr id="20" name="Text 18"/>
          <p:cNvSpPr/>
          <p:nvPr/>
        </p:nvSpPr>
        <p:spPr>
          <a:xfrm>
            <a:off x="2066544" y="2468880"/>
            <a:ext cx="1453896" cy="1097280"/>
          </a:xfrm>
          <a:prstGeom prst="rect">
            <a:avLst/>
          </a:prstGeom>
          <a:noFill/>
          <a:ln/>
        </p:spPr>
        <p:txBody>
          <a:bodyPr wrap="square" lIns="0" tIns="0" rIns="0" bIns="0" rtlCol="0" anchor="ctr"/>
          <a:lstStyle/>
          <a:p>
            <a:pPr marL="0" indent="0">
              <a:lnSpc>
                <a:spcPct val="130000"/>
              </a:lnSpc>
              <a:buNone/>
            </a:pPr>
            <a:r>
              <a:rPr lang="en-US" sz="800" dirty="0">
                <a:solidFill>
                  <a:srgbClr val="374151"/>
                </a:solidFill>
                <a:latin typeface="Poppins" pitchFamily="34" charset="0"/>
                <a:ea typeface="Poppins" pitchFamily="34" charset="-122"/>
                <a:cs typeface="Poppins" pitchFamily="34" charset="-120"/>
              </a:rPr>
              <a:t>BFC Industrie</a:t>
            </a:r>
            <a:endParaRPr lang="en-US" sz="800" dirty="0"/>
          </a:p>
          <a:p>
            <a:pPr marL="0" indent="0">
              <a:lnSpc>
                <a:spcPct val="130000"/>
              </a:lnSpc>
              <a:buNone/>
            </a:pPr>
            <a:r>
              <a:rPr lang="en-US" sz="800" dirty="0">
                <a:solidFill>
                  <a:srgbClr val="374151"/>
                </a:solidFill>
                <a:latin typeface="Poppins" pitchFamily="34" charset="0"/>
                <a:ea typeface="Poppins" pitchFamily="34" charset="-122"/>
                <a:cs typeface="Poppins" pitchFamily="34" charset="-120"/>
              </a:rPr>
              <a:t>IT → back-office</a:t>
            </a:r>
            <a:endParaRPr lang="en-US" sz="800" dirty="0"/>
          </a:p>
        </p:txBody>
      </p:sp>
      <p:sp>
        <p:nvSpPr>
          <p:cNvPr id="21" name="Shape 19"/>
          <p:cNvSpPr/>
          <p:nvPr/>
        </p:nvSpPr>
        <p:spPr>
          <a:xfrm>
            <a:off x="3666744" y="2423160"/>
            <a:ext cx="1600200" cy="1188720"/>
          </a:xfrm>
          <a:prstGeom prst="rect">
            <a:avLst/>
          </a:prstGeom>
          <a:solidFill>
            <a:srgbClr val="F7F9FC"/>
          </a:solidFill>
          <a:ln w="6350">
            <a:solidFill>
              <a:srgbClr val="E5E7EB"/>
            </a:solidFill>
            <a:prstDash val="solid"/>
          </a:ln>
        </p:spPr>
        <p:txBody>
          <a:bodyPr/>
          <a:lstStyle/>
          <a:p>
            <a:endParaRPr lang="fr-FR"/>
          </a:p>
        </p:txBody>
      </p:sp>
      <p:sp>
        <p:nvSpPr>
          <p:cNvPr id="22" name="Text 20"/>
          <p:cNvSpPr/>
          <p:nvPr/>
        </p:nvSpPr>
        <p:spPr>
          <a:xfrm>
            <a:off x="3739896" y="2468880"/>
            <a:ext cx="1453896" cy="1097280"/>
          </a:xfrm>
          <a:prstGeom prst="rect">
            <a:avLst/>
          </a:prstGeom>
          <a:noFill/>
          <a:ln/>
        </p:spPr>
        <p:txBody>
          <a:bodyPr wrap="square" lIns="0" tIns="0" rIns="0" bIns="0" rtlCol="0" anchor="ctr"/>
          <a:lstStyle/>
          <a:p>
            <a:pPr marL="0" indent="0">
              <a:lnSpc>
                <a:spcPct val="130000"/>
              </a:lnSpc>
              <a:buNone/>
            </a:pPr>
            <a:r>
              <a:rPr lang="en-US" sz="800" dirty="0">
                <a:solidFill>
                  <a:srgbClr val="374151"/>
                </a:solidFill>
                <a:latin typeface="Poppins" pitchFamily="34" charset="0"/>
                <a:ea typeface="Poppins" pitchFamily="34" charset="-122"/>
                <a:cs typeface="Poppins" pitchFamily="34" charset="-120"/>
              </a:rPr>
              <a:t>15-20 consultants</a:t>
            </a:r>
            <a:endParaRPr lang="en-US" sz="800" dirty="0"/>
          </a:p>
          <a:p>
            <a:pPr marL="0" indent="0">
              <a:lnSpc>
                <a:spcPct val="130000"/>
              </a:lnSpc>
              <a:buNone/>
            </a:pPr>
            <a:r>
              <a:rPr lang="en-US" sz="800" dirty="0">
                <a:solidFill>
                  <a:srgbClr val="374151"/>
                </a:solidFill>
                <a:latin typeface="Poppins" pitchFamily="34" charset="0"/>
                <a:ea typeface="Poppins" pitchFamily="34" charset="-122"/>
                <a:cs typeface="Poppins" pitchFamily="34" charset="-120"/>
              </a:rPr>
              <a:t>certifiés</a:t>
            </a:r>
            <a:endParaRPr lang="en-US" sz="800" dirty="0"/>
          </a:p>
        </p:txBody>
      </p:sp>
      <p:sp>
        <p:nvSpPr>
          <p:cNvPr id="23" name="Shape 21"/>
          <p:cNvSpPr/>
          <p:nvPr/>
        </p:nvSpPr>
        <p:spPr>
          <a:xfrm>
            <a:off x="5340096" y="2423160"/>
            <a:ext cx="1600200" cy="1188720"/>
          </a:xfrm>
          <a:prstGeom prst="rect">
            <a:avLst/>
          </a:prstGeom>
          <a:solidFill>
            <a:srgbClr val="F7F9FC"/>
          </a:solidFill>
          <a:ln w="6350">
            <a:solidFill>
              <a:srgbClr val="E5E7EB"/>
            </a:solidFill>
            <a:prstDash val="solid"/>
          </a:ln>
        </p:spPr>
        <p:txBody>
          <a:bodyPr/>
          <a:lstStyle/>
          <a:p>
            <a:endParaRPr lang="fr-FR"/>
          </a:p>
        </p:txBody>
      </p:sp>
      <p:sp>
        <p:nvSpPr>
          <p:cNvPr id="24" name="Text 22"/>
          <p:cNvSpPr/>
          <p:nvPr/>
        </p:nvSpPr>
        <p:spPr>
          <a:xfrm>
            <a:off x="5413248" y="2468880"/>
            <a:ext cx="1453896" cy="1097280"/>
          </a:xfrm>
          <a:prstGeom prst="rect">
            <a:avLst/>
          </a:prstGeom>
          <a:noFill/>
          <a:ln/>
        </p:spPr>
        <p:txBody>
          <a:bodyPr wrap="square" lIns="0" tIns="0" rIns="0" bIns="0" rtlCol="0" anchor="ctr"/>
          <a:lstStyle/>
          <a:p>
            <a:pPr marL="0" indent="0">
              <a:lnSpc>
                <a:spcPct val="130000"/>
              </a:lnSpc>
              <a:buNone/>
            </a:pPr>
            <a:r>
              <a:rPr lang="en-US" sz="800" dirty="0">
                <a:solidFill>
                  <a:srgbClr val="374151"/>
                </a:solidFill>
                <a:latin typeface="Poppins" pitchFamily="34" charset="0"/>
                <a:ea typeface="Poppins" pitchFamily="34" charset="-122"/>
                <a:cs typeface="Poppins" pitchFamily="34" charset="-120"/>
              </a:rPr>
              <a:t>France complète</a:t>
            </a:r>
            <a:endParaRPr lang="en-US" sz="800" dirty="0"/>
          </a:p>
          <a:p>
            <a:pPr marL="0" indent="0">
              <a:lnSpc>
                <a:spcPct val="130000"/>
              </a:lnSpc>
              <a:buNone/>
            </a:pPr>
            <a:r>
              <a:rPr lang="en-US" sz="800" dirty="0">
                <a:solidFill>
                  <a:srgbClr val="374151"/>
                </a:solidFill>
                <a:latin typeface="Poppins" pitchFamily="34" charset="0"/>
                <a:ea typeface="Poppins" pitchFamily="34" charset="-122"/>
                <a:cs typeface="Poppins" pitchFamily="34" charset="-120"/>
              </a:rPr>
              <a:t>Packs verticaux</a:t>
            </a:r>
            <a:endParaRPr lang="en-US" sz="800" dirty="0"/>
          </a:p>
          <a:p>
            <a:pPr marL="0" indent="0">
              <a:lnSpc>
                <a:spcPct val="130000"/>
              </a:lnSpc>
              <a:buNone/>
            </a:pPr>
            <a:r>
              <a:rPr lang="en-US" sz="800" dirty="0">
                <a:solidFill>
                  <a:srgbClr val="374151"/>
                </a:solidFill>
                <a:latin typeface="Poppins" pitchFamily="34" charset="0"/>
                <a:ea typeface="Poppins" pitchFamily="34" charset="-122"/>
                <a:cs typeface="Poppins" pitchFamily="34" charset="-120"/>
              </a:rPr>
              <a:t>Partenaires ERP</a:t>
            </a:r>
            <a:endParaRPr lang="en-US" sz="800" dirty="0"/>
          </a:p>
        </p:txBody>
      </p:sp>
      <p:sp>
        <p:nvSpPr>
          <p:cNvPr id="25" name="Shape 23"/>
          <p:cNvSpPr/>
          <p:nvPr/>
        </p:nvSpPr>
        <p:spPr>
          <a:xfrm>
            <a:off x="7013448" y="2423160"/>
            <a:ext cx="1600200" cy="1188720"/>
          </a:xfrm>
          <a:prstGeom prst="rect">
            <a:avLst/>
          </a:prstGeom>
          <a:solidFill>
            <a:srgbClr val="F7F9FC"/>
          </a:solidFill>
          <a:ln w="6350">
            <a:solidFill>
              <a:srgbClr val="E5E7EB"/>
            </a:solidFill>
            <a:prstDash val="solid"/>
          </a:ln>
        </p:spPr>
        <p:txBody>
          <a:bodyPr/>
          <a:lstStyle/>
          <a:p>
            <a:endParaRPr lang="fr-FR"/>
          </a:p>
        </p:txBody>
      </p:sp>
      <p:sp>
        <p:nvSpPr>
          <p:cNvPr id="26" name="Text 24"/>
          <p:cNvSpPr/>
          <p:nvPr/>
        </p:nvSpPr>
        <p:spPr>
          <a:xfrm>
            <a:off x="7086600" y="2468880"/>
            <a:ext cx="1453896" cy="1097280"/>
          </a:xfrm>
          <a:prstGeom prst="rect">
            <a:avLst/>
          </a:prstGeom>
          <a:noFill/>
          <a:ln/>
        </p:spPr>
        <p:txBody>
          <a:bodyPr wrap="square" lIns="0" tIns="0" rIns="0" bIns="0" rtlCol="0" anchor="ctr"/>
          <a:lstStyle/>
          <a:p>
            <a:pPr marL="0" indent="0">
              <a:lnSpc>
                <a:spcPct val="130000"/>
              </a:lnSpc>
              <a:buNone/>
            </a:pPr>
            <a:r>
              <a:rPr lang="en-US" sz="800" dirty="0">
                <a:solidFill>
                  <a:srgbClr val="374151"/>
                </a:solidFill>
                <a:latin typeface="Poppins" pitchFamily="34" charset="0"/>
                <a:ea typeface="Poppins" pitchFamily="34" charset="-122"/>
                <a:cs typeface="Poppins" pitchFamily="34" charset="-120"/>
              </a:rPr>
              <a:t>Expansion EU</a:t>
            </a:r>
            <a:endParaRPr lang="en-US" sz="800" dirty="0"/>
          </a:p>
          <a:p>
            <a:pPr marL="0" indent="0">
              <a:lnSpc>
                <a:spcPct val="130000"/>
              </a:lnSpc>
              <a:buNone/>
            </a:pPr>
            <a:r>
              <a:rPr lang="en-US" sz="800" dirty="0">
                <a:solidFill>
                  <a:srgbClr val="374151"/>
                </a:solidFill>
                <a:latin typeface="Poppins" pitchFamily="34" charset="0"/>
                <a:ea typeface="Poppins" pitchFamily="34" charset="-122"/>
                <a:cs typeface="Poppins" pitchFamily="34" charset="-120"/>
              </a:rPr>
              <a:t>Santé, énergie</a:t>
            </a:r>
            <a:endParaRPr lang="en-US" sz="800" dirty="0"/>
          </a:p>
        </p:txBody>
      </p:sp>
      <p:sp>
        <p:nvSpPr>
          <p:cNvPr id="27" name="Shape 25"/>
          <p:cNvSpPr/>
          <p:nvPr/>
        </p:nvSpPr>
        <p:spPr>
          <a:xfrm>
            <a:off x="457200" y="3703320"/>
            <a:ext cx="1463040" cy="1188720"/>
          </a:xfrm>
          <a:prstGeom prst="rect">
            <a:avLst/>
          </a:prstGeom>
          <a:solidFill>
            <a:srgbClr val="F59E0B"/>
          </a:solidFill>
          <a:ln/>
        </p:spPr>
        <p:txBody>
          <a:bodyPr/>
          <a:lstStyle/>
          <a:p>
            <a:endParaRPr lang="fr-FR"/>
          </a:p>
        </p:txBody>
      </p:sp>
      <p:sp>
        <p:nvSpPr>
          <p:cNvPr id="28" name="Text 26"/>
          <p:cNvSpPr/>
          <p:nvPr/>
        </p:nvSpPr>
        <p:spPr>
          <a:xfrm>
            <a:off x="457200" y="3703320"/>
            <a:ext cx="1463040" cy="1188720"/>
          </a:xfrm>
          <a:prstGeom prst="rect">
            <a:avLst/>
          </a:prstGeom>
          <a:noFill/>
          <a:ln/>
        </p:spPr>
        <p:txBody>
          <a:bodyPr wrap="square" lIns="0" tIns="0" rIns="0" bIns="0" rtlCol="0" anchor="ctr"/>
          <a:lstStyle/>
          <a:p>
            <a:pPr marL="0" indent="0" algn="ctr">
              <a:buNone/>
            </a:pPr>
            <a:r>
              <a:rPr lang="en-US" sz="1100" b="1" dirty="0">
                <a:solidFill>
                  <a:srgbClr val="FFFFFF"/>
                </a:solidFill>
                <a:latin typeface="Poppins" pitchFamily="34" charset="0"/>
                <a:ea typeface="Poppins" pitchFamily="34" charset="-122"/>
                <a:cs typeface="Poppins" pitchFamily="34" charset="-120"/>
              </a:rPr>
              <a:t>Financière</a:t>
            </a:r>
            <a:endParaRPr lang="en-US" sz="1100" dirty="0"/>
          </a:p>
        </p:txBody>
      </p:sp>
      <p:sp>
        <p:nvSpPr>
          <p:cNvPr id="29" name="Shape 27"/>
          <p:cNvSpPr/>
          <p:nvPr/>
        </p:nvSpPr>
        <p:spPr>
          <a:xfrm>
            <a:off x="1993392" y="3703320"/>
            <a:ext cx="1600200" cy="1188720"/>
          </a:xfrm>
          <a:prstGeom prst="rect">
            <a:avLst/>
          </a:prstGeom>
          <a:solidFill>
            <a:srgbClr val="F7F9FC"/>
          </a:solidFill>
          <a:ln w="6350">
            <a:solidFill>
              <a:srgbClr val="E5E7EB"/>
            </a:solidFill>
            <a:prstDash val="solid"/>
          </a:ln>
        </p:spPr>
        <p:txBody>
          <a:bodyPr/>
          <a:lstStyle/>
          <a:p>
            <a:endParaRPr lang="fr-FR"/>
          </a:p>
        </p:txBody>
      </p:sp>
      <p:sp>
        <p:nvSpPr>
          <p:cNvPr id="30" name="Text 28"/>
          <p:cNvSpPr/>
          <p:nvPr/>
        </p:nvSpPr>
        <p:spPr>
          <a:xfrm>
            <a:off x="2066544" y="3749040"/>
            <a:ext cx="1453896" cy="1097280"/>
          </a:xfrm>
          <a:prstGeom prst="rect">
            <a:avLst/>
          </a:prstGeom>
          <a:noFill/>
          <a:ln/>
        </p:spPr>
        <p:txBody>
          <a:bodyPr wrap="square" lIns="0" tIns="0" rIns="0" bIns="0" rtlCol="0" anchor="ctr"/>
          <a:lstStyle/>
          <a:p>
            <a:pPr marL="0" indent="0">
              <a:lnSpc>
                <a:spcPct val="130000"/>
              </a:lnSpc>
              <a:buNone/>
            </a:pPr>
            <a:r>
              <a:rPr lang="en-US" sz="800" dirty="0">
                <a:solidFill>
                  <a:srgbClr val="374151"/>
                </a:solidFill>
                <a:latin typeface="Poppins" pitchFamily="34" charset="0"/>
                <a:ea typeface="Poppins" pitchFamily="34" charset="-122"/>
                <a:cs typeface="Poppins" pitchFamily="34" charset="-120"/>
              </a:rPr>
              <a:t>CA 77,7 k€</a:t>
            </a:r>
            <a:endParaRPr lang="en-US" sz="800" dirty="0"/>
          </a:p>
          <a:p>
            <a:pPr marL="0" indent="0">
              <a:lnSpc>
                <a:spcPct val="130000"/>
              </a:lnSpc>
              <a:buNone/>
            </a:pPr>
            <a:r>
              <a:rPr lang="en-US" sz="800" dirty="0">
                <a:solidFill>
                  <a:srgbClr val="374151"/>
                </a:solidFill>
                <a:latin typeface="Poppins" pitchFamily="34" charset="0"/>
                <a:ea typeface="Poppins" pitchFamily="34" charset="-122"/>
                <a:cs typeface="Poppins" pitchFamily="34" charset="-120"/>
              </a:rPr>
              <a:t>Struct. fin.</a:t>
            </a:r>
            <a:endParaRPr lang="en-US" sz="800" dirty="0"/>
          </a:p>
        </p:txBody>
      </p:sp>
      <p:sp>
        <p:nvSpPr>
          <p:cNvPr id="31" name="Shape 29"/>
          <p:cNvSpPr/>
          <p:nvPr/>
        </p:nvSpPr>
        <p:spPr>
          <a:xfrm>
            <a:off x="3666744" y="3703320"/>
            <a:ext cx="1600200" cy="1188720"/>
          </a:xfrm>
          <a:prstGeom prst="rect">
            <a:avLst/>
          </a:prstGeom>
          <a:solidFill>
            <a:srgbClr val="F7F9FC"/>
          </a:solidFill>
          <a:ln w="6350">
            <a:solidFill>
              <a:srgbClr val="E5E7EB"/>
            </a:solidFill>
            <a:prstDash val="solid"/>
          </a:ln>
        </p:spPr>
        <p:txBody>
          <a:bodyPr/>
          <a:lstStyle/>
          <a:p>
            <a:endParaRPr lang="fr-FR"/>
          </a:p>
        </p:txBody>
      </p:sp>
      <p:sp>
        <p:nvSpPr>
          <p:cNvPr id="32" name="Text 30"/>
          <p:cNvSpPr/>
          <p:nvPr/>
        </p:nvSpPr>
        <p:spPr>
          <a:xfrm>
            <a:off x="3739896" y="3749040"/>
            <a:ext cx="1453896" cy="1097280"/>
          </a:xfrm>
          <a:prstGeom prst="rect">
            <a:avLst/>
          </a:prstGeom>
          <a:noFill/>
          <a:ln/>
        </p:spPr>
        <p:txBody>
          <a:bodyPr wrap="square" lIns="0" tIns="0" rIns="0" bIns="0" rtlCol="0" anchor="ctr"/>
          <a:lstStyle/>
          <a:p>
            <a:pPr marL="0" indent="0">
              <a:lnSpc>
                <a:spcPct val="130000"/>
              </a:lnSpc>
              <a:buNone/>
            </a:pPr>
            <a:r>
              <a:rPr lang="en-US" sz="800" dirty="0">
                <a:solidFill>
                  <a:srgbClr val="374151"/>
                </a:solidFill>
                <a:latin typeface="Poppins" pitchFamily="34" charset="0"/>
                <a:ea typeface="Poppins" pitchFamily="34" charset="-122"/>
                <a:cs typeface="Poppins" pitchFamily="34" charset="-120"/>
              </a:rPr>
              <a:t>CA 288,4 k€</a:t>
            </a:r>
            <a:endParaRPr lang="en-US" sz="800" dirty="0"/>
          </a:p>
          <a:p>
            <a:pPr marL="0" indent="0">
              <a:lnSpc>
                <a:spcPct val="130000"/>
              </a:lnSpc>
              <a:buNone/>
            </a:pPr>
            <a:r>
              <a:rPr lang="en-US" sz="800" dirty="0">
                <a:solidFill>
                  <a:srgbClr val="374151"/>
                </a:solidFill>
                <a:latin typeface="Poppins" pitchFamily="34" charset="0"/>
                <a:ea typeface="Poppins" pitchFamily="34" charset="-122"/>
                <a:cs typeface="Poppins" pitchFamily="34" charset="-120"/>
              </a:rPr>
              <a:t>Break-even</a:t>
            </a:r>
            <a:endParaRPr lang="en-US" sz="800" dirty="0"/>
          </a:p>
        </p:txBody>
      </p:sp>
      <p:sp>
        <p:nvSpPr>
          <p:cNvPr id="33" name="Shape 31"/>
          <p:cNvSpPr/>
          <p:nvPr/>
        </p:nvSpPr>
        <p:spPr>
          <a:xfrm>
            <a:off x="5340096" y="3703320"/>
            <a:ext cx="1600200" cy="1188720"/>
          </a:xfrm>
          <a:prstGeom prst="rect">
            <a:avLst/>
          </a:prstGeom>
          <a:solidFill>
            <a:srgbClr val="F7F9FC"/>
          </a:solidFill>
          <a:ln w="6350">
            <a:solidFill>
              <a:srgbClr val="E5E7EB"/>
            </a:solidFill>
            <a:prstDash val="solid"/>
          </a:ln>
        </p:spPr>
        <p:txBody>
          <a:bodyPr/>
          <a:lstStyle/>
          <a:p>
            <a:endParaRPr lang="fr-FR"/>
          </a:p>
        </p:txBody>
      </p:sp>
      <p:sp>
        <p:nvSpPr>
          <p:cNvPr id="34" name="Text 32"/>
          <p:cNvSpPr/>
          <p:nvPr/>
        </p:nvSpPr>
        <p:spPr>
          <a:xfrm>
            <a:off x="5413248" y="3749040"/>
            <a:ext cx="1453896" cy="1097280"/>
          </a:xfrm>
          <a:prstGeom prst="rect">
            <a:avLst/>
          </a:prstGeom>
          <a:noFill/>
          <a:ln/>
        </p:spPr>
        <p:txBody>
          <a:bodyPr wrap="square" lIns="0" tIns="0" rIns="0" bIns="0" rtlCol="0" anchor="ctr"/>
          <a:lstStyle/>
          <a:p>
            <a:pPr marL="0" indent="0">
              <a:lnSpc>
                <a:spcPct val="130000"/>
              </a:lnSpc>
              <a:buNone/>
            </a:pPr>
            <a:r>
              <a:rPr lang="en-US" sz="800" dirty="0">
                <a:solidFill>
                  <a:srgbClr val="374151"/>
                </a:solidFill>
                <a:latin typeface="Poppins" pitchFamily="34" charset="0"/>
                <a:ea typeface="Poppins" pitchFamily="34" charset="-122"/>
                <a:cs typeface="Poppins" pitchFamily="34" charset="-120"/>
              </a:rPr>
              <a:t>CA 816,9 k€</a:t>
            </a:r>
            <a:endParaRPr lang="en-US" sz="800" dirty="0"/>
          </a:p>
          <a:p>
            <a:pPr marL="0" indent="0">
              <a:lnSpc>
                <a:spcPct val="130000"/>
              </a:lnSpc>
              <a:buNone/>
            </a:pPr>
            <a:r>
              <a:rPr lang="en-US" sz="800" dirty="0">
                <a:solidFill>
                  <a:srgbClr val="374151"/>
                </a:solidFill>
                <a:latin typeface="Poppins" pitchFamily="34" charset="0"/>
                <a:ea typeface="Poppins" pitchFamily="34" charset="-122"/>
                <a:cs typeface="Poppins" pitchFamily="34" charset="-120"/>
              </a:rPr>
              <a:t>Marge 17,6%</a:t>
            </a:r>
            <a:endParaRPr lang="en-US" sz="800" dirty="0"/>
          </a:p>
        </p:txBody>
      </p:sp>
      <p:sp>
        <p:nvSpPr>
          <p:cNvPr id="35" name="Shape 33"/>
          <p:cNvSpPr/>
          <p:nvPr/>
        </p:nvSpPr>
        <p:spPr>
          <a:xfrm>
            <a:off x="7013448" y="3703320"/>
            <a:ext cx="1600200" cy="1188720"/>
          </a:xfrm>
          <a:prstGeom prst="rect">
            <a:avLst/>
          </a:prstGeom>
          <a:solidFill>
            <a:srgbClr val="F7F9FC"/>
          </a:solidFill>
          <a:ln w="6350">
            <a:solidFill>
              <a:srgbClr val="E5E7EB"/>
            </a:solidFill>
            <a:prstDash val="solid"/>
          </a:ln>
        </p:spPr>
        <p:txBody>
          <a:bodyPr/>
          <a:lstStyle/>
          <a:p>
            <a:endParaRPr lang="fr-FR"/>
          </a:p>
        </p:txBody>
      </p:sp>
      <p:sp>
        <p:nvSpPr>
          <p:cNvPr id="36" name="Text 34"/>
          <p:cNvSpPr/>
          <p:nvPr/>
        </p:nvSpPr>
        <p:spPr>
          <a:xfrm>
            <a:off x="7086600" y="3749040"/>
            <a:ext cx="1453896" cy="1097280"/>
          </a:xfrm>
          <a:prstGeom prst="rect">
            <a:avLst/>
          </a:prstGeom>
          <a:noFill/>
          <a:ln/>
        </p:spPr>
        <p:txBody>
          <a:bodyPr wrap="square" lIns="0" tIns="0" rIns="0" bIns="0" rtlCol="0" anchor="ctr"/>
          <a:lstStyle/>
          <a:p>
            <a:pPr marL="0" indent="0">
              <a:lnSpc>
                <a:spcPct val="130000"/>
              </a:lnSpc>
              <a:buNone/>
            </a:pPr>
            <a:r>
              <a:rPr lang="en-US" sz="800" dirty="0">
                <a:solidFill>
                  <a:srgbClr val="374151"/>
                </a:solidFill>
                <a:latin typeface="Poppins" pitchFamily="34" charset="0"/>
                <a:ea typeface="Poppins" pitchFamily="34" charset="-122"/>
                <a:cs typeface="Poppins" pitchFamily="34" charset="-120"/>
              </a:rPr>
              <a:t>CA 1 411,7 k€</a:t>
            </a:r>
            <a:endParaRPr lang="en-US" sz="800" dirty="0"/>
          </a:p>
          <a:p>
            <a:pPr marL="0" indent="0">
              <a:lnSpc>
                <a:spcPct val="130000"/>
              </a:lnSpc>
              <a:buNone/>
            </a:pPr>
            <a:r>
              <a:rPr lang="en-US" sz="800" dirty="0">
                <a:solidFill>
                  <a:srgbClr val="374151"/>
                </a:solidFill>
                <a:latin typeface="Poppins" pitchFamily="34" charset="0"/>
                <a:ea typeface="Poppins" pitchFamily="34" charset="-122"/>
                <a:cs typeface="Poppins" pitchFamily="34" charset="-120"/>
              </a:rPr>
              <a:t>Marge 24,6%</a:t>
            </a:r>
            <a:endParaRPr lang="en-US" sz="800" dirty="0"/>
          </a:p>
        </p:txBody>
      </p:sp>
      <p:sp>
        <p:nvSpPr>
          <p:cNvPr id="37" name="Text 35"/>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900" dirty="0">
                <a:solidFill>
                  <a:srgbClr val="9CA3AF"/>
                </a:solidFill>
                <a:latin typeface="Poppins" pitchFamily="34" charset="0"/>
                <a:ea typeface="Poppins" pitchFamily="34" charset="-122"/>
                <a:cs typeface="Poppins"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74320"/>
            <a:ext cx="8229600" cy="457200"/>
          </a:xfrm>
          <a:prstGeom prst="rect">
            <a:avLst/>
          </a:prstGeom>
          <a:noFill/>
          <a:ln/>
        </p:spPr>
        <p:txBody>
          <a:bodyPr wrap="square" lIns="0" tIns="0" rIns="0" bIns="0" rtlCol="0" anchor="ctr"/>
          <a:lstStyle/>
          <a:p>
            <a:pPr marL="0" indent="0">
              <a:buNone/>
            </a:pPr>
            <a:r>
              <a:rPr lang="en-US" sz="3000" b="1" dirty="0">
                <a:solidFill>
                  <a:srgbClr val="0F172A"/>
                </a:solidFill>
                <a:latin typeface="Poppins" pitchFamily="34" charset="0"/>
                <a:ea typeface="Poppins" pitchFamily="34" charset="-122"/>
                <a:cs typeface="Poppins" pitchFamily="34" charset="-120"/>
              </a:rPr>
              <a:t>Besoin financier</a:t>
            </a:r>
            <a:endParaRPr lang="en-US" sz="3000" dirty="0"/>
          </a:p>
        </p:txBody>
      </p:sp>
      <p:sp>
        <p:nvSpPr>
          <p:cNvPr id="3" name="Text 1"/>
          <p:cNvSpPr/>
          <p:nvPr/>
        </p:nvSpPr>
        <p:spPr>
          <a:xfrm>
            <a:off x="640080" y="731520"/>
            <a:ext cx="7315200" cy="274320"/>
          </a:xfrm>
          <a:prstGeom prst="rect">
            <a:avLst/>
          </a:prstGeom>
          <a:noFill/>
          <a:ln/>
        </p:spPr>
        <p:txBody>
          <a:bodyPr wrap="square" lIns="0" tIns="0" rIns="0" bIns="0" rtlCol="0" anchor="ctr"/>
          <a:lstStyle/>
          <a:p>
            <a:pPr marL="0" indent="0">
              <a:buNone/>
            </a:pPr>
            <a:r>
              <a:rPr lang="en-US" sz="1200" dirty="0">
                <a:solidFill>
                  <a:srgbClr val="6B7280"/>
                </a:solidFill>
                <a:latin typeface="Poppins" pitchFamily="34" charset="0"/>
                <a:ea typeface="Poppins" pitchFamily="34" charset="-122"/>
                <a:cs typeface="Poppins" pitchFamily="34" charset="-120"/>
              </a:rPr>
              <a:t>Sécuriser le prévisionnel et accélérer la R&amp;D IA + distribution consultants</a:t>
            </a:r>
            <a:endParaRPr lang="en-US" sz="1200" dirty="0"/>
          </a:p>
        </p:txBody>
      </p:sp>
      <p:sp>
        <p:nvSpPr>
          <p:cNvPr id="4" name="Text 2"/>
          <p:cNvSpPr/>
          <p:nvPr/>
        </p:nvSpPr>
        <p:spPr>
          <a:xfrm>
            <a:off x="640080" y="1371600"/>
            <a:ext cx="4114800" cy="1097280"/>
          </a:xfrm>
          <a:prstGeom prst="rect">
            <a:avLst/>
          </a:prstGeom>
          <a:noFill/>
          <a:ln/>
        </p:spPr>
        <p:txBody>
          <a:bodyPr wrap="square" lIns="0" tIns="0" rIns="0" bIns="0" rtlCol="0" anchor="ctr"/>
          <a:lstStyle/>
          <a:p>
            <a:pPr marL="0" indent="0">
              <a:buNone/>
            </a:pPr>
            <a:r>
              <a:rPr lang="en-US" sz="6000" b="1" dirty="0">
                <a:solidFill>
                  <a:srgbClr val="1677FF"/>
                </a:solidFill>
                <a:latin typeface="Poppins" pitchFamily="34" charset="0"/>
                <a:ea typeface="Poppins" pitchFamily="34" charset="-122"/>
                <a:cs typeface="Poppins" pitchFamily="34" charset="-120"/>
              </a:rPr>
              <a:t>150 k€</a:t>
            </a:r>
            <a:endParaRPr lang="en-US" sz="6000" dirty="0"/>
          </a:p>
        </p:txBody>
      </p:sp>
      <p:sp>
        <p:nvSpPr>
          <p:cNvPr id="5" name="Text 3"/>
          <p:cNvSpPr/>
          <p:nvPr/>
        </p:nvSpPr>
        <p:spPr>
          <a:xfrm>
            <a:off x="640080" y="2468880"/>
            <a:ext cx="4114800" cy="548640"/>
          </a:xfrm>
          <a:prstGeom prst="rect">
            <a:avLst/>
          </a:prstGeom>
          <a:noFill/>
          <a:ln/>
        </p:spPr>
        <p:txBody>
          <a:bodyPr wrap="square" lIns="0" tIns="0" rIns="0" bIns="0" rtlCol="0" anchor="ctr"/>
          <a:lstStyle/>
          <a:p>
            <a:pPr marL="0" indent="0">
              <a:lnSpc>
                <a:spcPct val="140000"/>
              </a:lnSpc>
              <a:buNone/>
            </a:pPr>
            <a:r>
              <a:rPr lang="en-US" sz="1000" dirty="0">
                <a:solidFill>
                  <a:srgbClr val="374151"/>
                </a:solidFill>
                <a:latin typeface="Poppins" pitchFamily="34" charset="0"/>
                <a:ea typeface="Poppins" pitchFamily="34" charset="-122"/>
                <a:cs typeface="Poppins" pitchFamily="34" charset="-120"/>
              </a:rPr>
              <a:t>Creux de trésorerie identifié : -29,2 k€ (2026)</a:t>
            </a:r>
            <a:endParaRPr lang="en-US" sz="1000" dirty="0"/>
          </a:p>
          <a:p>
            <a:pPr marL="0" indent="0">
              <a:lnSpc>
                <a:spcPct val="140000"/>
              </a:lnSpc>
              <a:buNone/>
            </a:pPr>
            <a:r>
              <a:rPr lang="en-US" sz="1000" dirty="0">
                <a:solidFill>
                  <a:srgbClr val="374151"/>
                </a:solidFill>
                <a:latin typeface="Poppins" pitchFamily="34" charset="0"/>
                <a:ea typeface="Poppins" pitchFamily="34" charset="-122"/>
                <a:cs typeface="Poppins" pitchFamily="34" charset="-120"/>
              </a:rPr>
              <a:t>Objectif : sécuriser + buffer + accélérer la R&amp;D IA</a:t>
            </a:r>
            <a:endParaRPr lang="en-US" sz="1000" dirty="0"/>
          </a:p>
        </p:txBody>
      </p:sp>
      <p:graphicFrame>
        <p:nvGraphicFramePr>
          <p:cNvPr id="6" name="Chart 0"/>
          <p:cNvGraphicFramePr/>
          <p:nvPr/>
        </p:nvGraphicFramePr>
        <p:xfrm>
          <a:off x="4572000" y="1097280"/>
          <a:ext cx="411480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p:nvPr/>
        </p:nvSpPr>
        <p:spPr>
          <a:xfrm>
            <a:off x="640080" y="4572000"/>
            <a:ext cx="7863840" cy="320040"/>
          </a:xfrm>
          <a:prstGeom prst="rect">
            <a:avLst/>
          </a:prstGeom>
          <a:noFill/>
          <a:ln/>
        </p:spPr>
        <p:txBody>
          <a:bodyPr wrap="square" lIns="0" tIns="0" rIns="0" bIns="0" rtlCol="0" anchor="ctr"/>
          <a:lstStyle/>
          <a:p>
            <a:pPr marL="0" indent="0" algn="ctr">
              <a:buNone/>
            </a:pPr>
            <a:r>
              <a:rPr lang="en-US" sz="1000" dirty="0">
                <a:solidFill>
                  <a:srgbClr val="6B7280"/>
                </a:solidFill>
                <a:latin typeface="Poppins" pitchFamily="34" charset="0"/>
                <a:ea typeface="Poppins" pitchFamily="34" charset="-122"/>
                <a:cs typeface="Poppins" pitchFamily="34" charset="-120"/>
              </a:rPr>
              <a:t>CA prévisionnel : 77,7k → 288,4k → 816,9k → 1 411,7k€  |  Break-even 2027</a:t>
            </a:r>
            <a:endParaRPr lang="en-US" sz="1000" dirty="0"/>
          </a:p>
        </p:txBody>
      </p:sp>
      <p:sp>
        <p:nvSpPr>
          <p:cNvPr id="8" name="Text 5"/>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900" dirty="0">
                <a:solidFill>
                  <a:srgbClr val="9CA3AF"/>
                </a:solidFill>
                <a:latin typeface="Poppins" pitchFamily="34" charset="0"/>
                <a:ea typeface="Poppins" pitchFamily="34" charset="-122"/>
                <a:cs typeface="Poppins"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677FF"/>
          </a:solidFill>
          <a:ln/>
        </p:spPr>
        <p:txBody>
          <a:bodyPr/>
          <a:lstStyle/>
          <a:p>
            <a:endParaRPr lang="fr-FR"/>
          </a:p>
        </p:txBody>
      </p:sp>
      <p:pic>
        <p:nvPicPr>
          <p:cNvPr id="3" name="Image 0" descr="preencoded.png"/>
          <p:cNvPicPr>
            <a:picLocks noChangeAspect="1"/>
          </p:cNvPicPr>
          <p:nvPr/>
        </p:nvPicPr>
        <p:blipFill>
          <a:blip r:embed="rId3"/>
          <a:stretch>
            <a:fillRect/>
          </a:stretch>
        </p:blipFill>
        <p:spPr>
          <a:xfrm>
            <a:off x="2743200" y="731520"/>
            <a:ext cx="1188720" cy="1188720"/>
          </a:xfrm>
          <a:prstGeom prst="rect">
            <a:avLst/>
          </a:prstGeom>
        </p:spPr>
      </p:pic>
      <p:sp>
        <p:nvSpPr>
          <p:cNvPr id="4" name="Text 1"/>
          <p:cNvSpPr/>
          <p:nvPr/>
        </p:nvSpPr>
        <p:spPr>
          <a:xfrm>
            <a:off x="3977640" y="868680"/>
            <a:ext cx="2286000" cy="914400"/>
          </a:xfrm>
          <a:prstGeom prst="rect">
            <a:avLst/>
          </a:prstGeom>
          <a:noFill/>
          <a:ln/>
        </p:spPr>
        <p:txBody>
          <a:bodyPr wrap="square" lIns="0" tIns="0" rIns="0" bIns="0" rtlCol="0" anchor="ctr"/>
          <a:lstStyle/>
          <a:p>
            <a:pPr marL="0" indent="0">
              <a:buNone/>
            </a:pPr>
            <a:r>
              <a:rPr lang="en-US" sz="4600" b="1" dirty="0">
                <a:solidFill>
                  <a:srgbClr val="0F172A"/>
                </a:solidFill>
                <a:latin typeface="Poppins" pitchFamily="34" charset="0"/>
                <a:ea typeface="Poppins" pitchFamily="34" charset="-122"/>
                <a:cs typeface="Poppins" pitchFamily="34" charset="-120"/>
              </a:rPr>
              <a:t>KINN</a:t>
            </a:r>
            <a:endParaRPr lang="en-US" sz="4600" dirty="0"/>
          </a:p>
        </p:txBody>
      </p:sp>
      <p:sp>
        <p:nvSpPr>
          <p:cNvPr id="5" name="Text 2"/>
          <p:cNvSpPr/>
          <p:nvPr/>
        </p:nvSpPr>
        <p:spPr>
          <a:xfrm>
            <a:off x="1371600" y="2103120"/>
            <a:ext cx="6400800" cy="731520"/>
          </a:xfrm>
          <a:prstGeom prst="rect">
            <a:avLst/>
          </a:prstGeom>
          <a:noFill/>
          <a:ln/>
        </p:spPr>
        <p:txBody>
          <a:bodyPr wrap="square" lIns="0" tIns="0" rIns="0" bIns="0" rtlCol="0" anchor="ctr"/>
          <a:lstStyle/>
          <a:p>
            <a:pPr marL="0" indent="0" algn="ctr">
              <a:lnSpc>
                <a:spcPct val="130000"/>
              </a:lnSpc>
              <a:buNone/>
            </a:pPr>
            <a:r>
              <a:rPr lang="en-US" sz="2200" b="1" dirty="0">
                <a:solidFill>
                  <a:srgbClr val="0F172A"/>
                </a:solidFill>
                <a:latin typeface="Poppins" pitchFamily="34" charset="0"/>
                <a:ea typeface="Poppins" pitchFamily="34" charset="-122"/>
                <a:cs typeface="Poppins" pitchFamily="34" charset="-120"/>
              </a:rPr>
              <a:t>Votre écosystème</a:t>
            </a:r>
            <a:endParaRPr lang="en-US" sz="2200" dirty="0"/>
          </a:p>
          <a:p>
            <a:pPr marL="0" indent="0" algn="ctr">
              <a:lnSpc>
                <a:spcPct val="130000"/>
              </a:lnSpc>
              <a:buNone/>
            </a:pPr>
            <a:r>
              <a:rPr lang="en-US" sz="2200" b="1" dirty="0">
                <a:solidFill>
                  <a:srgbClr val="0F172A"/>
                </a:solidFill>
                <a:latin typeface="Poppins" pitchFamily="34" charset="0"/>
                <a:ea typeface="Poppins" pitchFamily="34" charset="-122"/>
                <a:cs typeface="Poppins" pitchFamily="34" charset="-120"/>
              </a:rPr>
              <a:t>connecté, automatisé, intelligent.</a:t>
            </a:r>
            <a:endParaRPr lang="en-US" sz="2200" dirty="0"/>
          </a:p>
        </p:txBody>
      </p:sp>
      <p:sp>
        <p:nvSpPr>
          <p:cNvPr id="6" name="Shape 3"/>
          <p:cNvSpPr/>
          <p:nvPr/>
        </p:nvSpPr>
        <p:spPr>
          <a:xfrm>
            <a:off x="1325880" y="3063240"/>
            <a:ext cx="320040" cy="320040"/>
          </a:xfrm>
          <a:prstGeom prst="ellipse">
            <a:avLst/>
          </a:prstGeom>
          <a:solidFill>
            <a:srgbClr val="1677FF"/>
          </a:solidFill>
          <a:ln/>
        </p:spPr>
        <p:txBody>
          <a:bodyPr/>
          <a:lstStyle/>
          <a:p>
            <a:endParaRPr lang="fr-FR"/>
          </a:p>
        </p:txBody>
      </p:sp>
      <p:pic>
        <p:nvPicPr>
          <p:cNvPr id="7" name="Image 1" descr="preencoded.png"/>
          <p:cNvPicPr>
            <a:picLocks noChangeAspect="1"/>
          </p:cNvPicPr>
          <p:nvPr/>
        </p:nvPicPr>
        <p:blipFill>
          <a:blip r:embed="rId4"/>
          <a:stretch>
            <a:fillRect/>
          </a:stretch>
        </p:blipFill>
        <p:spPr>
          <a:xfrm>
            <a:off x="1371600" y="3108960"/>
            <a:ext cx="228600" cy="228600"/>
          </a:xfrm>
          <a:prstGeom prst="rect">
            <a:avLst/>
          </a:prstGeom>
        </p:spPr>
      </p:pic>
      <p:sp>
        <p:nvSpPr>
          <p:cNvPr id="8" name="Text 4"/>
          <p:cNvSpPr/>
          <p:nvPr/>
        </p:nvSpPr>
        <p:spPr>
          <a:xfrm>
            <a:off x="640080" y="3474720"/>
            <a:ext cx="1828800" cy="320040"/>
          </a:xfrm>
          <a:prstGeom prst="rect">
            <a:avLst/>
          </a:prstGeom>
          <a:noFill/>
          <a:ln/>
        </p:spPr>
        <p:txBody>
          <a:bodyPr wrap="square" lIns="0" tIns="0" rIns="0" bIns="0" rtlCol="0" anchor="ctr"/>
          <a:lstStyle/>
          <a:p>
            <a:pPr marL="0" indent="0" algn="ctr">
              <a:buNone/>
            </a:pPr>
            <a:r>
              <a:rPr lang="en-US" sz="1000" dirty="0">
                <a:solidFill>
                  <a:srgbClr val="374151"/>
                </a:solidFill>
                <a:latin typeface="Poppins" pitchFamily="34" charset="0"/>
                <a:ea typeface="Poppins" pitchFamily="34" charset="-122"/>
                <a:cs typeface="Poppins" pitchFamily="34" charset="-120"/>
              </a:rPr>
              <a:t>Un problème massif résolu</a:t>
            </a:r>
            <a:endParaRPr lang="en-US" sz="1000" dirty="0"/>
          </a:p>
        </p:txBody>
      </p:sp>
      <p:sp>
        <p:nvSpPr>
          <p:cNvPr id="9" name="Shape 5"/>
          <p:cNvSpPr/>
          <p:nvPr/>
        </p:nvSpPr>
        <p:spPr>
          <a:xfrm>
            <a:off x="3337560" y="3063240"/>
            <a:ext cx="320040" cy="320040"/>
          </a:xfrm>
          <a:prstGeom prst="ellipse">
            <a:avLst/>
          </a:prstGeom>
          <a:solidFill>
            <a:srgbClr val="1677FF"/>
          </a:solidFill>
          <a:ln/>
        </p:spPr>
        <p:txBody>
          <a:bodyPr/>
          <a:lstStyle/>
          <a:p>
            <a:endParaRPr lang="fr-FR"/>
          </a:p>
        </p:txBody>
      </p:sp>
      <p:pic>
        <p:nvPicPr>
          <p:cNvPr id="10" name="Image 2" descr="preencoded.png"/>
          <p:cNvPicPr>
            <a:picLocks noChangeAspect="1"/>
          </p:cNvPicPr>
          <p:nvPr/>
        </p:nvPicPr>
        <p:blipFill>
          <a:blip r:embed="rId4"/>
          <a:stretch>
            <a:fillRect/>
          </a:stretch>
        </p:blipFill>
        <p:spPr>
          <a:xfrm>
            <a:off x="3383280" y="3108960"/>
            <a:ext cx="228600" cy="228600"/>
          </a:xfrm>
          <a:prstGeom prst="rect">
            <a:avLst/>
          </a:prstGeom>
        </p:spPr>
      </p:pic>
      <p:sp>
        <p:nvSpPr>
          <p:cNvPr id="11" name="Text 6"/>
          <p:cNvSpPr/>
          <p:nvPr/>
        </p:nvSpPr>
        <p:spPr>
          <a:xfrm>
            <a:off x="2651760" y="3474720"/>
            <a:ext cx="1828800" cy="320040"/>
          </a:xfrm>
          <a:prstGeom prst="rect">
            <a:avLst/>
          </a:prstGeom>
          <a:noFill/>
          <a:ln/>
        </p:spPr>
        <p:txBody>
          <a:bodyPr wrap="square" lIns="0" tIns="0" rIns="0" bIns="0" rtlCol="0" anchor="ctr"/>
          <a:lstStyle/>
          <a:p>
            <a:pPr marL="0" indent="0" algn="ctr">
              <a:buNone/>
            </a:pPr>
            <a:r>
              <a:rPr lang="en-US" sz="1000" dirty="0">
                <a:solidFill>
                  <a:srgbClr val="374151"/>
                </a:solidFill>
                <a:latin typeface="Poppins" pitchFamily="34" charset="0"/>
                <a:ea typeface="Poppins" pitchFamily="34" charset="-122"/>
                <a:cs typeface="Poppins" pitchFamily="34" charset="-120"/>
              </a:rPr>
              <a:t>Un modèle rentable</a:t>
            </a:r>
            <a:endParaRPr lang="en-US" sz="1000" dirty="0"/>
          </a:p>
        </p:txBody>
      </p:sp>
      <p:sp>
        <p:nvSpPr>
          <p:cNvPr id="12" name="Shape 7"/>
          <p:cNvSpPr/>
          <p:nvPr/>
        </p:nvSpPr>
        <p:spPr>
          <a:xfrm>
            <a:off x="5349240" y="3063240"/>
            <a:ext cx="320040" cy="320040"/>
          </a:xfrm>
          <a:prstGeom prst="ellipse">
            <a:avLst/>
          </a:prstGeom>
          <a:solidFill>
            <a:srgbClr val="1677FF"/>
          </a:solidFill>
          <a:ln/>
        </p:spPr>
        <p:txBody>
          <a:bodyPr/>
          <a:lstStyle/>
          <a:p>
            <a:endParaRPr lang="fr-FR"/>
          </a:p>
        </p:txBody>
      </p:sp>
      <p:pic>
        <p:nvPicPr>
          <p:cNvPr id="13" name="Image 3" descr="preencoded.png"/>
          <p:cNvPicPr>
            <a:picLocks noChangeAspect="1"/>
          </p:cNvPicPr>
          <p:nvPr/>
        </p:nvPicPr>
        <p:blipFill>
          <a:blip r:embed="rId4"/>
          <a:stretch>
            <a:fillRect/>
          </a:stretch>
        </p:blipFill>
        <p:spPr>
          <a:xfrm>
            <a:off x="5394960" y="3108960"/>
            <a:ext cx="228600" cy="228600"/>
          </a:xfrm>
          <a:prstGeom prst="rect">
            <a:avLst/>
          </a:prstGeom>
        </p:spPr>
      </p:pic>
      <p:sp>
        <p:nvSpPr>
          <p:cNvPr id="14" name="Text 8"/>
          <p:cNvSpPr/>
          <p:nvPr/>
        </p:nvSpPr>
        <p:spPr>
          <a:xfrm>
            <a:off x="4663440" y="3474720"/>
            <a:ext cx="1828800" cy="320040"/>
          </a:xfrm>
          <a:prstGeom prst="rect">
            <a:avLst/>
          </a:prstGeom>
          <a:noFill/>
          <a:ln/>
        </p:spPr>
        <p:txBody>
          <a:bodyPr wrap="square" lIns="0" tIns="0" rIns="0" bIns="0" rtlCol="0" anchor="ctr"/>
          <a:lstStyle/>
          <a:p>
            <a:pPr marL="0" indent="0" algn="ctr">
              <a:buNone/>
            </a:pPr>
            <a:r>
              <a:rPr lang="en-US" sz="1000" dirty="0">
                <a:solidFill>
                  <a:srgbClr val="374151"/>
                </a:solidFill>
                <a:latin typeface="Poppins" pitchFamily="34" charset="0"/>
                <a:ea typeface="Poppins" pitchFamily="34" charset="-122"/>
                <a:cs typeface="Poppins" pitchFamily="34" charset="-120"/>
              </a:rPr>
              <a:t>Une vision forte</a:t>
            </a:r>
            <a:endParaRPr lang="en-US" sz="1000" dirty="0"/>
          </a:p>
        </p:txBody>
      </p:sp>
      <p:sp>
        <p:nvSpPr>
          <p:cNvPr id="15" name="Shape 9"/>
          <p:cNvSpPr/>
          <p:nvPr/>
        </p:nvSpPr>
        <p:spPr>
          <a:xfrm>
            <a:off x="7360920" y="3063240"/>
            <a:ext cx="320040" cy="320040"/>
          </a:xfrm>
          <a:prstGeom prst="ellipse">
            <a:avLst/>
          </a:prstGeom>
          <a:solidFill>
            <a:srgbClr val="1677FF"/>
          </a:solidFill>
          <a:ln/>
        </p:spPr>
        <p:txBody>
          <a:bodyPr/>
          <a:lstStyle/>
          <a:p>
            <a:endParaRPr lang="fr-FR"/>
          </a:p>
        </p:txBody>
      </p:sp>
      <p:pic>
        <p:nvPicPr>
          <p:cNvPr id="16" name="Image 4" descr="preencoded.png"/>
          <p:cNvPicPr>
            <a:picLocks noChangeAspect="1"/>
          </p:cNvPicPr>
          <p:nvPr/>
        </p:nvPicPr>
        <p:blipFill>
          <a:blip r:embed="rId4"/>
          <a:stretch>
            <a:fillRect/>
          </a:stretch>
        </p:blipFill>
        <p:spPr>
          <a:xfrm>
            <a:off x="7406640" y="3108960"/>
            <a:ext cx="228600" cy="228600"/>
          </a:xfrm>
          <a:prstGeom prst="rect">
            <a:avLst/>
          </a:prstGeom>
        </p:spPr>
      </p:pic>
      <p:sp>
        <p:nvSpPr>
          <p:cNvPr id="17" name="Text 10"/>
          <p:cNvSpPr/>
          <p:nvPr/>
        </p:nvSpPr>
        <p:spPr>
          <a:xfrm>
            <a:off x="6675120" y="3474720"/>
            <a:ext cx="1828800" cy="320040"/>
          </a:xfrm>
          <a:prstGeom prst="rect">
            <a:avLst/>
          </a:prstGeom>
          <a:noFill/>
          <a:ln/>
        </p:spPr>
        <p:txBody>
          <a:bodyPr wrap="square" lIns="0" tIns="0" rIns="0" bIns="0" rtlCol="0" anchor="ctr"/>
          <a:lstStyle/>
          <a:p>
            <a:pPr marL="0" indent="0" algn="ctr">
              <a:buNone/>
            </a:pPr>
            <a:r>
              <a:rPr lang="en-US" sz="1000" dirty="0">
                <a:solidFill>
                  <a:srgbClr val="374151"/>
                </a:solidFill>
                <a:latin typeface="Poppins" pitchFamily="34" charset="0"/>
                <a:ea typeface="Poppins" pitchFamily="34" charset="-122"/>
                <a:cs typeface="Poppins" pitchFamily="34" charset="-120"/>
              </a:rPr>
              <a:t>Intégration IA native</a:t>
            </a:r>
            <a:endParaRPr lang="en-US" sz="1000" dirty="0"/>
          </a:p>
        </p:txBody>
      </p:sp>
      <p:sp>
        <p:nvSpPr>
          <p:cNvPr id="18" name="Text 11"/>
          <p:cNvSpPr/>
          <p:nvPr/>
        </p:nvSpPr>
        <p:spPr>
          <a:xfrm>
            <a:off x="1371600" y="3931920"/>
            <a:ext cx="6400800" cy="457200"/>
          </a:xfrm>
          <a:prstGeom prst="rect">
            <a:avLst/>
          </a:prstGeom>
          <a:noFill/>
          <a:ln/>
        </p:spPr>
        <p:txBody>
          <a:bodyPr wrap="square" lIns="0" tIns="0" rIns="0" bIns="0" rtlCol="0" anchor="ctr"/>
          <a:lstStyle/>
          <a:p>
            <a:pPr marL="0" indent="0" algn="ctr">
              <a:buNone/>
            </a:pPr>
            <a:r>
              <a:rPr lang="en-US" sz="1600" dirty="0">
                <a:solidFill>
                  <a:srgbClr val="1677FF"/>
                </a:solidFill>
                <a:latin typeface="Poppins" pitchFamily="34" charset="0"/>
                <a:ea typeface="Poppins" pitchFamily="34" charset="-122"/>
                <a:cs typeface="Poppins" pitchFamily="34" charset="-120"/>
              </a:rPr>
              <a:t>« </a:t>
            </a:r>
            <a:r>
              <a:rPr lang="en-US" sz="1200" i="1" dirty="0">
                <a:solidFill>
                  <a:srgbClr val="374151"/>
                </a:solidFill>
                <a:latin typeface="Poppins" pitchFamily="34" charset="0"/>
                <a:ea typeface="Poppins" pitchFamily="34" charset="-122"/>
                <a:cs typeface="Poppins" pitchFamily="34" charset="-120"/>
              </a:rPr>
              <a:t>KINN n'est pas un outil. C'est la nouvelle colonne vertébrale numérique des PME et ETI.</a:t>
            </a:r>
            <a:r>
              <a:rPr lang="en-US" sz="1600" dirty="0">
                <a:solidFill>
                  <a:srgbClr val="1677FF"/>
                </a:solidFill>
                <a:latin typeface="Poppins" pitchFamily="34" charset="0"/>
                <a:ea typeface="Poppins" pitchFamily="34" charset="-122"/>
                <a:cs typeface="Poppins" pitchFamily="34" charset="-120"/>
              </a:rPr>
              <a:t> »</a:t>
            </a:r>
            <a:endParaRPr lang="en-US" sz="1600" dirty="0"/>
          </a:p>
        </p:txBody>
      </p:sp>
      <p:sp>
        <p:nvSpPr>
          <p:cNvPr id="19" name="Text 12"/>
          <p:cNvSpPr/>
          <p:nvPr/>
        </p:nvSpPr>
        <p:spPr>
          <a:xfrm>
            <a:off x="1828800" y="4709160"/>
            <a:ext cx="5486400" cy="274320"/>
          </a:xfrm>
          <a:prstGeom prst="rect">
            <a:avLst/>
          </a:prstGeom>
          <a:noFill/>
          <a:ln/>
        </p:spPr>
        <p:txBody>
          <a:bodyPr wrap="square" lIns="0" tIns="0" rIns="0" bIns="0" rtlCol="0" anchor="ctr"/>
          <a:lstStyle/>
          <a:p>
            <a:pPr marL="0" indent="0" algn="ctr">
              <a:buNone/>
            </a:pPr>
            <a:r>
              <a:rPr lang="en-US" sz="1000" dirty="0">
                <a:solidFill>
                  <a:srgbClr val="9CA3AF"/>
                </a:solidFill>
                <a:latin typeface="Poppins" pitchFamily="34" charset="0"/>
                <a:ea typeface="Poppins" pitchFamily="34" charset="-122"/>
                <a:cs typeface="Poppins" pitchFamily="34" charset="-120"/>
              </a:rPr>
              <a:t>C4RBON Group  |  contact@c4rbon.group  |  2026</a:t>
            </a:r>
            <a:endParaRPr lang="en-US" sz="1000" dirty="0"/>
          </a:p>
        </p:txBody>
      </p:sp>
      <p:sp>
        <p:nvSpPr>
          <p:cNvPr id="20" name="Text 13"/>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900" dirty="0">
                <a:solidFill>
                  <a:srgbClr val="9CA3AF"/>
                </a:solidFill>
                <a:latin typeface="Poppins" pitchFamily="34" charset="0"/>
                <a:ea typeface="Poppins" pitchFamily="34" charset="-122"/>
                <a:cs typeface="Poppins" pitchFamily="34" charset="-120"/>
              </a:rPr>
              <a:t>29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8997</TotalTime>
  <Words>3835</Words>
  <Application>Microsoft Macintosh PowerPoint</Application>
  <PresentationFormat>Affichage à l'écran (16:9)</PresentationFormat>
  <Paragraphs>658</Paragraphs>
  <Slides>29</Slides>
  <Notes>29</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29</vt:i4>
      </vt:variant>
    </vt:vector>
  </HeadingPairs>
  <TitlesOfParts>
    <vt:vector size="32" baseType="lpstr">
      <vt:lpstr>Arial</vt:lpstr>
      <vt:lpstr>Poppins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KINN - Pitch Deck 2.0</dc:title>
  <dc:subject>PptxGenJS Presentation</dc:subject>
  <dc:creator>C4RBON Group</dc:creator>
  <cp:lastModifiedBy>Edouard Bernier-Nahon</cp:lastModifiedBy>
  <cp:revision>6</cp:revision>
  <dcterms:created xsi:type="dcterms:W3CDTF">2026-03-07T15:23:36Z</dcterms:created>
  <dcterms:modified xsi:type="dcterms:W3CDTF">2026-03-27T16:50:50Z</dcterms:modified>
</cp:coreProperties>
</file>