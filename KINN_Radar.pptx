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749"/>
  </p:normalViewPr>
  <p:slideViewPr>
    <p:cSldViewPr snapToGrid="0" snapToObjects="1">
      <p:cViewPr varScale="1">
        <p:scale>
          <a:sx n="138" d="100"/>
          <a:sy n="138" d="100"/>
        </p:scale>
        <p:origin x="176" y="2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498079" y="0"/>
            <a:ext cx="4693615" cy="6858000"/>
          </a:xfrm>
          <a:prstGeom prst="rect">
            <a:avLst/>
          </a:prstGeom>
          <a:solidFill>
            <a:srgbClr val="FB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-k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877638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560320"/>
            <a:ext cx="8229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 i="0">
                <a:solidFill>
                  <a:srgbClr val="E61982"/>
                </a:solidFill>
                <a:latin typeface="Avenir Next"/>
              </a:rPr>
              <a:t>Radar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611880"/>
            <a:ext cx="6400800" cy="8725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 dirty="0" err="1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L'intelligence</a:t>
            </a:r>
            <a:r>
              <a:rPr sz="2200" b="0" i="0" dirty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 qui surveille, </a:t>
            </a:r>
            <a:r>
              <a:rPr sz="2200" b="0" i="0" dirty="0" err="1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audite</a:t>
            </a:r>
            <a:endParaRPr sz="2200" b="0" i="0" dirty="0">
              <a:solidFill>
                <a:srgbClr val="232630"/>
              </a:solidFill>
              <a:latin typeface="Poppins" pitchFamily="2" charset="77"/>
              <a:cs typeface="Poppins" pitchFamily="2" charset="77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 dirty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et </a:t>
            </a:r>
            <a:r>
              <a:rPr sz="2200" b="0" i="0" dirty="0" err="1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optimise</a:t>
            </a:r>
            <a:r>
              <a:rPr sz="2200" b="0" i="0" dirty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2200" b="0" i="0" dirty="0" err="1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vos</a:t>
            </a:r>
            <a:r>
              <a:rPr sz="2200" b="0" i="0" dirty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 processus </a:t>
            </a:r>
            <a:r>
              <a:rPr lang="fr-FR" sz="2200" b="0" i="0" dirty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-</a:t>
            </a:r>
            <a:r>
              <a:rPr sz="2200" b="0" i="0" dirty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2200" b="0" i="0" dirty="0" err="1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en</a:t>
            </a:r>
            <a:r>
              <a:rPr sz="2200" b="0" i="0" dirty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2200" b="0" i="0" dirty="0" err="1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continu</a:t>
            </a:r>
            <a:r>
              <a:rPr sz="2200" b="0" i="0" dirty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029200"/>
            <a:ext cx="6400800" cy="239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fr-FR" sz="1500" b="0" i="1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Radar optimise en continue</a:t>
            </a:r>
            <a:endParaRPr sz="1500" b="0" i="1" dirty="0">
              <a:solidFill>
                <a:srgbClr val="E61982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29600" y="1463040"/>
            <a:ext cx="310896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146304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61982"/>
                </a:solidFill>
                <a:latin typeface="Avenir Next"/>
              </a:rPr>
              <a:t>Connecter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84080" y="2194560"/>
            <a:ext cx="0" cy="320040"/>
          </a:xfrm>
          <a:prstGeom prst="line">
            <a:avLst/>
          </a:prstGeom>
          <a:ln w="20320">
            <a:solidFill>
              <a:srgbClr val="E619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0" y="2514600"/>
            <a:ext cx="310896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251460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61982"/>
                </a:solidFill>
                <a:latin typeface="Avenir Next"/>
              </a:rPr>
              <a:t>Comprendre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84080" y="3246120"/>
            <a:ext cx="0" cy="320040"/>
          </a:xfrm>
          <a:prstGeom prst="line">
            <a:avLst/>
          </a:prstGeom>
          <a:ln w="20320">
            <a:solidFill>
              <a:srgbClr val="E619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29600" y="3566160"/>
            <a:ext cx="310896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356616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61982"/>
                </a:solidFill>
                <a:latin typeface="Avenir Next"/>
              </a:rPr>
              <a:t>Analyser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84080" y="4297680"/>
            <a:ext cx="0" cy="320040"/>
          </a:xfrm>
          <a:prstGeom prst="line">
            <a:avLst/>
          </a:prstGeom>
          <a:ln w="20320">
            <a:solidFill>
              <a:srgbClr val="E619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0" y="4617720"/>
            <a:ext cx="3108960" cy="731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461772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61982"/>
                </a:solidFill>
                <a:latin typeface="Avenir Next"/>
              </a:rPr>
              <a:t>Agir</a:t>
            </a:r>
          </a:p>
        </p:txBody>
      </p:sp>
      <p:pic>
        <p:nvPicPr>
          <p:cNvPr id="21" name="Picture 20" descr="c4rbo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32630"/>
                </a:solidFill>
                <a:latin typeface="Avenir Next"/>
              </a:rPr>
              <a:t>Le vrai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10789920" cy="318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Votre entreprise tourne sur 10 logiciels qui ne se parlent pas. Personne n'a la vision globale.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26060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2688" y="2670048"/>
            <a:ext cx="566928" cy="566928"/>
          </a:xfrm>
          <a:prstGeom prst="ellipse">
            <a:avLst/>
          </a:prstGeom>
          <a:solidFill>
            <a:srgbClr val="F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61982"/>
                </a:solidFill>
                <a:latin typeface="Avenir Nex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383280"/>
            <a:ext cx="2121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32630"/>
                </a:solidFill>
                <a:latin typeface="Avenir Next"/>
              </a:rPr>
              <a:t>Où passe l'argent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139696" cy="435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Impayés</a:t>
            </a:r>
            <a:r>
              <a:rPr sz="12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et </a:t>
            </a:r>
            <a:r>
              <a:rPr sz="12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coûts</a:t>
            </a:r>
            <a:r>
              <a:rPr sz="12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2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cachés</a:t>
            </a:r>
            <a:r>
              <a:rPr sz="12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, sans </a:t>
            </a:r>
            <a:r>
              <a:rPr sz="12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alerte</a:t>
            </a:r>
            <a:r>
              <a:rPr sz="12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77440"/>
            <a:ext cx="26060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721608" y="2670048"/>
            <a:ext cx="566928" cy="566928"/>
          </a:xfrm>
          <a:prstGeom prst="ellipse">
            <a:avLst/>
          </a:prstGeom>
          <a:solidFill>
            <a:srgbClr val="F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21608" y="26700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61982"/>
                </a:solidFill>
                <a:latin typeface="Avenir N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3383280"/>
            <a:ext cx="2121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32630"/>
                </a:solidFill>
                <a:latin typeface="Avenir Next"/>
              </a:rPr>
              <a:t>Tout traîne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3822191"/>
            <a:ext cx="2139696" cy="6564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Commandes et dossiers bloqués, sans qu'on sache pourquoi.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377440"/>
            <a:ext cx="26060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510528" y="2670048"/>
            <a:ext cx="566928" cy="566928"/>
          </a:xfrm>
          <a:prstGeom prst="ellipse">
            <a:avLst/>
          </a:prstGeom>
          <a:solidFill>
            <a:srgbClr val="F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26700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61982"/>
                </a:solidFill>
                <a:latin typeface="Avenir Nex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383280"/>
            <a:ext cx="2121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32630"/>
                </a:solidFill>
                <a:latin typeface="Avenir Next"/>
              </a:rPr>
              <a:t>Trop tard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822191"/>
            <a:ext cx="2139696" cy="435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Les problèmes se découvrent après coup.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39" y="2377440"/>
            <a:ext cx="26060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9447" y="2670048"/>
            <a:ext cx="566928" cy="566928"/>
          </a:xfrm>
          <a:prstGeom prst="ellipse">
            <a:avLst/>
          </a:prstGeom>
          <a:solidFill>
            <a:srgbClr val="F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99447" y="26700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61982"/>
                </a:solidFill>
                <a:latin typeface="Avenir Next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1" y="3383280"/>
            <a:ext cx="21214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32630"/>
                </a:solidFill>
                <a:latin typeface="Avenir Next"/>
              </a:rPr>
              <a:t>Audit = des semaines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1" y="3822191"/>
            <a:ext cx="2139696" cy="435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…et déjà périmé quand il sort.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83480"/>
            <a:ext cx="10789920" cy="2714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1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« Je sens que ça coince quelque part, mais impossible de mettre le doigt dessus. »</a:t>
            </a:r>
          </a:p>
        </p:txBody>
      </p:sp>
      <p:pic>
        <p:nvPicPr>
          <p:cNvPr id="26" name="Picture 25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32630"/>
                </a:solidFill>
                <a:latin typeface="Avenir Next"/>
              </a:rPr>
              <a:t>La solution : KINN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789920" cy="2714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Un cerveau qui surveille votre entreprise 24h/24. Vous connectez, le reste est automatique.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103120"/>
            <a:ext cx="548640" cy="54864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venir N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0312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1982"/>
                </a:solidFill>
                <a:latin typeface="Avenir Next"/>
              </a:rPr>
              <a:t>Connecte tout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261671"/>
            <a:ext cx="6949440" cy="2315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ERP, CRM, </a:t>
            </a:r>
            <a:r>
              <a:rPr sz="14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fichiers</a:t>
            </a:r>
            <a:r>
              <a:rPr sz="14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, e-mails, production, bases de données.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944368"/>
            <a:ext cx="548640" cy="54864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9443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1982"/>
                </a:solidFill>
                <a:latin typeface="Avenir Next"/>
              </a:rPr>
              <a:t>Comprend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102919"/>
            <a:ext cx="6949440" cy="2315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Relie clients, devis, commandes, factures, projets, fichiers, équipes.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785615"/>
            <a:ext cx="548640" cy="54864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785615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venir N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85615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1982"/>
                </a:solidFill>
                <a:latin typeface="Avenir Next"/>
              </a:rPr>
              <a:t>Analyse en continu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44166"/>
            <a:ext cx="6949440" cy="2315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Goulots, retards, impayés, ruptures de stock, doublons, anomalies.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626864"/>
            <a:ext cx="548640" cy="54864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62686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venir Nex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26864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1982"/>
                </a:solidFill>
                <a:latin typeface="Avenir Next"/>
              </a:rPr>
              <a:t>Alerte &amp; recommande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85415"/>
            <a:ext cx="6949440" cy="2315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Pas « voici un problème » mais « voici quoi faire ».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468112"/>
            <a:ext cx="548640" cy="54864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46811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venir Nex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68112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61982"/>
                </a:solidFill>
                <a:latin typeface="Avenir Next"/>
              </a:rPr>
              <a:t>Répond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626663"/>
            <a:ext cx="6949440" cy="2315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Vos questions en langage normal.</a:t>
            </a:r>
          </a:p>
        </p:txBody>
      </p:sp>
      <p:pic>
        <p:nvPicPr>
          <p:cNvPr id="25" name="Picture 24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232630"/>
                </a:solidFill>
                <a:latin typeface="Avenir Next"/>
              </a:rPr>
              <a:t>Comment ça marche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51760" cy="548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25053"/>
            <a:ext cx="2468880" cy="2074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ERP / Dolibarr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91840" y="1828800"/>
            <a:ext cx="1389888" cy="777240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2267712"/>
            <a:ext cx="2651760" cy="548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438285"/>
            <a:ext cx="2468880" cy="2074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0" y="2542032"/>
            <a:ext cx="1389888" cy="374904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2980944"/>
            <a:ext cx="2651760" cy="548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151517"/>
            <a:ext cx="2468880" cy="2074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Fichiers / Nextcloud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291840" y="3227832"/>
            <a:ext cx="1389888" cy="27431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3694176"/>
            <a:ext cx="2651760" cy="548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864749"/>
            <a:ext cx="2468880" cy="2074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E-mails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91840" y="3538728"/>
            <a:ext cx="1389888" cy="429768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40080" y="4407408"/>
            <a:ext cx="2651760" cy="548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577981"/>
            <a:ext cx="2468880" cy="2074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Production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291840" y="3849624"/>
            <a:ext cx="1389888" cy="832104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5120640"/>
            <a:ext cx="2651760" cy="548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291213"/>
            <a:ext cx="2468880" cy="2074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Bases de données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291840" y="4160520"/>
            <a:ext cx="1389888" cy="1234440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09160" y="2468880"/>
            <a:ext cx="2743200" cy="1920240"/>
          </a:xfrm>
          <a:prstGeom prst="round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09160" y="267004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venir Next"/>
              </a:rPr>
              <a:t>KINN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00400"/>
            <a:ext cx="2651760" cy="7101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DE7F2"/>
                </a:solidFill>
                <a:latin typeface="Poppins" pitchFamily="2" charset="77"/>
                <a:cs typeface="Poppins" pitchFamily="2" charset="77"/>
              </a:rPr>
              <a:t>Mémoire unifiée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DE7F2"/>
                </a:solidFill>
                <a:latin typeface="Poppins" pitchFamily="2" charset="77"/>
                <a:cs typeface="Poppins" pitchFamily="2" charset="77"/>
              </a:rPr>
              <a:t>+ moteurs d'IA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DE7F2"/>
                </a:solidFill>
                <a:latin typeface="Poppins" pitchFamily="2" charset="77"/>
                <a:cs typeface="Poppins" pitchFamily="2" charset="77"/>
              </a:rPr>
              <a:t>(graphe • process • modèles)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0" y="1783080"/>
            <a:ext cx="2788920" cy="6400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06840" y="1995334"/>
            <a:ext cx="2606040" cy="2155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Vision globale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7452360" y="2103120"/>
            <a:ext cx="1399032" cy="594360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869680" y="2651760"/>
            <a:ext cx="2788920" cy="6400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006840" y="2864014"/>
            <a:ext cx="2606040" cy="2155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Goulots &amp; retards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452360" y="2971800"/>
            <a:ext cx="1399032" cy="137160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869680" y="3520439"/>
            <a:ext cx="2788920" cy="6400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006840" y="3732693"/>
            <a:ext cx="2606040" cy="2155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Alertes &amp; actions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52360" y="3520440"/>
            <a:ext cx="1399032" cy="320039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869680" y="4389120"/>
            <a:ext cx="2788920" cy="6400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06840" y="4601374"/>
            <a:ext cx="2606040" cy="2155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Réponses en langage naturel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52360" y="3931920"/>
            <a:ext cx="1399032" cy="777239"/>
          </a:xfrm>
          <a:prstGeom prst="line">
            <a:avLst/>
          </a:prstGeom>
          <a:ln w="16510">
            <a:solidFill>
              <a:srgbClr val="F08C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155680" cy="517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 dirty="0">
                <a:solidFill>
                  <a:srgbClr val="232630"/>
                </a:solidFill>
                <a:latin typeface="Avenir Next"/>
              </a:rPr>
              <a:t>100 % </a:t>
            </a:r>
            <a:r>
              <a:rPr sz="3200" b="1" i="0" dirty="0" err="1">
                <a:solidFill>
                  <a:srgbClr val="232630"/>
                </a:solidFill>
                <a:latin typeface="Avenir Next"/>
              </a:rPr>
              <a:t>dynamique</a:t>
            </a:r>
            <a:r>
              <a:rPr sz="3200" b="1" i="0" dirty="0">
                <a:solidFill>
                  <a:srgbClr val="232630"/>
                </a:solidFill>
                <a:latin typeface="Avenir Next"/>
              </a:rPr>
              <a:t> </a:t>
            </a:r>
            <a:r>
              <a:rPr lang="fr-FR" sz="3200" b="1" i="0" dirty="0">
                <a:solidFill>
                  <a:srgbClr val="232630"/>
                </a:solidFill>
                <a:latin typeface="Avenir Next"/>
              </a:rPr>
              <a:t>-</a:t>
            </a:r>
            <a:r>
              <a:rPr sz="3200" b="1" i="0" dirty="0">
                <a:solidFill>
                  <a:srgbClr val="232630"/>
                </a:solidFill>
                <a:latin typeface="Avenir Next"/>
              </a:rPr>
              <a:t> </a:t>
            </a:r>
            <a:r>
              <a:rPr sz="3200" b="1" i="0" dirty="0" err="1">
                <a:solidFill>
                  <a:srgbClr val="232630"/>
                </a:solidFill>
                <a:latin typeface="Avenir Next"/>
              </a:rPr>
              <a:t>zéro</a:t>
            </a:r>
            <a:r>
              <a:rPr sz="3200" b="1" i="0" dirty="0">
                <a:solidFill>
                  <a:srgbClr val="232630"/>
                </a:solidFill>
                <a:latin typeface="Avenir Next"/>
              </a:rPr>
              <a:t> </a:t>
            </a:r>
            <a:r>
              <a:rPr sz="3200" b="1" i="0" dirty="0" err="1">
                <a:solidFill>
                  <a:srgbClr val="232630"/>
                </a:solidFill>
                <a:latin typeface="Avenir Next"/>
              </a:rPr>
              <a:t>paramétrage</a:t>
            </a:r>
            <a:r>
              <a:rPr sz="3200" b="1" i="0" dirty="0">
                <a:solidFill>
                  <a:srgbClr val="232630"/>
                </a:solidFill>
                <a:latin typeface="Avenir Next"/>
              </a:rPr>
              <a:t> métier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10881360" cy="287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KINN n'impose rien. Il découvre ce que fait VOTRE entreprise.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5349240" cy="1645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09728" cy="1645920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19" y="2423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Mapping automatique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944368"/>
            <a:ext cx="4846320" cy="7375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Un </a:t>
            </a:r>
            <a:r>
              <a:rPr sz="13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logiciel</a:t>
            </a: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inconnu (</a:t>
            </a:r>
            <a:r>
              <a:rPr sz="13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même</a:t>
            </a: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3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une</a:t>
            </a: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base de données) est </a:t>
            </a:r>
            <a:r>
              <a:rPr sz="13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compris</a:t>
            </a: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par le LLM, qui </a:t>
            </a:r>
            <a:r>
              <a:rPr sz="13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apprend</a:t>
            </a: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le </a:t>
            </a:r>
            <a:r>
              <a:rPr sz="13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schéma</a:t>
            </a: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3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depuis</a:t>
            </a: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35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vos</a:t>
            </a:r>
            <a:r>
              <a:rPr sz="135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données.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94560"/>
            <a:ext cx="5349240" cy="1645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2194560"/>
            <a:ext cx="109728" cy="1645920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59" y="2423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Ontologie qui s'adapte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944368"/>
            <a:ext cx="4846320" cy="4882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Il crée les types métier spécifiques : industrie, formation, expert-comptable…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69079"/>
            <a:ext cx="5349240" cy="1645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069079"/>
            <a:ext cx="109728" cy="1645920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97679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Analyses auto-activées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19" y="4818888"/>
            <a:ext cx="4846320" cy="4882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Pas de stock → pas d'analyse stock. De la production → analyse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069079"/>
            <a:ext cx="5349240" cy="1645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4069079"/>
            <a:ext cx="109728" cy="1645920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59" y="4297679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Predict-or-ask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818888"/>
            <a:ext cx="4846320" cy="4882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En cas de doute, il demande confirmation plutôt que deviner faux.</a:t>
            </a:r>
          </a:p>
        </p:txBody>
      </p:sp>
      <p:pic>
        <p:nvPicPr>
          <p:cNvPr id="21" name="Picture 20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32630"/>
                </a:solidFill>
                <a:latin typeface="Avenir Next"/>
              </a:rPr>
              <a:t>La mémoire : un graphe vivant de votre entreprise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881360" cy="2714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Toutes vos entités et leurs relations, à travers tous vos logiciels.</a:t>
            </a:r>
          </a:p>
        </p:txBody>
      </p:sp>
      <p:cxnSp>
        <p:nvCxnSpPr>
          <p:cNvPr id="5" name="Connector 4"/>
          <p:cNvCxnSpPr/>
          <p:nvPr/>
        </p:nvCxnSpPr>
        <p:spPr>
          <a:xfrm flipH="1" flipV="1">
            <a:off x="2971800" y="2377440"/>
            <a:ext cx="3337559" cy="1737360"/>
          </a:xfrm>
          <a:prstGeom prst="line">
            <a:avLst/>
          </a:prstGeom>
          <a:ln w="20320">
            <a:solidFill>
              <a:srgbClr val="CC8F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6309359" y="2377440"/>
            <a:ext cx="3154681" cy="1737360"/>
          </a:xfrm>
          <a:prstGeom prst="line">
            <a:avLst/>
          </a:prstGeom>
          <a:ln w="20320">
            <a:solidFill>
              <a:srgbClr val="CC8F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6309359" y="3977639"/>
            <a:ext cx="3977641" cy="137161"/>
          </a:xfrm>
          <a:prstGeom prst="line">
            <a:avLst/>
          </a:prstGeom>
          <a:ln w="20320">
            <a:solidFill>
              <a:srgbClr val="CC8F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309359" y="4114800"/>
            <a:ext cx="2697481" cy="1280159"/>
          </a:xfrm>
          <a:prstGeom prst="line">
            <a:avLst/>
          </a:prstGeom>
          <a:ln w="20320">
            <a:solidFill>
              <a:srgbClr val="CC8F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3886200" y="4114800"/>
            <a:ext cx="2423159" cy="1280159"/>
          </a:xfrm>
          <a:prstGeom prst="line">
            <a:avLst/>
          </a:prstGeom>
          <a:ln w="20320">
            <a:solidFill>
              <a:srgbClr val="CC8F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2514600" y="3977639"/>
            <a:ext cx="3794759" cy="137161"/>
          </a:xfrm>
          <a:prstGeom prst="line">
            <a:avLst/>
          </a:prstGeom>
          <a:ln w="20320">
            <a:solidFill>
              <a:srgbClr val="CC8F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94560" y="2057400"/>
            <a:ext cx="155448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94560" y="2273661"/>
            <a:ext cx="1554480" cy="20755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Devis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57400"/>
            <a:ext cx="155448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0" y="2273661"/>
            <a:ext cx="1554480" cy="20755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Commande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3657600"/>
            <a:ext cx="155448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09760" y="3873861"/>
            <a:ext cx="1554480" cy="20755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Facture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5074920"/>
            <a:ext cx="155448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291181"/>
            <a:ext cx="1554480" cy="20755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Projet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5074920"/>
            <a:ext cx="155448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108960" y="5291181"/>
            <a:ext cx="1554480" cy="20755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Fichiers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37360" y="3657600"/>
            <a:ext cx="155448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737360" y="3873861"/>
            <a:ext cx="1554480" cy="20755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E-mails</a:t>
            </a:r>
          </a:p>
        </p:txBody>
      </p:sp>
      <p:sp>
        <p:nvSpPr>
          <p:cNvPr id="23" name="Oval 22"/>
          <p:cNvSpPr/>
          <p:nvPr/>
        </p:nvSpPr>
        <p:spPr>
          <a:xfrm>
            <a:off x="5806440" y="3611880"/>
            <a:ext cx="1051560" cy="105156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06440" y="361188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venir Next"/>
              </a:rPr>
              <a:t>Client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852160"/>
            <a:ext cx="10515600" cy="2155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 dirty="0" err="1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Chaque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350" b="0" i="1" dirty="0" err="1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élément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 est </a:t>
            </a:r>
            <a:r>
              <a:rPr sz="1350" b="0" i="1" dirty="0" err="1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typé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, </a:t>
            </a:r>
            <a:r>
              <a:rPr sz="1350" b="0" i="1" dirty="0" err="1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daté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, </a:t>
            </a:r>
            <a:r>
              <a:rPr sz="1350" b="0" i="1" dirty="0" err="1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attribué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lang="fr-FR"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-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 et filtrable (client, </a:t>
            </a:r>
            <a:r>
              <a:rPr sz="1350" b="0" i="1" dirty="0" err="1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secteur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, </a:t>
            </a:r>
            <a:r>
              <a:rPr sz="1350" b="0" i="1" dirty="0" err="1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personne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, </a:t>
            </a:r>
            <a:r>
              <a:rPr sz="1350" b="0" i="1" dirty="0" err="1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période</a:t>
            </a:r>
            <a:r>
              <a:rPr sz="1350" b="0" i="1" dirty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).</a:t>
            </a:r>
          </a:p>
        </p:txBody>
      </p:sp>
      <p:pic>
        <p:nvPicPr>
          <p:cNvPr id="26" name="Picture 25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32630"/>
                </a:solidFill>
                <a:latin typeface="Avenir Next"/>
              </a:rPr>
              <a:t>Vos processus, cartographiés automatiquement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881360" cy="2714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KINN reconstruit vos processus réels (façon Celonis) et détecte où ça bloque.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1828800" cy="777240"/>
          </a:xfrm>
          <a:prstGeom prst="roundRect">
            <a:avLst/>
          </a:prstGeom>
          <a:solidFill>
            <a:srgbClr val="E61982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Devis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670048"/>
            <a:ext cx="365760" cy="0"/>
          </a:xfrm>
          <a:prstGeom prst="line">
            <a:avLst/>
          </a:prstGeom>
          <a:ln w="25400">
            <a:solidFill>
              <a:srgbClr val="E619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331720" y="312724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A3F4B"/>
                </a:solidFill>
                <a:latin typeface="Helvetica Neue"/>
              </a:rPr>
              <a:t>3 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2286000"/>
            <a:ext cx="1828800" cy="7772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0" y="228600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Avenir Next"/>
              </a:rPr>
              <a:t>Commande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54880" y="2670048"/>
            <a:ext cx="365760" cy="0"/>
          </a:xfrm>
          <a:prstGeom prst="line">
            <a:avLst/>
          </a:prstGeom>
          <a:ln w="25400">
            <a:solidFill>
              <a:srgbClr val="E619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26280" y="312724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A3F4B"/>
                </a:solidFill>
                <a:latin typeface="Helvetica Neue"/>
              </a:rPr>
              <a:t>5 j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1828800" cy="7772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0" y="228600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Avenir Next"/>
              </a:rPr>
              <a:t>Livraison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49440" y="2670048"/>
            <a:ext cx="365760" cy="0"/>
          </a:xfrm>
          <a:prstGeom prst="line">
            <a:avLst/>
          </a:prstGeom>
          <a:ln w="25400">
            <a:solidFill>
              <a:srgbClr val="E619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20840" y="312724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A3F4B"/>
                </a:solidFill>
                <a:latin typeface="Helvetica Neue"/>
              </a:rPr>
              <a:t>12 j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2286000"/>
            <a:ext cx="1828800" cy="7772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228600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Avenir Next"/>
              </a:rPr>
              <a:t>Facture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0" y="2670048"/>
            <a:ext cx="365760" cy="0"/>
          </a:xfrm>
          <a:prstGeom prst="line">
            <a:avLst/>
          </a:prstGeom>
          <a:ln w="25400">
            <a:solidFill>
              <a:srgbClr val="E619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915400" y="312724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A3F4B"/>
                </a:solidFill>
                <a:latin typeface="Helvetica Neue"/>
              </a:rPr>
              <a:t>8 j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2286000"/>
            <a:ext cx="1828800" cy="77724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0" y="228600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Avenir Next"/>
              </a:rPr>
              <a:t>Paiement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977639"/>
            <a:ext cx="10744200" cy="914400"/>
          </a:xfrm>
          <a:prstGeom prst="roundRect">
            <a:avLst/>
          </a:prstGeom>
          <a:solidFill>
            <a:srgbClr val="FD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114800"/>
            <a:ext cx="10332720" cy="639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8A104E"/>
                </a:solidFill>
                <a:latin typeface="Poppins" pitchFamily="2" charset="77"/>
                <a:cs typeface="Poppins" pitchFamily="2" charset="77"/>
              </a:rPr>
              <a:t>Goulot détecté : « Livraison → Facture : 12 jours en moyenne (secteur industrie). »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8A104E"/>
                </a:solidFill>
                <a:latin typeface="Poppins" pitchFamily="2" charset="77"/>
                <a:cs typeface="Poppins" pitchFamily="2" charset="77"/>
              </a:rPr>
              <a:t>Ruptures de flux apprises : 8 factures sans commande en amont.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120640"/>
            <a:ext cx="10881360" cy="525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Découverte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dynamique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de TOUS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vos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processus (vente,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achat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, SAV, production) </a:t>
            </a:r>
            <a:r>
              <a:rPr lang="fr-FR"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-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délai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moyen à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chaque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étape,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comparaison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par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secteur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,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standardisation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et </a:t>
            </a:r>
            <a:r>
              <a:rPr sz="14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optimisation</a:t>
            </a:r>
            <a:r>
              <a:rPr sz="14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continues.</a:t>
            </a:r>
          </a:p>
        </p:txBody>
      </p:sp>
      <p:pic>
        <p:nvPicPr>
          <p:cNvPr id="26" name="Picture 25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232630"/>
                </a:solidFill>
                <a:latin typeface="Avenir Next"/>
              </a:rPr>
              <a:t>Les moteurs d'IA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A3F4B"/>
                </a:solidFill>
                <a:latin typeface="Helvetica Neue"/>
              </a:rPr>
              <a:t>Plusieurs modèles spécialisés qui apprennent de vos données et s'adaptent en continu.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35204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2560320"/>
            <a:ext cx="457200" cy="45720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Next"/>
              </a:rPr>
              <a:t>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5603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2630"/>
                </a:solidFill>
                <a:latin typeface="Avenir Next"/>
              </a:rPr>
              <a:t>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017520" cy="645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Mapping, typage, vérification d'anomalies, réponses en langage naturel.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286000"/>
            <a:ext cx="35204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63440" y="2560320"/>
            <a:ext cx="457200" cy="45720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5603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Next"/>
              </a:rPr>
              <a:t>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5603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2630"/>
                </a:solidFill>
                <a:latin typeface="Avenir Next"/>
              </a:rPr>
              <a:t>Risque d'impayé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54680"/>
            <a:ext cx="3017520" cy="427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Régression logistique par facture, ré-entraînée en continu.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2286000"/>
            <a:ext cx="35204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412480" y="2560320"/>
            <a:ext cx="457200" cy="45720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25603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Next"/>
              </a:rPr>
              <a:t>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39" y="25603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2630"/>
                </a:solidFill>
                <a:latin typeface="Avenir Next"/>
              </a:rPr>
              <a:t>Doublons &amp; corrélation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154680"/>
            <a:ext cx="3017520" cy="645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Similarité (kNN) cross-système : mêmes clients/personnes, IDs différents.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60520"/>
            <a:ext cx="35204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57200" cy="45720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Next"/>
              </a:rPr>
              <a:t>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43484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2630"/>
                </a:solidFill>
                <a:latin typeface="Avenir Next"/>
              </a:rPr>
              <a:t>Séries temporelles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029200"/>
            <a:ext cx="3017520" cy="427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Anomalies </a:t>
            </a:r>
            <a:r>
              <a:rPr sz="12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capteurs</a:t>
            </a:r>
            <a:r>
              <a:rPr sz="12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/production, </a:t>
            </a:r>
            <a:r>
              <a:rPr sz="12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prévisions</a:t>
            </a:r>
            <a:r>
              <a:rPr sz="12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160520"/>
            <a:ext cx="35204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63440" y="4434840"/>
            <a:ext cx="457200" cy="45720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44348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Next"/>
              </a:rPr>
              <a:t>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43484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2630"/>
                </a:solidFill>
                <a:latin typeface="Avenir Next"/>
              </a:rPr>
              <a:t>Process mining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5029200"/>
            <a:ext cx="3017520" cy="427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Enchaînements, variantes, durées, goulots.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59" y="4160520"/>
            <a:ext cx="35204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412480" y="4434840"/>
            <a:ext cx="457200" cy="457200"/>
          </a:xfrm>
          <a:prstGeom prst="ellipse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12480" y="44348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venir Next"/>
              </a:rPr>
              <a:t>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39" y="443484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2630"/>
                </a:solidFill>
                <a:latin typeface="Avenir Next"/>
              </a:rPr>
              <a:t>Adaptation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5029200"/>
            <a:ext cx="3017520" cy="427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Dérive de schéma → re-mapping automatique.</a:t>
            </a:r>
          </a:p>
        </p:txBody>
      </p:sp>
      <p:pic>
        <p:nvPicPr>
          <p:cNvPr id="35" name="Picture 34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232630"/>
                </a:solidFill>
                <a:latin typeface="Avenir Next"/>
              </a:rPr>
              <a:t>Posez vos questions. En langage normal.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10515600" cy="685800"/>
          </a:xfrm>
          <a:prstGeom prst="round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</a:rPr>
              <a:t>?   Quelles factures relancer en priorité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10515600" cy="96012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100584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3F4B"/>
                </a:solidFill>
                <a:latin typeface="Helvetica Neue"/>
              </a:rPr>
              <a:t>24 factures impayées = 79 450 €, dont 8 sans commande en amont. Taux de recouvrement : 12 %.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840480"/>
            <a:ext cx="10515600" cy="685800"/>
          </a:xfrm>
          <a:prstGeom prst="round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</a:rPr>
              <a:t>?   Où sont mes goulots sur les clients industriels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617720"/>
            <a:ext cx="10515600" cy="960120"/>
          </a:xfrm>
          <a:prstGeom prst="roundRect">
            <a:avLst/>
          </a:prstGeom>
          <a:solidFill>
            <a:srgbClr val="F7F8FA"/>
          </a:solidFill>
          <a:ln w="1524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100584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3F4B"/>
                </a:solidFill>
                <a:latin typeface="Helvetica Neue"/>
              </a:rPr>
              <a:t>Livraison → Facture : 12 j (secteur fabrication). 15 tâches en retard de plus de 500 jours.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89320"/>
            <a:ext cx="10881360" cy="1939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 dirty="0" err="1">
                <a:solidFill>
                  <a:srgbClr val="8A93A6"/>
                </a:solidFill>
                <a:latin typeface="Helvetica Neue"/>
              </a:rPr>
              <a:t>Réponses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 </a:t>
            </a:r>
            <a:r>
              <a:rPr sz="1300" b="0" i="1" dirty="0" err="1">
                <a:solidFill>
                  <a:srgbClr val="8A93A6"/>
                </a:solidFill>
                <a:latin typeface="Helvetica Neue"/>
              </a:rPr>
              <a:t>chiffrées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 et </a:t>
            </a:r>
            <a:r>
              <a:rPr sz="1300" b="0" i="1" dirty="0" err="1">
                <a:solidFill>
                  <a:srgbClr val="8A93A6"/>
                </a:solidFill>
                <a:latin typeface="Helvetica Neue"/>
              </a:rPr>
              <a:t>sourcées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 </a:t>
            </a:r>
            <a:r>
              <a:rPr lang="fr-FR" sz="1300" b="0" i="1" dirty="0">
                <a:solidFill>
                  <a:srgbClr val="8A93A6"/>
                </a:solidFill>
                <a:latin typeface="Helvetica Neue"/>
              </a:rPr>
              <a:t>-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 </a:t>
            </a:r>
            <a:r>
              <a:rPr sz="1300" b="0" i="1" dirty="0" err="1">
                <a:solidFill>
                  <a:srgbClr val="8A93A6"/>
                </a:solidFill>
                <a:latin typeface="Helvetica Neue"/>
              </a:rPr>
              <a:t>l'IA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 </a:t>
            </a:r>
            <a:r>
              <a:rPr sz="1300" b="0" i="1" dirty="0" err="1">
                <a:solidFill>
                  <a:srgbClr val="8A93A6"/>
                </a:solidFill>
                <a:latin typeface="Helvetica Neue"/>
              </a:rPr>
              <a:t>s'appuie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 sur le </a:t>
            </a:r>
            <a:r>
              <a:rPr sz="1300" b="0" i="1" dirty="0" err="1">
                <a:solidFill>
                  <a:srgbClr val="8A93A6"/>
                </a:solidFill>
                <a:latin typeface="Helvetica Neue"/>
              </a:rPr>
              <a:t>graphe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, le process mining et les </a:t>
            </a:r>
            <a:r>
              <a:rPr sz="1300" b="0" i="1" dirty="0" err="1">
                <a:solidFill>
                  <a:srgbClr val="8A93A6"/>
                </a:solidFill>
                <a:latin typeface="Helvetica Neue"/>
              </a:rPr>
              <a:t>modèles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. Rien </a:t>
            </a:r>
            <a:r>
              <a:rPr sz="1300" b="0" i="1" dirty="0" err="1">
                <a:solidFill>
                  <a:srgbClr val="8A93A6"/>
                </a:solidFill>
                <a:latin typeface="Helvetica Neue"/>
              </a:rPr>
              <a:t>d'inventé</a:t>
            </a:r>
            <a:r>
              <a:rPr sz="1300" b="0" i="1" dirty="0">
                <a:solidFill>
                  <a:srgbClr val="8A93A6"/>
                </a:solidFill>
                <a:latin typeface="Helvetica Neue"/>
              </a:rPr>
              <a:t>.</a:t>
            </a:r>
          </a:p>
        </p:txBody>
      </p:sp>
      <p:pic>
        <p:nvPicPr>
          <p:cNvPr id="13" name="Picture 12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32630"/>
                </a:solidFill>
                <a:latin typeface="Avenir Next"/>
              </a:rPr>
              <a:t>Ce que ça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49240" cy="548640"/>
          </a:xfrm>
          <a:prstGeom prst="roundRect">
            <a:avLst/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93A6"/>
                </a:solidFill>
                <a:latin typeface="Avenir Next"/>
              </a:rPr>
              <a:t>AVANT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554480"/>
            <a:ext cx="5349240" cy="548640"/>
          </a:xfrm>
          <a:prstGeom prst="round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28232" y="155448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venir Next"/>
              </a:rPr>
              <a:t>AVEC KINN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4028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245770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Données éparpillées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24028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28232" y="245770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Vision globale unifiée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1752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323494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Audits manuels périmés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01752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28232" y="323494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Audit continu, temps réel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476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8680" y="401218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Goulots invisibles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79476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28232" y="401218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Détection + optimisation par 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68680" y="478942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Process implicites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457200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28232" y="478942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Process cartographiés &amp; standardisés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4924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68680" y="556666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3A6"/>
                </a:solidFill>
                <a:latin typeface="Poppins" pitchFamily="2" charset="77"/>
                <a:cs typeface="Poppins" pitchFamily="2" charset="77"/>
              </a:rPr>
              <a:t>Risques découverts trop tard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5349240"/>
            <a:ext cx="53492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19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28232" y="5566662"/>
            <a:ext cx="4937760" cy="223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2630"/>
                </a:solidFill>
                <a:latin typeface="Poppins" pitchFamily="2" charset="77"/>
                <a:cs typeface="Poppins" pitchFamily="2" charset="77"/>
              </a:rPr>
              <a:t>Points à risque auto-détectés</a:t>
            </a:r>
          </a:p>
        </p:txBody>
      </p:sp>
      <p:pic>
        <p:nvPicPr>
          <p:cNvPr id="28" name="Picture 27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 dirty="0">
                <a:solidFill>
                  <a:srgbClr val="232630"/>
                </a:solidFill>
                <a:latin typeface="Avenir Next"/>
              </a:rPr>
              <a:t>Pour qui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716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PME et ETI qui </a:t>
            </a:r>
            <a:r>
              <a:rPr sz="17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jonglent</a:t>
            </a:r>
            <a:r>
              <a:rPr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avec </a:t>
            </a:r>
            <a:r>
              <a:rPr sz="17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plusieurs</a:t>
            </a:r>
            <a:r>
              <a:rPr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7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logiciels</a:t>
            </a:r>
            <a:r>
              <a:rPr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lang="fr-FR"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-</a:t>
            </a:r>
            <a:r>
              <a:rPr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7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partout</a:t>
            </a:r>
            <a:r>
              <a:rPr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17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où</a:t>
            </a:r>
            <a:r>
              <a:rPr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il y a des process, des </a:t>
            </a:r>
            <a:r>
              <a:rPr sz="1700" b="0" i="0" dirty="0" err="1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délais</a:t>
            </a:r>
            <a:r>
              <a:rPr sz="1700" b="0" i="0" dirty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 et de l'argent.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3520440" cy="1600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520440" cy="109728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Industrie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27248"/>
            <a:ext cx="3017520" cy="47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production, stock, nomenclatures, 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520440" cy="1600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2286000"/>
            <a:ext cx="3520440" cy="109728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257860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Services / conseil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127248"/>
            <a:ext cx="3017520" cy="227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cycle devis → facture, charge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286000"/>
            <a:ext cx="3520440" cy="1600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59" y="2286000"/>
            <a:ext cx="3520440" cy="109728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0" y="257860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Formation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127248"/>
            <a:ext cx="3017520" cy="229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sessions, financements, stagiaires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3520440" cy="1600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3520440" cy="109728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40740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Bureau d'étude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56048"/>
            <a:ext cx="3017520" cy="229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projets, CAO, livrables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114800"/>
            <a:ext cx="3520440" cy="1600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4114800"/>
            <a:ext cx="3520440" cy="109728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440740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Négoce / matériel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956048"/>
            <a:ext cx="3017520" cy="229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ventes, stock, SAV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9" y="4114800"/>
            <a:ext cx="3520440" cy="1600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CE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38159" y="4114800"/>
            <a:ext cx="3520440" cy="109728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0" y="440740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61982"/>
                </a:solidFill>
                <a:latin typeface="Avenir Next"/>
              </a:rPr>
              <a:t>Multi-logiciels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956048"/>
            <a:ext cx="3017520" cy="229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A3F4B"/>
                </a:solidFill>
                <a:latin typeface="Poppins" pitchFamily="2" charset="77"/>
                <a:cs typeface="Poppins" pitchFamily="2" charset="77"/>
              </a:rPr>
              <a:t>consolidation &amp; corrélation</a:t>
            </a:r>
          </a:p>
        </p:txBody>
      </p:sp>
      <p:pic>
        <p:nvPicPr>
          <p:cNvPr id="29" name="Picture 28" descr="c4rbo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459914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43000" y="6327648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Helvetica Neue"/>
              </a:rPr>
              <a:t>by C4rbon.group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61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12191695" cy="1920240"/>
          </a:xfrm>
          <a:prstGeom prst="rect">
            <a:avLst/>
          </a:prstGeom>
          <a:solidFill>
            <a:srgbClr val="FB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k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5391074" cy="96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32630"/>
                </a:solidFill>
                <a:latin typeface="Avenir Next"/>
              </a:rPr>
              <a:t>Connectez. Le reste est automatique.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69080"/>
            <a:ext cx="10515600" cy="3193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dirty="0" err="1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Surveiller</a:t>
            </a:r>
            <a:r>
              <a:rPr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 · </a:t>
            </a:r>
            <a:r>
              <a:rPr sz="2000" b="0" i="0" dirty="0" err="1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Auditer</a:t>
            </a:r>
            <a:r>
              <a:rPr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 · </a:t>
            </a:r>
            <a:r>
              <a:rPr sz="2000" b="0" i="0" dirty="0" err="1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Détecter</a:t>
            </a:r>
            <a:r>
              <a:rPr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 · </a:t>
            </a:r>
            <a:r>
              <a:rPr sz="2000" b="0" i="0" dirty="0" err="1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Optimiser</a:t>
            </a:r>
            <a:r>
              <a:rPr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lang="fr-FR"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-</a:t>
            </a:r>
            <a:r>
              <a:rPr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 par </a:t>
            </a:r>
            <a:r>
              <a:rPr sz="2000" b="0" i="0" dirty="0" err="1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l'IA</a:t>
            </a:r>
            <a:r>
              <a:rPr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, </a:t>
            </a:r>
            <a:r>
              <a:rPr sz="2000" b="0" i="0" dirty="0" err="1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en</a:t>
            </a:r>
            <a:r>
              <a:rPr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 </a:t>
            </a:r>
            <a:r>
              <a:rPr sz="2000" b="0" i="0" dirty="0" err="1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continu</a:t>
            </a:r>
            <a:r>
              <a:rPr sz="2000" b="0" i="0" dirty="0">
                <a:solidFill>
                  <a:srgbClr val="E61982"/>
                </a:solidFill>
                <a:latin typeface="Poppins" pitchFamily="2" charset="77"/>
                <a:cs typeface="Poppins" pitchFamily="2" charset="77"/>
              </a:rPr>
              <a:t>.</a:t>
            </a:r>
          </a:p>
        </p:txBody>
      </p:sp>
      <p:pic>
        <p:nvPicPr>
          <p:cNvPr id="8" name="Picture 7" descr="c4rbo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532120"/>
            <a:ext cx="602269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5532120"/>
            <a:ext cx="6400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3A6"/>
                </a:solidFill>
                <a:latin typeface="Helvetica Neue"/>
              </a:rPr>
              <a:t>KINN by C4rbon.group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841</Words>
  <Application>Microsoft Macintosh PowerPoint</Application>
  <PresentationFormat>Grand écran</PresentationFormat>
  <Paragraphs>156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8" baseType="lpstr">
      <vt:lpstr>Arial</vt:lpstr>
      <vt:lpstr>Avenir Next</vt:lpstr>
      <vt:lpstr>Calibri</vt:lpstr>
      <vt:lpstr>Helvetica Neue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Edouard Bernier-Nahon</cp:lastModifiedBy>
  <cp:revision>2</cp:revision>
  <dcterms:created xsi:type="dcterms:W3CDTF">2013-01-27T09:14:16Z</dcterms:created>
  <dcterms:modified xsi:type="dcterms:W3CDTF">2026-06-18T15:46:26Z</dcterms:modified>
  <cp:category/>
</cp:coreProperties>
</file>