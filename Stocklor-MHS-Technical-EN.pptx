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for the technical integration project between KINN and the MHS (Maximo) system used by Stocklor for Garrett warehouse management. The goal is to present API requirements, necessary endpoints, and integration architecture to optimize order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Garrett is the principal (automotive turbo parts). Stocklor is the logistics provider managing the warehouse. MHS (Maximo) is the current WMS managing slots, storage cells, and stock movements. KINN interfaces with MHS to optimize order preparation by intelligently grouping missions by geographic zone rather than slot by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each order slot generates a full trip through the warehouse. The forklift operator leaves the starting point, picks parts for a single slot, returns, then repeats for the next slot. This is very inefficient because slots often contain parts in the same zones. KINN's approach groups multiple slots into a single optimized mission by geographic zone, significantly reducing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relies on 3 main blocks. MHS (Maximo) is the data source: it provides slots, storage cells, stocker states, and article references via REST API. KINN is the brain that retrieves this data (GET), optimizes it (grouping, assignment), then sends actions back to MHS (POST). Field interfaces (forklift tablet, picker scanner, supervisor dashboard) are connected to KINN in real-time via WebSocket.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of the 4 types of data to retrieve from MHS via REST API (GET). 1) Slot history to train/calibrate the optimization engine. 2) Real-time slots for intelligent mission grouping. 3) Stocker states (availability, queue) to account for access delays in automated zones. 4) Article reference data to know storage locations and calculate proximity. Key questions for MHS: exact response format, pagination, available filters, refresh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 main actions KINN needs to send to MHS. 1) Mother carton assignment: when a grouped mission starts, MHS needs to know which container is being used. 2) Line-by-line picking validation: for each article scanned, KINN confirms to MHS that the line is prepared. 3) Full slot completion: when all lines are picked, the slot is closed in MHS. Important question: does MHS support write operations via API, or do we need another mechanism (message queue,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flow in 5 steps. Step 1: KINN retrieves pending slots from MHS (GET). Step 2: the engine analyzes and groups slots by warehouse zone. Step 3: the grouped mission is sent to the forklift operator's tablet, and a mother carton is assigned (POST to MHS). Step 4: the picker scans each article with their scanner, KINN validates each line in real-time (POST to MHS). Step 5: when all lines are complete, the slot is closed in MHS (POST). Bottom shows the actors involved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field interfaces are planned. The forklift tablet displays grouped missions with the optimized route and allows calling automatic stockers. The picker scanner enables article-by-article picking with instant validation and alerts for wrong references. The supervisor dashboard provides a real-time overview with productivity statistics and before/after optimization comparisons. These interfaces are responsive web apps connected to KINN via WebSocket for real-time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important axes for the meeting. Security side: Garrett mandates a site-to-site VPN, specific port forwarding rules, and a strict firewall. We need to define together the API authentication method (OAuth2, API key, mutual certificates). Deployment side: we need a MHS test environment with mock data for safe development. Swagger documentation of existing endpoints is essential. The plan includes a pilot on one warehouse zone before full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all questions to ask the MHS team during the meeting. The 4 categories cover: 1) API and endpoints — do the identified endpoints exist, Swagger documentation. 2) Data — history depth, access to stocker states. 3) Write operations — does MHS support REST writes or do we need another mechanism. 4) Infrastructure — test environment, authentication, technical contact. This is the most important slide of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timeline in 4 phases. Phase 1 (2 weeks): discovery — get access to MHS test environment, retrieve API documentation, make first GET calls, validate data formats. Phase 2 (4 weeks): integration — develop GET/POST connectors, optimization engine, unit tests, and interface mockups. Phase 3 (3 weeks): pilot — deploy on one warehouse zone, train operators, test in real conditions, and tune the algorithm. Phase 4 (2 weeks): full rollout across the entire warehouse with monitoring and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Summarize the 4 next deliverables expected from MHS: 1) Swagger documentation. 2) Test environment. 3) Authentication method. 4) Technical kick-off date. Thank the MHS team for their time and propose weekly follow-ups during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slideLayout" Target="../slideLayouts/slideLayout1.xml"/><Relationship Id="rId2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slideLayout" Target="../slideLayouts/slideLayout1.xml"/><Relationship Id="rId2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sp>
      <p:pic>
        <p:nvPicPr>
          <p:cNvPr id="3" name="Image 0" descr="preencoded.png">    </p:cNvPr>
          <p:cNvPicPr>
            <a:picLocks noChangeAspect="1"/>
          </p:cNvPicPr>
          <p:nvPr/>
        </p:nvPicPr>
        <p:blipFill>
          <a:blip r:embed="rId1"/>
          <a:stretch>
            <a:fillRect/>
          </a:stretch>
        </p:blipFill>
        <p:spPr>
          <a:xfrm>
            <a:off x="2926080" y="914400"/>
            <a:ext cx="1097280" cy="685800"/>
          </a:xfrm>
          <a:prstGeom prst="rect">
            <a:avLst/>
          </a:prstGeom>
        </p:spPr>
      </p:pic>
      <p:sp>
        <p:nvSpPr>
          <p:cNvPr id="4" name="Text 1"/>
          <p:cNvSpPr/>
          <p:nvPr/>
        </p:nvSpPr>
        <p:spPr>
          <a:xfrm>
            <a:off x="4114800" y="914400"/>
            <a:ext cx="2286000" cy="685800"/>
          </a:xfrm>
          <a:prstGeom prst="rect">
            <a:avLst/>
          </a:prstGeom>
          <a:noFill/>
          <a:ln/>
        </p:spPr>
        <p:txBody>
          <a:bodyPr wrap="square" lIns="0" tIns="0" rIns="0" bIns="0" rtlCol="0" anchor="ctr"/>
          <a:lstStyle/>
          <a:p>
            <a:pPr indent="0" marL="0">
              <a:buNone/>
            </a:pPr>
            <a:r>
              <a:rPr lang="en-US" sz="3600" b="1" dirty="0">
                <a:solidFill>
                  <a:srgbClr val="0F172A"/>
                </a:solidFill>
                <a:latin typeface="Poppins" pitchFamily="34" charset="0"/>
                <a:ea typeface="Poppins" pitchFamily="34" charset="-122"/>
                <a:cs typeface="Poppins" pitchFamily="34" charset="-120"/>
              </a:rPr>
              <a:t>KINN</a:t>
            </a:r>
            <a:endParaRPr lang="en-US" sz="3600" dirty="0"/>
          </a:p>
        </p:txBody>
      </p:sp>
      <p:sp>
        <p:nvSpPr>
          <p:cNvPr id="5" name="Text 2"/>
          <p:cNvSpPr/>
          <p:nvPr/>
        </p:nvSpPr>
        <p:spPr>
          <a:xfrm>
            <a:off x="2286000" y="1737360"/>
            <a:ext cx="4572000" cy="457200"/>
          </a:xfrm>
          <a:prstGeom prst="rect">
            <a:avLst/>
          </a:prstGeom>
          <a:noFill/>
          <a:ln/>
        </p:spPr>
        <p:txBody>
          <a:bodyPr wrap="square" lIns="0" tIns="0" rIns="0" bIns="0" rtlCol="0" anchor="ctr"/>
          <a:lstStyle/>
          <a:p>
            <a:pPr algn="ctr" indent="0" marL="0">
              <a:buNone/>
            </a:pPr>
            <a:r>
              <a:rPr lang="en-US" sz="2200" b="1" dirty="0">
                <a:solidFill>
                  <a:srgbClr val="1E3A5F"/>
                </a:solidFill>
                <a:latin typeface="Poppins" pitchFamily="34" charset="0"/>
                <a:ea typeface="Poppins" pitchFamily="34" charset="-122"/>
                <a:cs typeface="Poppins" pitchFamily="34" charset="-120"/>
              </a:rPr>
              <a:t>×  Stocklor / Garrett</a:t>
            </a:r>
            <a:endParaRPr lang="en-US" sz="2200" dirty="0"/>
          </a:p>
        </p:txBody>
      </p:sp>
      <p:sp>
        <p:nvSpPr>
          <p:cNvPr id="6" name="Text 3"/>
          <p:cNvSpPr/>
          <p:nvPr/>
        </p:nvSpPr>
        <p:spPr>
          <a:xfrm>
            <a:off x="1097280" y="2377440"/>
            <a:ext cx="6949440" cy="731520"/>
          </a:xfrm>
          <a:prstGeom prst="rect">
            <a:avLst/>
          </a:prstGeom>
          <a:noFill/>
          <a:ln/>
        </p:spPr>
        <p:txBody>
          <a:bodyPr wrap="square" lIns="0" tIns="0" rIns="0" bIns="0" rtlCol="0" anchor="ctr"/>
          <a:lstStyle/>
          <a:p>
            <a:pPr algn="ctr" indent="0" marL="0">
              <a:lnSpc>
                <a:spcPct val="140000"/>
              </a:lnSpc>
              <a:buNone/>
            </a:pPr>
            <a:r>
              <a:rPr lang="en-US" sz="1300" dirty="0">
                <a:solidFill>
                  <a:srgbClr val="374151"/>
                </a:solidFill>
                <a:latin typeface="Poppins" pitchFamily="34" charset="0"/>
                <a:ea typeface="Poppins" pitchFamily="34" charset="-122"/>
                <a:cs typeface="Poppins" pitchFamily="34" charset="-120"/>
              </a:rPr>
              <a:t>MHS (Maximo) Technical Integration</a:t>
            </a:r>
            <a:endParaRPr lang="en-US" sz="1300" dirty="0"/>
          </a:p>
          <a:p>
            <a:pPr algn="ctr" indent="0" marL="0">
              <a:lnSpc>
                <a:spcPct val="140000"/>
              </a:lnSpc>
              <a:buNone/>
            </a:pPr>
            <a:r>
              <a:rPr lang="en-US" sz="1300" dirty="0">
                <a:solidFill>
                  <a:srgbClr val="374151"/>
                </a:solidFill>
                <a:latin typeface="Poppins" pitchFamily="34" charset="0"/>
                <a:ea typeface="Poppins" pitchFamily="34" charset="-122"/>
                <a:cs typeface="Poppins" pitchFamily="34" charset="-120"/>
              </a:rPr>
              <a:t>Warehouse Order Preparation Optimization</a:t>
            </a:r>
            <a:endParaRPr lang="en-US" sz="1300" dirty="0"/>
          </a:p>
        </p:txBody>
      </p:sp>
      <p:sp>
        <p:nvSpPr>
          <p:cNvPr id="7" name="Shape 4"/>
          <p:cNvSpPr/>
          <p:nvPr/>
        </p:nvSpPr>
        <p:spPr>
          <a:xfrm>
            <a:off x="800100" y="3520440"/>
            <a:ext cx="1645920" cy="914400"/>
          </a:xfrm>
          <a:prstGeom prst="rect">
            <a:avLst>
              <a:gd name="adj" fmla="val 6000"/>
            </a:avLst>
          </a:prstGeom>
          <a:solidFill>
            <a:srgbClr val="F7F9FC"/>
          </a:solidFill>
          <a:ln/>
          <a:effectLst>
            <a:outerShdw sx="100000" sy="100000" kx="0" ky="0" algn="bl" rotWithShape="0" blurRad="76200" dist="25400" dir="8100000">
              <a:srgbClr val="000000">
                <a:alpha val="6000"/>
              </a:srgbClr>
            </a:outerShdw>
          </a:effectLst>
        </p:spPr>
      </p:sp>
      <p:pic>
        <p:nvPicPr>
          <p:cNvPr id="8" name="Image 1" descr="preencoded.png">    </p:cNvPr>
          <p:cNvPicPr>
            <a:picLocks noChangeAspect="1"/>
          </p:cNvPicPr>
          <p:nvPr/>
        </p:nvPicPr>
        <p:blipFill>
          <a:blip r:embed="rId2"/>
          <a:stretch>
            <a:fillRect/>
          </a:stretch>
        </p:blipFill>
        <p:spPr>
          <a:xfrm>
            <a:off x="1440180" y="3584448"/>
            <a:ext cx="365760" cy="365760"/>
          </a:xfrm>
          <a:prstGeom prst="rect">
            <a:avLst/>
          </a:prstGeom>
        </p:spPr>
      </p:pic>
      <p:sp>
        <p:nvSpPr>
          <p:cNvPr id="9" name="Text 5"/>
          <p:cNvSpPr/>
          <p:nvPr/>
        </p:nvSpPr>
        <p:spPr>
          <a:xfrm>
            <a:off x="800100" y="3950208"/>
            <a:ext cx="1645920" cy="228600"/>
          </a:xfrm>
          <a:prstGeom prst="rect">
            <a:avLst/>
          </a:prstGeom>
          <a:noFill/>
          <a:ln/>
        </p:spPr>
        <p:txBody>
          <a:bodyPr wrap="square" lIns="0" tIns="0" rIns="0" bIns="0" rtlCol="0" anchor="ctr"/>
          <a:lstStyle/>
          <a:p>
            <a:pPr algn="ctr" indent="0" marL="0">
              <a:buNone/>
            </a:pPr>
            <a:r>
              <a:rPr lang="en-US" sz="1200" b="1" dirty="0">
                <a:solidFill>
                  <a:srgbClr val="0F172A"/>
                </a:solidFill>
                <a:latin typeface="Poppins" pitchFamily="34" charset="0"/>
                <a:ea typeface="Poppins" pitchFamily="34" charset="-122"/>
                <a:cs typeface="Poppins" pitchFamily="34" charset="-120"/>
              </a:rPr>
              <a:t>Warehouse</a:t>
            </a:r>
            <a:endParaRPr lang="en-US" sz="1200" dirty="0"/>
          </a:p>
        </p:txBody>
      </p:sp>
      <p:sp>
        <p:nvSpPr>
          <p:cNvPr id="10" name="Text 6"/>
          <p:cNvSpPr/>
          <p:nvPr/>
        </p:nvSpPr>
        <p:spPr>
          <a:xfrm>
            <a:off x="800100" y="4160520"/>
            <a:ext cx="1645920" cy="228600"/>
          </a:xfrm>
          <a:prstGeom prst="rect">
            <a:avLst/>
          </a:prstGeom>
          <a:noFill/>
          <a:ln/>
        </p:spPr>
        <p:txBody>
          <a:bodyPr wrap="square" lIns="0" tIns="0" rIns="0" bIns="0" rtlCol="0" anchor="ctr"/>
          <a:lstStyle/>
          <a:p>
            <a:pPr algn="ctr" indent="0" marL="0">
              <a:buNone/>
            </a:pPr>
            <a:r>
              <a:rPr lang="en-US" sz="850" dirty="0">
                <a:solidFill>
                  <a:srgbClr val="374151"/>
                </a:solidFill>
                <a:latin typeface="Poppins" pitchFamily="34" charset="0"/>
                <a:ea typeface="Poppins" pitchFamily="34" charset="-122"/>
                <a:cs typeface="Poppins" pitchFamily="34" charset="-120"/>
              </a:rPr>
              <a:t>Stocklor logistics</a:t>
            </a:r>
            <a:endParaRPr lang="en-US" sz="850" dirty="0"/>
          </a:p>
        </p:txBody>
      </p:sp>
      <p:sp>
        <p:nvSpPr>
          <p:cNvPr id="11" name="Shape 7"/>
          <p:cNvSpPr/>
          <p:nvPr/>
        </p:nvSpPr>
        <p:spPr>
          <a:xfrm>
            <a:off x="2766060" y="3520440"/>
            <a:ext cx="1645920" cy="914400"/>
          </a:xfrm>
          <a:prstGeom prst="rect">
            <a:avLst>
              <a:gd name="adj" fmla="val 6000"/>
            </a:avLst>
          </a:prstGeom>
          <a:solidFill>
            <a:srgbClr val="F7F9FC"/>
          </a:solidFill>
          <a:ln/>
          <a:effectLst>
            <a:outerShdw sx="100000" sy="100000" kx="0" ky="0" algn="bl" rotWithShape="0" blurRad="76200" dist="25400" dir="8100000">
              <a:srgbClr val="000000">
                <a:alpha val="6000"/>
              </a:srgbClr>
            </a:outerShdw>
          </a:effectLst>
        </p:spPr>
      </p:sp>
      <p:pic>
        <p:nvPicPr>
          <p:cNvPr id="12" name="Image 2" descr="preencoded.png">    </p:cNvPr>
          <p:cNvPicPr>
            <a:picLocks noChangeAspect="1"/>
          </p:cNvPicPr>
          <p:nvPr/>
        </p:nvPicPr>
        <p:blipFill>
          <a:blip r:embed="rId3"/>
          <a:stretch>
            <a:fillRect/>
          </a:stretch>
        </p:blipFill>
        <p:spPr>
          <a:xfrm>
            <a:off x="3406140" y="3584448"/>
            <a:ext cx="365760" cy="365760"/>
          </a:xfrm>
          <a:prstGeom prst="rect">
            <a:avLst/>
          </a:prstGeom>
        </p:spPr>
      </p:pic>
      <p:sp>
        <p:nvSpPr>
          <p:cNvPr id="13" name="Text 8"/>
          <p:cNvSpPr/>
          <p:nvPr/>
        </p:nvSpPr>
        <p:spPr>
          <a:xfrm>
            <a:off x="2766060" y="3950208"/>
            <a:ext cx="1645920" cy="228600"/>
          </a:xfrm>
          <a:prstGeom prst="rect">
            <a:avLst/>
          </a:prstGeom>
          <a:noFill/>
          <a:ln/>
        </p:spPr>
        <p:txBody>
          <a:bodyPr wrap="square" lIns="0" tIns="0" rIns="0" bIns="0" rtlCol="0" anchor="ctr"/>
          <a:lstStyle/>
          <a:p>
            <a:pPr algn="ctr" indent="0" marL="0">
              <a:buNone/>
            </a:pPr>
            <a:r>
              <a:rPr lang="en-US" sz="1200" b="1" dirty="0">
                <a:solidFill>
                  <a:srgbClr val="0F172A"/>
                </a:solidFill>
                <a:latin typeface="Poppins" pitchFamily="34" charset="0"/>
                <a:ea typeface="Poppins" pitchFamily="34" charset="-122"/>
                <a:cs typeface="Poppins" pitchFamily="34" charset="-120"/>
              </a:rPr>
              <a:t>MHS</a:t>
            </a:r>
            <a:endParaRPr lang="en-US" sz="1200" dirty="0"/>
          </a:p>
        </p:txBody>
      </p:sp>
      <p:sp>
        <p:nvSpPr>
          <p:cNvPr id="14" name="Text 9"/>
          <p:cNvSpPr/>
          <p:nvPr/>
        </p:nvSpPr>
        <p:spPr>
          <a:xfrm>
            <a:off x="2766060" y="4160520"/>
            <a:ext cx="1645920" cy="228600"/>
          </a:xfrm>
          <a:prstGeom prst="rect">
            <a:avLst/>
          </a:prstGeom>
          <a:noFill/>
          <a:ln/>
        </p:spPr>
        <p:txBody>
          <a:bodyPr wrap="square" lIns="0" tIns="0" rIns="0" bIns="0" rtlCol="0" anchor="ctr"/>
          <a:lstStyle/>
          <a:p>
            <a:pPr algn="ctr" indent="0" marL="0">
              <a:buNone/>
            </a:pPr>
            <a:r>
              <a:rPr lang="en-US" sz="850" dirty="0">
                <a:solidFill>
                  <a:srgbClr val="374151"/>
                </a:solidFill>
                <a:latin typeface="Poppins" pitchFamily="34" charset="0"/>
                <a:ea typeface="Poppins" pitchFamily="34" charset="-122"/>
                <a:cs typeface="Poppins" pitchFamily="34" charset="-120"/>
              </a:rPr>
              <a:t>Maximo WMS</a:t>
            </a:r>
            <a:endParaRPr lang="en-US" sz="850" dirty="0"/>
          </a:p>
        </p:txBody>
      </p:sp>
      <p:sp>
        <p:nvSpPr>
          <p:cNvPr id="15" name="Shape 10"/>
          <p:cNvSpPr/>
          <p:nvPr/>
        </p:nvSpPr>
        <p:spPr>
          <a:xfrm>
            <a:off x="4732020" y="3520440"/>
            <a:ext cx="1645920" cy="914400"/>
          </a:xfrm>
          <a:prstGeom prst="rect">
            <a:avLst>
              <a:gd name="adj" fmla="val 6000"/>
            </a:avLst>
          </a:prstGeom>
          <a:solidFill>
            <a:srgbClr val="F7F9FC"/>
          </a:solidFill>
          <a:ln/>
          <a:effectLst>
            <a:outerShdw sx="100000" sy="100000" kx="0" ky="0" algn="bl" rotWithShape="0" blurRad="76200" dist="25400" dir="8100000">
              <a:srgbClr val="000000">
                <a:alpha val="6000"/>
              </a:srgbClr>
            </a:outerShdw>
          </a:effectLst>
        </p:spPr>
      </p:sp>
      <p:pic>
        <p:nvPicPr>
          <p:cNvPr id="16" name="Image 3" descr="preencoded.png">    </p:cNvPr>
          <p:cNvPicPr>
            <a:picLocks noChangeAspect="1"/>
          </p:cNvPicPr>
          <p:nvPr/>
        </p:nvPicPr>
        <p:blipFill>
          <a:blip r:embed="rId4"/>
          <a:stretch>
            <a:fillRect/>
          </a:stretch>
        </p:blipFill>
        <p:spPr>
          <a:xfrm>
            <a:off x="5372100" y="3584448"/>
            <a:ext cx="365760" cy="365760"/>
          </a:xfrm>
          <a:prstGeom prst="rect">
            <a:avLst/>
          </a:prstGeom>
        </p:spPr>
      </p:pic>
      <p:sp>
        <p:nvSpPr>
          <p:cNvPr id="17" name="Text 11"/>
          <p:cNvSpPr/>
          <p:nvPr/>
        </p:nvSpPr>
        <p:spPr>
          <a:xfrm>
            <a:off x="4732020" y="3950208"/>
            <a:ext cx="1645920" cy="228600"/>
          </a:xfrm>
          <a:prstGeom prst="rect">
            <a:avLst/>
          </a:prstGeom>
          <a:noFill/>
          <a:ln/>
        </p:spPr>
        <p:txBody>
          <a:bodyPr wrap="square" lIns="0" tIns="0" rIns="0" bIns="0" rtlCol="0" anchor="ctr"/>
          <a:lstStyle/>
          <a:p>
            <a:pPr algn="ctr" indent="0" marL="0">
              <a:buNone/>
            </a:pPr>
            <a:r>
              <a:rPr lang="en-US" sz="1200" b="1" dirty="0">
                <a:solidFill>
                  <a:srgbClr val="0F172A"/>
                </a:solidFill>
                <a:latin typeface="Poppins" pitchFamily="34" charset="0"/>
                <a:ea typeface="Poppins" pitchFamily="34" charset="-122"/>
                <a:cs typeface="Poppins" pitchFamily="34" charset="-120"/>
              </a:rPr>
              <a:t>API</a:t>
            </a:r>
            <a:endParaRPr lang="en-US" sz="1200" dirty="0"/>
          </a:p>
        </p:txBody>
      </p:sp>
      <p:sp>
        <p:nvSpPr>
          <p:cNvPr id="18" name="Text 12"/>
          <p:cNvSpPr/>
          <p:nvPr/>
        </p:nvSpPr>
        <p:spPr>
          <a:xfrm>
            <a:off x="4732020" y="4160520"/>
            <a:ext cx="1645920" cy="228600"/>
          </a:xfrm>
          <a:prstGeom prst="rect">
            <a:avLst/>
          </a:prstGeom>
          <a:noFill/>
          <a:ln/>
        </p:spPr>
        <p:txBody>
          <a:bodyPr wrap="square" lIns="0" tIns="0" rIns="0" bIns="0" rtlCol="0" anchor="ctr"/>
          <a:lstStyle/>
          <a:p>
            <a:pPr algn="ctr" indent="0" marL="0">
              <a:buNone/>
            </a:pPr>
            <a:r>
              <a:rPr lang="en-US" sz="850" dirty="0">
                <a:solidFill>
                  <a:srgbClr val="374151"/>
                </a:solidFill>
                <a:latin typeface="Poppins" pitchFamily="34" charset="0"/>
                <a:ea typeface="Poppins" pitchFamily="34" charset="-122"/>
                <a:cs typeface="Poppins" pitchFamily="34" charset="-120"/>
              </a:rPr>
              <a:t>REST integration</a:t>
            </a:r>
            <a:endParaRPr lang="en-US" sz="850" dirty="0"/>
          </a:p>
        </p:txBody>
      </p:sp>
      <p:sp>
        <p:nvSpPr>
          <p:cNvPr id="19" name="Shape 13"/>
          <p:cNvSpPr/>
          <p:nvPr/>
        </p:nvSpPr>
        <p:spPr>
          <a:xfrm>
            <a:off x="6697980" y="3520440"/>
            <a:ext cx="1645920" cy="914400"/>
          </a:xfrm>
          <a:prstGeom prst="rect">
            <a:avLst>
              <a:gd name="adj" fmla="val 6000"/>
            </a:avLst>
          </a:prstGeom>
          <a:solidFill>
            <a:srgbClr val="F7F9FC"/>
          </a:solidFill>
          <a:ln/>
          <a:effectLst>
            <a:outerShdw sx="100000" sy="100000" kx="0" ky="0" algn="bl" rotWithShape="0" blurRad="76200" dist="25400" dir="8100000">
              <a:srgbClr val="000000">
                <a:alpha val="6000"/>
              </a:srgbClr>
            </a:outerShdw>
          </a:effectLst>
        </p:spPr>
      </p:sp>
      <p:pic>
        <p:nvPicPr>
          <p:cNvPr id="20" name="Image 4" descr="preencoded.png">    </p:cNvPr>
          <p:cNvPicPr>
            <a:picLocks noChangeAspect="1"/>
          </p:cNvPicPr>
          <p:nvPr/>
        </p:nvPicPr>
        <p:blipFill>
          <a:blip r:embed="rId5"/>
          <a:stretch>
            <a:fillRect/>
          </a:stretch>
        </p:blipFill>
        <p:spPr>
          <a:xfrm>
            <a:off x="7338060" y="3584448"/>
            <a:ext cx="365760" cy="365760"/>
          </a:xfrm>
          <a:prstGeom prst="rect">
            <a:avLst/>
          </a:prstGeom>
        </p:spPr>
      </p:pic>
      <p:sp>
        <p:nvSpPr>
          <p:cNvPr id="21" name="Text 14"/>
          <p:cNvSpPr/>
          <p:nvPr/>
        </p:nvSpPr>
        <p:spPr>
          <a:xfrm>
            <a:off x="6697980" y="3950208"/>
            <a:ext cx="1645920" cy="228600"/>
          </a:xfrm>
          <a:prstGeom prst="rect">
            <a:avLst/>
          </a:prstGeom>
          <a:noFill/>
          <a:ln/>
        </p:spPr>
        <p:txBody>
          <a:bodyPr wrap="square" lIns="0" tIns="0" rIns="0" bIns="0" rtlCol="0" anchor="ctr"/>
          <a:lstStyle/>
          <a:p>
            <a:pPr algn="ctr" indent="0" marL="0">
              <a:buNone/>
            </a:pPr>
            <a:r>
              <a:rPr lang="en-US" sz="1200" b="1" dirty="0">
                <a:solidFill>
                  <a:srgbClr val="0F172A"/>
                </a:solidFill>
                <a:latin typeface="Poppins" pitchFamily="34" charset="0"/>
                <a:ea typeface="Poppins" pitchFamily="34" charset="-122"/>
                <a:cs typeface="Poppins" pitchFamily="34" charset="-120"/>
              </a:rPr>
              <a:t>Real-time</a:t>
            </a:r>
            <a:endParaRPr lang="en-US" sz="1200" dirty="0"/>
          </a:p>
        </p:txBody>
      </p:sp>
      <p:sp>
        <p:nvSpPr>
          <p:cNvPr id="22" name="Text 15"/>
          <p:cNvSpPr/>
          <p:nvPr/>
        </p:nvSpPr>
        <p:spPr>
          <a:xfrm>
            <a:off x="6697980" y="4160520"/>
            <a:ext cx="1645920" cy="228600"/>
          </a:xfrm>
          <a:prstGeom prst="rect">
            <a:avLst/>
          </a:prstGeom>
          <a:noFill/>
          <a:ln/>
        </p:spPr>
        <p:txBody>
          <a:bodyPr wrap="square" lIns="0" tIns="0" rIns="0" bIns="0" rtlCol="0" anchor="ctr"/>
          <a:lstStyle/>
          <a:p>
            <a:pPr algn="ctr" indent="0" marL="0">
              <a:buNone/>
            </a:pPr>
            <a:r>
              <a:rPr lang="en-US" sz="850" dirty="0">
                <a:solidFill>
                  <a:srgbClr val="374151"/>
                </a:solidFill>
                <a:latin typeface="Poppins" pitchFamily="34" charset="0"/>
                <a:ea typeface="Poppins" pitchFamily="34" charset="-122"/>
                <a:cs typeface="Poppins" pitchFamily="34" charset="-120"/>
              </a:rPr>
              <a:t>synchronization</a:t>
            </a:r>
            <a:endParaRPr lang="en-US" sz="850" dirty="0"/>
          </a:p>
        </p:txBody>
      </p:sp>
      <p:sp>
        <p:nvSpPr>
          <p:cNvPr id="23" name="Text 16"/>
          <p:cNvSpPr/>
          <p:nvPr/>
        </p:nvSpPr>
        <p:spPr>
          <a:xfrm>
            <a:off x="1828800" y="4754880"/>
            <a:ext cx="5486400" cy="274320"/>
          </a:xfrm>
          <a:prstGeom prst="rect">
            <a:avLst/>
          </a:prstGeom>
          <a:noFill/>
          <a:ln/>
        </p:spPr>
        <p:txBody>
          <a:bodyPr wrap="square" lIns="0" tIns="0" rIns="0" bIns="0" rtlCol="0" anchor="ctr"/>
          <a:lstStyle/>
          <a:p>
            <a:pPr algn="ctr" indent="0" marL="0">
              <a:buNone/>
            </a:pPr>
            <a:r>
              <a:rPr lang="en-US" sz="800" dirty="0">
                <a:solidFill>
                  <a:srgbClr val="9CA3AF"/>
                </a:solidFill>
                <a:latin typeface="Poppins" pitchFamily="34" charset="0"/>
                <a:ea typeface="Poppins" pitchFamily="34" charset="-122"/>
                <a:cs typeface="Poppins" pitchFamily="34" charset="-120"/>
              </a:rPr>
              <a:t>C4RBON Group  |  Confidential  |  2026</a:t>
            </a:r>
            <a:endParaRPr lang="en-US" sz="800" dirty="0"/>
          </a:p>
        </p:txBody>
      </p:sp>
      <p:sp>
        <p:nvSpPr>
          <p:cNvPr id="24" name="Text 17"/>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Project context</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Logistics optimization for order preparation</a:t>
            </a:r>
            <a:endParaRPr lang="en-US" sz="1100" dirty="0"/>
          </a:p>
        </p:txBody>
      </p:sp>
      <p:sp>
        <p:nvSpPr>
          <p:cNvPr id="4" name="Shape 2"/>
          <p:cNvSpPr/>
          <p:nvPr/>
        </p:nvSpPr>
        <p:spPr>
          <a:xfrm>
            <a:off x="457200" y="1097280"/>
            <a:ext cx="3840480" cy="731520"/>
          </a:xfrm>
          <a:prstGeom prst="rect">
            <a:avLst>
              <a:gd name="adj" fmla="val 7500"/>
            </a:avLst>
          </a:prstGeom>
          <a:solidFill>
            <a:srgbClr val="F7F9FC"/>
          </a:solidFill>
          <a:ln/>
          <a:effectLst>
            <a:outerShdw sx="100000" sy="100000" kx="0" ky="0" algn="bl" rotWithShape="0" blurRad="76200" dist="25400" dir="8100000">
              <a:srgbClr val="000000">
                <a:alpha val="6000"/>
              </a:srgbClr>
            </a:outerShdw>
          </a:effectLst>
        </p:spPr>
      </p:sp>
      <p:pic>
        <p:nvPicPr>
          <p:cNvPr id="5" name="Image 0" descr="preencoded.png">    </p:cNvPr>
          <p:cNvPicPr>
            <a:picLocks noChangeAspect="1"/>
          </p:cNvPicPr>
          <p:nvPr/>
        </p:nvPicPr>
        <p:blipFill>
          <a:blip r:embed="rId1"/>
          <a:stretch>
            <a:fillRect/>
          </a:stretch>
        </p:blipFill>
        <p:spPr>
          <a:xfrm>
            <a:off x="640080" y="1234440"/>
            <a:ext cx="457200" cy="457200"/>
          </a:xfrm>
          <a:prstGeom prst="rect">
            <a:avLst/>
          </a:prstGeom>
        </p:spPr>
      </p:pic>
      <p:sp>
        <p:nvSpPr>
          <p:cNvPr id="6" name="Text 3"/>
          <p:cNvSpPr/>
          <p:nvPr/>
        </p:nvSpPr>
        <p:spPr>
          <a:xfrm>
            <a:off x="1234440" y="1097280"/>
            <a:ext cx="2743200" cy="365760"/>
          </a:xfrm>
          <a:prstGeom prst="rect">
            <a:avLst/>
          </a:prstGeom>
          <a:noFill/>
          <a:ln/>
        </p:spPr>
        <p:txBody>
          <a:bodyPr wrap="square" lIns="0" tIns="0" rIns="0" bIns="0" rtlCol="0" anchor="b"/>
          <a:lstStyle/>
          <a:p>
            <a:pPr indent="0" marL="0">
              <a:buNone/>
            </a:pPr>
            <a:r>
              <a:rPr lang="en-US" sz="1300" b="1" dirty="0">
                <a:solidFill>
                  <a:srgbClr val="1E3A5F"/>
                </a:solidFill>
                <a:latin typeface="Poppins" pitchFamily="34" charset="0"/>
                <a:ea typeface="Poppins" pitchFamily="34" charset="-122"/>
                <a:cs typeface="Poppins" pitchFamily="34" charset="-120"/>
              </a:rPr>
              <a:t>Garrett</a:t>
            </a:r>
            <a:endParaRPr lang="en-US" sz="1300" dirty="0"/>
          </a:p>
        </p:txBody>
      </p:sp>
      <p:sp>
        <p:nvSpPr>
          <p:cNvPr id="7" name="Text 4"/>
          <p:cNvSpPr/>
          <p:nvPr/>
        </p:nvSpPr>
        <p:spPr>
          <a:xfrm>
            <a:off x="1234440" y="1463040"/>
            <a:ext cx="2743200" cy="320040"/>
          </a:xfrm>
          <a:prstGeom prst="rect">
            <a:avLst/>
          </a:prstGeom>
          <a:noFill/>
          <a:ln/>
        </p:spPr>
        <p:txBody>
          <a:bodyPr wrap="square" lIns="0" tIns="0" rIns="0" bIns="0" rtlCol="0" anchor="t"/>
          <a:lstStyle/>
          <a:p>
            <a:pPr indent="0" marL="0">
              <a:buNone/>
            </a:pPr>
            <a:r>
              <a:rPr lang="en-US" sz="900" dirty="0">
                <a:solidFill>
                  <a:srgbClr val="374151"/>
                </a:solidFill>
                <a:latin typeface="Poppins" pitchFamily="34" charset="0"/>
                <a:ea typeface="Poppins" pitchFamily="34" charset="-122"/>
                <a:cs typeface="Poppins" pitchFamily="34" charset="-120"/>
              </a:rPr>
              <a:t>Principal – automotive turbo parts</a:t>
            </a:r>
            <a:endParaRPr lang="en-US" sz="900" dirty="0"/>
          </a:p>
        </p:txBody>
      </p:sp>
      <p:sp>
        <p:nvSpPr>
          <p:cNvPr id="8" name="Text 5"/>
          <p:cNvSpPr/>
          <p:nvPr/>
        </p:nvSpPr>
        <p:spPr>
          <a:xfrm>
            <a:off x="2103120" y="1783080"/>
            <a:ext cx="457200" cy="228600"/>
          </a:xfrm>
          <a:prstGeom prst="rect">
            <a:avLst/>
          </a:prstGeom>
          <a:noFill/>
          <a:ln/>
        </p:spPr>
        <p:txBody>
          <a:bodyPr wrap="square" lIns="0" tIns="0" rIns="0" bIns="0" rtlCol="0" anchor="ctr"/>
          <a:lstStyle/>
          <a:p>
            <a:pPr algn="ctr" indent="0" marL="0">
              <a:buNone/>
            </a:pPr>
            <a:r>
              <a:rPr lang="en-US" sz="1000" dirty="0">
                <a:solidFill>
                  <a:srgbClr val="9CA3AF"/>
                </a:solidFill>
                <a:latin typeface="Poppins" pitchFamily="34" charset="0"/>
                <a:ea typeface="Poppins" pitchFamily="34" charset="-122"/>
                <a:cs typeface="Poppins" pitchFamily="34" charset="-120"/>
              </a:rPr>
              <a:t>▼</a:t>
            </a:r>
            <a:endParaRPr lang="en-US" sz="1000" dirty="0"/>
          </a:p>
        </p:txBody>
      </p:sp>
      <p:sp>
        <p:nvSpPr>
          <p:cNvPr id="9" name="Shape 6"/>
          <p:cNvSpPr/>
          <p:nvPr/>
        </p:nvSpPr>
        <p:spPr>
          <a:xfrm>
            <a:off x="457200" y="1965960"/>
            <a:ext cx="3840480" cy="731520"/>
          </a:xfrm>
          <a:prstGeom prst="rect">
            <a:avLst>
              <a:gd name="adj" fmla="val 7500"/>
            </a:avLst>
          </a:prstGeom>
          <a:solidFill>
            <a:srgbClr val="F7F9FC"/>
          </a:solidFill>
          <a:ln/>
          <a:effectLst>
            <a:outerShdw sx="100000" sy="100000" kx="0" ky="0" algn="bl" rotWithShape="0" blurRad="76200" dist="25400" dir="8100000">
              <a:srgbClr val="000000">
                <a:alpha val="6000"/>
              </a:srgbClr>
            </a:outerShdw>
          </a:effectLst>
        </p:spPr>
      </p:sp>
      <p:pic>
        <p:nvPicPr>
          <p:cNvPr id="10" name="Image 1" descr="preencoded.png">    </p:cNvPr>
          <p:cNvPicPr>
            <a:picLocks noChangeAspect="1"/>
          </p:cNvPicPr>
          <p:nvPr/>
        </p:nvPicPr>
        <p:blipFill>
          <a:blip r:embed="rId2"/>
          <a:stretch>
            <a:fillRect/>
          </a:stretch>
        </p:blipFill>
        <p:spPr>
          <a:xfrm>
            <a:off x="640080" y="2103120"/>
            <a:ext cx="457200" cy="457200"/>
          </a:xfrm>
          <a:prstGeom prst="rect">
            <a:avLst/>
          </a:prstGeom>
        </p:spPr>
      </p:pic>
      <p:sp>
        <p:nvSpPr>
          <p:cNvPr id="11" name="Text 7"/>
          <p:cNvSpPr/>
          <p:nvPr/>
        </p:nvSpPr>
        <p:spPr>
          <a:xfrm>
            <a:off x="1234440" y="1965960"/>
            <a:ext cx="2743200" cy="365760"/>
          </a:xfrm>
          <a:prstGeom prst="rect">
            <a:avLst/>
          </a:prstGeom>
          <a:noFill/>
          <a:ln/>
        </p:spPr>
        <p:txBody>
          <a:bodyPr wrap="square" lIns="0" tIns="0" rIns="0" bIns="0" rtlCol="0" anchor="b"/>
          <a:lstStyle/>
          <a:p>
            <a:pPr indent="0" marL="0">
              <a:buNone/>
            </a:pPr>
            <a:r>
              <a:rPr lang="en-US" sz="1300" b="1" dirty="0">
                <a:solidFill>
                  <a:srgbClr val="1677FF"/>
                </a:solidFill>
                <a:latin typeface="Poppins" pitchFamily="34" charset="0"/>
                <a:ea typeface="Poppins" pitchFamily="34" charset="-122"/>
                <a:cs typeface="Poppins" pitchFamily="34" charset="-120"/>
              </a:rPr>
              <a:t>Stocklor</a:t>
            </a:r>
            <a:endParaRPr lang="en-US" sz="1300" dirty="0"/>
          </a:p>
        </p:txBody>
      </p:sp>
      <p:sp>
        <p:nvSpPr>
          <p:cNvPr id="12" name="Text 8"/>
          <p:cNvSpPr/>
          <p:nvPr/>
        </p:nvSpPr>
        <p:spPr>
          <a:xfrm>
            <a:off x="1234440" y="2331720"/>
            <a:ext cx="2743200" cy="320040"/>
          </a:xfrm>
          <a:prstGeom prst="rect">
            <a:avLst/>
          </a:prstGeom>
          <a:noFill/>
          <a:ln/>
        </p:spPr>
        <p:txBody>
          <a:bodyPr wrap="square" lIns="0" tIns="0" rIns="0" bIns="0" rtlCol="0" anchor="t"/>
          <a:lstStyle/>
          <a:p>
            <a:pPr indent="0" marL="0">
              <a:buNone/>
            </a:pPr>
            <a:r>
              <a:rPr lang="en-US" sz="900" dirty="0">
                <a:solidFill>
                  <a:srgbClr val="374151"/>
                </a:solidFill>
                <a:latin typeface="Poppins" pitchFamily="34" charset="0"/>
                <a:ea typeface="Poppins" pitchFamily="34" charset="-122"/>
                <a:cs typeface="Poppins" pitchFamily="34" charset="-120"/>
              </a:rPr>
              <a:t>Logistics provider – warehouse management</a:t>
            </a:r>
            <a:endParaRPr lang="en-US" sz="900" dirty="0"/>
          </a:p>
        </p:txBody>
      </p:sp>
      <p:sp>
        <p:nvSpPr>
          <p:cNvPr id="13" name="Text 9"/>
          <p:cNvSpPr/>
          <p:nvPr/>
        </p:nvSpPr>
        <p:spPr>
          <a:xfrm>
            <a:off x="2103120" y="2651760"/>
            <a:ext cx="457200" cy="228600"/>
          </a:xfrm>
          <a:prstGeom prst="rect">
            <a:avLst/>
          </a:prstGeom>
          <a:noFill/>
          <a:ln/>
        </p:spPr>
        <p:txBody>
          <a:bodyPr wrap="square" lIns="0" tIns="0" rIns="0" bIns="0" rtlCol="0" anchor="ctr"/>
          <a:lstStyle/>
          <a:p>
            <a:pPr algn="ctr" indent="0" marL="0">
              <a:buNone/>
            </a:pPr>
            <a:r>
              <a:rPr lang="en-US" sz="1000" dirty="0">
                <a:solidFill>
                  <a:srgbClr val="9CA3AF"/>
                </a:solidFill>
                <a:latin typeface="Poppins" pitchFamily="34" charset="0"/>
                <a:ea typeface="Poppins" pitchFamily="34" charset="-122"/>
                <a:cs typeface="Poppins" pitchFamily="34" charset="-120"/>
              </a:rPr>
              <a:t>▼</a:t>
            </a:r>
            <a:endParaRPr lang="en-US" sz="1000" dirty="0"/>
          </a:p>
        </p:txBody>
      </p:sp>
      <p:sp>
        <p:nvSpPr>
          <p:cNvPr id="14" name="Shape 10"/>
          <p:cNvSpPr/>
          <p:nvPr/>
        </p:nvSpPr>
        <p:spPr>
          <a:xfrm>
            <a:off x="457200" y="2834640"/>
            <a:ext cx="3840480" cy="731520"/>
          </a:xfrm>
          <a:prstGeom prst="rect">
            <a:avLst>
              <a:gd name="adj" fmla="val 7500"/>
            </a:avLst>
          </a:prstGeom>
          <a:solidFill>
            <a:srgbClr val="F7F9FC"/>
          </a:solidFill>
          <a:ln/>
          <a:effectLst>
            <a:outerShdw sx="100000" sy="100000" kx="0" ky="0" algn="bl" rotWithShape="0" blurRad="76200" dist="25400" dir="8100000">
              <a:srgbClr val="000000">
                <a:alpha val="6000"/>
              </a:srgbClr>
            </a:outerShdw>
          </a:effectLst>
        </p:spPr>
      </p:sp>
      <p:pic>
        <p:nvPicPr>
          <p:cNvPr id="15" name="Image 2" descr="preencoded.png">    </p:cNvPr>
          <p:cNvPicPr>
            <a:picLocks noChangeAspect="1"/>
          </p:cNvPicPr>
          <p:nvPr/>
        </p:nvPicPr>
        <p:blipFill>
          <a:blip r:embed="rId3"/>
          <a:stretch>
            <a:fillRect/>
          </a:stretch>
        </p:blipFill>
        <p:spPr>
          <a:xfrm>
            <a:off x="640080" y="2971800"/>
            <a:ext cx="457200" cy="457200"/>
          </a:xfrm>
          <a:prstGeom prst="rect">
            <a:avLst/>
          </a:prstGeom>
        </p:spPr>
      </p:pic>
      <p:sp>
        <p:nvSpPr>
          <p:cNvPr id="16" name="Text 11"/>
          <p:cNvSpPr/>
          <p:nvPr/>
        </p:nvSpPr>
        <p:spPr>
          <a:xfrm>
            <a:off x="1234440" y="2834640"/>
            <a:ext cx="2743200" cy="365760"/>
          </a:xfrm>
          <a:prstGeom prst="rect">
            <a:avLst/>
          </a:prstGeom>
          <a:noFill/>
          <a:ln/>
        </p:spPr>
        <p:txBody>
          <a:bodyPr wrap="square" lIns="0" tIns="0" rIns="0" bIns="0" rtlCol="0" anchor="b"/>
          <a:lstStyle/>
          <a:p>
            <a:pPr indent="0" marL="0">
              <a:buNone/>
            </a:pPr>
            <a:r>
              <a:rPr lang="en-US" sz="1300" b="1" dirty="0">
                <a:solidFill>
                  <a:srgbClr val="0891B2"/>
                </a:solidFill>
                <a:latin typeface="Poppins" pitchFamily="34" charset="0"/>
                <a:ea typeface="Poppins" pitchFamily="34" charset="-122"/>
                <a:cs typeface="Poppins" pitchFamily="34" charset="-120"/>
              </a:rPr>
              <a:t>MHS / Maximo</a:t>
            </a:r>
            <a:endParaRPr lang="en-US" sz="1300" dirty="0"/>
          </a:p>
        </p:txBody>
      </p:sp>
      <p:sp>
        <p:nvSpPr>
          <p:cNvPr id="17" name="Text 12"/>
          <p:cNvSpPr/>
          <p:nvPr/>
        </p:nvSpPr>
        <p:spPr>
          <a:xfrm>
            <a:off x="1234440" y="3200400"/>
            <a:ext cx="2743200" cy="320040"/>
          </a:xfrm>
          <a:prstGeom prst="rect">
            <a:avLst/>
          </a:prstGeom>
          <a:noFill/>
          <a:ln/>
        </p:spPr>
        <p:txBody>
          <a:bodyPr wrap="square" lIns="0" tIns="0" rIns="0" bIns="0" rtlCol="0" anchor="t"/>
          <a:lstStyle/>
          <a:p>
            <a:pPr indent="0" marL="0">
              <a:buNone/>
            </a:pPr>
            <a:r>
              <a:rPr lang="en-US" sz="900" dirty="0">
                <a:solidFill>
                  <a:srgbClr val="374151"/>
                </a:solidFill>
                <a:latin typeface="Poppins" pitchFamily="34" charset="0"/>
                <a:ea typeface="Poppins" pitchFamily="34" charset="-122"/>
                <a:cs typeface="Poppins" pitchFamily="34" charset="-120"/>
              </a:rPr>
              <a:t>WMS – warehouse management system</a:t>
            </a:r>
            <a:endParaRPr lang="en-US" sz="900" dirty="0"/>
          </a:p>
        </p:txBody>
      </p:sp>
      <p:sp>
        <p:nvSpPr>
          <p:cNvPr id="18" name="Text 13"/>
          <p:cNvSpPr/>
          <p:nvPr/>
        </p:nvSpPr>
        <p:spPr>
          <a:xfrm>
            <a:off x="2103120" y="3520440"/>
            <a:ext cx="457200" cy="228600"/>
          </a:xfrm>
          <a:prstGeom prst="rect">
            <a:avLst/>
          </a:prstGeom>
          <a:noFill/>
          <a:ln/>
        </p:spPr>
        <p:txBody>
          <a:bodyPr wrap="square" lIns="0" tIns="0" rIns="0" bIns="0" rtlCol="0" anchor="ctr"/>
          <a:lstStyle/>
          <a:p>
            <a:pPr algn="ctr" indent="0" marL="0">
              <a:buNone/>
            </a:pPr>
            <a:r>
              <a:rPr lang="en-US" sz="1000" dirty="0">
                <a:solidFill>
                  <a:srgbClr val="9CA3AF"/>
                </a:solidFill>
                <a:latin typeface="Poppins" pitchFamily="34" charset="0"/>
                <a:ea typeface="Poppins" pitchFamily="34" charset="-122"/>
                <a:cs typeface="Poppins" pitchFamily="34" charset="-120"/>
              </a:rPr>
              <a:t>▼</a:t>
            </a:r>
            <a:endParaRPr lang="en-US" sz="1000" dirty="0"/>
          </a:p>
        </p:txBody>
      </p:sp>
      <p:sp>
        <p:nvSpPr>
          <p:cNvPr id="19" name="Shape 14"/>
          <p:cNvSpPr/>
          <p:nvPr/>
        </p:nvSpPr>
        <p:spPr>
          <a:xfrm>
            <a:off x="457200" y="3703320"/>
            <a:ext cx="3840480" cy="731520"/>
          </a:xfrm>
          <a:prstGeom prst="rect">
            <a:avLst>
              <a:gd name="adj" fmla="val 7500"/>
            </a:avLst>
          </a:prstGeom>
          <a:solidFill>
            <a:srgbClr val="F7F9FC"/>
          </a:solidFill>
          <a:ln/>
          <a:effectLst>
            <a:outerShdw sx="100000" sy="100000" kx="0" ky="0" algn="bl" rotWithShape="0" blurRad="76200" dist="25400" dir="8100000">
              <a:srgbClr val="000000">
                <a:alpha val="6000"/>
              </a:srgbClr>
            </a:outerShdw>
          </a:effectLst>
        </p:spPr>
      </p:sp>
      <p:pic>
        <p:nvPicPr>
          <p:cNvPr id="20" name="Image 3" descr="preencoded.png">    </p:cNvPr>
          <p:cNvPicPr>
            <a:picLocks noChangeAspect="1"/>
          </p:cNvPicPr>
          <p:nvPr/>
        </p:nvPicPr>
        <p:blipFill>
          <a:blip r:embed="rId4"/>
          <a:stretch>
            <a:fillRect/>
          </a:stretch>
        </p:blipFill>
        <p:spPr>
          <a:xfrm>
            <a:off x="640080" y="3840480"/>
            <a:ext cx="457200" cy="457200"/>
          </a:xfrm>
          <a:prstGeom prst="rect">
            <a:avLst/>
          </a:prstGeom>
        </p:spPr>
      </p:pic>
      <p:sp>
        <p:nvSpPr>
          <p:cNvPr id="21" name="Text 15"/>
          <p:cNvSpPr/>
          <p:nvPr/>
        </p:nvSpPr>
        <p:spPr>
          <a:xfrm>
            <a:off x="1234440" y="3703320"/>
            <a:ext cx="2743200" cy="365760"/>
          </a:xfrm>
          <a:prstGeom prst="rect">
            <a:avLst/>
          </a:prstGeom>
          <a:noFill/>
          <a:ln/>
        </p:spPr>
        <p:txBody>
          <a:bodyPr wrap="square" lIns="0" tIns="0" rIns="0" bIns="0" rtlCol="0" anchor="b"/>
          <a:lstStyle/>
          <a:p>
            <a:pPr indent="0" marL="0">
              <a:buNone/>
            </a:pPr>
            <a:r>
              <a:rPr lang="en-US" sz="1300" b="1" dirty="0">
                <a:solidFill>
                  <a:srgbClr val="7C3AED"/>
                </a:solidFill>
                <a:latin typeface="Poppins" pitchFamily="34" charset="0"/>
                <a:ea typeface="Poppins" pitchFamily="34" charset="-122"/>
                <a:cs typeface="Poppins" pitchFamily="34" charset="-120"/>
              </a:rPr>
              <a:t>KINN</a:t>
            </a:r>
            <a:endParaRPr lang="en-US" sz="1300" dirty="0"/>
          </a:p>
        </p:txBody>
      </p:sp>
      <p:sp>
        <p:nvSpPr>
          <p:cNvPr id="22" name="Text 16"/>
          <p:cNvSpPr/>
          <p:nvPr/>
        </p:nvSpPr>
        <p:spPr>
          <a:xfrm>
            <a:off x="1234440" y="4069080"/>
            <a:ext cx="2743200" cy="320040"/>
          </a:xfrm>
          <a:prstGeom prst="rect">
            <a:avLst/>
          </a:prstGeom>
          <a:noFill/>
          <a:ln/>
        </p:spPr>
        <p:txBody>
          <a:bodyPr wrap="square" lIns="0" tIns="0" rIns="0" bIns="0" rtlCol="0" anchor="t"/>
          <a:lstStyle/>
          <a:p>
            <a:pPr indent="0" marL="0">
              <a:buNone/>
            </a:pPr>
            <a:r>
              <a:rPr lang="en-US" sz="900" dirty="0">
                <a:solidFill>
                  <a:srgbClr val="374151"/>
                </a:solidFill>
                <a:latin typeface="Poppins" pitchFamily="34" charset="0"/>
                <a:ea typeface="Poppins" pitchFamily="34" charset="-122"/>
                <a:cs typeface="Poppins" pitchFamily="34" charset="-120"/>
              </a:rPr>
              <a:t>Intelligent optimization platform</a:t>
            </a:r>
            <a:endParaRPr lang="en-US" sz="900" dirty="0"/>
          </a:p>
        </p:txBody>
      </p:sp>
      <p:sp>
        <p:nvSpPr>
          <p:cNvPr id="23" name="Shape 17"/>
          <p:cNvSpPr/>
          <p:nvPr/>
        </p:nvSpPr>
        <p:spPr>
          <a:xfrm>
            <a:off x="4754880" y="1097280"/>
            <a:ext cx="3931920" cy="3291840"/>
          </a:xfrm>
          <a:prstGeom prst="rect">
            <a:avLst>
              <a:gd name="adj" fmla="val 2222"/>
            </a:avLst>
          </a:prstGeom>
          <a:solidFill>
            <a:srgbClr val="EBF5FF"/>
          </a:solidFill>
          <a:ln/>
        </p:spPr>
      </p:sp>
      <p:sp>
        <p:nvSpPr>
          <p:cNvPr id="24" name="Text 18"/>
          <p:cNvSpPr/>
          <p:nvPr/>
        </p:nvSpPr>
        <p:spPr>
          <a:xfrm>
            <a:off x="4937760" y="1188720"/>
            <a:ext cx="3657600" cy="320040"/>
          </a:xfrm>
          <a:prstGeom prst="rect">
            <a:avLst/>
          </a:prstGeom>
          <a:noFill/>
          <a:ln/>
        </p:spPr>
        <p:txBody>
          <a:bodyPr wrap="square" lIns="0" tIns="0" rIns="0" bIns="0" rtlCol="0" anchor="ctr"/>
          <a:lstStyle/>
          <a:p>
            <a:pPr indent="0" marL="0">
              <a:buNone/>
            </a:pPr>
            <a:r>
              <a:rPr lang="en-US" sz="1600" b="1" dirty="0">
                <a:solidFill>
                  <a:srgbClr val="1677FF"/>
                </a:solidFill>
                <a:latin typeface="Poppins" pitchFamily="34" charset="0"/>
                <a:ea typeface="Poppins" pitchFamily="34" charset="-122"/>
                <a:cs typeface="Poppins" pitchFamily="34" charset="-120"/>
              </a:rPr>
              <a:t>Objectives</a:t>
            </a:r>
            <a:endParaRPr lang="en-US" sz="1600" dirty="0"/>
          </a:p>
        </p:txBody>
      </p:sp>
      <p:pic>
        <p:nvPicPr>
          <p:cNvPr id="25" name="Image 4" descr="preencoded.png">    </p:cNvPr>
          <p:cNvPicPr>
            <a:picLocks noChangeAspect="1"/>
          </p:cNvPicPr>
          <p:nvPr/>
        </p:nvPicPr>
        <p:blipFill>
          <a:blip r:embed="rId5"/>
          <a:stretch>
            <a:fillRect/>
          </a:stretch>
        </p:blipFill>
        <p:spPr>
          <a:xfrm>
            <a:off x="5029200" y="1645920"/>
            <a:ext cx="201168" cy="201168"/>
          </a:xfrm>
          <a:prstGeom prst="rect">
            <a:avLst/>
          </a:prstGeom>
        </p:spPr>
      </p:pic>
      <p:sp>
        <p:nvSpPr>
          <p:cNvPr id="26" name="Text 19"/>
          <p:cNvSpPr/>
          <p:nvPr/>
        </p:nvSpPr>
        <p:spPr>
          <a:xfrm>
            <a:off x="5349240" y="1627632"/>
            <a:ext cx="3154680" cy="457200"/>
          </a:xfrm>
          <a:prstGeom prst="rect">
            <a:avLst/>
          </a:prstGeom>
          <a:noFill/>
          <a:ln/>
        </p:spPr>
        <p:txBody>
          <a:bodyPr wrap="square" lIns="0" tIns="0" rIns="0" bIns="0" rtlCol="0" anchor="t"/>
          <a:lstStyle/>
          <a:p>
            <a:pPr indent="0" marL="0">
              <a:buNone/>
            </a:pPr>
            <a:r>
              <a:rPr lang="en-US" sz="900" dirty="0">
                <a:solidFill>
                  <a:srgbClr val="0F172A"/>
                </a:solidFill>
                <a:latin typeface="Poppins" pitchFamily="34" charset="0"/>
                <a:ea typeface="Poppins" pitchFamily="34" charset="-122"/>
                <a:cs typeface="Poppins" pitchFamily="34" charset="-120"/>
              </a:rPr>
              <a:t>Optimize order preparation by intelligently grouping missions together</a:t>
            </a:r>
            <a:endParaRPr lang="en-US" sz="900" dirty="0"/>
          </a:p>
        </p:txBody>
      </p:sp>
      <p:pic>
        <p:nvPicPr>
          <p:cNvPr id="27" name="Image 5" descr="preencoded.png">    </p:cNvPr>
          <p:cNvPicPr>
            <a:picLocks noChangeAspect="1"/>
          </p:cNvPicPr>
          <p:nvPr/>
        </p:nvPicPr>
        <p:blipFill>
          <a:blip r:embed="rId6"/>
          <a:stretch>
            <a:fillRect/>
          </a:stretch>
        </p:blipFill>
        <p:spPr>
          <a:xfrm>
            <a:off x="5029200" y="2148840"/>
            <a:ext cx="201168" cy="201168"/>
          </a:xfrm>
          <a:prstGeom prst="rect">
            <a:avLst/>
          </a:prstGeom>
        </p:spPr>
      </p:pic>
      <p:sp>
        <p:nvSpPr>
          <p:cNvPr id="28" name="Text 20"/>
          <p:cNvSpPr/>
          <p:nvPr/>
        </p:nvSpPr>
        <p:spPr>
          <a:xfrm>
            <a:off x="5349240" y="2130552"/>
            <a:ext cx="3154680" cy="457200"/>
          </a:xfrm>
          <a:prstGeom prst="rect">
            <a:avLst/>
          </a:prstGeom>
          <a:noFill/>
          <a:ln/>
        </p:spPr>
        <p:txBody>
          <a:bodyPr wrap="square" lIns="0" tIns="0" rIns="0" bIns="0" rtlCol="0" anchor="t"/>
          <a:lstStyle/>
          <a:p>
            <a:pPr indent="0" marL="0">
              <a:buNone/>
            </a:pPr>
            <a:r>
              <a:rPr lang="en-US" sz="900" dirty="0">
                <a:solidFill>
                  <a:srgbClr val="0F172A"/>
                </a:solidFill>
                <a:latin typeface="Poppins" pitchFamily="34" charset="0"/>
                <a:ea typeface="Poppins" pitchFamily="34" charset="-122"/>
                <a:cs typeface="Poppins" pitchFamily="34" charset="-120"/>
              </a:rPr>
              <a:t>Reduce forklift operator and picker travel within the warehouse</a:t>
            </a:r>
            <a:endParaRPr lang="en-US" sz="900" dirty="0"/>
          </a:p>
        </p:txBody>
      </p:sp>
      <p:pic>
        <p:nvPicPr>
          <p:cNvPr id="29" name="Image 6" descr="preencoded.png">    </p:cNvPr>
          <p:cNvPicPr>
            <a:picLocks noChangeAspect="1"/>
          </p:cNvPicPr>
          <p:nvPr/>
        </p:nvPicPr>
        <p:blipFill>
          <a:blip r:embed="rId7"/>
          <a:stretch>
            <a:fillRect/>
          </a:stretch>
        </p:blipFill>
        <p:spPr>
          <a:xfrm>
            <a:off x="5029200" y="2651760"/>
            <a:ext cx="201168" cy="201168"/>
          </a:xfrm>
          <a:prstGeom prst="rect">
            <a:avLst/>
          </a:prstGeom>
        </p:spPr>
      </p:pic>
      <p:sp>
        <p:nvSpPr>
          <p:cNvPr id="30" name="Text 21"/>
          <p:cNvSpPr/>
          <p:nvPr/>
        </p:nvSpPr>
        <p:spPr>
          <a:xfrm>
            <a:off x="5349240" y="2633472"/>
            <a:ext cx="3154680" cy="457200"/>
          </a:xfrm>
          <a:prstGeom prst="rect">
            <a:avLst/>
          </a:prstGeom>
          <a:noFill/>
          <a:ln/>
        </p:spPr>
        <p:txBody>
          <a:bodyPr wrap="square" lIns="0" tIns="0" rIns="0" bIns="0" rtlCol="0" anchor="t"/>
          <a:lstStyle/>
          <a:p>
            <a:pPr indent="0" marL="0">
              <a:buNone/>
            </a:pPr>
            <a:r>
              <a:rPr lang="en-US" sz="900" dirty="0">
                <a:solidFill>
                  <a:srgbClr val="0F172A"/>
                </a:solidFill>
                <a:latin typeface="Poppins" pitchFamily="34" charset="0"/>
                <a:ea typeface="Poppins" pitchFamily="34" charset="-122"/>
                <a:cs typeface="Poppins" pitchFamily="34" charset="-120"/>
              </a:rPr>
              <a:t>Interface KINN with MHS to manage slots and storage cells in real-time</a:t>
            </a:r>
            <a:endParaRPr lang="en-US" sz="900" dirty="0"/>
          </a:p>
        </p:txBody>
      </p:sp>
      <p:pic>
        <p:nvPicPr>
          <p:cNvPr id="31" name="Image 7" descr="preencoded.png">    </p:cNvPr>
          <p:cNvPicPr>
            <a:picLocks noChangeAspect="1"/>
          </p:cNvPicPr>
          <p:nvPr/>
        </p:nvPicPr>
        <p:blipFill>
          <a:blip r:embed="rId8"/>
          <a:stretch>
            <a:fillRect/>
          </a:stretch>
        </p:blipFill>
        <p:spPr>
          <a:xfrm>
            <a:off x="5029200" y="3154680"/>
            <a:ext cx="201168" cy="201168"/>
          </a:xfrm>
          <a:prstGeom prst="rect">
            <a:avLst/>
          </a:prstGeom>
        </p:spPr>
      </p:pic>
      <p:sp>
        <p:nvSpPr>
          <p:cNvPr id="32" name="Text 22"/>
          <p:cNvSpPr/>
          <p:nvPr/>
        </p:nvSpPr>
        <p:spPr>
          <a:xfrm>
            <a:off x="5349240" y="3136392"/>
            <a:ext cx="3154680" cy="457200"/>
          </a:xfrm>
          <a:prstGeom prst="rect">
            <a:avLst/>
          </a:prstGeom>
          <a:noFill/>
          <a:ln/>
        </p:spPr>
        <p:txBody>
          <a:bodyPr wrap="square" lIns="0" tIns="0" rIns="0" bIns="0" rtlCol="0" anchor="t"/>
          <a:lstStyle/>
          <a:p>
            <a:pPr indent="0" marL="0">
              <a:buNone/>
            </a:pPr>
            <a:r>
              <a:rPr lang="en-US" sz="900" dirty="0">
                <a:solidFill>
                  <a:srgbClr val="0F172A"/>
                </a:solidFill>
                <a:latin typeface="Poppins" pitchFamily="34" charset="0"/>
                <a:ea typeface="Poppins" pitchFamily="34" charset="-122"/>
                <a:cs typeface="Poppins" pitchFamily="34" charset="-120"/>
              </a:rPr>
              <a:t>Provide connected tablet (forklift) and scanner (picker) interfaces</a:t>
            </a:r>
            <a:endParaRPr lang="en-US" sz="900" dirty="0"/>
          </a:p>
        </p:txBody>
      </p:sp>
      <p:pic>
        <p:nvPicPr>
          <p:cNvPr id="33" name="Image 8" descr="preencoded.png">    </p:cNvPr>
          <p:cNvPicPr>
            <a:picLocks noChangeAspect="1"/>
          </p:cNvPicPr>
          <p:nvPr/>
        </p:nvPicPr>
        <p:blipFill>
          <a:blip r:embed="rId9"/>
          <a:stretch>
            <a:fillRect/>
          </a:stretch>
        </p:blipFill>
        <p:spPr>
          <a:xfrm>
            <a:off x="5029200" y="3657600"/>
            <a:ext cx="201168" cy="201168"/>
          </a:xfrm>
          <a:prstGeom prst="rect">
            <a:avLst/>
          </a:prstGeom>
        </p:spPr>
      </p:pic>
      <p:sp>
        <p:nvSpPr>
          <p:cNvPr id="34" name="Text 23"/>
          <p:cNvSpPr/>
          <p:nvPr/>
        </p:nvSpPr>
        <p:spPr>
          <a:xfrm>
            <a:off x="5349240" y="3639312"/>
            <a:ext cx="3154680" cy="457200"/>
          </a:xfrm>
          <a:prstGeom prst="rect">
            <a:avLst/>
          </a:prstGeom>
          <a:noFill/>
          <a:ln/>
        </p:spPr>
        <p:txBody>
          <a:bodyPr wrap="square" lIns="0" tIns="0" rIns="0" bIns="0" rtlCol="0" anchor="t"/>
          <a:lstStyle/>
          <a:p>
            <a:pPr indent="0" marL="0">
              <a:buNone/>
            </a:pPr>
            <a:r>
              <a:rPr lang="en-US" sz="900" dirty="0">
                <a:solidFill>
                  <a:srgbClr val="0F172A"/>
                </a:solidFill>
                <a:latin typeface="Poppins" pitchFamily="34" charset="0"/>
                <a:ea typeface="Poppins" pitchFamily="34" charset="-122"/>
                <a:cs typeface="Poppins" pitchFamily="34" charset="-120"/>
              </a:rPr>
              <a:t>Automate mother carton assignment and picking validation</a:t>
            </a:r>
            <a:endParaRPr lang="en-US" sz="900" dirty="0"/>
          </a:p>
        </p:txBody>
      </p:sp>
      <p:sp>
        <p:nvSpPr>
          <p:cNvPr id="35" name="Text 24"/>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Poppins" pitchFamily="34" charset="0"/>
                <a:ea typeface="Poppins" pitchFamily="34" charset="-122"/>
                <a:cs typeface="Poppins" pitchFamily="34" charset="-120"/>
              </a:rPr>
              <a:t>Current process vs. target process</a:t>
            </a:r>
            <a:endParaRPr lang="en-US" sz="2600" dirty="0"/>
          </a:p>
        </p:txBody>
      </p:sp>
      <p:sp>
        <p:nvSpPr>
          <p:cNvPr id="3" name="Shape 1"/>
          <p:cNvSpPr/>
          <p:nvPr/>
        </p:nvSpPr>
        <p:spPr>
          <a:xfrm>
            <a:off x="365760" y="868680"/>
            <a:ext cx="4023360" cy="3840480"/>
          </a:xfrm>
          <a:prstGeom prst="rect">
            <a:avLst>
              <a:gd name="adj" fmla="val 1905"/>
            </a:avLst>
          </a:prstGeom>
          <a:solidFill>
            <a:srgbClr val="FEF2F2"/>
          </a:solidFill>
          <a:ln/>
        </p:spPr>
      </p:sp>
      <p:sp>
        <p:nvSpPr>
          <p:cNvPr id="4" name="Shape 2"/>
          <p:cNvSpPr/>
          <p:nvPr/>
        </p:nvSpPr>
        <p:spPr>
          <a:xfrm>
            <a:off x="365760" y="868680"/>
            <a:ext cx="4023360" cy="457200"/>
          </a:xfrm>
          <a:prstGeom prst="rect">
            <a:avLst>
              <a:gd name="adj" fmla="val 16000"/>
            </a:avLst>
          </a:prstGeom>
          <a:solidFill>
            <a:srgbClr val="EF4444"/>
          </a:solidFill>
          <a:ln/>
        </p:spPr>
      </p:sp>
      <p:sp>
        <p:nvSpPr>
          <p:cNvPr id="5" name="Shape 3"/>
          <p:cNvSpPr/>
          <p:nvPr/>
        </p:nvSpPr>
        <p:spPr>
          <a:xfrm>
            <a:off x="365760" y="1143000"/>
            <a:ext cx="4023360" cy="201168"/>
          </a:xfrm>
          <a:prstGeom prst="rect">
            <a:avLst/>
          </a:prstGeom>
          <a:solidFill>
            <a:srgbClr val="EF4444"/>
          </a:solidFill>
          <a:ln/>
        </p:spPr>
      </p:sp>
      <p:sp>
        <p:nvSpPr>
          <p:cNvPr id="6" name="Text 4"/>
          <p:cNvSpPr/>
          <p:nvPr/>
        </p:nvSpPr>
        <p:spPr>
          <a:xfrm>
            <a:off x="548640" y="886968"/>
            <a:ext cx="3657600" cy="411480"/>
          </a:xfrm>
          <a:prstGeom prst="rect">
            <a:avLst/>
          </a:prstGeom>
          <a:noFill/>
          <a:ln/>
        </p:spPr>
        <p:txBody>
          <a:bodyPr wrap="square" lIns="0" tIns="0" rIns="0" bIns="0" rtlCol="0" anchor="ctr"/>
          <a:lstStyle/>
          <a:p>
            <a:pPr indent="0" marL="0">
              <a:buNone/>
            </a:pPr>
            <a:r>
              <a:rPr lang="en-US" sz="1400" b="1" dirty="0">
                <a:solidFill>
                  <a:srgbClr val="FFFFFF"/>
                </a:solidFill>
                <a:latin typeface="Poppins" pitchFamily="34" charset="0"/>
                <a:ea typeface="Poppins" pitchFamily="34" charset="-122"/>
                <a:cs typeface="Poppins" pitchFamily="34" charset="-120"/>
              </a:rPr>
              <a:t>Today — Slot by slot</a:t>
            </a:r>
            <a:endParaRPr lang="en-US" sz="1400" dirty="0"/>
          </a:p>
        </p:txBody>
      </p:sp>
      <p:sp>
        <p:nvSpPr>
          <p:cNvPr id="7" name="Shape 5"/>
          <p:cNvSpPr/>
          <p:nvPr/>
        </p:nvSpPr>
        <p:spPr>
          <a:xfrm>
            <a:off x="594360" y="1554480"/>
            <a:ext cx="320040" cy="320040"/>
          </a:xfrm>
          <a:prstGeom prst="ellipse">
            <a:avLst/>
          </a:prstGeom>
          <a:solidFill>
            <a:srgbClr val="EF4444"/>
          </a:solidFill>
          <a:ln/>
        </p:spPr>
      </p:sp>
      <p:sp>
        <p:nvSpPr>
          <p:cNvPr id="8" name="Text 6"/>
          <p:cNvSpPr/>
          <p:nvPr/>
        </p:nvSpPr>
        <p:spPr>
          <a:xfrm>
            <a:off x="594360" y="155448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1</a:t>
            </a:r>
            <a:endParaRPr lang="en-US" sz="1200" dirty="0"/>
          </a:p>
        </p:txBody>
      </p:sp>
      <p:sp>
        <p:nvSpPr>
          <p:cNvPr id="9" name="Text 7"/>
          <p:cNvSpPr/>
          <p:nvPr/>
        </p:nvSpPr>
        <p:spPr>
          <a:xfrm>
            <a:off x="1051560" y="1508760"/>
            <a:ext cx="3108960" cy="274320"/>
          </a:xfrm>
          <a:prstGeom prst="rect">
            <a:avLst/>
          </a:prstGeom>
          <a:noFill/>
          <a:ln/>
        </p:spPr>
        <p:txBody>
          <a:bodyPr wrap="square" lIns="0" tIns="0" rIns="0" bIns="0" rtlCol="0" anchor="b"/>
          <a:lstStyle/>
          <a:p>
            <a:pPr indent="0" marL="0">
              <a:buNone/>
            </a:pPr>
            <a:r>
              <a:rPr lang="en-US" sz="1050" b="1" dirty="0">
                <a:solidFill>
                  <a:srgbClr val="0F172A"/>
                </a:solidFill>
                <a:latin typeface="Poppins" pitchFamily="34" charset="0"/>
                <a:ea typeface="Poppins" pitchFamily="34" charset="-122"/>
                <a:cs typeface="Poppins" pitchFamily="34" charset="-120"/>
              </a:rPr>
              <a:t>MHS generates an order slot</a:t>
            </a:r>
            <a:endParaRPr lang="en-US" sz="1050" dirty="0"/>
          </a:p>
        </p:txBody>
      </p:sp>
      <p:sp>
        <p:nvSpPr>
          <p:cNvPr id="10" name="Text 8"/>
          <p:cNvSpPr/>
          <p:nvPr/>
        </p:nvSpPr>
        <p:spPr>
          <a:xfrm>
            <a:off x="1051560" y="1783080"/>
            <a:ext cx="3108960" cy="228600"/>
          </a:xfrm>
          <a:prstGeom prst="rect">
            <a:avLst/>
          </a:prstGeom>
          <a:noFill/>
          <a:ln/>
        </p:spPr>
        <p:txBody>
          <a:bodyPr wrap="square" lIns="0" tIns="0" rIns="0" bIns="0" rtlCol="0" anchor="t"/>
          <a:lstStyle/>
          <a:p>
            <a:pPr indent="0" marL="0">
              <a:buNone/>
            </a:pPr>
            <a:r>
              <a:rPr lang="en-US" sz="850" dirty="0">
                <a:solidFill>
                  <a:srgbClr val="374151"/>
                </a:solidFill>
                <a:latin typeface="Poppins" pitchFamily="34" charset="0"/>
                <a:ea typeface="Poppins" pitchFamily="34" charset="-122"/>
                <a:cs typeface="Poppins" pitchFamily="34" charset="-120"/>
              </a:rPr>
              <a:t>1 slot = 1 list of parts to prepare</a:t>
            </a:r>
            <a:endParaRPr lang="en-US" sz="850" dirty="0"/>
          </a:p>
        </p:txBody>
      </p:sp>
      <p:sp>
        <p:nvSpPr>
          <p:cNvPr id="11" name="Shape 9"/>
          <p:cNvSpPr/>
          <p:nvPr/>
        </p:nvSpPr>
        <p:spPr>
          <a:xfrm>
            <a:off x="594360" y="2267712"/>
            <a:ext cx="320040" cy="320040"/>
          </a:xfrm>
          <a:prstGeom prst="ellipse">
            <a:avLst/>
          </a:prstGeom>
          <a:solidFill>
            <a:srgbClr val="EF4444"/>
          </a:solidFill>
          <a:ln/>
        </p:spPr>
      </p:sp>
      <p:sp>
        <p:nvSpPr>
          <p:cNvPr id="12" name="Text 10"/>
          <p:cNvSpPr/>
          <p:nvPr/>
        </p:nvSpPr>
        <p:spPr>
          <a:xfrm>
            <a:off x="594360" y="226771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2</a:t>
            </a:r>
            <a:endParaRPr lang="en-US" sz="1200" dirty="0"/>
          </a:p>
        </p:txBody>
      </p:sp>
      <p:sp>
        <p:nvSpPr>
          <p:cNvPr id="13" name="Text 11"/>
          <p:cNvSpPr/>
          <p:nvPr/>
        </p:nvSpPr>
        <p:spPr>
          <a:xfrm>
            <a:off x="1051560" y="2221992"/>
            <a:ext cx="3108960" cy="274320"/>
          </a:xfrm>
          <a:prstGeom prst="rect">
            <a:avLst/>
          </a:prstGeom>
          <a:noFill/>
          <a:ln/>
        </p:spPr>
        <p:txBody>
          <a:bodyPr wrap="square" lIns="0" tIns="0" rIns="0" bIns="0" rtlCol="0" anchor="b"/>
          <a:lstStyle/>
          <a:p>
            <a:pPr indent="0" marL="0">
              <a:buNone/>
            </a:pPr>
            <a:r>
              <a:rPr lang="en-US" sz="1050" b="1" dirty="0">
                <a:solidFill>
                  <a:srgbClr val="0F172A"/>
                </a:solidFill>
                <a:latin typeface="Poppins" pitchFamily="34" charset="0"/>
                <a:ea typeface="Poppins" pitchFamily="34" charset="-122"/>
                <a:cs typeface="Poppins" pitchFamily="34" charset="-120"/>
              </a:rPr>
              <a:t>Forklift operator receives the slot</a:t>
            </a:r>
            <a:endParaRPr lang="en-US" sz="1050" dirty="0"/>
          </a:p>
        </p:txBody>
      </p:sp>
      <p:sp>
        <p:nvSpPr>
          <p:cNvPr id="14" name="Text 12"/>
          <p:cNvSpPr/>
          <p:nvPr/>
        </p:nvSpPr>
        <p:spPr>
          <a:xfrm>
            <a:off x="1051560" y="2496312"/>
            <a:ext cx="3108960" cy="228600"/>
          </a:xfrm>
          <a:prstGeom prst="rect">
            <a:avLst/>
          </a:prstGeom>
          <a:noFill/>
          <a:ln/>
        </p:spPr>
        <p:txBody>
          <a:bodyPr wrap="square" lIns="0" tIns="0" rIns="0" bIns="0" rtlCol="0" anchor="t"/>
          <a:lstStyle/>
          <a:p>
            <a:pPr indent="0" marL="0">
              <a:buNone/>
            </a:pPr>
            <a:r>
              <a:rPr lang="en-US" sz="850" dirty="0">
                <a:solidFill>
                  <a:srgbClr val="374151"/>
                </a:solidFill>
                <a:latin typeface="Poppins" pitchFamily="34" charset="0"/>
                <a:ea typeface="Poppins" pitchFamily="34" charset="-122"/>
                <a:cs typeface="Poppins" pitchFamily="34" charset="-120"/>
              </a:rPr>
              <a:t>Travel to the picking zone</a:t>
            </a:r>
            <a:endParaRPr lang="en-US" sz="850" dirty="0"/>
          </a:p>
        </p:txBody>
      </p:sp>
      <p:sp>
        <p:nvSpPr>
          <p:cNvPr id="15" name="Shape 13"/>
          <p:cNvSpPr/>
          <p:nvPr/>
        </p:nvSpPr>
        <p:spPr>
          <a:xfrm>
            <a:off x="594360" y="2980944"/>
            <a:ext cx="320040" cy="320040"/>
          </a:xfrm>
          <a:prstGeom prst="ellipse">
            <a:avLst/>
          </a:prstGeom>
          <a:solidFill>
            <a:srgbClr val="EF4444"/>
          </a:solidFill>
          <a:ln/>
        </p:spPr>
      </p:sp>
      <p:sp>
        <p:nvSpPr>
          <p:cNvPr id="16" name="Text 14"/>
          <p:cNvSpPr/>
          <p:nvPr/>
        </p:nvSpPr>
        <p:spPr>
          <a:xfrm>
            <a:off x="594360" y="2980944"/>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3</a:t>
            </a:r>
            <a:endParaRPr lang="en-US" sz="1200" dirty="0"/>
          </a:p>
        </p:txBody>
      </p:sp>
      <p:sp>
        <p:nvSpPr>
          <p:cNvPr id="17" name="Text 15"/>
          <p:cNvSpPr/>
          <p:nvPr/>
        </p:nvSpPr>
        <p:spPr>
          <a:xfrm>
            <a:off x="1051560" y="2935224"/>
            <a:ext cx="3108960" cy="274320"/>
          </a:xfrm>
          <a:prstGeom prst="rect">
            <a:avLst/>
          </a:prstGeom>
          <a:noFill/>
          <a:ln/>
        </p:spPr>
        <p:txBody>
          <a:bodyPr wrap="square" lIns="0" tIns="0" rIns="0" bIns="0" rtlCol="0" anchor="b"/>
          <a:lstStyle/>
          <a:p>
            <a:pPr indent="0" marL="0">
              <a:buNone/>
            </a:pPr>
            <a:r>
              <a:rPr lang="en-US" sz="1050" b="1" dirty="0">
                <a:solidFill>
                  <a:srgbClr val="0F172A"/>
                </a:solidFill>
                <a:latin typeface="Poppins" pitchFamily="34" charset="0"/>
                <a:ea typeface="Poppins" pitchFamily="34" charset="-122"/>
                <a:cs typeface="Poppins" pitchFamily="34" charset="-120"/>
              </a:rPr>
              <a:t>Picking item by item</a:t>
            </a:r>
            <a:endParaRPr lang="en-US" sz="1050" dirty="0"/>
          </a:p>
        </p:txBody>
      </p:sp>
      <p:sp>
        <p:nvSpPr>
          <p:cNvPr id="18" name="Text 16"/>
          <p:cNvSpPr/>
          <p:nvPr/>
        </p:nvSpPr>
        <p:spPr>
          <a:xfrm>
            <a:off x="1051560" y="3209544"/>
            <a:ext cx="3108960" cy="228600"/>
          </a:xfrm>
          <a:prstGeom prst="rect">
            <a:avLst/>
          </a:prstGeom>
          <a:noFill/>
          <a:ln/>
        </p:spPr>
        <p:txBody>
          <a:bodyPr wrap="square" lIns="0" tIns="0" rIns="0" bIns="0" rtlCol="0" anchor="t"/>
          <a:lstStyle/>
          <a:p>
            <a:pPr indent="0" marL="0">
              <a:buNone/>
            </a:pPr>
            <a:r>
              <a:rPr lang="en-US" sz="850" dirty="0">
                <a:solidFill>
                  <a:srgbClr val="374151"/>
                </a:solidFill>
                <a:latin typeface="Poppins" pitchFamily="34" charset="0"/>
                <a:ea typeface="Poppins" pitchFamily="34" charset="-122"/>
                <a:cs typeface="Poppins" pitchFamily="34" charset="-120"/>
              </a:rPr>
              <a:t>Scan each article individually</a:t>
            </a:r>
            <a:endParaRPr lang="en-US" sz="850" dirty="0"/>
          </a:p>
        </p:txBody>
      </p:sp>
      <p:sp>
        <p:nvSpPr>
          <p:cNvPr id="19" name="Shape 17"/>
          <p:cNvSpPr/>
          <p:nvPr/>
        </p:nvSpPr>
        <p:spPr>
          <a:xfrm>
            <a:off x="594360" y="3694176"/>
            <a:ext cx="320040" cy="320040"/>
          </a:xfrm>
          <a:prstGeom prst="ellipse">
            <a:avLst/>
          </a:prstGeom>
          <a:solidFill>
            <a:srgbClr val="EF4444"/>
          </a:solidFill>
          <a:ln/>
        </p:spPr>
      </p:sp>
      <p:sp>
        <p:nvSpPr>
          <p:cNvPr id="20" name="Text 18"/>
          <p:cNvSpPr/>
          <p:nvPr/>
        </p:nvSpPr>
        <p:spPr>
          <a:xfrm>
            <a:off x="594360" y="3694176"/>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4</a:t>
            </a:r>
            <a:endParaRPr lang="en-US" sz="1200" dirty="0"/>
          </a:p>
        </p:txBody>
      </p:sp>
      <p:sp>
        <p:nvSpPr>
          <p:cNvPr id="21" name="Text 19"/>
          <p:cNvSpPr/>
          <p:nvPr/>
        </p:nvSpPr>
        <p:spPr>
          <a:xfrm>
            <a:off x="1051560" y="3648456"/>
            <a:ext cx="3108960" cy="274320"/>
          </a:xfrm>
          <a:prstGeom prst="rect">
            <a:avLst/>
          </a:prstGeom>
          <a:noFill/>
          <a:ln/>
        </p:spPr>
        <p:txBody>
          <a:bodyPr wrap="square" lIns="0" tIns="0" rIns="0" bIns="0" rtlCol="0" anchor="b"/>
          <a:lstStyle/>
          <a:p>
            <a:pPr indent="0" marL="0">
              <a:buNone/>
            </a:pPr>
            <a:r>
              <a:rPr lang="en-US" sz="1050" b="1" dirty="0">
                <a:solidFill>
                  <a:srgbClr val="0F172A"/>
                </a:solidFill>
                <a:latin typeface="Poppins" pitchFamily="34" charset="0"/>
                <a:ea typeface="Poppins" pitchFamily="34" charset="-122"/>
                <a:cs typeface="Poppins" pitchFamily="34" charset="-120"/>
              </a:rPr>
              <a:t>Return to starting point</a:t>
            </a:r>
            <a:endParaRPr lang="en-US" sz="1050" dirty="0"/>
          </a:p>
        </p:txBody>
      </p:sp>
      <p:sp>
        <p:nvSpPr>
          <p:cNvPr id="22" name="Text 20"/>
          <p:cNvSpPr/>
          <p:nvPr/>
        </p:nvSpPr>
        <p:spPr>
          <a:xfrm>
            <a:off x="1051560" y="3922776"/>
            <a:ext cx="3108960" cy="228600"/>
          </a:xfrm>
          <a:prstGeom prst="rect">
            <a:avLst/>
          </a:prstGeom>
          <a:noFill/>
          <a:ln/>
        </p:spPr>
        <p:txBody>
          <a:bodyPr wrap="square" lIns="0" tIns="0" rIns="0" bIns="0" rtlCol="0" anchor="t"/>
          <a:lstStyle/>
          <a:p>
            <a:pPr indent="0" marL="0">
              <a:buNone/>
            </a:pPr>
            <a:r>
              <a:rPr lang="en-US" sz="850" dirty="0">
                <a:solidFill>
                  <a:srgbClr val="374151"/>
                </a:solidFill>
                <a:latin typeface="Poppins" pitchFamily="34" charset="0"/>
                <a:ea typeface="Poppins" pitchFamily="34" charset="-122"/>
                <a:cs typeface="Poppins" pitchFamily="34" charset="-120"/>
              </a:rPr>
              <a:t>New slot → new trip</a:t>
            </a:r>
            <a:endParaRPr lang="en-US" sz="850" dirty="0"/>
          </a:p>
        </p:txBody>
      </p:sp>
      <p:sp>
        <p:nvSpPr>
          <p:cNvPr id="23" name="Shape 21"/>
          <p:cNvSpPr/>
          <p:nvPr/>
        </p:nvSpPr>
        <p:spPr>
          <a:xfrm>
            <a:off x="548640" y="4160520"/>
            <a:ext cx="3657600" cy="411480"/>
          </a:xfrm>
          <a:prstGeom prst="rect">
            <a:avLst>
              <a:gd name="adj" fmla="val 8889"/>
            </a:avLst>
          </a:prstGeom>
          <a:solidFill>
            <a:srgbClr val="EF4444"/>
          </a:solidFill>
          <a:ln/>
        </p:spPr>
      </p:sp>
      <p:sp>
        <p:nvSpPr>
          <p:cNvPr id="24" name="Text 22"/>
          <p:cNvSpPr/>
          <p:nvPr/>
        </p:nvSpPr>
        <p:spPr>
          <a:xfrm>
            <a:off x="640080" y="4160520"/>
            <a:ext cx="3474720" cy="411480"/>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Redundant travel, wasted time, operator fatigue</a:t>
            </a:r>
            <a:endParaRPr lang="en-US" sz="900" dirty="0"/>
          </a:p>
        </p:txBody>
      </p:sp>
      <p:sp>
        <p:nvSpPr>
          <p:cNvPr id="25" name="Shape 23"/>
          <p:cNvSpPr/>
          <p:nvPr/>
        </p:nvSpPr>
        <p:spPr>
          <a:xfrm>
            <a:off x="4754880" y="868680"/>
            <a:ext cx="4023360" cy="3840480"/>
          </a:xfrm>
          <a:prstGeom prst="rect">
            <a:avLst>
              <a:gd name="adj" fmla="val 1905"/>
            </a:avLst>
          </a:prstGeom>
          <a:solidFill>
            <a:srgbClr val="F0FDF4"/>
          </a:solidFill>
          <a:ln/>
        </p:spPr>
      </p:sp>
      <p:sp>
        <p:nvSpPr>
          <p:cNvPr id="26" name="Shape 24"/>
          <p:cNvSpPr/>
          <p:nvPr/>
        </p:nvSpPr>
        <p:spPr>
          <a:xfrm>
            <a:off x="4754880" y="868680"/>
            <a:ext cx="4023360" cy="457200"/>
          </a:xfrm>
          <a:prstGeom prst="rect">
            <a:avLst>
              <a:gd name="adj" fmla="val 16000"/>
            </a:avLst>
          </a:prstGeom>
          <a:solidFill>
            <a:srgbClr val="16A34A"/>
          </a:solidFill>
          <a:ln/>
        </p:spPr>
      </p:sp>
      <p:sp>
        <p:nvSpPr>
          <p:cNvPr id="27" name="Shape 25"/>
          <p:cNvSpPr/>
          <p:nvPr/>
        </p:nvSpPr>
        <p:spPr>
          <a:xfrm>
            <a:off x="4754880" y="1143000"/>
            <a:ext cx="4023360" cy="201168"/>
          </a:xfrm>
          <a:prstGeom prst="rect">
            <a:avLst/>
          </a:prstGeom>
          <a:solidFill>
            <a:srgbClr val="16A34A"/>
          </a:solidFill>
          <a:ln/>
        </p:spPr>
      </p:sp>
      <p:sp>
        <p:nvSpPr>
          <p:cNvPr id="28" name="Text 26"/>
          <p:cNvSpPr/>
          <p:nvPr/>
        </p:nvSpPr>
        <p:spPr>
          <a:xfrm>
            <a:off x="4937760" y="886968"/>
            <a:ext cx="3657600" cy="411480"/>
          </a:xfrm>
          <a:prstGeom prst="rect">
            <a:avLst/>
          </a:prstGeom>
          <a:noFill/>
          <a:ln/>
        </p:spPr>
        <p:txBody>
          <a:bodyPr wrap="square" lIns="0" tIns="0" rIns="0" bIns="0" rtlCol="0" anchor="ctr"/>
          <a:lstStyle/>
          <a:p>
            <a:pPr indent="0" marL="0">
              <a:buNone/>
            </a:pPr>
            <a:r>
              <a:rPr lang="en-US" sz="1400" b="1" dirty="0">
                <a:solidFill>
                  <a:srgbClr val="FFFFFF"/>
                </a:solidFill>
                <a:latin typeface="Poppins" pitchFamily="34" charset="0"/>
                <a:ea typeface="Poppins" pitchFamily="34" charset="-122"/>
                <a:cs typeface="Poppins" pitchFamily="34" charset="-120"/>
              </a:rPr>
              <a:t>Tomorrow — Intelligent grouping</a:t>
            </a:r>
            <a:endParaRPr lang="en-US" sz="1400" dirty="0"/>
          </a:p>
        </p:txBody>
      </p:sp>
      <p:sp>
        <p:nvSpPr>
          <p:cNvPr id="29" name="Shape 27"/>
          <p:cNvSpPr/>
          <p:nvPr/>
        </p:nvSpPr>
        <p:spPr>
          <a:xfrm>
            <a:off x="4983480" y="1554480"/>
            <a:ext cx="320040" cy="320040"/>
          </a:xfrm>
          <a:prstGeom prst="ellipse">
            <a:avLst/>
          </a:prstGeom>
          <a:solidFill>
            <a:srgbClr val="16A34A"/>
          </a:solidFill>
          <a:ln/>
        </p:spPr>
      </p:sp>
      <p:sp>
        <p:nvSpPr>
          <p:cNvPr id="30" name="Text 28"/>
          <p:cNvSpPr/>
          <p:nvPr/>
        </p:nvSpPr>
        <p:spPr>
          <a:xfrm>
            <a:off x="4983480" y="155448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1</a:t>
            </a:r>
            <a:endParaRPr lang="en-US" sz="1200" dirty="0"/>
          </a:p>
        </p:txBody>
      </p:sp>
      <p:sp>
        <p:nvSpPr>
          <p:cNvPr id="31" name="Text 29"/>
          <p:cNvSpPr/>
          <p:nvPr/>
        </p:nvSpPr>
        <p:spPr>
          <a:xfrm>
            <a:off x="5440680" y="1508760"/>
            <a:ext cx="3108960" cy="274320"/>
          </a:xfrm>
          <a:prstGeom prst="rect">
            <a:avLst/>
          </a:prstGeom>
          <a:noFill/>
          <a:ln/>
        </p:spPr>
        <p:txBody>
          <a:bodyPr wrap="square" lIns="0" tIns="0" rIns="0" bIns="0" rtlCol="0" anchor="b"/>
          <a:lstStyle/>
          <a:p>
            <a:pPr indent="0" marL="0">
              <a:buNone/>
            </a:pPr>
            <a:r>
              <a:rPr lang="en-US" sz="1050" b="1" dirty="0">
                <a:solidFill>
                  <a:srgbClr val="0F172A"/>
                </a:solidFill>
                <a:latin typeface="Poppins" pitchFamily="34" charset="0"/>
                <a:ea typeface="Poppins" pitchFamily="34" charset="-122"/>
                <a:cs typeface="Poppins" pitchFamily="34" charset="-120"/>
              </a:rPr>
              <a:t>KINN retrieves N pending slots</a:t>
            </a:r>
            <a:endParaRPr lang="en-US" sz="1050" dirty="0"/>
          </a:p>
        </p:txBody>
      </p:sp>
      <p:sp>
        <p:nvSpPr>
          <p:cNvPr id="32" name="Text 30"/>
          <p:cNvSpPr/>
          <p:nvPr/>
        </p:nvSpPr>
        <p:spPr>
          <a:xfrm>
            <a:off x="5440680" y="1783080"/>
            <a:ext cx="3108960" cy="228600"/>
          </a:xfrm>
          <a:prstGeom prst="rect">
            <a:avLst/>
          </a:prstGeom>
          <a:noFill/>
          <a:ln/>
        </p:spPr>
        <p:txBody>
          <a:bodyPr wrap="square" lIns="0" tIns="0" rIns="0" bIns="0" rtlCol="0" anchor="t"/>
          <a:lstStyle/>
          <a:p>
            <a:pPr indent="0" marL="0">
              <a:buNone/>
            </a:pPr>
            <a:r>
              <a:rPr lang="en-US" sz="850" dirty="0">
                <a:solidFill>
                  <a:srgbClr val="374151"/>
                </a:solidFill>
                <a:latin typeface="Poppins" pitchFamily="34" charset="0"/>
                <a:ea typeface="Poppins" pitchFamily="34" charset="-122"/>
                <a:cs typeface="Poppins" pitchFamily="34" charset="-120"/>
              </a:rPr>
              <a:t>Analyzes zones and storage cells involved</a:t>
            </a:r>
            <a:endParaRPr lang="en-US" sz="850" dirty="0"/>
          </a:p>
        </p:txBody>
      </p:sp>
      <p:sp>
        <p:nvSpPr>
          <p:cNvPr id="33" name="Shape 31"/>
          <p:cNvSpPr/>
          <p:nvPr/>
        </p:nvSpPr>
        <p:spPr>
          <a:xfrm>
            <a:off x="4983480" y="2267712"/>
            <a:ext cx="320040" cy="320040"/>
          </a:xfrm>
          <a:prstGeom prst="ellipse">
            <a:avLst/>
          </a:prstGeom>
          <a:solidFill>
            <a:srgbClr val="16A34A"/>
          </a:solidFill>
          <a:ln/>
        </p:spPr>
      </p:sp>
      <p:sp>
        <p:nvSpPr>
          <p:cNvPr id="34" name="Text 32"/>
          <p:cNvSpPr/>
          <p:nvPr/>
        </p:nvSpPr>
        <p:spPr>
          <a:xfrm>
            <a:off x="4983480" y="226771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2</a:t>
            </a:r>
            <a:endParaRPr lang="en-US" sz="1200" dirty="0"/>
          </a:p>
        </p:txBody>
      </p:sp>
      <p:sp>
        <p:nvSpPr>
          <p:cNvPr id="35" name="Text 33"/>
          <p:cNvSpPr/>
          <p:nvPr/>
        </p:nvSpPr>
        <p:spPr>
          <a:xfrm>
            <a:off x="5440680" y="2221992"/>
            <a:ext cx="3108960" cy="274320"/>
          </a:xfrm>
          <a:prstGeom prst="rect">
            <a:avLst/>
          </a:prstGeom>
          <a:noFill/>
          <a:ln/>
        </p:spPr>
        <p:txBody>
          <a:bodyPr wrap="square" lIns="0" tIns="0" rIns="0" bIns="0" rtlCol="0" anchor="b"/>
          <a:lstStyle/>
          <a:p>
            <a:pPr indent="0" marL="0">
              <a:buNone/>
            </a:pPr>
            <a:r>
              <a:rPr lang="en-US" sz="1050" b="1" dirty="0">
                <a:solidFill>
                  <a:srgbClr val="0F172A"/>
                </a:solidFill>
                <a:latin typeface="Poppins" pitchFamily="34" charset="0"/>
                <a:ea typeface="Poppins" pitchFamily="34" charset="-122"/>
                <a:cs typeface="Poppins" pitchFamily="34" charset="-120"/>
              </a:rPr>
              <a:t>Grouping by proximity</a:t>
            </a:r>
            <a:endParaRPr lang="en-US" sz="1050" dirty="0"/>
          </a:p>
        </p:txBody>
      </p:sp>
      <p:sp>
        <p:nvSpPr>
          <p:cNvPr id="36" name="Text 34"/>
          <p:cNvSpPr/>
          <p:nvPr/>
        </p:nvSpPr>
        <p:spPr>
          <a:xfrm>
            <a:off x="5440680" y="2496312"/>
            <a:ext cx="3108960" cy="228600"/>
          </a:xfrm>
          <a:prstGeom prst="rect">
            <a:avLst/>
          </a:prstGeom>
          <a:noFill/>
          <a:ln/>
        </p:spPr>
        <p:txBody>
          <a:bodyPr wrap="square" lIns="0" tIns="0" rIns="0" bIns="0" rtlCol="0" anchor="t"/>
          <a:lstStyle/>
          <a:p>
            <a:pPr indent="0" marL="0">
              <a:buNone/>
            </a:pPr>
            <a:r>
              <a:rPr lang="en-US" sz="850" dirty="0">
                <a:solidFill>
                  <a:srgbClr val="374151"/>
                </a:solidFill>
                <a:latin typeface="Poppins" pitchFamily="34" charset="0"/>
                <a:ea typeface="Poppins" pitchFamily="34" charset="-122"/>
                <a:cs typeface="Poppins" pitchFamily="34" charset="-120"/>
              </a:rPr>
              <a:t>Geographic optimization algorithm</a:t>
            </a:r>
            <a:endParaRPr lang="en-US" sz="850" dirty="0"/>
          </a:p>
        </p:txBody>
      </p:sp>
      <p:sp>
        <p:nvSpPr>
          <p:cNvPr id="37" name="Shape 35"/>
          <p:cNvSpPr/>
          <p:nvPr/>
        </p:nvSpPr>
        <p:spPr>
          <a:xfrm>
            <a:off x="4983480" y="2980944"/>
            <a:ext cx="320040" cy="320040"/>
          </a:xfrm>
          <a:prstGeom prst="ellipse">
            <a:avLst/>
          </a:prstGeom>
          <a:solidFill>
            <a:srgbClr val="16A34A"/>
          </a:solidFill>
          <a:ln/>
        </p:spPr>
      </p:sp>
      <p:sp>
        <p:nvSpPr>
          <p:cNvPr id="38" name="Text 36"/>
          <p:cNvSpPr/>
          <p:nvPr/>
        </p:nvSpPr>
        <p:spPr>
          <a:xfrm>
            <a:off x="4983480" y="2980944"/>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3</a:t>
            </a:r>
            <a:endParaRPr lang="en-US" sz="1200" dirty="0"/>
          </a:p>
        </p:txBody>
      </p:sp>
      <p:sp>
        <p:nvSpPr>
          <p:cNvPr id="39" name="Text 37"/>
          <p:cNvSpPr/>
          <p:nvPr/>
        </p:nvSpPr>
        <p:spPr>
          <a:xfrm>
            <a:off x="5440680" y="2935224"/>
            <a:ext cx="3108960" cy="274320"/>
          </a:xfrm>
          <a:prstGeom prst="rect">
            <a:avLst/>
          </a:prstGeom>
          <a:noFill/>
          <a:ln/>
        </p:spPr>
        <p:txBody>
          <a:bodyPr wrap="square" lIns="0" tIns="0" rIns="0" bIns="0" rtlCol="0" anchor="b"/>
          <a:lstStyle/>
          <a:p>
            <a:pPr indent="0" marL="0">
              <a:buNone/>
            </a:pPr>
            <a:r>
              <a:rPr lang="en-US" sz="1050" b="1" dirty="0">
                <a:solidFill>
                  <a:srgbClr val="0F172A"/>
                </a:solidFill>
                <a:latin typeface="Poppins" pitchFamily="34" charset="0"/>
                <a:ea typeface="Poppins" pitchFamily="34" charset="-122"/>
                <a:cs typeface="Poppins" pitchFamily="34" charset="-120"/>
              </a:rPr>
              <a:t>Grouped mission to forklift operator</a:t>
            </a:r>
            <a:endParaRPr lang="en-US" sz="1050" dirty="0"/>
          </a:p>
        </p:txBody>
      </p:sp>
      <p:sp>
        <p:nvSpPr>
          <p:cNvPr id="40" name="Text 38"/>
          <p:cNvSpPr/>
          <p:nvPr/>
        </p:nvSpPr>
        <p:spPr>
          <a:xfrm>
            <a:off x="5440680" y="3209544"/>
            <a:ext cx="3108960" cy="228600"/>
          </a:xfrm>
          <a:prstGeom prst="rect">
            <a:avLst/>
          </a:prstGeom>
          <a:noFill/>
          <a:ln/>
        </p:spPr>
        <p:txBody>
          <a:bodyPr wrap="square" lIns="0" tIns="0" rIns="0" bIns="0" rtlCol="0" anchor="t"/>
          <a:lstStyle/>
          <a:p>
            <a:pPr indent="0" marL="0">
              <a:buNone/>
            </a:pPr>
            <a:r>
              <a:rPr lang="en-US" sz="850" dirty="0">
                <a:solidFill>
                  <a:srgbClr val="374151"/>
                </a:solidFill>
                <a:latin typeface="Poppins" pitchFamily="34" charset="0"/>
                <a:ea typeface="Poppins" pitchFamily="34" charset="-122"/>
                <a:cs typeface="Poppins" pitchFamily="34" charset="-120"/>
              </a:rPr>
              <a:t>1 trip = multiple orders</a:t>
            </a:r>
            <a:endParaRPr lang="en-US" sz="850" dirty="0"/>
          </a:p>
        </p:txBody>
      </p:sp>
      <p:sp>
        <p:nvSpPr>
          <p:cNvPr id="41" name="Shape 39"/>
          <p:cNvSpPr/>
          <p:nvPr/>
        </p:nvSpPr>
        <p:spPr>
          <a:xfrm>
            <a:off x="4983480" y="3694176"/>
            <a:ext cx="320040" cy="320040"/>
          </a:xfrm>
          <a:prstGeom prst="ellipse">
            <a:avLst/>
          </a:prstGeom>
          <a:solidFill>
            <a:srgbClr val="16A34A"/>
          </a:solidFill>
          <a:ln/>
        </p:spPr>
      </p:sp>
      <p:sp>
        <p:nvSpPr>
          <p:cNvPr id="42" name="Text 40"/>
          <p:cNvSpPr/>
          <p:nvPr/>
        </p:nvSpPr>
        <p:spPr>
          <a:xfrm>
            <a:off x="4983480" y="3694176"/>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4</a:t>
            </a:r>
            <a:endParaRPr lang="en-US" sz="1200" dirty="0"/>
          </a:p>
        </p:txBody>
      </p:sp>
      <p:sp>
        <p:nvSpPr>
          <p:cNvPr id="43" name="Text 41"/>
          <p:cNvSpPr/>
          <p:nvPr/>
        </p:nvSpPr>
        <p:spPr>
          <a:xfrm>
            <a:off x="5440680" y="3648456"/>
            <a:ext cx="3108960" cy="274320"/>
          </a:xfrm>
          <a:prstGeom prst="rect">
            <a:avLst/>
          </a:prstGeom>
          <a:noFill/>
          <a:ln/>
        </p:spPr>
        <p:txBody>
          <a:bodyPr wrap="square" lIns="0" tIns="0" rIns="0" bIns="0" rtlCol="0" anchor="b"/>
          <a:lstStyle/>
          <a:p>
            <a:pPr indent="0" marL="0">
              <a:buNone/>
            </a:pPr>
            <a:r>
              <a:rPr lang="en-US" sz="1050" b="1" dirty="0">
                <a:solidFill>
                  <a:srgbClr val="0F172A"/>
                </a:solidFill>
                <a:latin typeface="Poppins" pitchFamily="34" charset="0"/>
                <a:ea typeface="Poppins" pitchFamily="34" charset="-122"/>
                <a:cs typeface="Poppins" pitchFamily="34" charset="-120"/>
              </a:rPr>
              <a:t>Consolidated validation</a:t>
            </a:r>
            <a:endParaRPr lang="en-US" sz="1050" dirty="0"/>
          </a:p>
        </p:txBody>
      </p:sp>
      <p:sp>
        <p:nvSpPr>
          <p:cNvPr id="44" name="Text 42"/>
          <p:cNvSpPr/>
          <p:nvPr/>
        </p:nvSpPr>
        <p:spPr>
          <a:xfrm>
            <a:off x="5440680" y="3922776"/>
            <a:ext cx="3108960" cy="228600"/>
          </a:xfrm>
          <a:prstGeom prst="rect">
            <a:avLst/>
          </a:prstGeom>
          <a:noFill/>
          <a:ln/>
        </p:spPr>
        <p:txBody>
          <a:bodyPr wrap="square" lIns="0" tIns="0" rIns="0" bIns="0" rtlCol="0" anchor="t"/>
          <a:lstStyle/>
          <a:p>
            <a:pPr indent="0" marL="0">
              <a:buNone/>
            </a:pPr>
            <a:r>
              <a:rPr lang="en-US" sz="850" dirty="0">
                <a:solidFill>
                  <a:srgbClr val="374151"/>
                </a:solidFill>
                <a:latin typeface="Poppins" pitchFamily="34" charset="0"/>
                <a:ea typeface="Poppins" pitchFamily="34" charset="-122"/>
                <a:cs typeface="Poppins" pitchFamily="34" charset="-120"/>
              </a:rPr>
              <a:t>Optimized picking + mother carton assignment</a:t>
            </a:r>
            <a:endParaRPr lang="en-US" sz="850" dirty="0"/>
          </a:p>
        </p:txBody>
      </p:sp>
      <p:sp>
        <p:nvSpPr>
          <p:cNvPr id="45" name="Shape 43"/>
          <p:cNvSpPr/>
          <p:nvPr/>
        </p:nvSpPr>
        <p:spPr>
          <a:xfrm>
            <a:off x="4937760" y="4160520"/>
            <a:ext cx="3657600" cy="411480"/>
          </a:xfrm>
          <a:prstGeom prst="rect">
            <a:avLst>
              <a:gd name="adj" fmla="val 8889"/>
            </a:avLst>
          </a:prstGeom>
          <a:solidFill>
            <a:srgbClr val="16A34A"/>
          </a:solidFill>
          <a:ln/>
        </p:spPr>
      </p:sp>
      <p:sp>
        <p:nvSpPr>
          <p:cNvPr id="46" name="Text 44"/>
          <p:cNvSpPr/>
          <p:nvPr/>
        </p:nvSpPr>
        <p:spPr>
          <a:xfrm>
            <a:off x="5029200" y="4160520"/>
            <a:ext cx="3474720" cy="411480"/>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Fewer trips, more orders/h, efficiency ×2-3</a:t>
            </a:r>
            <a:endParaRPr lang="en-US" sz="900" dirty="0"/>
          </a:p>
        </p:txBody>
      </p:sp>
      <p:sp>
        <p:nvSpPr>
          <p:cNvPr id="47" name="Text 45"/>
          <p:cNvSpPr/>
          <p:nvPr/>
        </p:nvSpPr>
        <p:spPr>
          <a:xfrm>
            <a:off x="4206240" y="2468880"/>
            <a:ext cx="731520" cy="457200"/>
          </a:xfrm>
          <a:prstGeom prst="rect">
            <a:avLst/>
          </a:prstGeom>
          <a:noFill/>
          <a:ln/>
        </p:spPr>
        <p:txBody>
          <a:bodyPr wrap="square" lIns="0" tIns="0" rIns="0" bIns="0" rtlCol="0" anchor="ctr"/>
          <a:lstStyle/>
          <a:p>
            <a:pPr algn="ctr" indent="0" marL="0">
              <a:buNone/>
            </a:pPr>
            <a:r>
              <a:rPr lang="en-US" sz="2800" b="1" dirty="0">
                <a:solidFill>
                  <a:srgbClr val="1677FF"/>
                </a:solidFill>
                <a:latin typeface="Poppins" pitchFamily="34" charset="0"/>
                <a:ea typeface="Poppins" pitchFamily="34" charset="-122"/>
                <a:cs typeface="Poppins" pitchFamily="34" charset="-120"/>
              </a:rPr>
              <a:t>→</a:t>
            </a:r>
            <a:endParaRPr lang="en-US" sz="2800" dirty="0"/>
          </a:p>
        </p:txBody>
      </p:sp>
      <p:sp>
        <p:nvSpPr>
          <p:cNvPr id="48" name="Text 46"/>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Integration architecture</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Overview of data flows between systems</a:t>
            </a:r>
            <a:endParaRPr lang="en-US" sz="1100" dirty="0"/>
          </a:p>
        </p:txBody>
      </p:sp>
      <p:sp>
        <p:nvSpPr>
          <p:cNvPr id="4" name="Shape 2"/>
          <p:cNvSpPr/>
          <p:nvPr/>
        </p:nvSpPr>
        <p:spPr>
          <a:xfrm>
            <a:off x="365760" y="1188720"/>
            <a:ext cx="2377440" cy="3291840"/>
          </a:xfrm>
          <a:prstGeom prst="rect">
            <a:avLst>
              <a:gd name="adj" fmla="val 3077"/>
            </a:avLst>
          </a:prstGeom>
          <a:solidFill>
            <a:srgbClr val="E8EFF7"/>
          </a:solidFill>
          <a:ln w="19050">
            <a:solidFill>
              <a:srgbClr val="1E3A5F"/>
            </a:solidFill>
            <a:prstDash val="solid"/>
          </a:ln>
        </p:spPr>
      </p:sp>
      <p:pic>
        <p:nvPicPr>
          <p:cNvPr id="5" name="Image 0" descr="preencoded.png">    </p:cNvPr>
          <p:cNvPicPr>
            <a:picLocks noChangeAspect="1"/>
          </p:cNvPicPr>
          <p:nvPr/>
        </p:nvPicPr>
        <p:blipFill>
          <a:blip r:embed="rId1"/>
          <a:stretch>
            <a:fillRect/>
          </a:stretch>
        </p:blipFill>
        <p:spPr>
          <a:xfrm>
            <a:off x="1280160" y="1325880"/>
            <a:ext cx="365760" cy="365760"/>
          </a:xfrm>
          <a:prstGeom prst="rect">
            <a:avLst/>
          </a:prstGeom>
        </p:spPr>
      </p:pic>
      <p:sp>
        <p:nvSpPr>
          <p:cNvPr id="6" name="Text 3"/>
          <p:cNvSpPr/>
          <p:nvPr/>
        </p:nvSpPr>
        <p:spPr>
          <a:xfrm>
            <a:off x="457200" y="1737360"/>
            <a:ext cx="2194560" cy="320040"/>
          </a:xfrm>
          <a:prstGeom prst="rect">
            <a:avLst/>
          </a:prstGeom>
          <a:noFill/>
          <a:ln/>
        </p:spPr>
        <p:txBody>
          <a:bodyPr wrap="square" lIns="0" tIns="0" rIns="0" bIns="0" rtlCol="0" anchor="ctr"/>
          <a:lstStyle/>
          <a:p>
            <a:pPr algn="ctr" indent="0" marL="0">
              <a:buNone/>
            </a:pPr>
            <a:r>
              <a:rPr lang="en-US" sz="1400" b="1" dirty="0">
                <a:solidFill>
                  <a:srgbClr val="1E3A5F"/>
                </a:solidFill>
                <a:latin typeface="Poppins" pitchFamily="34" charset="0"/>
                <a:ea typeface="Poppins" pitchFamily="34" charset="-122"/>
                <a:cs typeface="Poppins" pitchFamily="34" charset="-120"/>
              </a:rPr>
              <a:t>MHS / Maximo</a:t>
            </a:r>
            <a:endParaRPr lang="en-US" sz="1400" dirty="0"/>
          </a:p>
        </p:txBody>
      </p:sp>
      <p:sp>
        <p:nvSpPr>
          <p:cNvPr id="7" name="Shape 4"/>
          <p:cNvSpPr/>
          <p:nvPr/>
        </p:nvSpPr>
        <p:spPr>
          <a:xfrm>
            <a:off x="548640" y="2240280"/>
            <a:ext cx="2011680" cy="365760"/>
          </a:xfrm>
          <a:prstGeom prst="rect">
            <a:avLst>
              <a:gd name="adj" fmla="val 10000"/>
            </a:avLst>
          </a:prstGeom>
          <a:solidFill>
            <a:srgbClr val="FFFFFF"/>
          </a:solidFill>
          <a:ln/>
        </p:spPr>
      </p:sp>
      <p:sp>
        <p:nvSpPr>
          <p:cNvPr id="8" name="Text 5"/>
          <p:cNvSpPr/>
          <p:nvPr/>
        </p:nvSpPr>
        <p:spPr>
          <a:xfrm>
            <a:off x="548640" y="2240280"/>
            <a:ext cx="2011680" cy="365760"/>
          </a:xfrm>
          <a:prstGeom prst="rect">
            <a:avLst/>
          </a:prstGeom>
          <a:noFill/>
          <a:ln/>
        </p:spPr>
        <p:txBody>
          <a:bodyPr wrap="square" lIns="0" tIns="0" rIns="0" bIns="0" rtlCol="0" anchor="ctr"/>
          <a:lstStyle/>
          <a:p>
            <a:pPr algn="ctr" indent="0" marL="0">
              <a:buNone/>
            </a:pPr>
            <a:r>
              <a:rPr lang="en-US" sz="900" dirty="0">
                <a:solidFill>
                  <a:srgbClr val="0F172A"/>
                </a:solidFill>
                <a:latin typeface="Poppins" pitchFamily="34" charset="0"/>
                <a:ea typeface="Poppins" pitchFamily="34" charset="-122"/>
                <a:cs typeface="Poppins" pitchFamily="34" charset="-120"/>
              </a:rPr>
              <a:t>Order slots</a:t>
            </a:r>
            <a:endParaRPr lang="en-US" sz="900" dirty="0"/>
          </a:p>
        </p:txBody>
      </p:sp>
      <p:sp>
        <p:nvSpPr>
          <p:cNvPr id="9" name="Shape 6"/>
          <p:cNvSpPr/>
          <p:nvPr/>
        </p:nvSpPr>
        <p:spPr>
          <a:xfrm>
            <a:off x="548640" y="2715768"/>
            <a:ext cx="2011680" cy="365760"/>
          </a:xfrm>
          <a:prstGeom prst="rect">
            <a:avLst>
              <a:gd name="adj" fmla="val 10000"/>
            </a:avLst>
          </a:prstGeom>
          <a:solidFill>
            <a:srgbClr val="FFFFFF"/>
          </a:solidFill>
          <a:ln/>
        </p:spPr>
      </p:sp>
      <p:sp>
        <p:nvSpPr>
          <p:cNvPr id="10" name="Text 7"/>
          <p:cNvSpPr/>
          <p:nvPr/>
        </p:nvSpPr>
        <p:spPr>
          <a:xfrm>
            <a:off x="548640" y="2715768"/>
            <a:ext cx="2011680" cy="365760"/>
          </a:xfrm>
          <a:prstGeom prst="rect">
            <a:avLst/>
          </a:prstGeom>
          <a:noFill/>
          <a:ln/>
        </p:spPr>
        <p:txBody>
          <a:bodyPr wrap="square" lIns="0" tIns="0" rIns="0" bIns="0" rtlCol="0" anchor="ctr"/>
          <a:lstStyle/>
          <a:p>
            <a:pPr algn="ctr" indent="0" marL="0">
              <a:buNone/>
            </a:pPr>
            <a:r>
              <a:rPr lang="en-US" sz="900" dirty="0">
                <a:solidFill>
                  <a:srgbClr val="0F172A"/>
                </a:solidFill>
                <a:latin typeface="Poppins" pitchFamily="34" charset="0"/>
                <a:ea typeface="Poppins" pitchFamily="34" charset="-122"/>
                <a:cs typeface="Poppins" pitchFamily="34" charset="-120"/>
              </a:rPr>
              <a:t>Storage cells &amp; stockers</a:t>
            </a:r>
            <a:endParaRPr lang="en-US" sz="900" dirty="0"/>
          </a:p>
        </p:txBody>
      </p:sp>
      <p:sp>
        <p:nvSpPr>
          <p:cNvPr id="11" name="Shape 8"/>
          <p:cNvSpPr/>
          <p:nvPr/>
        </p:nvSpPr>
        <p:spPr>
          <a:xfrm>
            <a:off x="548640" y="3191256"/>
            <a:ext cx="2011680" cy="365760"/>
          </a:xfrm>
          <a:prstGeom prst="rect">
            <a:avLst>
              <a:gd name="adj" fmla="val 10000"/>
            </a:avLst>
          </a:prstGeom>
          <a:solidFill>
            <a:srgbClr val="FFFFFF"/>
          </a:solidFill>
          <a:ln/>
        </p:spPr>
      </p:sp>
      <p:sp>
        <p:nvSpPr>
          <p:cNvPr id="12" name="Text 9"/>
          <p:cNvSpPr/>
          <p:nvPr/>
        </p:nvSpPr>
        <p:spPr>
          <a:xfrm>
            <a:off x="548640" y="3191256"/>
            <a:ext cx="2011680" cy="365760"/>
          </a:xfrm>
          <a:prstGeom prst="rect">
            <a:avLst/>
          </a:prstGeom>
          <a:noFill/>
          <a:ln/>
        </p:spPr>
        <p:txBody>
          <a:bodyPr wrap="square" lIns="0" tIns="0" rIns="0" bIns="0" rtlCol="0" anchor="ctr"/>
          <a:lstStyle/>
          <a:p>
            <a:pPr algn="ctr" indent="0" marL="0">
              <a:buNone/>
            </a:pPr>
            <a:r>
              <a:rPr lang="en-US" sz="900" dirty="0">
                <a:solidFill>
                  <a:srgbClr val="0F172A"/>
                </a:solidFill>
                <a:latin typeface="Poppins" pitchFamily="34" charset="0"/>
                <a:ea typeface="Poppins" pitchFamily="34" charset="-122"/>
                <a:cs typeface="Poppins" pitchFamily="34" charset="-120"/>
              </a:rPr>
              <a:t>Article references</a:t>
            </a:r>
            <a:endParaRPr lang="en-US" sz="900" dirty="0"/>
          </a:p>
        </p:txBody>
      </p:sp>
      <p:sp>
        <p:nvSpPr>
          <p:cNvPr id="13" name="Shape 10"/>
          <p:cNvSpPr/>
          <p:nvPr/>
        </p:nvSpPr>
        <p:spPr>
          <a:xfrm>
            <a:off x="548640" y="3666744"/>
            <a:ext cx="2011680" cy="365760"/>
          </a:xfrm>
          <a:prstGeom prst="rect">
            <a:avLst>
              <a:gd name="adj" fmla="val 10000"/>
            </a:avLst>
          </a:prstGeom>
          <a:solidFill>
            <a:srgbClr val="FFFFFF"/>
          </a:solidFill>
          <a:ln/>
        </p:spPr>
      </p:sp>
      <p:sp>
        <p:nvSpPr>
          <p:cNvPr id="14" name="Text 11"/>
          <p:cNvSpPr/>
          <p:nvPr/>
        </p:nvSpPr>
        <p:spPr>
          <a:xfrm>
            <a:off x="548640" y="3666744"/>
            <a:ext cx="2011680" cy="365760"/>
          </a:xfrm>
          <a:prstGeom prst="rect">
            <a:avLst/>
          </a:prstGeom>
          <a:noFill/>
          <a:ln/>
        </p:spPr>
        <p:txBody>
          <a:bodyPr wrap="square" lIns="0" tIns="0" rIns="0" bIns="0" rtlCol="0" anchor="ctr"/>
          <a:lstStyle/>
          <a:p>
            <a:pPr algn="ctr" indent="0" marL="0">
              <a:buNone/>
            </a:pPr>
            <a:r>
              <a:rPr lang="en-US" sz="900" dirty="0">
                <a:solidFill>
                  <a:srgbClr val="0F172A"/>
                </a:solidFill>
                <a:latin typeface="Poppins" pitchFamily="34" charset="0"/>
                <a:ea typeface="Poppins" pitchFamily="34" charset="-122"/>
                <a:cs typeface="Poppins" pitchFamily="34" charset="-120"/>
              </a:rPr>
              <a:t>Real-time states</a:t>
            </a:r>
            <a:endParaRPr lang="en-US" sz="900" dirty="0"/>
          </a:p>
        </p:txBody>
      </p:sp>
      <p:sp>
        <p:nvSpPr>
          <p:cNvPr id="15" name="Shape 12"/>
          <p:cNvSpPr/>
          <p:nvPr/>
        </p:nvSpPr>
        <p:spPr>
          <a:xfrm>
            <a:off x="3291840" y="1188720"/>
            <a:ext cx="2560320" cy="3291840"/>
          </a:xfrm>
          <a:prstGeom prst="rect">
            <a:avLst>
              <a:gd name="adj" fmla="val 2857"/>
            </a:avLst>
          </a:prstGeom>
          <a:solidFill>
            <a:srgbClr val="EBF5FF"/>
          </a:solidFill>
          <a:ln w="19050">
            <a:solidFill>
              <a:srgbClr val="1677FF"/>
            </a:solidFill>
            <a:prstDash val="solid"/>
          </a:ln>
        </p:spPr>
      </p:sp>
      <p:pic>
        <p:nvPicPr>
          <p:cNvPr id="16" name="Image 1" descr="preencoded.png">    </p:cNvPr>
          <p:cNvPicPr>
            <a:picLocks noChangeAspect="1"/>
          </p:cNvPicPr>
          <p:nvPr/>
        </p:nvPicPr>
        <p:blipFill>
          <a:blip r:embed="rId2"/>
          <a:stretch>
            <a:fillRect/>
          </a:stretch>
        </p:blipFill>
        <p:spPr>
          <a:xfrm>
            <a:off x="4297680" y="1325880"/>
            <a:ext cx="365760" cy="365760"/>
          </a:xfrm>
          <a:prstGeom prst="rect">
            <a:avLst/>
          </a:prstGeom>
        </p:spPr>
      </p:pic>
      <p:sp>
        <p:nvSpPr>
          <p:cNvPr id="17" name="Text 13"/>
          <p:cNvSpPr/>
          <p:nvPr/>
        </p:nvSpPr>
        <p:spPr>
          <a:xfrm>
            <a:off x="3383280" y="1737360"/>
            <a:ext cx="2377440" cy="320040"/>
          </a:xfrm>
          <a:prstGeom prst="rect">
            <a:avLst/>
          </a:prstGeom>
          <a:noFill/>
          <a:ln/>
        </p:spPr>
        <p:txBody>
          <a:bodyPr wrap="square" lIns="0" tIns="0" rIns="0" bIns="0" rtlCol="0" anchor="ctr"/>
          <a:lstStyle/>
          <a:p>
            <a:pPr algn="ctr" indent="0" marL="0">
              <a:buNone/>
            </a:pPr>
            <a:r>
              <a:rPr lang="en-US" sz="1400" b="1" dirty="0">
                <a:solidFill>
                  <a:srgbClr val="1677FF"/>
                </a:solidFill>
                <a:latin typeface="Poppins" pitchFamily="34" charset="0"/>
                <a:ea typeface="Poppins" pitchFamily="34" charset="-122"/>
                <a:cs typeface="Poppins" pitchFamily="34" charset="-120"/>
              </a:rPr>
              <a:t>KINN</a:t>
            </a:r>
            <a:endParaRPr lang="en-US" sz="1400" dirty="0"/>
          </a:p>
        </p:txBody>
      </p:sp>
      <p:sp>
        <p:nvSpPr>
          <p:cNvPr id="18" name="Shape 14"/>
          <p:cNvSpPr/>
          <p:nvPr/>
        </p:nvSpPr>
        <p:spPr>
          <a:xfrm>
            <a:off x="3474720" y="2240280"/>
            <a:ext cx="2194560" cy="365760"/>
          </a:xfrm>
          <a:prstGeom prst="rect">
            <a:avLst>
              <a:gd name="adj" fmla="val 10000"/>
            </a:avLst>
          </a:prstGeom>
          <a:solidFill>
            <a:srgbClr val="FFFFFF"/>
          </a:solidFill>
          <a:ln/>
        </p:spPr>
      </p:sp>
      <p:sp>
        <p:nvSpPr>
          <p:cNvPr id="19" name="Text 15"/>
          <p:cNvSpPr/>
          <p:nvPr/>
        </p:nvSpPr>
        <p:spPr>
          <a:xfrm>
            <a:off x="3474720" y="2240280"/>
            <a:ext cx="2194560" cy="365760"/>
          </a:xfrm>
          <a:prstGeom prst="rect">
            <a:avLst/>
          </a:prstGeom>
          <a:noFill/>
          <a:ln/>
        </p:spPr>
        <p:txBody>
          <a:bodyPr wrap="square" lIns="0" tIns="0" rIns="0" bIns="0" rtlCol="0" anchor="ctr"/>
          <a:lstStyle/>
          <a:p>
            <a:pPr algn="ctr" indent="0" marL="0">
              <a:buNone/>
            </a:pPr>
            <a:r>
              <a:rPr lang="en-US" sz="900" dirty="0">
                <a:solidFill>
                  <a:srgbClr val="0F172A"/>
                </a:solidFill>
                <a:latin typeface="Poppins" pitchFamily="34" charset="0"/>
                <a:ea typeface="Poppins" pitchFamily="34" charset="-122"/>
                <a:cs typeface="Poppins" pitchFamily="34" charset="-120"/>
              </a:rPr>
              <a:t>Optimization engine</a:t>
            </a:r>
            <a:endParaRPr lang="en-US" sz="900" dirty="0"/>
          </a:p>
        </p:txBody>
      </p:sp>
      <p:sp>
        <p:nvSpPr>
          <p:cNvPr id="20" name="Shape 16"/>
          <p:cNvSpPr/>
          <p:nvPr/>
        </p:nvSpPr>
        <p:spPr>
          <a:xfrm>
            <a:off x="3474720" y="2715768"/>
            <a:ext cx="2194560" cy="365760"/>
          </a:xfrm>
          <a:prstGeom prst="rect">
            <a:avLst>
              <a:gd name="adj" fmla="val 10000"/>
            </a:avLst>
          </a:prstGeom>
          <a:solidFill>
            <a:srgbClr val="FFFFFF"/>
          </a:solidFill>
          <a:ln/>
        </p:spPr>
      </p:sp>
      <p:sp>
        <p:nvSpPr>
          <p:cNvPr id="21" name="Text 17"/>
          <p:cNvSpPr/>
          <p:nvPr/>
        </p:nvSpPr>
        <p:spPr>
          <a:xfrm>
            <a:off x="3474720" y="2715768"/>
            <a:ext cx="2194560" cy="365760"/>
          </a:xfrm>
          <a:prstGeom prst="rect">
            <a:avLst/>
          </a:prstGeom>
          <a:noFill/>
          <a:ln/>
        </p:spPr>
        <p:txBody>
          <a:bodyPr wrap="square" lIns="0" tIns="0" rIns="0" bIns="0" rtlCol="0" anchor="ctr"/>
          <a:lstStyle/>
          <a:p>
            <a:pPr algn="ctr" indent="0" marL="0">
              <a:buNone/>
            </a:pPr>
            <a:r>
              <a:rPr lang="en-US" sz="900" dirty="0">
                <a:solidFill>
                  <a:srgbClr val="0F172A"/>
                </a:solidFill>
                <a:latin typeface="Poppins" pitchFamily="34" charset="0"/>
                <a:ea typeface="Poppins" pitchFamily="34" charset="-122"/>
                <a:cs typeface="Poppins" pitchFamily="34" charset="-120"/>
              </a:rPr>
              <a:t>Mission grouping</a:t>
            </a:r>
            <a:endParaRPr lang="en-US" sz="900" dirty="0"/>
          </a:p>
        </p:txBody>
      </p:sp>
      <p:sp>
        <p:nvSpPr>
          <p:cNvPr id="22" name="Shape 18"/>
          <p:cNvSpPr/>
          <p:nvPr/>
        </p:nvSpPr>
        <p:spPr>
          <a:xfrm>
            <a:off x="3474720" y="3191256"/>
            <a:ext cx="2194560" cy="365760"/>
          </a:xfrm>
          <a:prstGeom prst="rect">
            <a:avLst>
              <a:gd name="adj" fmla="val 10000"/>
            </a:avLst>
          </a:prstGeom>
          <a:solidFill>
            <a:srgbClr val="FFFFFF"/>
          </a:solidFill>
          <a:ln/>
        </p:spPr>
      </p:sp>
      <p:sp>
        <p:nvSpPr>
          <p:cNvPr id="23" name="Text 19"/>
          <p:cNvSpPr/>
          <p:nvPr/>
        </p:nvSpPr>
        <p:spPr>
          <a:xfrm>
            <a:off x="3474720" y="3191256"/>
            <a:ext cx="2194560" cy="365760"/>
          </a:xfrm>
          <a:prstGeom prst="rect">
            <a:avLst/>
          </a:prstGeom>
          <a:noFill/>
          <a:ln/>
        </p:spPr>
        <p:txBody>
          <a:bodyPr wrap="square" lIns="0" tIns="0" rIns="0" bIns="0" rtlCol="0" anchor="ctr"/>
          <a:lstStyle/>
          <a:p>
            <a:pPr algn="ctr" indent="0" marL="0">
              <a:buNone/>
            </a:pPr>
            <a:r>
              <a:rPr lang="en-US" sz="900" dirty="0">
                <a:solidFill>
                  <a:srgbClr val="0F172A"/>
                </a:solidFill>
                <a:latin typeface="Poppins" pitchFamily="34" charset="0"/>
                <a:ea typeface="Poppins" pitchFamily="34" charset="-122"/>
                <a:cs typeface="Poppins" pitchFamily="34" charset="-120"/>
              </a:rPr>
              <a:t>Carton assignment</a:t>
            </a:r>
            <a:endParaRPr lang="en-US" sz="900" dirty="0"/>
          </a:p>
        </p:txBody>
      </p:sp>
      <p:sp>
        <p:nvSpPr>
          <p:cNvPr id="24" name="Shape 20"/>
          <p:cNvSpPr/>
          <p:nvPr/>
        </p:nvSpPr>
        <p:spPr>
          <a:xfrm>
            <a:off x="3474720" y="3666744"/>
            <a:ext cx="2194560" cy="365760"/>
          </a:xfrm>
          <a:prstGeom prst="rect">
            <a:avLst>
              <a:gd name="adj" fmla="val 10000"/>
            </a:avLst>
          </a:prstGeom>
          <a:solidFill>
            <a:srgbClr val="FFFFFF"/>
          </a:solidFill>
          <a:ln/>
        </p:spPr>
      </p:sp>
      <p:sp>
        <p:nvSpPr>
          <p:cNvPr id="25" name="Text 21"/>
          <p:cNvSpPr/>
          <p:nvPr/>
        </p:nvSpPr>
        <p:spPr>
          <a:xfrm>
            <a:off x="3474720" y="3666744"/>
            <a:ext cx="2194560" cy="365760"/>
          </a:xfrm>
          <a:prstGeom prst="rect">
            <a:avLst/>
          </a:prstGeom>
          <a:noFill/>
          <a:ln/>
        </p:spPr>
        <p:txBody>
          <a:bodyPr wrap="square" lIns="0" tIns="0" rIns="0" bIns="0" rtlCol="0" anchor="ctr"/>
          <a:lstStyle/>
          <a:p>
            <a:pPr algn="ctr" indent="0" marL="0">
              <a:buNone/>
            </a:pPr>
            <a:r>
              <a:rPr lang="en-US" sz="900" dirty="0">
                <a:solidFill>
                  <a:srgbClr val="0F172A"/>
                </a:solidFill>
                <a:latin typeface="Poppins" pitchFamily="34" charset="0"/>
                <a:ea typeface="Poppins" pitchFamily="34" charset="-122"/>
                <a:cs typeface="Poppins" pitchFamily="34" charset="-120"/>
              </a:rPr>
              <a:t>Validation &amp; tracking</a:t>
            </a:r>
            <a:endParaRPr lang="en-US" sz="900" dirty="0"/>
          </a:p>
        </p:txBody>
      </p:sp>
      <p:sp>
        <p:nvSpPr>
          <p:cNvPr id="26" name="Shape 22"/>
          <p:cNvSpPr/>
          <p:nvPr/>
        </p:nvSpPr>
        <p:spPr>
          <a:xfrm>
            <a:off x="6400800" y="1188720"/>
            <a:ext cx="2377440" cy="3291840"/>
          </a:xfrm>
          <a:prstGeom prst="rect">
            <a:avLst>
              <a:gd name="adj" fmla="val 3077"/>
            </a:avLst>
          </a:prstGeom>
          <a:solidFill>
            <a:srgbClr val="F0FDF4"/>
          </a:solidFill>
          <a:ln w="19050">
            <a:solidFill>
              <a:srgbClr val="16A34A"/>
            </a:solidFill>
            <a:prstDash val="solid"/>
          </a:ln>
        </p:spPr>
      </p:sp>
      <p:pic>
        <p:nvPicPr>
          <p:cNvPr id="27" name="Image 2" descr="preencoded.png">    </p:cNvPr>
          <p:cNvPicPr>
            <a:picLocks noChangeAspect="1"/>
          </p:cNvPicPr>
          <p:nvPr/>
        </p:nvPicPr>
        <p:blipFill>
          <a:blip r:embed="rId3"/>
          <a:stretch>
            <a:fillRect/>
          </a:stretch>
        </p:blipFill>
        <p:spPr>
          <a:xfrm>
            <a:off x="7315200" y="1325880"/>
            <a:ext cx="365760" cy="365760"/>
          </a:xfrm>
          <a:prstGeom prst="rect">
            <a:avLst/>
          </a:prstGeom>
        </p:spPr>
      </p:pic>
      <p:sp>
        <p:nvSpPr>
          <p:cNvPr id="28" name="Text 23"/>
          <p:cNvSpPr/>
          <p:nvPr/>
        </p:nvSpPr>
        <p:spPr>
          <a:xfrm>
            <a:off x="6492240" y="1737360"/>
            <a:ext cx="2194560" cy="320040"/>
          </a:xfrm>
          <a:prstGeom prst="rect">
            <a:avLst/>
          </a:prstGeom>
          <a:noFill/>
          <a:ln/>
        </p:spPr>
        <p:txBody>
          <a:bodyPr wrap="square" lIns="0" tIns="0" rIns="0" bIns="0" rtlCol="0" anchor="ctr"/>
          <a:lstStyle/>
          <a:p>
            <a:pPr algn="ctr" indent="0" marL="0">
              <a:buNone/>
            </a:pPr>
            <a:r>
              <a:rPr lang="en-US" sz="1400" b="1" dirty="0">
                <a:solidFill>
                  <a:srgbClr val="16A34A"/>
                </a:solidFill>
                <a:latin typeface="Poppins" pitchFamily="34" charset="0"/>
                <a:ea typeface="Poppins" pitchFamily="34" charset="-122"/>
                <a:cs typeface="Poppins" pitchFamily="34" charset="-120"/>
              </a:rPr>
              <a:t>Field interfaces</a:t>
            </a:r>
            <a:endParaRPr lang="en-US" sz="1400" dirty="0"/>
          </a:p>
        </p:txBody>
      </p:sp>
      <p:sp>
        <p:nvSpPr>
          <p:cNvPr id="29" name="Shape 24"/>
          <p:cNvSpPr/>
          <p:nvPr/>
        </p:nvSpPr>
        <p:spPr>
          <a:xfrm>
            <a:off x="6583680" y="2240280"/>
            <a:ext cx="2011680" cy="365760"/>
          </a:xfrm>
          <a:prstGeom prst="rect">
            <a:avLst>
              <a:gd name="adj" fmla="val 10000"/>
            </a:avLst>
          </a:prstGeom>
          <a:solidFill>
            <a:srgbClr val="FFFFFF"/>
          </a:solidFill>
          <a:ln/>
        </p:spPr>
      </p:sp>
      <p:sp>
        <p:nvSpPr>
          <p:cNvPr id="30" name="Text 25"/>
          <p:cNvSpPr/>
          <p:nvPr/>
        </p:nvSpPr>
        <p:spPr>
          <a:xfrm>
            <a:off x="6583680" y="2240280"/>
            <a:ext cx="2011680" cy="365760"/>
          </a:xfrm>
          <a:prstGeom prst="rect">
            <a:avLst/>
          </a:prstGeom>
          <a:noFill/>
          <a:ln/>
        </p:spPr>
        <p:txBody>
          <a:bodyPr wrap="square" lIns="0" tIns="0" rIns="0" bIns="0" rtlCol="0" anchor="ctr"/>
          <a:lstStyle/>
          <a:p>
            <a:pPr algn="ctr" indent="0" marL="0">
              <a:buNone/>
            </a:pPr>
            <a:r>
              <a:rPr lang="en-US" sz="900" dirty="0">
                <a:solidFill>
                  <a:srgbClr val="0F172A"/>
                </a:solidFill>
                <a:latin typeface="Poppins" pitchFamily="34" charset="0"/>
                <a:ea typeface="Poppins" pitchFamily="34" charset="-122"/>
                <a:cs typeface="Poppins" pitchFamily="34" charset="-120"/>
              </a:rPr>
              <a:t>Forklift tablet</a:t>
            </a:r>
            <a:endParaRPr lang="en-US" sz="900" dirty="0"/>
          </a:p>
        </p:txBody>
      </p:sp>
      <p:sp>
        <p:nvSpPr>
          <p:cNvPr id="31" name="Shape 26"/>
          <p:cNvSpPr/>
          <p:nvPr/>
        </p:nvSpPr>
        <p:spPr>
          <a:xfrm>
            <a:off x="6583680" y="2715768"/>
            <a:ext cx="2011680" cy="365760"/>
          </a:xfrm>
          <a:prstGeom prst="rect">
            <a:avLst>
              <a:gd name="adj" fmla="val 10000"/>
            </a:avLst>
          </a:prstGeom>
          <a:solidFill>
            <a:srgbClr val="FFFFFF"/>
          </a:solidFill>
          <a:ln/>
        </p:spPr>
      </p:sp>
      <p:sp>
        <p:nvSpPr>
          <p:cNvPr id="32" name="Text 27"/>
          <p:cNvSpPr/>
          <p:nvPr/>
        </p:nvSpPr>
        <p:spPr>
          <a:xfrm>
            <a:off x="6583680" y="2715768"/>
            <a:ext cx="2011680" cy="365760"/>
          </a:xfrm>
          <a:prstGeom prst="rect">
            <a:avLst/>
          </a:prstGeom>
          <a:noFill/>
          <a:ln/>
        </p:spPr>
        <p:txBody>
          <a:bodyPr wrap="square" lIns="0" tIns="0" rIns="0" bIns="0" rtlCol="0" anchor="ctr"/>
          <a:lstStyle/>
          <a:p>
            <a:pPr algn="ctr" indent="0" marL="0">
              <a:buNone/>
            </a:pPr>
            <a:r>
              <a:rPr lang="en-US" sz="900" dirty="0">
                <a:solidFill>
                  <a:srgbClr val="0F172A"/>
                </a:solidFill>
                <a:latin typeface="Poppins" pitchFamily="34" charset="0"/>
                <a:ea typeface="Poppins" pitchFamily="34" charset="-122"/>
                <a:cs typeface="Poppins" pitchFamily="34" charset="-120"/>
              </a:rPr>
              <a:t>Picker scanner</a:t>
            </a:r>
            <a:endParaRPr lang="en-US" sz="900" dirty="0"/>
          </a:p>
        </p:txBody>
      </p:sp>
      <p:sp>
        <p:nvSpPr>
          <p:cNvPr id="33" name="Shape 28"/>
          <p:cNvSpPr/>
          <p:nvPr/>
        </p:nvSpPr>
        <p:spPr>
          <a:xfrm>
            <a:off x="6583680" y="3191256"/>
            <a:ext cx="2011680" cy="365760"/>
          </a:xfrm>
          <a:prstGeom prst="rect">
            <a:avLst>
              <a:gd name="adj" fmla="val 10000"/>
            </a:avLst>
          </a:prstGeom>
          <a:solidFill>
            <a:srgbClr val="FFFFFF"/>
          </a:solidFill>
          <a:ln/>
        </p:spPr>
      </p:sp>
      <p:sp>
        <p:nvSpPr>
          <p:cNvPr id="34" name="Text 29"/>
          <p:cNvSpPr/>
          <p:nvPr/>
        </p:nvSpPr>
        <p:spPr>
          <a:xfrm>
            <a:off x="6583680" y="3191256"/>
            <a:ext cx="2011680" cy="365760"/>
          </a:xfrm>
          <a:prstGeom prst="rect">
            <a:avLst/>
          </a:prstGeom>
          <a:noFill/>
          <a:ln/>
        </p:spPr>
        <p:txBody>
          <a:bodyPr wrap="square" lIns="0" tIns="0" rIns="0" bIns="0" rtlCol="0" anchor="ctr"/>
          <a:lstStyle/>
          <a:p>
            <a:pPr algn="ctr" indent="0" marL="0">
              <a:buNone/>
            </a:pPr>
            <a:r>
              <a:rPr lang="en-US" sz="900" dirty="0">
                <a:solidFill>
                  <a:srgbClr val="0F172A"/>
                </a:solidFill>
                <a:latin typeface="Poppins" pitchFamily="34" charset="0"/>
                <a:ea typeface="Poppins" pitchFamily="34" charset="-122"/>
                <a:cs typeface="Poppins" pitchFamily="34" charset="-120"/>
              </a:rPr>
              <a:t>Supervisor dashboard</a:t>
            </a:r>
            <a:endParaRPr lang="en-US" sz="900" dirty="0"/>
          </a:p>
        </p:txBody>
      </p:sp>
      <p:sp>
        <p:nvSpPr>
          <p:cNvPr id="35" name="Shape 30"/>
          <p:cNvSpPr/>
          <p:nvPr/>
        </p:nvSpPr>
        <p:spPr>
          <a:xfrm>
            <a:off x="6583680" y="3666744"/>
            <a:ext cx="2011680" cy="365760"/>
          </a:xfrm>
          <a:prstGeom prst="rect">
            <a:avLst>
              <a:gd name="adj" fmla="val 10000"/>
            </a:avLst>
          </a:prstGeom>
          <a:solidFill>
            <a:srgbClr val="FFFFFF"/>
          </a:solidFill>
          <a:ln/>
        </p:spPr>
      </p:sp>
      <p:sp>
        <p:nvSpPr>
          <p:cNvPr id="36" name="Text 31"/>
          <p:cNvSpPr/>
          <p:nvPr/>
        </p:nvSpPr>
        <p:spPr>
          <a:xfrm>
            <a:off x="6583680" y="3666744"/>
            <a:ext cx="2011680" cy="365760"/>
          </a:xfrm>
          <a:prstGeom prst="rect">
            <a:avLst/>
          </a:prstGeom>
          <a:noFill/>
          <a:ln/>
        </p:spPr>
        <p:txBody>
          <a:bodyPr wrap="square" lIns="0" tIns="0" rIns="0" bIns="0" rtlCol="0" anchor="ctr"/>
          <a:lstStyle/>
          <a:p>
            <a:pPr algn="ctr" indent="0" marL="0">
              <a:buNone/>
            </a:pPr>
            <a:r>
              <a:rPr lang="en-US" sz="900" dirty="0">
                <a:solidFill>
                  <a:srgbClr val="0F172A"/>
                </a:solidFill>
                <a:latin typeface="Poppins" pitchFamily="34" charset="0"/>
                <a:ea typeface="Poppins" pitchFamily="34" charset="-122"/>
                <a:cs typeface="Poppins" pitchFamily="34" charset="-120"/>
              </a:rPr>
              <a:t>Real-time alerts</a:t>
            </a:r>
            <a:endParaRPr lang="en-US" sz="900" dirty="0"/>
          </a:p>
        </p:txBody>
      </p:sp>
      <p:sp>
        <p:nvSpPr>
          <p:cNvPr id="37" name="Text 32"/>
          <p:cNvSpPr/>
          <p:nvPr/>
        </p:nvSpPr>
        <p:spPr>
          <a:xfrm>
            <a:off x="2651760" y="2011680"/>
            <a:ext cx="731520" cy="228600"/>
          </a:xfrm>
          <a:prstGeom prst="rect">
            <a:avLst/>
          </a:prstGeom>
          <a:noFill/>
          <a:ln/>
        </p:spPr>
        <p:txBody>
          <a:bodyPr wrap="square" lIns="0" tIns="0" rIns="0" bIns="0" rtlCol="0" anchor="ctr"/>
          <a:lstStyle/>
          <a:p>
            <a:pPr algn="ctr" indent="0" marL="0">
              <a:buNone/>
            </a:pPr>
            <a:r>
              <a:rPr lang="en-US" sz="700" b="1" dirty="0">
                <a:solidFill>
                  <a:srgbClr val="1677FF"/>
                </a:solidFill>
                <a:latin typeface="Poppins" pitchFamily="34" charset="0"/>
                <a:ea typeface="Poppins" pitchFamily="34" charset="-122"/>
                <a:cs typeface="Poppins" pitchFamily="34" charset="-120"/>
              </a:rPr>
              <a:t>REST API</a:t>
            </a:r>
            <a:endParaRPr lang="en-US" sz="700" dirty="0"/>
          </a:p>
        </p:txBody>
      </p:sp>
      <p:sp>
        <p:nvSpPr>
          <p:cNvPr id="38" name="Shape 33"/>
          <p:cNvSpPr/>
          <p:nvPr/>
        </p:nvSpPr>
        <p:spPr>
          <a:xfrm>
            <a:off x="2788920" y="2651760"/>
            <a:ext cx="457200" cy="0"/>
          </a:xfrm>
          <a:prstGeom prst="line">
            <a:avLst/>
          </a:prstGeom>
          <a:noFill/>
          <a:ln w="25400">
            <a:solidFill>
              <a:srgbClr val="1677FF"/>
            </a:solidFill>
            <a:prstDash val="dash"/>
            <a:tailEnd type="triangle"/>
          </a:ln>
        </p:spPr>
      </p:sp>
      <p:sp>
        <p:nvSpPr>
          <p:cNvPr id="39" name="Shape 34"/>
          <p:cNvSpPr/>
          <p:nvPr/>
        </p:nvSpPr>
        <p:spPr>
          <a:xfrm>
            <a:off x="2788920" y="3108960"/>
            <a:ext cx="457200" cy="0"/>
          </a:xfrm>
          <a:prstGeom prst="line">
            <a:avLst/>
          </a:prstGeom>
          <a:noFill/>
          <a:ln w="25400">
            <a:solidFill>
              <a:srgbClr val="EA580C"/>
            </a:solidFill>
            <a:prstDash val="solid"/>
            <a:tailEnd type="triangle"/>
          </a:ln>
        </p:spPr>
      </p:sp>
      <p:sp>
        <p:nvSpPr>
          <p:cNvPr id="40" name="Text 35"/>
          <p:cNvSpPr/>
          <p:nvPr/>
        </p:nvSpPr>
        <p:spPr>
          <a:xfrm>
            <a:off x="2697480" y="2423160"/>
            <a:ext cx="640080" cy="182880"/>
          </a:xfrm>
          <a:prstGeom prst="rect">
            <a:avLst/>
          </a:prstGeom>
          <a:noFill/>
          <a:ln/>
        </p:spPr>
        <p:txBody>
          <a:bodyPr wrap="square" lIns="0" tIns="0" rIns="0" bIns="0" rtlCol="0" anchor="ctr"/>
          <a:lstStyle/>
          <a:p>
            <a:pPr algn="ctr" indent="0" marL="0">
              <a:buNone/>
            </a:pPr>
            <a:r>
              <a:rPr lang="en-US" sz="650" dirty="0">
                <a:solidFill>
                  <a:srgbClr val="1677FF"/>
                </a:solidFill>
                <a:latin typeface="Poppins" pitchFamily="34" charset="0"/>
                <a:ea typeface="Poppins" pitchFamily="34" charset="-122"/>
                <a:cs typeface="Poppins" pitchFamily="34" charset="-120"/>
              </a:rPr>
              <a:t>GET</a:t>
            </a:r>
            <a:endParaRPr lang="en-US" sz="650" dirty="0"/>
          </a:p>
        </p:txBody>
      </p:sp>
      <p:sp>
        <p:nvSpPr>
          <p:cNvPr id="41" name="Text 36"/>
          <p:cNvSpPr/>
          <p:nvPr/>
        </p:nvSpPr>
        <p:spPr>
          <a:xfrm>
            <a:off x="2697480" y="3154680"/>
            <a:ext cx="640080" cy="182880"/>
          </a:xfrm>
          <a:prstGeom prst="rect">
            <a:avLst/>
          </a:prstGeom>
          <a:noFill/>
          <a:ln/>
        </p:spPr>
        <p:txBody>
          <a:bodyPr wrap="square" lIns="0" tIns="0" rIns="0" bIns="0" rtlCol="0" anchor="ctr"/>
          <a:lstStyle/>
          <a:p>
            <a:pPr algn="ctr" indent="0" marL="0">
              <a:buNone/>
            </a:pPr>
            <a:r>
              <a:rPr lang="en-US" sz="650" dirty="0">
                <a:solidFill>
                  <a:srgbClr val="EA580C"/>
                </a:solidFill>
                <a:latin typeface="Poppins" pitchFamily="34" charset="0"/>
                <a:ea typeface="Poppins" pitchFamily="34" charset="-122"/>
                <a:cs typeface="Poppins" pitchFamily="34" charset="-120"/>
              </a:rPr>
              <a:t>POST</a:t>
            </a:r>
            <a:endParaRPr lang="en-US" sz="650" dirty="0"/>
          </a:p>
        </p:txBody>
      </p:sp>
      <p:sp>
        <p:nvSpPr>
          <p:cNvPr id="42" name="Shape 37"/>
          <p:cNvSpPr/>
          <p:nvPr/>
        </p:nvSpPr>
        <p:spPr>
          <a:xfrm>
            <a:off x="5897880" y="2834640"/>
            <a:ext cx="457200" cy="0"/>
          </a:xfrm>
          <a:prstGeom prst="line">
            <a:avLst/>
          </a:prstGeom>
          <a:noFill/>
          <a:ln w="25400">
            <a:solidFill>
              <a:srgbClr val="16A34A"/>
            </a:solidFill>
            <a:prstDash val="solid"/>
            <a:tailEnd type="triangle"/>
          </a:ln>
        </p:spPr>
      </p:sp>
      <p:sp>
        <p:nvSpPr>
          <p:cNvPr id="43" name="Text 38"/>
          <p:cNvSpPr/>
          <p:nvPr/>
        </p:nvSpPr>
        <p:spPr>
          <a:xfrm>
            <a:off x="5760720" y="2606040"/>
            <a:ext cx="731520" cy="182880"/>
          </a:xfrm>
          <a:prstGeom prst="rect">
            <a:avLst/>
          </a:prstGeom>
          <a:noFill/>
          <a:ln/>
        </p:spPr>
        <p:txBody>
          <a:bodyPr wrap="square" lIns="0" tIns="0" rIns="0" bIns="0" rtlCol="0" anchor="ctr"/>
          <a:lstStyle/>
          <a:p>
            <a:pPr algn="ctr" indent="0" marL="0">
              <a:buNone/>
            </a:pPr>
            <a:r>
              <a:rPr lang="en-US" sz="650" dirty="0">
                <a:solidFill>
                  <a:srgbClr val="16A34A"/>
                </a:solidFill>
                <a:latin typeface="Poppins" pitchFamily="34" charset="0"/>
                <a:ea typeface="Poppins" pitchFamily="34" charset="-122"/>
                <a:cs typeface="Poppins" pitchFamily="34" charset="-120"/>
              </a:rPr>
              <a:t>WebSocket</a:t>
            </a:r>
            <a:endParaRPr lang="en-US" sz="650" dirty="0"/>
          </a:p>
        </p:txBody>
      </p:sp>
      <p:sp>
        <p:nvSpPr>
          <p:cNvPr id="44" name="Text 39"/>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Poppins" pitchFamily="34" charset="0"/>
                <a:ea typeface="Poppins" pitchFamily="34" charset="-122"/>
                <a:cs typeface="Poppins" pitchFamily="34" charset="-120"/>
              </a:rPr>
              <a:t>Data retrieval from MHS</a:t>
            </a:r>
            <a:endParaRPr lang="en-US" sz="26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GET endpoints — Data required by the optimization engine</a:t>
            </a:r>
            <a:endParaRPr lang="en-US" sz="1100" dirty="0"/>
          </a:p>
        </p:txBody>
      </p:sp>
      <p:sp>
        <p:nvSpPr>
          <p:cNvPr id="4" name="Shape 2"/>
          <p:cNvSpPr/>
          <p:nvPr/>
        </p:nvSpPr>
        <p:spPr>
          <a:xfrm>
            <a:off x="594360" y="1051560"/>
            <a:ext cx="3840480" cy="1783080"/>
          </a:xfrm>
          <a:prstGeom prst="rect">
            <a:avLst>
              <a:gd name="adj" fmla="val 3077"/>
            </a:avLst>
          </a:prstGeom>
          <a:solidFill>
            <a:srgbClr val="F7F9FC"/>
          </a:solidFill>
          <a:ln/>
          <a:effectLst>
            <a:outerShdw sx="100000" sy="100000" kx="0" ky="0" algn="bl" rotWithShape="0" blurRad="76200" dist="25400" dir="8100000">
              <a:srgbClr val="000000">
                <a:alpha val="6000"/>
              </a:srgbClr>
            </a:outerShdw>
          </a:effectLst>
        </p:spPr>
      </p:sp>
      <p:pic>
        <p:nvPicPr>
          <p:cNvPr id="5" name="Image 0" descr="preencoded.png">    </p:cNvPr>
          <p:cNvPicPr>
            <a:picLocks noChangeAspect="1"/>
          </p:cNvPicPr>
          <p:nvPr/>
        </p:nvPicPr>
        <p:blipFill>
          <a:blip r:embed="rId1"/>
          <a:stretch>
            <a:fillRect/>
          </a:stretch>
        </p:blipFill>
        <p:spPr>
          <a:xfrm>
            <a:off x="704088" y="1143000"/>
            <a:ext cx="274320" cy="274320"/>
          </a:xfrm>
          <a:prstGeom prst="rect">
            <a:avLst/>
          </a:prstGeom>
        </p:spPr>
      </p:pic>
      <p:sp>
        <p:nvSpPr>
          <p:cNvPr id="6" name="Text 3"/>
          <p:cNvSpPr/>
          <p:nvPr/>
        </p:nvSpPr>
        <p:spPr>
          <a:xfrm>
            <a:off x="1051560" y="1124712"/>
            <a:ext cx="2377440" cy="320040"/>
          </a:xfrm>
          <a:prstGeom prst="rect">
            <a:avLst/>
          </a:prstGeom>
          <a:noFill/>
          <a:ln/>
        </p:spPr>
        <p:txBody>
          <a:bodyPr wrap="square" lIns="0" tIns="0" rIns="0" bIns="0" rtlCol="0" anchor="ctr"/>
          <a:lstStyle/>
          <a:p>
            <a:pPr indent="0" marL="0">
              <a:buNone/>
            </a:pPr>
            <a:r>
              <a:rPr lang="en-US" sz="1200" b="1" dirty="0">
                <a:solidFill>
                  <a:srgbClr val="0F172A"/>
                </a:solidFill>
                <a:latin typeface="Poppins" pitchFamily="34" charset="0"/>
                <a:ea typeface="Poppins" pitchFamily="34" charset="-122"/>
                <a:cs typeface="Poppins" pitchFamily="34" charset="-120"/>
              </a:rPr>
              <a:t>Slot history</a:t>
            </a:r>
            <a:endParaRPr lang="en-US" sz="1200" dirty="0"/>
          </a:p>
        </p:txBody>
      </p:sp>
      <p:sp>
        <p:nvSpPr>
          <p:cNvPr id="7" name="Shape 4"/>
          <p:cNvSpPr/>
          <p:nvPr/>
        </p:nvSpPr>
        <p:spPr>
          <a:xfrm>
            <a:off x="3703320" y="1161288"/>
            <a:ext cx="548640" cy="228600"/>
          </a:xfrm>
          <a:prstGeom prst="rect">
            <a:avLst>
              <a:gd name="adj" fmla="val 16000"/>
            </a:avLst>
          </a:prstGeom>
          <a:solidFill>
            <a:srgbClr val="16A34A"/>
          </a:solidFill>
          <a:ln/>
        </p:spPr>
      </p:sp>
      <p:sp>
        <p:nvSpPr>
          <p:cNvPr id="8" name="Text 5"/>
          <p:cNvSpPr/>
          <p:nvPr/>
        </p:nvSpPr>
        <p:spPr>
          <a:xfrm>
            <a:off x="3703320" y="1161288"/>
            <a:ext cx="54864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GET</a:t>
            </a:r>
            <a:endParaRPr lang="en-US" sz="800" dirty="0"/>
          </a:p>
        </p:txBody>
      </p:sp>
      <p:sp>
        <p:nvSpPr>
          <p:cNvPr id="9" name="Shape 6"/>
          <p:cNvSpPr/>
          <p:nvPr/>
        </p:nvSpPr>
        <p:spPr>
          <a:xfrm>
            <a:off x="704088" y="1490472"/>
            <a:ext cx="3621024" cy="228600"/>
          </a:xfrm>
          <a:prstGeom prst="rect">
            <a:avLst>
              <a:gd name="adj" fmla="val 12000"/>
            </a:avLst>
          </a:prstGeom>
          <a:solidFill>
            <a:srgbClr val="F0F2F5"/>
          </a:solidFill>
          <a:ln/>
        </p:spPr>
      </p:sp>
      <p:sp>
        <p:nvSpPr>
          <p:cNvPr id="10" name="Text 7"/>
          <p:cNvSpPr/>
          <p:nvPr/>
        </p:nvSpPr>
        <p:spPr>
          <a:xfrm>
            <a:off x="777240" y="1490472"/>
            <a:ext cx="3474720" cy="228600"/>
          </a:xfrm>
          <a:prstGeom prst="rect">
            <a:avLst/>
          </a:prstGeom>
          <a:noFill/>
          <a:ln/>
        </p:spPr>
        <p:txBody>
          <a:bodyPr wrap="square" lIns="0" tIns="0" rIns="0" bIns="0" rtlCol="0" anchor="ctr"/>
          <a:lstStyle/>
          <a:p>
            <a:pPr indent="0" marL="0">
              <a:buNone/>
            </a:pPr>
            <a:r>
              <a:rPr lang="en-US" sz="750" dirty="0">
                <a:solidFill>
                  <a:srgbClr val="374151"/>
                </a:solidFill>
                <a:latin typeface="Courier New" pitchFamily="34" charset="0"/>
                <a:ea typeface="Courier New" pitchFamily="34" charset="-122"/>
                <a:cs typeface="Courier New" pitchFamily="34" charset="-120"/>
              </a:rPr>
              <a:t>/api/slots?status=history&amp;from=YYYY-MM-DD</a:t>
            </a:r>
            <a:endParaRPr lang="en-US" sz="750" dirty="0"/>
          </a:p>
        </p:txBody>
      </p:sp>
      <p:sp>
        <p:nvSpPr>
          <p:cNvPr id="11" name="Text 8"/>
          <p:cNvSpPr/>
          <p:nvPr/>
        </p:nvSpPr>
        <p:spPr>
          <a:xfrm>
            <a:off x="777240" y="180136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Slot ID, date, status (completed/cancelled)</a:t>
            </a:r>
            <a:endParaRPr lang="en-US" sz="800" dirty="0"/>
          </a:p>
        </p:txBody>
      </p:sp>
      <p:sp>
        <p:nvSpPr>
          <p:cNvPr id="12" name="Text 9"/>
          <p:cNvSpPr/>
          <p:nvPr/>
        </p:nvSpPr>
        <p:spPr>
          <a:xfrm>
            <a:off x="777240" y="198424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Line items: reference, quantity, storage cell</a:t>
            </a:r>
            <a:endParaRPr lang="en-US" sz="800" dirty="0"/>
          </a:p>
        </p:txBody>
      </p:sp>
      <p:sp>
        <p:nvSpPr>
          <p:cNvPr id="13" name="Text 10"/>
          <p:cNvSpPr/>
          <p:nvPr/>
        </p:nvSpPr>
        <p:spPr>
          <a:xfrm>
            <a:off x="777240" y="216712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Processing time, assigned operator</a:t>
            </a:r>
            <a:endParaRPr lang="en-US" sz="800" dirty="0"/>
          </a:p>
        </p:txBody>
      </p:sp>
      <p:sp>
        <p:nvSpPr>
          <p:cNvPr id="14" name="Text 11"/>
          <p:cNvSpPr/>
          <p:nvPr/>
        </p:nvSpPr>
        <p:spPr>
          <a:xfrm>
            <a:off x="777240" y="235000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Picking zone, weight/volume</a:t>
            </a:r>
            <a:endParaRPr lang="en-US" sz="800" dirty="0"/>
          </a:p>
        </p:txBody>
      </p:sp>
      <p:sp>
        <p:nvSpPr>
          <p:cNvPr id="15" name="Text 12"/>
          <p:cNvSpPr/>
          <p:nvPr/>
        </p:nvSpPr>
        <p:spPr>
          <a:xfrm>
            <a:off x="731520" y="2560320"/>
            <a:ext cx="3566160" cy="201168"/>
          </a:xfrm>
          <a:prstGeom prst="rect">
            <a:avLst/>
          </a:prstGeom>
          <a:noFill/>
          <a:ln/>
        </p:spPr>
        <p:txBody>
          <a:bodyPr wrap="square" lIns="0" tIns="0" rIns="0" bIns="0" rtlCol="0" anchor="ctr"/>
          <a:lstStyle/>
          <a:p>
            <a:pPr indent="0" marL="0">
              <a:buNone/>
            </a:pPr>
            <a:r>
              <a:rPr lang="en-US" sz="750" b="1" i="1" dirty="0">
                <a:solidFill>
                  <a:srgbClr val="1677FF"/>
                </a:solidFill>
                <a:latin typeface="Poppins" pitchFamily="34" charset="0"/>
                <a:ea typeface="Poppins" pitchFamily="34" charset="-122"/>
                <a:cs typeface="Poppins" pitchFamily="34" charset="-120"/>
              </a:rPr>
              <a:t>→ Optimization engine training</a:t>
            </a:r>
            <a:endParaRPr lang="en-US" sz="750" dirty="0"/>
          </a:p>
        </p:txBody>
      </p:sp>
      <p:sp>
        <p:nvSpPr>
          <p:cNvPr id="16" name="Shape 13"/>
          <p:cNvSpPr/>
          <p:nvPr/>
        </p:nvSpPr>
        <p:spPr>
          <a:xfrm>
            <a:off x="4709160" y="1051560"/>
            <a:ext cx="3840480" cy="1783080"/>
          </a:xfrm>
          <a:prstGeom prst="rect">
            <a:avLst>
              <a:gd name="adj" fmla="val 3077"/>
            </a:avLst>
          </a:prstGeom>
          <a:solidFill>
            <a:srgbClr val="F7F9FC"/>
          </a:solidFill>
          <a:ln/>
          <a:effectLst>
            <a:outerShdw sx="100000" sy="100000" kx="0" ky="0" algn="bl" rotWithShape="0" blurRad="76200" dist="25400" dir="8100000">
              <a:srgbClr val="000000">
                <a:alpha val="6000"/>
              </a:srgbClr>
            </a:outerShdw>
          </a:effectLst>
        </p:spPr>
      </p:sp>
      <p:pic>
        <p:nvPicPr>
          <p:cNvPr id="17" name="Image 1" descr="preencoded.png">    </p:cNvPr>
          <p:cNvPicPr>
            <a:picLocks noChangeAspect="1"/>
          </p:cNvPicPr>
          <p:nvPr/>
        </p:nvPicPr>
        <p:blipFill>
          <a:blip r:embed="rId2"/>
          <a:stretch>
            <a:fillRect/>
          </a:stretch>
        </p:blipFill>
        <p:spPr>
          <a:xfrm>
            <a:off x="4818888" y="1143000"/>
            <a:ext cx="274320" cy="274320"/>
          </a:xfrm>
          <a:prstGeom prst="rect">
            <a:avLst/>
          </a:prstGeom>
        </p:spPr>
      </p:pic>
      <p:sp>
        <p:nvSpPr>
          <p:cNvPr id="18" name="Text 14"/>
          <p:cNvSpPr/>
          <p:nvPr/>
        </p:nvSpPr>
        <p:spPr>
          <a:xfrm>
            <a:off x="5166360" y="1124712"/>
            <a:ext cx="2377440" cy="320040"/>
          </a:xfrm>
          <a:prstGeom prst="rect">
            <a:avLst/>
          </a:prstGeom>
          <a:noFill/>
          <a:ln/>
        </p:spPr>
        <p:txBody>
          <a:bodyPr wrap="square" lIns="0" tIns="0" rIns="0" bIns="0" rtlCol="0" anchor="ctr"/>
          <a:lstStyle/>
          <a:p>
            <a:pPr indent="0" marL="0">
              <a:buNone/>
            </a:pPr>
            <a:r>
              <a:rPr lang="en-US" sz="1200" b="1" dirty="0">
                <a:solidFill>
                  <a:srgbClr val="0F172A"/>
                </a:solidFill>
                <a:latin typeface="Poppins" pitchFamily="34" charset="0"/>
                <a:ea typeface="Poppins" pitchFamily="34" charset="-122"/>
                <a:cs typeface="Poppins" pitchFamily="34" charset="-120"/>
              </a:rPr>
              <a:t>Real-time slots</a:t>
            </a:r>
            <a:endParaRPr lang="en-US" sz="1200" dirty="0"/>
          </a:p>
        </p:txBody>
      </p:sp>
      <p:sp>
        <p:nvSpPr>
          <p:cNvPr id="19" name="Shape 15"/>
          <p:cNvSpPr/>
          <p:nvPr/>
        </p:nvSpPr>
        <p:spPr>
          <a:xfrm>
            <a:off x="7818120" y="1161288"/>
            <a:ext cx="548640" cy="228600"/>
          </a:xfrm>
          <a:prstGeom prst="rect">
            <a:avLst>
              <a:gd name="adj" fmla="val 16000"/>
            </a:avLst>
          </a:prstGeom>
          <a:solidFill>
            <a:srgbClr val="16A34A"/>
          </a:solidFill>
          <a:ln/>
        </p:spPr>
      </p:sp>
      <p:sp>
        <p:nvSpPr>
          <p:cNvPr id="20" name="Text 16"/>
          <p:cNvSpPr/>
          <p:nvPr/>
        </p:nvSpPr>
        <p:spPr>
          <a:xfrm>
            <a:off x="7818120" y="1161288"/>
            <a:ext cx="54864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GET</a:t>
            </a:r>
            <a:endParaRPr lang="en-US" sz="800" dirty="0"/>
          </a:p>
        </p:txBody>
      </p:sp>
      <p:sp>
        <p:nvSpPr>
          <p:cNvPr id="21" name="Shape 17"/>
          <p:cNvSpPr/>
          <p:nvPr/>
        </p:nvSpPr>
        <p:spPr>
          <a:xfrm>
            <a:off x="4818888" y="1490472"/>
            <a:ext cx="3621024" cy="228600"/>
          </a:xfrm>
          <a:prstGeom prst="rect">
            <a:avLst>
              <a:gd name="adj" fmla="val 12000"/>
            </a:avLst>
          </a:prstGeom>
          <a:solidFill>
            <a:srgbClr val="F0F2F5"/>
          </a:solidFill>
          <a:ln/>
        </p:spPr>
      </p:sp>
      <p:sp>
        <p:nvSpPr>
          <p:cNvPr id="22" name="Text 18"/>
          <p:cNvSpPr/>
          <p:nvPr/>
        </p:nvSpPr>
        <p:spPr>
          <a:xfrm>
            <a:off x="4892040" y="1490472"/>
            <a:ext cx="3474720" cy="228600"/>
          </a:xfrm>
          <a:prstGeom prst="rect">
            <a:avLst/>
          </a:prstGeom>
          <a:noFill/>
          <a:ln/>
        </p:spPr>
        <p:txBody>
          <a:bodyPr wrap="square" lIns="0" tIns="0" rIns="0" bIns="0" rtlCol="0" anchor="ctr"/>
          <a:lstStyle/>
          <a:p>
            <a:pPr indent="0" marL="0">
              <a:buNone/>
            </a:pPr>
            <a:r>
              <a:rPr lang="en-US" sz="750" dirty="0">
                <a:solidFill>
                  <a:srgbClr val="374151"/>
                </a:solidFill>
                <a:latin typeface="Courier New" pitchFamily="34" charset="0"/>
                <a:ea typeface="Courier New" pitchFamily="34" charset="-122"/>
                <a:cs typeface="Courier New" pitchFamily="34" charset="-120"/>
              </a:rPr>
              <a:t>/api/slots?status=pending|in_progress</a:t>
            </a:r>
            <a:endParaRPr lang="en-US" sz="750" dirty="0"/>
          </a:p>
        </p:txBody>
      </p:sp>
      <p:sp>
        <p:nvSpPr>
          <p:cNvPr id="23" name="Text 19"/>
          <p:cNvSpPr/>
          <p:nvPr/>
        </p:nvSpPr>
        <p:spPr>
          <a:xfrm>
            <a:off x="4892040" y="180136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Slots awaiting preparation</a:t>
            </a:r>
            <a:endParaRPr lang="en-US" sz="800" dirty="0"/>
          </a:p>
        </p:txBody>
      </p:sp>
      <p:sp>
        <p:nvSpPr>
          <p:cNvPr id="24" name="Text 20"/>
          <p:cNvSpPr/>
          <p:nvPr/>
        </p:nvSpPr>
        <p:spPr>
          <a:xfrm>
            <a:off x="4892040" y="198424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Slots in progress (operator, progress %)</a:t>
            </a:r>
            <a:endParaRPr lang="en-US" sz="800" dirty="0"/>
          </a:p>
        </p:txBody>
      </p:sp>
      <p:sp>
        <p:nvSpPr>
          <p:cNvPr id="25" name="Text 21"/>
          <p:cNvSpPr/>
          <p:nvPr/>
        </p:nvSpPr>
        <p:spPr>
          <a:xfrm>
            <a:off x="4892040" y="216712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Priority, deadline, end customer</a:t>
            </a:r>
            <a:endParaRPr lang="en-US" sz="800" dirty="0"/>
          </a:p>
        </p:txBody>
      </p:sp>
      <p:sp>
        <p:nvSpPr>
          <p:cNvPr id="26" name="Text 22"/>
          <p:cNvSpPr/>
          <p:nvPr/>
        </p:nvSpPr>
        <p:spPr>
          <a:xfrm>
            <a:off x="4892040" y="235000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Lines with remaining quantities</a:t>
            </a:r>
            <a:endParaRPr lang="en-US" sz="800" dirty="0"/>
          </a:p>
        </p:txBody>
      </p:sp>
      <p:sp>
        <p:nvSpPr>
          <p:cNvPr id="27" name="Text 23"/>
          <p:cNvSpPr/>
          <p:nvPr/>
        </p:nvSpPr>
        <p:spPr>
          <a:xfrm>
            <a:off x="4846320" y="2560320"/>
            <a:ext cx="3566160" cy="201168"/>
          </a:xfrm>
          <a:prstGeom prst="rect">
            <a:avLst/>
          </a:prstGeom>
          <a:noFill/>
          <a:ln/>
        </p:spPr>
        <p:txBody>
          <a:bodyPr wrap="square" lIns="0" tIns="0" rIns="0" bIns="0" rtlCol="0" anchor="ctr"/>
          <a:lstStyle/>
          <a:p>
            <a:pPr indent="0" marL="0">
              <a:buNone/>
            </a:pPr>
            <a:r>
              <a:rPr lang="en-US" sz="750" b="1" i="1" dirty="0">
                <a:solidFill>
                  <a:srgbClr val="1677FF"/>
                </a:solidFill>
                <a:latin typeface="Poppins" pitchFamily="34" charset="0"/>
                <a:ea typeface="Poppins" pitchFamily="34" charset="-122"/>
                <a:cs typeface="Poppins" pitchFamily="34" charset="-120"/>
              </a:rPr>
              <a:t>→ Mission grouping and assignment</a:t>
            </a:r>
            <a:endParaRPr lang="en-US" sz="750" dirty="0"/>
          </a:p>
        </p:txBody>
      </p:sp>
      <p:sp>
        <p:nvSpPr>
          <p:cNvPr id="28" name="Shape 24"/>
          <p:cNvSpPr/>
          <p:nvPr/>
        </p:nvSpPr>
        <p:spPr>
          <a:xfrm>
            <a:off x="594360" y="2971800"/>
            <a:ext cx="3840480" cy="1783080"/>
          </a:xfrm>
          <a:prstGeom prst="rect">
            <a:avLst>
              <a:gd name="adj" fmla="val 3077"/>
            </a:avLst>
          </a:prstGeom>
          <a:solidFill>
            <a:srgbClr val="F7F9FC"/>
          </a:solidFill>
          <a:ln/>
          <a:effectLst>
            <a:outerShdw sx="100000" sy="100000" kx="0" ky="0" algn="bl" rotWithShape="0" blurRad="76200" dist="25400" dir="8100000">
              <a:srgbClr val="000000">
                <a:alpha val="6000"/>
              </a:srgbClr>
            </a:outerShdw>
          </a:effectLst>
        </p:spPr>
      </p:sp>
      <p:pic>
        <p:nvPicPr>
          <p:cNvPr id="29" name="Image 2" descr="preencoded.png">    </p:cNvPr>
          <p:cNvPicPr>
            <a:picLocks noChangeAspect="1"/>
          </p:cNvPicPr>
          <p:nvPr/>
        </p:nvPicPr>
        <p:blipFill>
          <a:blip r:embed="rId3"/>
          <a:stretch>
            <a:fillRect/>
          </a:stretch>
        </p:blipFill>
        <p:spPr>
          <a:xfrm>
            <a:off x="704088" y="3063240"/>
            <a:ext cx="274320" cy="274320"/>
          </a:xfrm>
          <a:prstGeom prst="rect">
            <a:avLst/>
          </a:prstGeom>
        </p:spPr>
      </p:pic>
      <p:sp>
        <p:nvSpPr>
          <p:cNvPr id="30" name="Text 25"/>
          <p:cNvSpPr/>
          <p:nvPr/>
        </p:nvSpPr>
        <p:spPr>
          <a:xfrm>
            <a:off x="1051560" y="3044952"/>
            <a:ext cx="2377440" cy="320040"/>
          </a:xfrm>
          <a:prstGeom prst="rect">
            <a:avLst/>
          </a:prstGeom>
          <a:noFill/>
          <a:ln/>
        </p:spPr>
        <p:txBody>
          <a:bodyPr wrap="square" lIns="0" tIns="0" rIns="0" bIns="0" rtlCol="0" anchor="ctr"/>
          <a:lstStyle/>
          <a:p>
            <a:pPr indent="0" marL="0">
              <a:buNone/>
            </a:pPr>
            <a:r>
              <a:rPr lang="en-US" sz="1200" b="1" dirty="0">
                <a:solidFill>
                  <a:srgbClr val="0F172A"/>
                </a:solidFill>
                <a:latin typeface="Poppins" pitchFamily="34" charset="0"/>
                <a:ea typeface="Poppins" pitchFamily="34" charset="-122"/>
                <a:cs typeface="Poppins" pitchFamily="34" charset="-120"/>
              </a:rPr>
              <a:t>Stocker states</a:t>
            </a:r>
            <a:endParaRPr lang="en-US" sz="1200" dirty="0"/>
          </a:p>
        </p:txBody>
      </p:sp>
      <p:sp>
        <p:nvSpPr>
          <p:cNvPr id="31" name="Shape 26"/>
          <p:cNvSpPr/>
          <p:nvPr/>
        </p:nvSpPr>
        <p:spPr>
          <a:xfrm>
            <a:off x="3703320" y="3081528"/>
            <a:ext cx="548640" cy="228600"/>
          </a:xfrm>
          <a:prstGeom prst="rect">
            <a:avLst>
              <a:gd name="adj" fmla="val 16000"/>
            </a:avLst>
          </a:prstGeom>
          <a:solidFill>
            <a:srgbClr val="16A34A"/>
          </a:solidFill>
          <a:ln/>
        </p:spPr>
      </p:sp>
      <p:sp>
        <p:nvSpPr>
          <p:cNvPr id="32" name="Text 27"/>
          <p:cNvSpPr/>
          <p:nvPr/>
        </p:nvSpPr>
        <p:spPr>
          <a:xfrm>
            <a:off x="3703320" y="3081528"/>
            <a:ext cx="54864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GET</a:t>
            </a:r>
            <a:endParaRPr lang="en-US" sz="800" dirty="0"/>
          </a:p>
        </p:txBody>
      </p:sp>
      <p:sp>
        <p:nvSpPr>
          <p:cNvPr id="33" name="Shape 28"/>
          <p:cNvSpPr/>
          <p:nvPr/>
        </p:nvSpPr>
        <p:spPr>
          <a:xfrm>
            <a:off x="704088" y="3410712"/>
            <a:ext cx="3621024" cy="228600"/>
          </a:xfrm>
          <a:prstGeom prst="rect">
            <a:avLst>
              <a:gd name="adj" fmla="val 12000"/>
            </a:avLst>
          </a:prstGeom>
          <a:solidFill>
            <a:srgbClr val="F0F2F5"/>
          </a:solidFill>
          <a:ln/>
        </p:spPr>
      </p:sp>
      <p:sp>
        <p:nvSpPr>
          <p:cNvPr id="34" name="Text 29"/>
          <p:cNvSpPr/>
          <p:nvPr/>
        </p:nvSpPr>
        <p:spPr>
          <a:xfrm>
            <a:off x="777240" y="3410712"/>
            <a:ext cx="3474720" cy="228600"/>
          </a:xfrm>
          <a:prstGeom prst="rect">
            <a:avLst/>
          </a:prstGeom>
          <a:noFill/>
          <a:ln/>
        </p:spPr>
        <p:txBody>
          <a:bodyPr wrap="square" lIns="0" tIns="0" rIns="0" bIns="0" rtlCol="0" anchor="ctr"/>
          <a:lstStyle/>
          <a:p>
            <a:pPr indent="0" marL="0">
              <a:buNone/>
            </a:pPr>
            <a:r>
              <a:rPr lang="en-US" sz="750" dirty="0">
                <a:solidFill>
                  <a:srgbClr val="374151"/>
                </a:solidFill>
                <a:latin typeface="Courier New" pitchFamily="34" charset="0"/>
                <a:ea typeface="Courier New" pitchFamily="34" charset="-122"/>
                <a:cs typeface="Courier New" pitchFamily="34" charset="-120"/>
              </a:rPr>
              <a:t>/api/stockers</a:t>
            </a:r>
            <a:endParaRPr lang="en-US" sz="750" dirty="0"/>
          </a:p>
        </p:txBody>
      </p:sp>
      <p:sp>
        <p:nvSpPr>
          <p:cNvPr id="35" name="Text 30"/>
          <p:cNvSpPr/>
          <p:nvPr/>
        </p:nvSpPr>
        <p:spPr>
          <a:xfrm>
            <a:off x="777240" y="372160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Stocker ID, name, type (automatic/manual)</a:t>
            </a:r>
            <a:endParaRPr lang="en-US" sz="800" dirty="0"/>
          </a:p>
        </p:txBody>
      </p:sp>
      <p:sp>
        <p:nvSpPr>
          <p:cNvPr id="36" name="Text 31"/>
          <p:cNvSpPr/>
          <p:nvPr/>
        </p:nvSpPr>
        <p:spPr>
          <a:xfrm>
            <a:off x="777240" y="390448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Current state (available/busy/maintenance)</a:t>
            </a:r>
            <a:endParaRPr lang="en-US" sz="800" dirty="0"/>
          </a:p>
        </p:txBody>
      </p:sp>
      <p:sp>
        <p:nvSpPr>
          <p:cNvPr id="37" name="Text 32"/>
          <p:cNvSpPr/>
          <p:nvPr/>
        </p:nvSpPr>
        <p:spPr>
          <a:xfrm>
            <a:off x="777240" y="408736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Queue (number of pending calls)</a:t>
            </a:r>
            <a:endParaRPr lang="en-US" sz="800" dirty="0"/>
          </a:p>
        </p:txBody>
      </p:sp>
      <p:sp>
        <p:nvSpPr>
          <p:cNvPr id="38" name="Text 33"/>
          <p:cNvSpPr/>
          <p:nvPr/>
        </p:nvSpPr>
        <p:spPr>
          <a:xfrm>
            <a:off x="777240" y="427024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Position, zone, capacity</a:t>
            </a:r>
            <a:endParaRPr lang="en-US" sz="800" dirty="0"/>
          </a:p>
        </p:txBody>
      </p:sp>
      <p:sp>
        <p:nvSpPr>
          <p:cNvPr id="39" name="Text 34"/>
          <p:cNvSpPr/>
          <p:nvPr/>
        </p:nvSpPr>
        <p:spPr>
          <a:xfrm>
            <a:off x="731520" y="4480560"/>
            <a:ext cx="3566160" cy="201168"/>
          </a:xfrm>
          <a:prstGeom prst="rect">
            <a:avLst/>
          </a:prstGeom>
          <a:noFill/>
          <a:ln/>
        </p:spPr>
        <p:txBody>
          <a:bodyPr wrap="square" lIns="0" tIns="0" rIns="0" bIns="0" rtlCol="0" anchor="ctr"/>
          <a:lstStyle/>
          <a:p>
            <a:pPr indent="0" marL="0">
              <a:buNone/>
            </a:pPr>
            <a:r>
              <a:rPr lang="en-US" sz="750" b="1" i="1" dirty="0">
                <a:solidFill>
                  <a:srgbClr val="1677FF"/>
                </a:solidFill>
                <a:latin typeface="Poppins" pitchFamily="34" charset="0"/>
                <a:ea typeface="Poppins" pitchFamily="34" charset="-122"/>
                <a:cs typeface="Poppins" pitchFamily="34" charset="-120"/>
              </a:rPr>
              <a:t>→ Access delay estimation</a:t>
            </a:r>
            <a:endParaRPr lang="en-US" sz="750" dirty="0"/>
          </a:p>
        </p:txBody>
      </p:sp>
      <p:sp>
        <p:nvSpPr>
          <p:cNvPr id="40" name="Shape 35"/>
          <p:cNvSpPr/>
          <p:nvPr/>
        </p:nvSpPr>
        <p:spPr>
          <a:xfrm>
            <a:off x="4709160" y="2971800"/>
            <a:ext cx="3840480" cy="1783080"/>
          </a:xfrm>
          <a:prstGeom prst="rect">
            <a:avLst>
              <a:gd name="adj" fmla="val 3077"/>
            </a:avLst>
          </a:prstGeom>
          <a:solidFill>
            <a:srgbClr val="F7F9FC"/>
          </a:solidFill>
          <a:ln/>
          <a:effectLst>
            <a:outerShdw sx="100000" sy="100000" kx="0" ky="0" algn="bl" rotWithShape="0" blurRad="76200" dist="25400" dir="8100000">
              <a:srgbClr val="000000">
                <a:alpha val="6000"/>
              </a:srgbClr>
            </a:outerShdw>
          </a:effectLst>
        </p:spPr>
      </p:sp>
      <p:pic>
        <p:nvPicPr>
          <p:cNvPr id="41" name="Image 3" descr="preencoded.png">    </p:cNvPr>
          <p:cNvPicPr>
            <a:picLocks noChangeAspect="1"/>
          </p:cNvPicPr>
          <p:nvPr/>
        </p:nvPicPr>
        <p:blipFill>
          <a:blip r:embed="rId4"/>
          <a:stretch>
            <a:fillRect/>
          </a:stretch>
        </p:blipFill>
        <p:spPr>
          <a:xfrm>
            <a:off x="4818888" y="3063240"/>
            <a:ext cx="274320" cy="274320"/>
          </a:xfrm>
          <a:prstGeom prst="rect">
            <a:avLst/>
          </a:prstGeom>
        </p:spPr>
      </p:pic>
      <p:sp>
        <p:nvSpPr>
          <p:cNvPr id="42" name="Text 36"/>
          <p:cNvSpPr/>
          <p:nvPr/>
        </p:nvSpPr>
        <p:spPr>
          <a:xfrm>
            <a:off x="5166360" y="3044952"/>
            <a:ext cx="2377440" cy="320040"/>
          </a:xfrm>
          <a:prstGeom prst="rect">
            <a:avLst/>
          </a:prstGeom>
          <a:noFill/>
          <a:ln/>
        </p:spPr>
        <p:txBody>
          <a:bodyPr wrap="square" lIns="0" tIns="0" rIns="0" bIns="0" rtlCol="0" anchor="ctr"/>
          <a:lstStyle/>
          <a:p>
            <a:pPr indent="0" marL="0">
              <a:buNone/>
            </a:pPr>
            <a:r>
              <a:rPr lang="en-US" sz="1200" b="1" dirty="0">
                <a:solidFill>
                  <a:srgbClr val="0F172A"/>
                </a:solidFill>
                <a:latin typeface="Poppins" pitchFamily="34" charset="0"/>
                <a:ea typeface="Poppins" pitchFamily="34" charset="-122"/>
                <a:cs typeface="Poppins" pitchFamily="34" charset="-120"/>
              </a:rPr>
              <a:t>Article reference data</a:t>
            </a:r>
            <a:endParaRPr lang="en-US" sz="1200" dirty="0"/>
          </a:p>
        </p:txBody>
      </p:sp>
      <p:sp>
        <p:nvSpPr>
          <p:cNvPr id="43" name="Shape 37"/>
          <p:cNvSpPr/>
          <p:nvPr/>
        </p:nvSpPr>
        <p:spPr>
          <a:xfrm>
            <a:off x="7818120" y="3081528"/>
            <a:ext cx="548640" cy="228600"/>
          </a:xfrm>
          <a:prstGeom prst="rect">
            <a:avLst>
              <a:gd name="adj" fmla="val 16000"/>
            </a:avLst>
          </a:prstGeom>
          <a:solidFill>
            <a:srgbClr val="16A34A"/>
          </a:solidFill>
          <a:ln/>
        </p:spPr>
      </p:sp>
      <p:sp>
        <p:nvSpPr>
          <p:cNvPr id="44" name="Text 38"/>
          <p:cNvSpPr/>
          <p:nvPr/>
        </p:nvSpPr>
        <p:spPr>
          <a:xfrm>
            <a:off x="7818120" y="3081528"/>
            <a:ext cx="54864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GET</a:t>
            </a:r>
            <a:endParaRPr lang="en-US" sz="800" dirty="0"/>
          </a:p>
        </p:txBody>
      </p:sp>
      <p:sp>
        <p:nvSpPr>
          <p:cNvPr id="45" name="Shape 39"/>
          <p:cNvSpPr/>
          <p:nvPr/>
        </p:nvSpPr>
        <p:spPr>
          <a:xfrm>
            <a:off x="4818888" y="3410712"/>
            <a:ext cx="3621024" cy="228600"/>
          </a:xfrm>
          <a:prstGeom prst="rect">
            <a:avLst>
              <a:gd name="adj" fmla="val 12000"/>
            </a:avLst>
          </a:prstGeom>
          <a:solidFill>
            <a:srgbClr val="F0F2F5"/>
          </a:solidFill>
          <a:ln/>
        </p:spPr>
      </p:sp>
      <p:sp>
        <p:nvSpPr>
          <p:cNvPr id="46" name="Text 40"/>
          <p:cNvSpPr/>
          <p:nvPr/>
        </p:nvSpPr>
        <p:spPr>
          <a:xfrm>
            <a:off x="4892040" y="3410712"/>
            <a:ext cx="3474720" cy="228600"/>
          </a:xfrm>
          <a:prstGeom prst="rect">
            <a:avLst/>
          </a:prstGeom>
          <a:noFill/>
          <a:ln/>
        </p:spPr>
        <p:txBody>
          <a:bodyPr wrap="square" lIns="0" tIns="0" rIns="0" bIns="0" rtlCol="0" anchor="ctr"/>
          <a:lstStyle/>
          <a:p>
            <a:pPr indent="0" marL="0">
              <a:buNone/>
            </a:pPr>
            <a:r>
              <a:rPr lang="en-US" sz="750" dirty="0">
                <a:solidFill>
                  <a:srgbClr val="374151"/>
                </a:solidFill>
                <a:latin typeface="Courier New" pitchFamily="34" charset="0"/>
                <a:ea typeface="Courier New" pitchFamily="34" charset="-122"/>
                <a:cs typeface="Courier New" pitchFamily="34" charset="-120"/>
              </a:rPr>
              <a:t>/api/references</a:t>
            </a:r>
            <a:endParaRPr lang="en-US" sz="750" dirty="0"/>
          </a:p>
        </p:txBody>
      </p:sp>
      <p:sp>
        <p:nvSpPr>
          <p:cNvPr id="47" name="Text 41"/>
          <p:cNvSpPr/>
          <p:nvPr/>
        </p:nvSpPr>
        <p:spPr>
          <a:xfrm>
            <a:off x="4892040" y="372160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Article code, description, family</a:t>
            </a:r>
            <a:endParaRPr lang="en-US" sz="800" dirty="0"/>
          </a:p>
        </p:txBody>
      </p:sp>
      <p:sp>
        <p:nvSpPr>
          <p:cNvPr id="48" name="Text 42"/>
          <p:cNvSpPr/>
          <p:nvPr/>
        </p:nvSpPr>
        <p:spPr>
          <a:xfrm>
            <a:off x="4892040" y="390448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Associated storage cell(s)</a:t>
            </a:r>
            <a:endParaRPr lang="en-US" sz="800" dirty="0"/>
          </a:p>
        </p:txBody>
      </p:sp>
      <p:sp>
        <p:nvSpPr>
          <p:cNvPr id="49" name="Text 43"/>
          <p:cNvSpPr/>
          <p:nvPr/>
        </p:nvSpPr>
        <p:spPr>
          <a:xfrm>
            <a:off x="4892040" y="408736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Unit weight, dimensions, packaging</a:t>
            </a:r>
            <a:endParaRPr lang="en-US" sz="800" dirty="0"/>
          </a:p>
        </p:txBody>
      </p:sp>
      <p:sp>
        <p:nvSpPr>
          <p:cNvPr id="50" name="Text 44"/>
          <p:cNvSpPr/>
          <p:nvPr/>
        </p:nvSpPr>
        <p:spPr>
          <a:xfrm>
            <a:off x="4892040" y="4270248"/>
            <a:ext cx="3474720" cy="182880"/>
          </a:xfrm>
          <a:prstGeom prst="rect">
            <a:avLst/>
          </a:prstGeom>
          <a:noFill/>
          <a:ln/>
        </p:spPr>
        <p:txBody>
          <a:bodyPr wrap="square" lIns="0" tIns="0" rIns="0" bIns="0" rtlCol="0" anchor="ctr"/>
          <a:lstStyle/>
          <a:p>
            <a:pPr indent="0" marL="0">
              <a:buNone/>
            </a:pPr>
            <a:r>
              <a:rPr lang="en-US" sz="800" dirty="0">
                <a:solidFill>
                  <a:srgbClr val="0F172A"/>
                </a:solidFill>
                <a:latin typeface="Poppins" pitchFamily="34" charset="0"/>
                <a:ea typeface="Poppins" pitchFamily="34" charset="-122"/>
                <a:cs typeface="Poppins" pitchFamily="34" charset="-120"/>
              </a:rPr>
              <a:t>•  Available stock, reorder threshold</a:t>
            </a:r>
            <a:endParaRPr lang="en-US" sz="800" dirty="0"/>
          </a:p>
        </p:txBody>
      </p:sp>
      <p:sp>
        <p:nvSpPr>
          <p:cNvPr id="51" name="Text 45"/>
          <p:cNvSpPr/>
          <p:nvPr/>
        </p:nvSpPr>
        <p:spPr>
          <a:xfrm>
            <a:off x="4846320" y="4480560"/>
            <a:ext cx="3566160" cy="201168"/>
          </a:xfrm>
          <a:prstGeom prst="rect">
            <a:avLst/>
          </a:prstGeom>
          <a:noFill/>
          <a:ln/>
        </p:spPr>
        <p:txBody>
          <a:bodyPr wrap="square" lIns="0" tIns="0" rIns="0" bIns="0" rtlCol="0" anchor="ctr"/>
          <a:lstStyle/>
          <a:p>
            <a:pPr indent="0" marL="0">
              <a:buNone/>
            </a:pPr>
            <a:r>
              <a:rPr lang="en-US" sz="750" b="1" i="1" dirty="0">
                <a:solidFill>
                  <a:srgbClr val="1677FF"/>
                </a:solidFill>
                <a:latin typeface="Poppins" pitchFamily="34" charset="0"/>
                <a:ea typeface="Poppins" pitchFamily="34" charset="-122"/>
                <a:cs typeface="Poppins" pitchFamily="34" charset="-120"/>
              </a:rPr>
              <a:t>→ Proximity calculation and grouping</a:t>
            </a:r>
            <a:endParaRPr lang="en-US" sz="750" dirty="0"/>
          </a:p>
        </p:txBody>
      </p:sp>
      <p:sp>
        <p:nvSpPr>
          <p:cNvPr id="52" name="Text 46"/>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Poppins" pitchFamily="34" charset="0"/>
                <a:ea typeface="Poppins" pitchFamily="34" charset="-122"/>
                <a:cs typeface="Poppins" pitchFamily="34" charset="-120"/>
              </a:rPr>
              <a:t>Actions to transmit to MHS</a:t>
            </a:r>
            <a:endParaRPr lang="en-US" sz="26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POST endpoints — Write operations and validations from KINN</a:t>
            </a:r>
            <a:endParaRPr lang="en-US" sz="1100" dirty="0"/>
          </a:p>
        </p:txBody>
      </p:sp>
      <p:sp>
        <p:nvSpPr>
          <p:cNvPr id="4" name="Shape 2"/>
          <p:cNvSpPr/>
          <p:nvPr/>
        </p:nvSpPr>
        <p:spPr>
          <a:xfrm>
            <a:off x="502920" y="1005840"/>
            <a:ext cx="2560320" cy="3657600"/>
          </a:xfrm>
          <a:prstGeom prst="rect">
            <a:avLst>
              <a:gd name="adj" fmla="val 2143"/>
            </a:avLst>
          </a:prstGeom>
          <a:solidFill>
            <a:srgbClr val="F7F9FC"/>
          </a:solidFill>
          <a:ln/>
          <a:effectLst>
            <a:outerShdw sx="100000" sy="100000" kx="0" ky="0" algn="bl" rotWithShape="0" blurRad="76200" dist="25400" dir="8100000">
              <a:srgbClr val="000000">
                <a:alpha val="6000"/>
              </a:srgbClr>
            </a:outerShdw>
          </a:effectLst>
        </p:spPr>
      </p:sp>
      <p:sp>
        <p:nvSpPr>
          <p:cNvPr id="5" name="Shape 3"/>
          <p:cNvSpPr/>
          <p:nvPr/>
        </p:nvSpPr>
        <p:spPr>
          <a:xfrm>
            <a:off x="1508760" y="1143000"/>
            <a:ext cx="548640" cy="548640"/>
          </a:xfrm>
          <a:prstGeom prst="ellipse">
            <a:avLst/>
          </a:prstGeom>
          <a:solidFill>
            <a:srgbClr val="EBF5FF"/>
          </a:solidFill>
          <a:ln/>
        </p:spPr>
      </p:sp>
      <p:pic>
        <p:nvPicPr>
          <p:cNvPr id="6" name="Image 0" descr="preencoded.png">    </p:cNvPr>
          <p:cNvPicPr>
            <a:picLocks noChangeAspect="1"/>
          </p:cNvPicPr>
          <p:nvPr/>
        </p:nvPicPr>
        <p:blipFill>
          <a:blip r:embed="rId1"/>
          <a:stretch>
            <a:fillRect/>
          </a:stretch>
        </p:blipFill>
        <p:spPr>
          <a:xfrm>
            <a:off x="1600200" y="1234440"/>
            <a:ext cx="365760" cy="365760"/>
          </a:xfrm>
          <a:prstGeom prst="rect">
            <a:avLst/>
          </a:prstGeom>
        </p:spPr>
      </p:pic>
      <p:sp>
        <p:nvSpPr>
          <p:cNvPr id="7" name="Text 4"/>
          <p:cNvSpPr/>
          <p:nvPr/>
        </p:nvSpPr>
        <p:spPr>
          <a:xfrm>
            <a:off x="594360" y="1783080"/>
            <a:ext cx="237744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Poppins" pitchFamily="34" charset="0"/>
                <a:ea typeface="Poppins" pitchFamily="34" charset="-122"/>
                <a:cs typeface="Poppins" pitchFamily="34" charset="-120"/>
              </a:rPr>
              <a:t>Mother carton assignment</a:t>
            </a:r>
            <a:endParaRPr lang="en-US" sz="1200" dirty="0"/>
          </a:p>
        </p:txBody>
      </p:sp>
      <p:sp>
        <p:nvSpPr>
          <p:cNvPr id="8" name="Shape 5"/>
          <p:cNvSpPr/>
          <p:nvPr/>
        </p:nvSpPr>
        <p:spPr>
          <a:xfrm>
            <a:off x="640080" y="2148840"/>
            <a:ext cx="2286000" cy="256032"/>
          </a:xfrm>
          <a:prstGeom prst="rect">
            <a:avLst>
              <a:gd name="adj" fmla="val 14286"/>
            </a:avLst>
          </a:prstGeom>
          <a:solidFill>
            <a:srgbClr val="EA580C"/>
          </a:solidFill>
          <a:ln/>
        </p:spPr>
      </p:sp>
      <p:sp>
        <p:nvSpPr>
          <p:cNvPr id="9" name="Text 6"/>
          <p:cNvSpPr/>
          <p:nvPr/>
        </p:nvSpPr>
        <p:spPr>
          <a:xfrm>
            <a:off x="685800" y="2148840"/>
            <a:ext cx="219456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ourier New" pitchFamily="34" charset="0"/>
                <a:ea typeface="Courier New" pitchFamily="34" charset="-122"/>
                <a:cs typeface="Courier New" pitchFamily="34" charset="-120"/>
              </a:rPr>
              <a:t>/api/slots/{slotId}/carton-maman</a:t>
            </a:r>
            <a:endParaRPr lang="en-US" sz="700" dirty="0"/>
          </a:p>
        </p:txBody>
      </p:sp>
      <p:sp>
        <p:nvSpPr>
          <p:cNvPr id="10" name="Shape 7"/>
          <p:cNvSpPr/>
          <p:nvPr/>
        </p:nvSpPr>
        <p:spPr>
          <a:xfrm>
            <a:off x="640080" y="2450592"/>
            <a:ext cx="457200" cy="182880"/>
          </a:xfrm>
          <a:prstGeom prst="rect">
            <a:avLst>
              <a:gd name="adj" fmla="val 15000"/>
            </a:avLst>
          </a:prstGeom>
          <a:solidFill>
            <a:srgbClr val="EA580C"/>
          </a:solidFill>
          <a:ln/>
        </p:spPr>
      </p:sp>
      <p:sp>
        <p:nvSpPr>
          <p:cNvPr id="11" name="Text 8"/>
          <p:cNvSpPr/>
          <p:nvPr/>
        </p:nvSpPr>
        <p:spPr>
          <a:xfrm>
            <a:off x="640080" y="2450592"/>
            <a:ext cx="4572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POST</a:t>
            </a:r>
            <a:endParaRPr lang="en-US" sz="700" dirty="0"/>
          </a:p>
        </p:txBody>
      </p:sp>
      <p:sp>
        <p:nvSpPr>
          <p:cNvPr id="12" name="Text 9"/>
          <p:cNvSpPr/>
          <p:nvPr/>
        </p:nvSpPr>
        <p:spPr>
          <a:xfrm>
            <a:off x="640080" y="2743200"/>
            <a:ext cx="2286000" cy="594360"/>
          </a:xfrm>
          <a:prstGeom prst="rect">
            <a:avLst/>
          </a:prstGeom>
          <a:noFill/>
          <a:ln/>
        </p:spPr>
        <p:txBody>
          <a:bodyPr wrap="square" lIns="0" tIns="0" rIns="0" bIns="0" rtlCol="0" anchor="ctr"/>
          <a:lstStyle/>
          <a:p>
            <a:pPr indent="0" marL="0">
              <a:lnSpc>
                <a:spcPct val="130000"/>
              </a:lnSpc>
              <a:buNone/>
            </a:pPr>
            <a:r>
              <a:rPr lang="en-US" sz="850" dirty="0">
                <a:solidFill>
                  <a:srgbClr val="374151"/>
                </a:solidFill>
                <a:latin typeface="Poppins" pitchFamily="34" charset="0"/>
                <a:ea typeface="Poppins" pitchFamily="34" charset="-122"/>
                <a:cs typeface="Poppins" pitchFamily="34" charset="-120"/>
              </a:rPr>
              <a:t>When the picker starts a mission, KINN assigns a mother carton (grouping container) to the slot.</a:t>
            </a:r>
            <a:endParaRPr lang="en-US" sz="850" dirty="0"/>
          </a:p>
        </p:txBody>
      </p:sp>
      <p:sp>
        <p:nvSpPr>
          <p:cNvPr id="13" name="Text 10"/>
          <p:cNvSpPr/>
          <p:nvPr/>
        </p:nvSpPr>
        <p:spPr>
          <a:xfrm>
            <a:off x="640080" y="3383280"/>
            <a:ext cx="914400" cy="182880"/>
          </a:xfrm>
          <a:prstGeom prst="rect">
            <a:avLst/>
          </a:prstGeom>
          <a:noFill/>
          <a:ln/>
        </p:spPr>
        <p:txBody>
          <a:bodyPr wrap="square" lIns="0" tIns="0" rIns="0" bIns="0" rtlCol="0" anchor="ctr"/>
          <a:lstStyle/>
          <a:p>
            <a:pPr indent="0" marL="0">
              <a:buNone/>
            </a:pPr>
            <a:r>
              <a:rPr lang="en-US" sz="700" b="1" dirty="0">
                <a:solidFill>
                  <a:srgbClr val="6B7280"/>
                </a:solidFill>
                <a:latin typeface="Poppins" pitchFamily="34" charset="0"/>
                <a:ea typeface="Poppins" pitchFamily="34" charset="-122"/>
                <a:cs typeface="Poppins" pitchFamily="34" charset="-120"/>
              </a:rPr>
              <a:t>Payload</a:t>
            </a:r>
            <a:endParaRPr lang="en-US" sz="700" dirty="0"/>
          </a:p>
        </p:txBody>
      </p:sp>
      <p:sp>
        <p:nvSpPr>
          <p:cNvPr id="14" name="Shape 11"/>
          <p:cNvSpPr/>
          <p:nvPr/>
        </p:nvSpPr>
        <p:spPr>
          <a:xfrm>
            <a:off x="640080" y="3566160"/>
            <a:ext cx="2286000" cy="502920"/>
          </a:xfrm>
          <a:prstGeom prst="rect">
            <a:avLst>
              <a:gd name="adj" fmla="val 5455"/>
            </a:avLst>
          </a:prstGeom>
          <a:solidFill>
            <a:srgbClr val="F0F2F5"/>
          </a:solidFill>
          <a:ln/>
        </p:spPr>
      </p:sp>
      <p:sp>
        <p:nvSpPr>
          <p:cNvPr id="15" name="Text 12"/>
          <p:cNvSpPr/>
          <p:nvPr/>
        </p:nvSpPr>
        <p:spPr>
          <a:xfrm>
            <a:off x="685800" y="3584448"/>
            <a:ext cx="2194560" cy="457200"/>
          </a:xfrm>
          <a:prstGeom prst="rect">
            <a:avLst/>
          </a:prstGeom>
          <a:noFill/>
          <a:ln/>
        </p:spPr>
        <p:txBody>
          <a:bodyPr wrap="square" lIns="0" tIns="0" rIns="0" bIns="0" rtlCol="0" anchor="ctr"/>
          <a:lstStyle/>
          <a:p>
            <a:pPr indent="0" marL="0">
              <a:lnSpc>
                <a:spcPct val="120000"/>
              </a:lnSpc>
              <a:buNone/>
            </a:pPr>
            <a:r>
              <a:rPr lang="en-US" sz="650" dirty="0">
                <a:solidFill>
                  <a:srgbClr val="0F172A"/>
                </a:solidFill>
                <a:latin typeface="Courier New" pitchFamily="34" charset="0"/>
                <a:ea typeface="Courier New" pitchFamily="34" charset="-122"/>
                <a:cs typeface="Courier New" pitchFamily="34" charset="-120"/>
              </a:rPr>
              <a:t>{ "slotId": "...", "cartonId": "CM-XXX", "operatorId": "..." }</a:t>
            </a:r>
            <a:endParaRPr lang="en-US" sz="650" dirty="0"/>
          </a:p>
        </p:txBody>
      </p:sp>
      <p:sp>
        <p:nvSpPr>
          <p:cNvPr id="16" name="Shape 13"/>
          <p:cNvSpPr/>
          <p:nvPr/>
        </p:nvSpPr>
        <p:spPr>
          <a:xfrm>
            <a:off x="640080" y="4251960"/>
            <a:ext cx="2286000" cy="274320"/>
          </a:xfrm>
          <a:prstGeom prst="rect">
            <a:avLst>
              <a:gd name="adj" fmla="val 13333"/>
            </a:avLst>
          </a:prstGeom>
          <a:solidFill>
            <a:srgbClr val="EBF5FF"/>
          </a:solidFill>
          <a:ln/>
        </p:spPr>
      </p:sp>
      <p:sp>
        <p:nvSpPr>
          <p:cNvPr id="17" name="Text 14"/>
          <p:cNvSpPr/>
          <p:nvPr/>
        </p:nvSpPr>
        <p:spPr>
          <a:xfrm>
            <a:off x="685800" y="4251960"/>
            <a:ext cx="2194560" cy="274320"/>
          </a:xfrm>
          <a:prstGeom prst="rect">
            <a:avLst/>
          </a:prstGeom>
          <a:noFill/>
          <a:ln/>
        </p:spPr>
        <p:txBody>
          <a:bodyPr wrap="square" lIns="0" tIns="0" rIns="0" bIns="0" rtlCol="0" anchor="ctr"/>
          <a:lstStyle/>
          <a:p>
            <a:pPr algn="ctr" indent="0" marL="0">
              <a:buNone/>
            </a:pPr>
            <a:r>
              <a:rPr lang="en-US" sz="800" b="1" dirty="0">
                <a:solidFill>
                  <a:srgbClr val="1677FF"/>
                </a:solidFill>
                <a:latin typeface="Poppins" pitchFamily="34" charset="0"/>
                <a:ea typeface="Poppins" pitchFamily="34" charset="-122"/>
                <a:cs typeface="Poppins" pitchFamily="34" charset="-120"/>
              </a:rPr>
              <a:t>⚡ Start of grouped mission</a:t>
            </a:r>
            <a:endParaRPr lang="en-US" sz="800" dirty="0"/>
          </a:p>
        </p:txBody>
      </p:sp>
      <p:sp>
        <p:nvSpPr>
          <p:cNvPr id="18" name="Shape 15"/>
          <p:cNvSpPr/>
          <p:nvPr/>
        </p:nvSpPr>
        <p:spPr>
          <a:xfrm>
            <a:off x="3291840" y="1005840"/>
            <a:ext cx="2560320" cy="3657600"/>
          </a:xfrm>
          <a:prstGeom prst="rect">
            <a:avLst>
              <a:gd name="adj" fmla="val 2143"/>
            </a:avLst>
          </a:prstGeom>
          <a:solidFill>
            <a:srgbClr val="F7F9FC"/>
          </a:solidFill>
          <a:ln/>
          <a:effectLst>
            <a:outerShdw sx="100000" sy="100000" kx="0" ky="0" algn="bl" rotWithShape="0" blurRad="76200" dist="25400" dir="8100000">
              <a:srgbClr val="000000">
                <a:alpha val="6000"/>
              </a:srgbClr>
            </a:outerShdw>
          </a:effectLst>
        </p:spPr>
      </p:sp>
      <p:sp>
        <p:nvSpPr>
          <p:cNvPr id="19" name="Shape 16"/>
          <p:cNvSpPr/>
          <p:nvPr/>
        </p:nvSpPr>
        <p:spPr>
          <a:xfrm>
            <a:off x="4297680" y="1143000"/>
            <a:ext cx="548640" cy="548640"/>
          </a:xfrm>
          <a:prstGeom prst="ellipse">
            <a:avLst/>
          </a:prstGeom>
          <a:solidFill>
            <a:srgbClr val="EBF5FF"/>
          </a:solidFill>
          <a:ln/>
        </p:spPr>
      </p:sp>
      <p:pic>
        <p:nvPicPr>
          <p:cNvPr id="20" name="Image 1" descr="preencoded.png">    </p:cNvPr>
          <p:cNvPicPr>
            <a:picLocks noChangeAspect="1"/>
          </p:cNvPicPr>
          <p:nvPr/>
        </p:nvPicPr>
        <p:blipFill>
          <a:blip r:embed="rId2"/>
          <a:stretch>
            <a:fillRect/>
          </a:stretch>
        </p:blipFill>
        <p:spPr>
          <a:xfrm>
            <a:off x="4389120" y="1234440"/>
            <a:ext cx="365760" cy="365760"/>
          </a:xfrm>
          <a:prstGeom prst="rect">
            <a:avLst/>
          </a:prstGeom>
        </p:spPr>
      </p:pic>
      <p:sp>
        <p:nvSpPr>
          <p:cNvPr id="21" name="Text 17"/>
          <p:cNvSpPr/>
          <p:nvPr/>
        </p:nvSpPr>
        <p:spPr>
          <a:xfrm>
            <a:off x="3383280" y="1783080"/>
            <a:ext cx="237744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Poppins" pitchFamily="34" charset="0"/>
                <a:ea typeface="Poppins" pitchFamily="34" charset="-122"/>
                <a:cs typeface="Poppins" pitchFamily="34" charset="-120"/>
              </a:rPr>
              <a:t>Picking validation (line)</a:t>
            </a:r>
            <a:endParaRPr lang="en-US" sz="1200" dirty="0"/>
          </a:p>
        </p:txBody>
      </p:sp>
      <p:sp>
        <p:nvSpPr>
          <p:cNvPr id="22" name="Shape 18"/>
          <p:cNvSpPr/>
          <p:nvPr/>
        </p:nvSpPr>
        <p:spPr>
          <a:xfrm>
            <a:off x="3429000" y="2148840"/>
            <a:ext cx="2286000" cy="256032"/>
          </a:xfrm>
          <a:prstGeom prst="rect">
            <a:avLst>
              <a:gd name="adj" fmla="val 14286"/>
            </a:avLst>
          </a:prstGeom>
          <a:solidFill>
            <a:srgbClr val="EA580C"/>
          </a:solidFill>
          <a:ln/>
        </p:spPr>
      </p:sp>
      <p:sp>
        <p:nvSpPr>
          <p:cNvPr id="23" name="Text 19"/>
          <p:cNvSpPr/>
          <p:nvPr/>
        </p:nvSpPr>
        <p:spPr>
          <a:xfrm>
            <a:off x="3474720" y="2148840"/>
            <a:ext cx="219456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ourier New" pitchFamily="34" charset="0"/>
                <a:ea typeface="Courier New" pitchFamily="34" charset="-122"/>
                <a:cs typeface="Courier New" pitchFamily="34" charset="-120"/>
              </a:rPr>
              <a:t>/api/slots/{slotId}/lines/{lineId}/pick</a:t>
            </a:r>
            <a:endParaRPr lang="en-US" sz="700" dirty="0"/>
          </a:p>
        </p:txBody>
      </p:sp>
      <p:sp>
        <p:nvSpPr>
          <p:cNvPr id="24" name="Shape 20"/>
          <p:cNvSpPr/>
          <p:nvPr/>
        </p:nvSpPr>
        <p:spPr>
          <a:xfrm>
            <a:off x="3429000" y="2450592"/>
            <a:ext cx="457200" cy="182880"/>
          </a:xfrm>
          <a:prstGeom prst="rect">
            <a:avLst>
              <a:gd name="adj" fmla="val 15000"/>
            </a:avLst>
          </a:prstGeom>
          <a:solidFill>
            <a:srgbClr val="EA580C"/>
          </a:solidFill>
          <a:ln/>
        </p:spPr>
      </p:sp>
      <p:sp>
        <p:nvSpPr>
          <p:cNvPr id="25" name="Text 21"/>
          <p:cNvSpPr/>
          <p:nvPr/>
        </p:nvSpPr>
        <p:spPr>
          <a:xfrm>
            <a:off x="3429000" y="2450592"/>
            <a:ext cx="4572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POST</a:t>
            </a:r>
            <a:endParaRPr lang="en-US" sz="700" dirty="0"/>
          </a:p>
        </p:txBody>
      </p:sp>
      <p:sp>
        <p:nvSpPr>
          <p:cNvPr id="26" name="Text 22"/>
          <p:cNvSpPr/>
          <p:nvPr/>
        </p:nvSpPr>
        <p:spPr>
          <a:xfrm>
            <a:off x="3429000" y="2743200"/>
            <a:ext cx="2286000" cy="594360"/>
          </a:xfrm>
          <a:prstGeom prst="rect">
            <a:avLst/>
          </a:prstGeom>
          <a:noFill/>
          <a:ln/>
        </p:spPr>
        <p:txBody>
          <a:bodyPr wrap="square" lIns="0" tIns="0" rIns="0" bIns="0" rtlCol="0" anchor="ctr"/>
          <a:lstStyle/>
          <a:p>
            <a:pPr indent="0" marL="0">
              <a:lnSpc>
                <a:spcPct val="130000"/>
              </a:lnSpc>
              <a:buNone/>
            </a:pPr>
            <a:r>
              <a:rPr lang="en-US" sz="850" dirty="0">
                <a:solidFill>
                  <a:srgbClr val="374151"/>
                </a:solidFill>
                <a:latin typeface="Poppins" pitchFamily="34" charset="0"/>
                <a:ea typeface="Poppins" pitchFamily="34" charset="-122"/>
                <a:cs typeface="Poppins" pitchFamily="34" charset="-120"/>
              </a:rPr>
              <a:t>After scanning an article, KINN validates the picking line with MHS.</a:t>
            </a:r>
            <a:endParaRPr lang="en-US" sz="850" dirty="0"/>
          </a:p>
        </p:txBody>
      </p:sp>
      <p:sp>
        <p:nvSpPr>
          <p:cNvPr id="27" name="Text 23"/>
          <p:cNvSpPr/>
          <p:nvPr/>
        </p:nvSpPr>
        <p:spPr>
          <a:xfrm>
            <a:off x="3429000" y="3383280"/>
            <a:ext cx="914400" cy="182880"/>
          </a:xfrm>
          <a:prstGeom prst="rect">
            <a:avLst/>
          </a:prstGeom>
          <a:noFill/>
          <a:ln/>
        </p:spPr>
        <p:txBody>
          <a:bodyPr wrap="square" lIns="0" tIns="0" rIns="0" bIns="0" rtlCol="0" anchor="ctr"/>
          <a:lstStyle/>
          <a:p>
            <a:pPr indent="0" marL="0">
              <a:buNone/>
            </a:pPr>
            <a:r>
              <a:rPr lang="en-US" sz="700" b="1" dirty="0">
                <a:solidFill>
                  <a:srgbClr val="6B7280"/>
                </a:solidFill>
                <a:latin typeface="Poppins" pitchFamily="34" charset="0"/>
                <a:ea typeface="Poppins" pitchFamily="34" charset="-122"/>
                <a:cs typeface="Poppins" pitchFamily="34" charset="-120"/>
              </a:rPr>
              <a:t>Payload</a:t>
            </a:r>
            <a:endParaRPr lang="en-US" sz="700" dirty="0"/>
          </a:p>
        </p:txBody>
      </p:sp>
      <p:sp>
        <p:nvSpPr>
          <p:cNvPr id="28" name="Shape 24"/>
          <p:cNvSpPr/>
          <p:nvPr/>
        </p:nvSpPr>
        <p:spPr>
          <a:xfrm>
            <a:off x="3429000" y="3566160"/>
            <a:ext cx="2286000" cy="502920"/>
          </a:xfrm>
          <a:prstGeom prst="rect">
            <a:avLst>
              <a:gd name="adj" fmla="val 5455"/>
            </a:avLst>
          </a:prstGeom>
          <a:solidFill>
            <a:srgbClr val="F0F2F5"/>
          </a:solidFill>
          <a:ln/>
        </p:spPr>
      </p:sp>
      <p:sp>
        <p:nvSpPr>
          <p:cNvPr id="29" name="Text 25"/>
          <p:cNvSpPr/>
          <p:nvPr/>
        </p:nvSpPr>
        <p:spPr>
          <a:xfrm>
            <a:off x="3474720" y="3584448"/>
            <a:ext cx="2194560" cy="457200"/>
          </a:xfrm>
          <a:prstGeom prst="rect">
            <a:avLst/>
          </a:prstGeom>
          <a:noFill/>
          <a:ln/>
        </p:spPr>
        <p:txBody>
          <a:bodyPr wrap="square" lIns="0" tIns="0" rIns="0" bIns="0" rtlCol="0" anchor="ctr"/>
          <a:lstStyle/>
          <a:p>
            <a:pPr indent="0" marL="0">
              <a:lnSpc>
                <a:spcPct val="120000"/>
              </a:lnSpc>
              <a:buNone/>
            </a:pPr>
            <a:r>
              <a:rPr lang="en-US" sz="650" dirty="0">
                <a:solidFill>
                  <a:srgbClr val="0F172A"/>
                </a:solidFill>
                <a:latin typeface="Courier New" pitchFamily="34" charset="0"/>
                <a:ea typeface="Courier New" pitchFamily="34" charset="-122"/>
                <a:cs typeface="Courier New" pitchFamily="34" charset="-120"/>
              </a:rPr>
              <a:t>{ "lineId": "...", "qty": 5, "scannedRef": "...", "timestamp": "..." }</a:t>
            </a:r>
            <a:endParaRPr lang="en-US" sz="650" dirty="0"/>
          </a:p>
        </p:txBody>
      </p:sp>
      <p:sp>
        <p:nvSpPr>
          <p:cNvPr id="30" name="Shape 26"/>
          <p:cNvSpPr/>
          <p:nvPr/>
        </p:nvSpPr>
        <p:spPr>
          <a:xfrm>
            <a:off x="3429000" y="4251960"/>
            <a:ext cx="2286000" cy="274320"/>
          </a:xfrm>
          <a:prstGeom prst="rect">
            <a:avLst>
              <a:gd name="adj" fmla="val 13333"/>
            </a:avLst>
          </a:prstGeom>
          <a:solidFill>
            <a:srgbClr val="EBF5FF"/>
          </a:solidFill>
          <a:ln/>
        </p:spPr>
      </p:sp>
      <p:sp>
        <p:nvSpPr>
          <p:cNvPr id="31" name="Text 27"/>
          <p:cNvSpPr/>
          <p:nvPr/>
        </p:nvSpPr>
        <p:spPr>
          <a:xfrm>
            <a:off x="3474720" y="4251960"/>
            <a:ext cx="2194560" cy="274320"/>
          </a:xfrm>
          <a:prstGeom prst="rect">
            <a:avLst/>
          </a:prstGeom>
          <a:noFill/>
          <a:ln/>
        </p:spPr>
        <p:txBody>
          <a:bodyPr wrap="square" lIns="0" tIns="0" rIns="0" bIns="0" rtlCol="0" anchor="ctr"/>
          <a:lstStyle/>
          <a:p>
            <a:pPr algn="ctr" indent="0" marL="0">
              <a:buNone/>
            </a:pPr>
            <a:r>
              <a:rPr lang="en-US" sz="800" b="1" dirty="0">
                <a:solidFill>
                  <a:srgbClr val="1677FF"/>
                </a:solidFill>
                <a:latin typeface="Poppins" pitchFamily="34" charset="0"/>
                <a:ea typeface="Poppins" pitchFamily="34" charset="-122"/>
                <a:cs typeface="Poppins" pitchFamily="34" charset="-120"/>
              </a:rPr>
              <a:t>⚡ Article scanned by picker</a:t>
            </a:r>
            <a:endParaRPr lang="en-US" sz="800" dirty="0"/>
          </a:p>
        </p:txBody>
      </p:sp>
      <p:sp>
        <p:nvSpPr>
          <p:cNvPr id="32" name="Shape 28"/>
          <p:cNvSpPr/>
          <p:nvPr/>
        </p:nvSpPr>
        <p:spPr>
          <a:xfrm>
            <a:off x="6080760" y="1005840"/>
            <a:ext cx="2560320" cy="3657600"/>
          </a:xfrm>
          <a:prstGeom prst="rect">
            <a:avLst>
              <a:gd name="adj" fmla="val 2143"/>
            </a:avLst>
          </a:prstGeom>
          <a:solidFill>
            <a:srgbClr val="F7F9FC"/>
          </a:solidFill>
          <a:ln/>
          <a:effectLst>
            <a:outerShdw sx="100000" sy="100000" kx="0" ky="0" algn="bl" rotWithShape="0" blurRad="76200" dist="25400" dir="8100000">
              <a:srgbClr val="000000">
                <a:alpha val="6000"/>
              </a:srgbClr>
            </a:outerShdw>
          </a:effectLst>
        </p:spPr>
      </p:sp>
      <p:sp>
        <p:nvSpPr>
          <p:cNvPr id="33" name="Shape 29"/>
          <p:cNvSpPr/>
          <p:nvPr/>
        </p:nvSpPr>
        <p:spPr>
          <a:xfrm>
            <a:off x="7086600" y="1143000"/>
            <a:ext cx="548640" cy="548640"/>
          </a:xfrm>
          <a:prstGeom prst="ellipse">
            <a:avLst/>
          </a:prstGeom>
          <a:solidFill>
            <a:srgbClr val="EBF5FF"/>
          </a:solidFill>
          <a:ln/>
        </p:spPr>
      </p:sp>
      <p:pic>
        <p:nvPicPr>
          <p:cNvPr id="34" name="Image 2" descr="preencoded.png">    </p:cNvPr>
          <p:cNvPicPr>
            <a:picLocks noChangeAspect="1"/>
          </p:cNvPicPr>
          <p:nvPr/>
        </p:nvPicPr>
        <p:blipFill>
          <a:blip r:embed="rId3"/>
          <a:stretch>
            <a:fillRect/>
          </a:stretch>
        </p:blipFill>
        <p:spPr>
          <a:xfrm>
            <a:off x="7178040" y="1234440"/>
            <a:ext cx="365760" cy="365760"/>
          </a:xfrm>
          <a:prstGeom prst="rect">
            <a:avLst/>
          </a:prstGeom>
        </p:spPr>
      </p:pic>
      <p:sp>
        <p:nvSpPr>
          <p:cNvPr id="35" name="Text 30"/>
          <p:cNvSpPr/>
          <p:nvPr/>
        </p:nvSpPr>
        <p:spPr>
          <a:xfrm>
            <a:off x="6172200" y="1783080"/>
            <a:ext cx="2377440" cy="320040"/>
          </a:xfrm>
          <a:prstGeom prst="rect">
            <a:avLst/>
          </a:prstGeom>
          <a:noFill/>
          <a:ln/>
        </p:spPr>
        <p:txBody>
          <a:bodyPr wrap="square" lIns="0" tIns="0" rIns="0" bIns="0" rtlCol="0" anchor="ctr"/>
          <a:lstStyle/>
          <a:p>
            <a:pPr algn="ctr" indent="0" marL="0">
              <a:buNone/>
            </a:pPr>
            <a:r>
              <a:rPr lang="en-US" sz="1200" b="1" dirty="0">
                <a:solidFill>
                  <a:srgbClr val="0F172A"/>
                </a:solidFill>
                <a:latin typeface="Poppins" pitchFamily="34" charset="0"/>
                <a:ea typeface="Poppins" pitchFamily="34" charset="-122"/>
                <a:cs typeface="Poppins" pitchFamily="34" charset="-120"/>
              </a:rPr>
              <a:t>Preparation validation (full slot)</a:t>
            </a:r>
            <a:endParaRPr lang="en-US" sz="1200" dirty="0"/>
          </a:p>
        </p:txBody>
      </p:sp>
      <p:sp>
        <p:nvSpPr>
          <p:cNvPr id="36" name="Shape 31"/>
          <p:cNvSpPr/>
          <p:nvPr/>
        </p:nvSpPr>
        <p:spPr>
          <a:xfrm>
            <a:off x="6217920" y="2148840"/>
            <a:ext cx="2286000" cy="256032"/>
          </a:xfrm>
          <a:prstGeom prst="rect">
            <a:avLst>
              <a:gd name="adj" fmla="val 14286"/>
            </a:avLst>
          </a:prstGeom>
          <a:solidFill>
            <a:srgbClr val="EA580C"/>
          </a:solidFill>
          <a:ln/>
        </p:spPr>
      </p:sp>
      <p:sp>
        <p:nvSpPr>
          <p:cNvPr id="37" name="Text 32"/>
          <p:cNvSpPr/>
          <p:nvPr/>
        </p:nvSpPr>
        <p:spPr>
          <a:xfrm>
            <a:off x="6263640" y="2148840"/>
            <a:ext cx="219456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ourier New" pitchFamily="34" charset="0"/>
                <a:ea typeface="Courier New" pitchFamily="34" charset="-122"/>
                <a:cs typeface="Courier New" pitchFamily="34" charset="-120"/>
              </a:rPr>
              <a:t>/api/slots/{slotId}/complete</a:t>
            </a:r>
            <a:endParaRPr lang="en-US" sz="700" dirty="0"/>
          </a:p>
        </p:txBody>
      </p:sp>
      <p:sp>
        <p:nvSpPr>
          <p:cNvPr id="38" name="Shape 33"/>
          <p:cNvSpPr/>
          <p:nvPr/>
        </p:nvSpPr>
        <p:spPr>
          <a:xfrm>
            <a:off x="6217920" y="2450592"/>
            <a:ext cx="457200" cy="182880"/>
          </a:xfrm>
          <a:prstGeom prst="rect">
            <a:avLst>
              <a:gd name="adj" fmla="val 15000"/>
            </a:avLst>
          </a:prstGeom>
          <a:solidFill>
            <a:srgbClr val="EA580C"/>
          </a:solidFill>
          <a:ln/>
        </p:spPr>
      </p:sp>
      <p:sp>
        <p:nvSpPr>
          <p:cNvPr id="39" name="Text 34"/>
          <p:cNvSpPr/>
          <p:nvPr/>
        </p:nvSpPr>
        <p:spPr>
          <a:xfrm>
            <a:off x="6217920" y="2450592"/>
            <a:ext cx="4572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POST</a:t>
            </a:r>
            <a:endParaRPr lang="en-US" sz="700" dirty="0"/>
          </a:p>
        </p:txBody>
      </p:sp>
      <p:sp>
        <p:nvSpPr>
          <p:cNvPr id="40" name="Text 35"/>
          <p:cNvSpPr/>
          <p:nvPr/>
        </p:nvSpPr>
        <p:spPr>
          <a:xfrm>
            <a:off x="6217920" y="2743200"/>
            <a:ext cx="2286000" cy="594360"/>
          </a:xfrm>
          <a:prstGeom prst="rect">
            <a:avLst/>
          </a:prstGeom>
          <a:noFill/>
          <a:ln/>
        </p:spPr>
        <p:txBody>
          <a:bodyPr wrap="square" lIns="0" tIns="0" rIns="0" bIns="0" rtlCol="0" anchor="ctr"/>
          <a:lstStyle/>
          <a:p>
            <a:pPr indent="0" marL="0">
              <a:lnSpc>
                <a:spcPct val="130000"/>
              </a:lnSpc>
              <a:buNone/>
            </a:pPr>
            <a:r>
              <a:rPr lang="en-US" sz="850" dirty="0">
                <a:solidFill>
                  <a:srgbClr val="374151"/>
                </a:solidFill>
                <a:latin typeface="Poppins" pitchFamily="34" charset="0"/>
                <a:ea typeface="Poppins" pitchFamily="34" charset="-122"/>
                <a:cs typeface="Poppins" pitchFamily="34" charset="-120"/>
              </a:rPr>
              <a:t>When all lines in a slot are picked, KINN sends the completion validation to MHS for closure.</a:t>
            </a:r>
            <a:endParaRPr lang="en-US" sz="850" dirty="0"/>
          </a:p>
        </p:txBody>
      </p:sp>
      <p:sp>
        <p:nvSpPr>
          <p:cNvPr id="41" name="Text 36"/>
          <p:cNvSpPr/>
          <p:nvPr/>
        </p:nvSpPr>
        <p:spPr>
          <a:xfrm>
            <a:off x="6217920" y="3383280"/>
            <a:ext cx="914400" cy="182880"/>
          </a:xfrm>
          <a:prstGeom prst="rect">
            <a:avLst/>
          </a:prstGeom>
          <a:noFill/>
          <a:ln/>
        </p:spPr>
        <p:txBody>
          <a:bodyPr wrap="square" lIns="0" tIns="0" rIns="0" bIns="0" rtlCol="0" anchor="ctr"/>
          <a:lstStyle/>
          <a:p>
            <a:pPr indent="0" marL="0">
              <a:buNone/>
            </a:pPr>
            <a:r>
              <a:rPr lang="en-US" sz="700" b="1" dirty="0">
                <a:solidFill>
                  <a:srgbClr val="6B7280"/>
                </a:solidFill>
                <a:latin typeface="Poppins" pitchFamily="34" charset="0"/>
                <a:ea typeface="Poppins" pitchFamily="34" charset="-122"/>
                <a:cs typeface="Poppins" pitchFamily="34" charset="-120"/>
              </a:rPr>
              <a:t>Payload</a:t>
            </a:r>
            <a:endParaRPr lang="en-US" sz="700" dirty="0"/>
          </a:p>
        </p:txBody>
      </p:sp>
      <p:sp>
        <p:nvSpPr>
          <p:cNvPr id="42" name="Shape 37"/>
          <p:cNvSpPr/>
          <p:nvPr/>
        </p:nvSpPr>
        <p:spPr>
          <a:xfrm>
            <a:off x="6217920" y="3566160"/>
            <a:ext cx="2286000" cy="502920"/>
          </a:xfrm>
          <a:prstGeom prst="rect">
            <a:avLst>
              <a:gd name="adj" fmla="val 5455"/>
            </a:avLst>
          </a:prstGeom>
          <a:solidFill>
            <a:srgbClr val="F0F2F5"/>
          </a:solidFill>
          <a:ln/>
        </p:spPr>
      </p:sp>
      <p:sp>
        <p:nvSpPr>
          <p:cNvPr id="43" name="Text 38"/>
          <p:cNvSpPr/>
          <p:nvPr/>
        </p:nvSpPr>
        <p:spPr>
          <a:xfrm>
            <a:off x="6263640" y="3584448"/>
            <a:ext cx="2194560" cy="457200"/>
          </a:xfrm>
          <a:prstGeom prst="rect">
            <a:avLst/>
          </a:prstGeom>
          <a:noFill/>
          <a:ln/>
        </p:spPr>
        <p:txBody>
          <a:bodyPr wrap="square" lIns="0" tIns="0" rIns="0" bIns="0" rtlCol="0" anchor="ctr"/>
          <a:lstStyle/>
          <a:p>
            <a:pPr indent="0" marL="0">
              <a:lnSpc>
                <a:spcPct val="120000"/>
              </a:lnSpc>
              <a:buNone/>
            </a:pPr>
            <a:r>
              <a:rPr lang="en-US" sz="650" dirty="0">
                <a:solidFill>
                  <a:srgbClr val="0F172A"/>
                </a:solidFill>
                <a:latin typeface="Courier New" pitchFamily="34" charset="0"/>
                <a:ea typeface="Courier New" pitchFamily="34" charset="-122"/>
                <a:cs typeface="Courier New" pitchFamily="34" charset="-120"/>
              </a:rPr>
              <a:t>{ "slotId": "...", "cartonId": "...", "completedAt": "...", "operator": "..." }</a:t>
            </a:r>
            <a:endParaRPr lang="en-US" sz="650" dirty="0"/>
          </a:p>
        </p:txBody>
      </p:sp>
      <p:sp>
        <p:nvSpPr>
          <p:cNvPr id="44" name="Shape 39"/>
          <p:cNvSpPr/>
          <p:nvPr/>
        </p:nvSpPr>
        <p:spPr>
          <a:xfrm>
            <a:off x="6217920" y="4251960"/>
            <a:ext cx="2286000" cy="274320"/>
          </a:xfrm>
          <a:prstGeom prst="rect">
            <a:avLst>
              <a:gd name="adj" fmla="val 13333"/>
            </a:avLst>
          </a:prstGeom>
          <a:solidFill>
            <a:srgbClr val="EBF5FF"/>
          </a:solidFill>
          <a:ln/>
        </p:spPr>
      </p:sp>
      <p:sp>
        <p:nvSpPr>
          <p:cNvPr id="45" name="Text 40"/>
          <p:cNvSpPr/>
          <p:nvPr/>
        </p:nvSpPr>
        <p:spPr>
          <a:xfrm>
            <a:off x="6263640" y="4251960"/>
            <a:ext cx="2194560" cy="274320"/>
          </a:xfrm>
          <a:prstGeom prst="rect">
            <a:avLst/>
          </a:prstGeom>
          <a:noFill/>
          <a:ln/>
        </p:spPr>
        <p:txBody>
          <a:bodyPr wrap="square" lIns="0" tIns="0" rIns="0" bIns="0" rtlCol="0" anchor="ctr"/>
          <a:lstStyle/>
          <a:p>
            <a:pPr algn="ctr" indent="0" marL="0">
              <a:buNone/>
            </a:pPr>
            <a:r>
              <a:rPr lang="en-US" sz="800" b="1" dirty="0">
                <a:solidFill>
                  <a:srgbClr val="1677FF"/>
                </a:solidFill>
                <a:latin typeface="Poppins" pitchFamily="34" charset="0"/>
                <a:ea typeface="Poppins" pitchFamily="34" charset="-122"/>
                <a:cs typeface="Poppins" pitchFamily="34" charset="-120"/>
              </a:rPr>
              <a:t>⚡ All slot lines picked</a:t>
            </a:r>
            <a:endParaRPr lang="en-US" sz="800" dirty="0"/>
          </a:p>
        </p:txBody>
      </p:sp>
      <p:sp>
        <p:nvSpPr>
          <p:cNvPr id="46" name="Text 41"/>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Poppins" pitchFamily="34" charset="0"/>
                <a:ea typeface="Poppins" pitchFamily="34" charset="-122"/>
                <a:cs typeface="Poppins" pitchFamily="34" charset="-120"/>
              </a:rPr>
              <a:t>Detailed operational flow</a:t>
            </a:r>
            <a:endParaRPr lang="en-US" sz="26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End-to-end journey of an optimized preparation mission</a:t>
            </a:r>
            <a:endParaRPr lang="en-US" sz="1100" dirty="0"/>
          </a:p>
        </p:txBody>
      </p:sp>
      <p:sp>
        <p:nvSpPr>
          <p:cNvPr id="4" name="Shape 2"/>
          <p:cNvSpPr/>
          <p:nvPr/>
        </p:nvSpPr>
        <p:spPr>
          <a:xfrm>
            <a:off x="1165860" y="1097280"/>
            <a:ext cx="411480" cy="411480"/>
          </a:xfrm>
          <a:prstGeom prst="ellipse">
            <a:avLst/>
          </a:prstGeom>
          <a:solidFill>
            <a:srgbClr val="1E3A5F"/>
          </a:solidFill>
          <a:ln/>
        </p:spPr>
      </p:sp>
      <p:sp>
        <p:nvSpPr>
          <p:cNvPr id="5" name="Text 3"/>
          <p:cNvSpPr/>
          <p:nvPr/>
        </p:nvSpPr>
        <p:spPr>
          <a:xfrm>
            <a:off x="1165860" y="10972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1</a:t>
            </a:r>
            <a:endParaRPr lang="en-US" sz="1600" dirty="0"/>
          </a:p>
        </p:txBody>
      </p:sp>
      <p:sp>
        <p:nvSpPr>
          <p:cNvPr id="6" name="Shape 4"/>
          <p:cNvSpPr/>
          <p:nvPr/>
        </p:nvSpPr>
        <p:spPr>
          <a:xfrm>
            <a:off x="662940" y="1645920"/>
            <a:ext cx="1417320" cy="1645920"/>
          </a:xfrm>
          <a:prstGeom prst="rect">
            <a:avLst>
              <a:gd name="adj" fmla="val 3871"/>
            </a:avLst>
          </a:prstGeom>
          <a:solidFill>
            <a:srgbClr val="F7F9FC"/>
          </a:solidFill>
          <a:ln/>
          <a:effectLst>
            <a:outerShdw sx="100000" sy="100000" kx="0" ky="0" algn="bl" rotWithShape="0" blurRad="76200" dist="25400" dir="8100000">
              <a:srgbClr val="000000">
                <a:alpha val="6000"/>
              </a:srgbClr>
            </a:outerShdw>
          </a:effectLst>
        </p:spPr>
      </p:sp>
      <p:pic>
        <p:nvPicPr>
          <p:cNvPr id="7" name="Image 0" descr="preencoded.png">    </p:cNvPr>
          <p:cNvPicPr>
            <a:picLocks noChangeAspect="1"/>
          </p:cNvPicPr>
          <p:nvPr/>
        </p:nvPicPr>
        <p:blipFill>
          <a:blip r:embed="rId1"/>
          <a:stretch>
            <a:fillRect/>
          </a:stretch>
        </p:blipFill>
        <p:spPr>
          <a:xfrm>
            <a:off x="1165860" y="1755648"/>
            <a:ext cx="365760" cy="365760"/>
          </a:xfrm>
          <a:prstGeom prst="rect">
            <a:avLst/>
          </a:prstGeom>
        </p:spPr>
      </p:pic>
      <p:sp>
        <p:nvSpPr>
          <p:cNvPr id="8" name="Text 5"/>
          <p:cNvSpPr/>
          <p:nvPr/>
        </p:nvSpPr>
        <p:spPr>
          <a:xfrm>
            <a:off x="662940" y="2148840"/>
            <a:ext cx="1417320" cy="274320"/>
          </a:xfrm>
          <a:prstGeom prst="rect">
            <a:avLst/>
          </a:prstGeom>
          <a:noFill/>
          <a:ln/>
        </p:spPr>
        <p:txBody>
          <a:bodyPr wrap="square" lIns="0" tIns="0" rIns="0" bIns="0" rtlCol="0" anchor="ctr"/>
          <a:lstStyle/>
          <a:p>
            <a:pPr algn="ctr" indent="0" marL="0">
              <a:buNone/>
            </a:pPr>
            <a:r>
              <a:rPr lang="en-US" sz="1100" b="1" dirty="0">
                <a:solidFill>
                  <a:srgbClr val="1E3A5F"/>
                </a:solidFill>
                <a:latin typeface="Poppins" pitchFamily="34" charset="0"/>
                <a:ea typeface="Poppins" pitchFamily="34" charset="-122"/>
                <a:cs typeface="Poppins" pitchFamily="34" charset="-120"/>
              </a:rPr>
              <a:t>Retrieval</a:t>
            </a:r>
            <a:endParaRPr lang="en-US" sz="1100" dirty="0"/>
          </a:p>
        </p:txBody>
      </p:sp>
      <p:sp>
        <p:nvSpPr>
          <p:cNvPr id="9" name="Text 6"/>
          <p:cNvSpPr/>
          <p:nvPr/>
        </p:nvSpPr>
        <p:spPr>
          <a:xfrm>
            <a:off x="708660" y="2423160"/>
            <a:ext cx="1325880" cy="777240"/>
          </a:xfrm>
          <a:prstGeom prst="rect">
            <a:avLst/>
          </a:prstGeom>
          <a:noFill/>
          <a:ln/>
        </p:spPr>
        <p:txBody>
          <a:bodyPr wrap="square" lIns="0" tIns="0" rIns="0" bIns="0" rtlCol="0" anchor="ctr"/>
          <a:lstStyle/>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KINN queries MHS</a:t>
            </a:r>
            <a:endParaRPr lang="en-US" sz="800" dirty="0"/>
          </a:p>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to fetch pending</a:t>
            </a:r>
            <a:endParaRPr lang="en-US" sz="800" dirty="0"/>
          </a:p>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slots</a:t>
            </a:r>
            <a:endParaRPr lang="en-US" sz="800" dirty="0"/>
          </a:p>
        </p:txBody>
      </p:sp>
      <p:sp>
        <p:nvSpPr>
          <p:cNvPr id="10" name="Text 7"/>
          <p:cNvSpPr/>
          <p:nvPr/>
        </p:nvSpPr>
        <p:spPr>
          <a:xfrm>
            <a:off x="2080260" y="2240280"/>
            <a:ext cx="182880" cy="274320"/>
          </a:xfrm>
          <a:prstGeom prst="rect">
            <a:avLst/>
          </a:prstGeom>
          <a:noFill/>
          <a:ln/>
        </p:spPr>
        <p:txBody>
          <a:bodyPr wrap="square" lIns="0" tIns="0" rIns="0" bIns="0" rtlCol="0" anchor="ctr"/>
          <a:lstStyle/>
          <a:p>
            <a:pPr algn="ctr" indent="0" marL="0">
              <a:buNone/>
            </a:pPr>
            <a:r>
              <a:rPr lang="en-US" sz="1200" dirty="0">
                <a:solidFill>
                  <a:srgbClr val="9CA3AF"/>
                </a:solidFill>
                <a:latin typeface="Poppins" pitchFamily="34" charset="0"/>
                <a:ea typeface="Poppins" pitchFamily="34" charset="-122"/>
                <a:cs typeface="Poppins" pitchFamily="34" charset="-120"/>
              </a:rPr>
              <a:t>►</a:t>
            </a:r>
            <a:endParaRPr lang="en-US" sz="1200" dirty="0"/>
          </a:p>
        </p:txBody>
      </p:sp>
      <p:sp>
        <p:nvSpPr>
          <p:cNvPr id="11" name="Shape 8"/>
          <p:cNvSpPr/>
          <p:nvPr/>
        </p:nvSpPr>
        <p:spPr>
          <a:xfrm>
            <a:off x="2766060" y="1097280"/>
            <a:ext cx="411480" cy="411480"/>
          </a:xfrm>
          <a:prstGeom prst="ellipse">
            <a:avLst/>
          </a:prstGeom>
          <a:solidFill>
            <a:srgbClr val="1677FF"/>
          </a:solidFill>
          <a:ln/>
        </p:spPr>
      </p:sp>
      <p:sp>
        <p:nvSpPr>
          <p:cNvPr id="12" name="Text 9"/>
          <p:cNvSpPr/>
          <p:nvPr/>
        </p:nvSpPr>
        <p:spPr>
          <a:xfrm>
            <a:off x="2766060" y="10972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2</a:t>
            </a:r>
            <a:endParaRPr lang="en-US" sz="1600" dirty="0"/>
          </a:p>
        </p:txBody>
      </p:sp>
      <p:sp>
        <p:nvSpPr>
          <p:cNvPr id="13" name="Shape 10"/>
          <p:cNvSpPr/>
          <p:nvPr/>
        </p:nvSpPr>
        <p:spPr>
          <a:xfrm>
            <a:off x="2263140" y="1645920"/>
            <a:ext cx="1417320" cy="1645920"/>
          </a:xfrm>
          <a:prstGeom prst="rect">
            <a:avLst>
              <a:gd name="adj" fmla="val 3871"/>
            </a:avLst>
          </a:prstGeom>
          <a:solidFill>
            <a:srgbClr val="F7F9FC"/>
          </a:solidFill>
          <a:ln/>
          <a:effectLst>
            <a:outerShdw sx="100000" sy="100000" kx="0" ky="0" algn="bl" rotWithShape="0" blurRad="76200" dist="25400" dir="8100000">
              <a:srgbClr val="000000">
                <a:alpha val="6000"/>
              </a:srgbClr>
            </a:outerShdw>
          </a:effectLst>
        </p:spPr>
      </p:sp>
      <p:pic>
        <p:nvPicPr>
          <p:cNvPr id="14" name="Image 1" descr="preencoded.png">    </p:cNvPr>
          <p:cNvPicPr>
            <a:picLocks noChangeAspect="1"/>
          </p:cNvPicPr>
          <p:nvPr/>
        </p:nvPicPr>
        <p:blipFill>
          <a:blip r:embed="rId2"/>
          <a:stretch>
            <a:fillRect/>
          </a:stretch>
        </p:blipFill>
        <p:spPr>
          <a:xfrm>
            <a:off x="2766060" y="1755648"/>
            <a:ext cx="365760" cy="365760"/>
          </a:xfrm>
          <a:prstGeom prst="rect">
            <a:avLst/>
          </a:prstGeom>
        </p:spPr>
      </p:pic>
      <p:sp>
        <p:nvSpPr>
          <p:cNvPr id="15" name="Text 11"/>
          <p:cNvSpPr/>
          <p:nvPr/>
        </p:nvSpPr>
        <p:spPr>
          <a:xfrm>
            <a:off x="2263140" y="2148840"/>
            <a:ext cx="1417320" cy="274320"/>
          </a:xfrm>
          <a:prstGeom prst="rect">
            <a:avLst/>
          </a:prstGeom>
          <a:noFill/>
          <a:ln/>
        </p:spPr>
        <p:txBody>
          <a:bodyPr wrap="square" lIns="0" tIns="0" rIns="0" bIns="0" rtlCol="0" anchor="ctr"/>
          <a:lstStyle/>
          <a:p>
            <a:pPr algn="ctr" indent="0" marL="0">
              <a:buNone/>
            </a:pPr>
            <a:r>
              <a:rPr lang="en-US" sz="1100" b="1" dirty="0">
                <a:solidFill>
                  <a:srgbClr val="1677FF"/>
                </a:solidFill>
                <a:latin typeface="Poppins" pitchFamily="34" charset="0"/>
                <a:ea typeface="Poppins" pitchFamily="34" charset="-122"/>
                <a:cs typeface="Poppins" pitchFamily="34" charset="-120"/>
              </a:rPr>
              <a:t>Analysis</a:t>
            </a:r>
            <a:endParaRPr lang="en-US" sz="1100" dirty="0"/>
          </a:p>
        </p:txBody>
      </p:sp>
      <p:sp>
        <p:nvSpPr>
          <p:cNvPr id="16" name="Text 12"/>
          <p:cNvSpPr/>
          <p:nvPr/>
        </p:nvSpPr>
        <p:spPr>
          <a:xfrm>
            <a:off x="2308860" y="2423160"/>
            <a:ext cx="1325880" cy="777240"/>
          </a:xfrm>
          <a:prstGeom prst="rect">
            <a:avLst/>
          </a:prstGeom>
          <a:noFill/>
          <a:ln/>
        </p:spPr>
        <p:txBody>
          <a:bodyPr wrap="square" lIns="0" tIns="0" rIns="0" bIns="0" rtlCol="0" anchor="ctr"/>
          <a:lstStyle/>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Grouping slots</a:t>
            </a:r>
            <a:endParaRPr lang="en-US" sz="800" dirty="0"/>
          </a:p>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by geographic</a:t>
            </a:r>
            <a:endParaRPr lang="en-US" sz="800" dirty="0"/>
          </a:p>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zone</a:t>
            </a:r>
            <a:endParaRPr lang="en-US" sz="800" dirty="0"/>
          </a:p>
        </p:txBody>
      </p:sp>
      <p:sp>
        <p:nvSpPr>
          <p:cNvPr id="17" name="Text 13"/>
          <p:cNvSpPr/>
          <p:nvPr/>
        </p:nvSpPr>
        <p:spPr>
          <a:xfrm>
            <a:off x="3680460" y="2240280"/>
            <a:ext cx="182880" cy="274320"/>
          </a:xfrm>
          <a:prstGeom prst="rect">
            <a:avLst/>
          </a:prstGeom>
          <a:noFill/>
          <a:ln/>
        </p:spPr>
        <p:txBody>
          <a:bodyPr wrap="square" lIns="0" tIns="0" rIns="0" bIns="0" rtlCol="0" anchor="ctr"/>
          <a:lstStyle/>
          <a:p>
            <a:pPr algn="ctr" indent="0" marL="0">
              <a:buNone/>
            </a:pPr>
            <a:r>
              <a:rPr lang="en-US" sz="1200" dirty="0">
                <a:solidFill>
                  <a:srgbClr val="9CA3AF"/>
                </a:solidFill>
                <a:latin typeface="Poppins" pitchFamily="34" charset="0"/>
                <a:ea typeface="Poppins" pitchFamily="34" charset="-122"/>
                <a:cs typeface="Poppins" pitchFamily="34" charset="-120"/>
              </a:rPr>
              <a:t>►</a:t>
            </a:r>
            <a:endParaRPr lang="en-US" sz="1200" dirty="0"/>
          </a:p>
        </p:txBody>
      </p:sp>
      <p:sp>
        <p:nvSpPr>
          <p:cNvPr id="18" name="Shape 14"/>
          <p:cNvSpPr/>
          <p:nvPr/>
        </p:nvSpPr>
        <p:spPr>
          <a:xfrm>
            <a:off x="4366260" y="1097280"/>
            <a:ext cx="411480" cy="411480"/>
          </a:xfrm>
          <a:prstGeom prst="ellipse">
            <a:avLst/>
          </a:prstGeom>
          <a:solidFill>
            <a:srgbClr val="7C3AED"/>
          </a:solidFill>
          <a:ln/>
        </p:spPr>
      </p:sp>
      <p:sp>
        <p:nvSpPr>
          <p:cNvPr id="19" name="Text 15"/>
          <p:cNvSpPr/>
          <p:nvPr/>
        </p:nvSpPr>
        <p:spPr>
          <a:xfrm>
            <a:off x="4366260" y="10972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3</a:t>
            </a:r>
            <a:endParaRPr lang="en-US" sz="1600" dirty="0"/>
          </a:p>
        </p:txBody>
      </p:sp>
      <p:sp>
        <p:nvSpPr>
          <p:cNvPr id="20" name="Shape 16"/>
          <p:cNvSpPr/>
          <p:nvPr/>
        </p:nvSpPr>
        <p:spPr>
          <a:xfrm>
            <a:off x="3863340" y="1645920"/>
            <a:ext cx="1417320" cy="1645920"/>
          </a:xfrm>
          <a:prstGeom prst="rect">
            <a:avLst>
              <a:gd name="adj" fmla="val 3871"/>
            </a:avLst>
          </a:prstGeom>
          <a:solidFill>
            <a:srgbClr val="F7F9FC"/>
          </a:solidFill>
          <a:ln/>
          <a:effectLst>
            <a:outerShdw sx="100000" sy="100000" kx="0" ky="0" algn="bl" rotWithShape="0" blurRad="76200" dist="25400" dir="8100000">
              <a:srgbClr val="000000">
                <a:alpha val="6000"/>
              </a:srgbClr>
            </a:outerShdw>
          </a:effectLst>
        </p:spPr>
      </p:sp>
      <p:pic>
        <p:nvPicPr>
          <p:cNvPr id="21" name="Image 2" descr="preencoded.png">    </p:cNvPr>
          <p:cNvPicPr>
            <a:picLocks noChangeAspect="1"/>
          </p:cNvPicPr>
          <p:nvPr/>
        </p:nvPicPr>
        <p:blipFill>
          <a:blip r:embed="rId3"/>
          <a:stretch>
            <a:fillRect/>
          </a:stretch>
        </p:blipFill>
        <p:spPr>
          <a:xfrm>
            <a:off x="4366260" y="1755648"/>
            <a:ext cx="365760" cy="365760"/>
          </a:xfrm>
          <a:prstGeom prst="rect">
            <a:avLst/>
          </a:prstGeom>
        </p:spPr>
      </p:pic>
      <p:sp>
        <p:nvSpPr>
          <p:cNvPr id="22" name="Text 17"/>
          <p:cNvSpPr/>
          <p:nvPr/>
        </p:nvSpPr>
        <p:spPr>
          <a:xfrm>
            <a:off x="3863340" y="2148840"/>
            <a:ext cx="1417320" cy="274320"/>
          </a:xfrm>
          <a:prstGeom prst="rect">
            <a:avLst/>
          </a:prstGeom>
          <a:noFill/>
          <a:ln/>
        </p:spPr>
        <p:txBody>
          <a:bodyPr wrap="square" lIns="0" tIns="0" rIns="0" bIns="0" rtlCol="0" anchor="ctr"/>
          <a:lstStyle/>
          <a:p>
            <a:pPr algn="ctr" indent="0" marL="0">
              <a:buNone/>
            </a:pPr>
            <a:r>
              <a:rPr lang="en-US" sz="1100" b="1" dirty="0">
                <a:solidFill>
                  <a:srgbClr val="7C3AED"/>
                </a:solidFill>
                <a:latin typeface="Poppins" pitchFamily="34" charset="0"/>
                <a:ea typeface="Poppins" pitchFamily="34" charset="-122"/>
                <a:cs typeface="Poppins" pitchFamily="34" charset="-120"/>
              </a:rPr>
              <a:t>Assignment</a:t>
            </a:r>
            <a:endParaRPr lang="en-US" sz="1100" dirty="0"/>
          </a:p>
        </p:txBody>
      </p:sp>
      <p:sp>
        <p:nvSpPr>
          <p:cNvPr id="23" name="Text 18"/>
          <p:cNvSpPr/>
          <p:nvPr/>
        </p:nvSpPr>
        <p:spPr>
          <a:xfrm>
            <a:off x="3909060" y="2423160"/>
            <a:ext cx="1325880" cy="777240"/>
          </a:xfrm>
          <a:prstGeom prst="rect">
            <a:avLst/>
          </a:prstGeom>
          <a:noFill/>
          <a:ln/>
        </p:spPr>
        <p:txBody>
          <a:bodyPr wrap="square" lIns="0" tIns="0" rIns="0" bIns="0" rtlCol="0" anchor="ctr"/>
          <a:lstStyle/>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Mission sent to</a:t>
            </a:r>
            <a:endParaRPr lang="en-US" sz="800" dirty="0"/>
          </a:p>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forklift operator +</a:t>
            </a:r>
            <a:endParaRPr lang="en-US" sz="800" dirty="0"/>
          </a:p>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mother carton assigned</a:t>
            </a:r>
            <a:endParaRPr lang="en-US" sz="800" dirty="0"/>
          </a:p>
        </p:txBody>
      </p:sp>
      <p:sp>
        <p:nvSpPr>
          <p:cNvPr id="24" name="Text 19"/>
          <p:cNvSpPr/>
          <p:nvPr/>
        </p:nvSpPr>
        <p:spPr>
          <a:xfrm>
            <a:off x="5280660" y="2240280"/>
            <a:ext cx="182880" cy="274320"/>
          </a:xfrm>
          <a:prstGeom prst="rect">
            <a:avLst/>
          </a:prstGeom>
          <a:noFill/>
          <a:ln/>
        </p:spPr>
        <p:txBody>
          <a:bodyPr wrap="square" lIns="0" tIns="0" rIns="0" bIns="0" rtlCol="0" anchor="ctr"/>
          <a:lstStyle/>
          <a:p>
            <a:pPr algn="ctr" indent="0" marL="0">
              <a:buNone/>
            </a:pPr>
            <a:r>
              <a:rPr lang="en-US" sz="1200" dirty="0">
                <a:solidFill>
                  <a:srgbClr val="9CA3AF"/>
                </a:solidFill>
                <a:latin typeface="Poppins" pitchFamily="34" charset="0"/>
                <a:ea typeface="Poppins" pitchFamily="34" charset="-122"/>
                <a:cs typeface="Poppins" pitchFamily="34" charset="-120"/>
              </a:rPr>
              <a:t>►</a:t>
            </a:r>
            <a:endParaRPr lang="en-US" sz="1200" dirty="0"/>
          </a:p>
        </p:txBody>
      </p:sp>
      <p:sp>
        <p:nvSpPr>
          <p:cNvPr id="25" name="Shape 20"/>
          <p:cNvSpPr/>
          <p:nvPr/>
        </p:nvSpPr>
        <p:spPr>
          <a:xfrm>
            <a:off x="5966460" y="1097280"/>
            <a:ext cx="411480" cy="411480"/>
          </a:xfrm>
          <a:prstGeom prst="ellipse">
            <a:avLst/>
          </a:prstGeom>
          <a:solidFill>
            <a:srgbClr val="F59E0B"/>
          </a:solidFill>
          <a:ln/>
        </p:spPr>
      </p:sp>
      <p:sp>
        <p:nvSpPr>
          <p:cNvPr id="26" name="Text 21"/>
          <p:cNvSpPr/>
          <p:nvPr/>
        </p:nvSpPr>
        <p:spPr>
          <a:xfrm>
            <a:off x="5966460" y="10972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4</a:t>
            </a:r>
            <a:endParaRPr lang="en-US" sz="1600" dirty="0"/>
          </a:p>
        </p:txBody>
      </p:sp>
      <p:sp>
        <p:nvSpPr>
          <p:cNvPr id="27" name="Shape 22"/>
          <p:cNvSpPr/>
          <p:nvPr/>
        </p:nvSpPr>
        <p:spPr>
          <a:xfrm>
            <a:off x="5463540" y="1645920"/>
            <a:ext cx="1417320" cy="1645920"/>
          </a:xfrm>
          <a:prstGeom prst="rect">
            <a:avLst>
              <a:gd name="adj" fmla="val 3871"/>
            </a:avLst>
          </a:prstGeom>
          <a:solidFill>
            <a:srgbClr val="F7F9FC"/>
          </a:solidFill>
          <a:ln/>
          <a:effectLst>
            <a:outerShdw sx="100000" sy="100000" kx="0" ky="0" algn="bl" rotWithShape="0" blurRad="76200" dist="25400" dir="8100000">
              <a:srgbClr val="000000">
                <a:alpha val="6000"/>
              </a:srgbClr>
            </a:outerShdw>
          </a:effectLst>
        </p:spPr>
      </p:sp>
      <p:pic>
        <p:nvPicPr>
          <p:cNvPr id="28" name="Image 3" descr="preencoded.png">    </p:cNvPr>
          <p:cNvPicPr>
            <a:picLocks noChangeAspect="1"/>
          </p:cNvPicPr>
          <p:nvPr/>
        </p:nvPicPr>
        <p:blipFill>
          <a:blip r:embed="rId4"/>
          <a:stretch>
            <a:fillRect/>
          </a:stretch>
        </p:blipFill>
        <p:spPr>
          <a:xfrm>
            <a:off x="5966460" y="1755648"/>
            <a:ext cx="365760" cy="365760"/>
          </a:xfrm>
          <a:prstGeom prst="rect">
            <a:avLst/>
          </a:prstGeom>
        </p:spPr>
      </p:pic>
      <p:sp>
        <p:nvSpPr>
          <p:cNvPr id="29" name="Text 23"/>
          <p:cNvSpPr/>
          <p:nvPr/>
        </p:nvSpPr>
        <p:spPr>
          <a:xfrm>
            <a:off x="5463540" y="2148840"/>
            <a:ext cx="1417320" cy="274320"/>
          </a:xfrm>
          <a:prstGeom prst="rect">
            <a:avLst/>
          </a:prstGeom>
          <a:noFill/>
          <a:ln/>
        </p:spPr>
        <p:txBody>
          <a:bodyPr wrap="square" lIns="0" tIns="0" rIns="0" bIns="0" rtlCol="0" anchor="ctr"/>
          <a:lstStyle/>
          <a:p>
            <a:pPr algn="ctr" indent="0" marL="0">
              <a:buNone/>
            </a:pPr>
            <a:r>
              <a:rPr lang="en-US" sz="1100" b="1" dirty="0">
                <a:solidFill>
                  <a:srgbClr val="F59E0B"/>
                </a:solidFill>
                <a:latin typeface="Poppins" pitchFamily="34" charset="0"/>
                <a:ea typeface="Poppins" pitchFamily="34" charset="-122"/>
                <a:cs typeface="Poppins" pitchFamily="34" charset="-120"/>
              </a:rPr>
              <a:t>Picking</a:t>
            </a:r>
            <a:endParaRPr lang="en-US" sz="1100" dirty="0"/>
          </a:p>
        </p:txBody>
      </p:sp>
      <p:sp>
        <p:nvSpPr>
          <p:cNvPr id="30" name="Text 24"/>
          <p:cNvSpPr/>
          <p:nvPr/>
        </p:nvSpPr>
        <p:spPr>
          <a:xfrm>
            <a:off x="5509260" y="2423160"/>
            <a:ext cx="1325880" cy="777240"/>
          </a:xfrm>
          <a:prstGeom prst="rect">
            <a:avLst/>
          </a:prstGeom>
          <a:noFill/>
          <a:ln/>
        </p:spPr>
        <p:txBody>
          <a:bodyPr wrap="square" lIns="0" tIns="0" rIns="0" bIns="0" rtlCol="0" anchor="ctr"/>
          <a:lstStyle/>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Picker scans each</a:t>
            </a:r>
            <a:endParaRPr lang="en-US" sz="800" dirty="0"/>
          </a:p>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article → real-time</a:t>
            </a:r>
            <a:endParaRPr lang="en-US" sz="800" dirty="0"/>
          </a:p>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validation</a:t>
            </a:r>
            <a:endParaRPr lang="en-US" sz="800" dirty="0"/>
          </a:p>
        </p:txBody>
      </p:sp>
      <p:sp>
        <p:nvSpPr>
          <p:cNvPr id="31" name="Text 25"/>
          <p:cNvSpPr/>
          <p:nvPr/>
        </p:nvSpPr>
        <p:spPr>
          <a:xfrm>
            <a:off x="6880860" y="2240280"/>
            <a:ext cx="182880" cy="274320"/>
          </a:xfrm>
          <a:prstGeom prst="rect">
            <a:avLst/>
          </a:prstGeom>
          <a:noFill/>
          <a:ln/>
        </p:spPr>
        <p:txBody>
          <a:bodyPr wrap="square" lIns="0" tIns="0" rIns="0" bIns="0" rtlCol="0" anchor="ctr"/>
          <a:lstStyle/>
          <a:p>
            <a:pPr algn="ctr" indent="0" marL="0">
              <a:buNone/>
            </a:pPr>
            <a:r>
              <a:rPr lang="en-US" sz="1200" dirty="0">
                <a:solidFill>
                  <a:srgbClr val="9CA3AF"/>
                </a:solidFill>
                <a:latin typeface="Poppins" pitchFamily="34" charset="0"/>
                <a:ea typeface="Poppins" pitchFamily="34" charset="-122"/>
                <a:cs typeface="Poppins" pitchFamily="34" charset="-120"/>
              </a:rPr>
              <a:t>►</a:t>
            </a:r>
            <a:endParaRPr lang="en-US" sz="1200" dirty="0"/>
          </a:p>
        </p:txBody>
      </p:sp>
      <p:sp>
        <p:nvSpPr>
          <p:cNvPr id="32" name="Shape 26"/>
          <p:cNvSpPr/>
          <p:nvPr/>
        </p:nvSpPr>
        <p:spPr>
          <a:xfrm>
            <a:off x="7566660" y="1097280"/>
            <a:ext cx="411480" cy="411480"/>
          </a:xfrm>
          <a:prstGeom prst="ellipse">
            <a:avLst/>
          </a:prstGeom>
          <a:solidFill>
            <a:srgbClr val="16A34A"/>
          </a:solidFill>
          <a:ln/>
        </p:spPr>
      </p:sp>
      <p:sp>
        <p:nvSpPr>
          <p:cNvPr id="33" name="Text 27"/>
          <p:cNvSpPr/>
          <p:nvPr/>
        </p:nvSpPr>
        <p:spPr>
          <a:xfrm>
            <a:off x="7566660" y="10972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5</a:t>
            </a:r>
            <a:endParaRPr lang="en-US" sz="1600" dirty="0"/>
          </a:p>
        </p:txBody>
      </p:sp>
      <p:sp>
        <p:nvSpPr>
          <p:cNvPr id="34" name="Shape 28"/>
          <p:cNvSpPr/>
          <p:nvPr/>
        </p:nvSpPr>
        <p:spPr>
          <a:xfrm>
            <a:off x="7063740" y="1645920"/>
            <a:ext cx="1417320" cy="1645920"/>
          </a:xfrm>
          <a:prstGeom prst="rect">
            <a:avLst>
              <a:gd name="adj" fmla="val 3871"/>
            </a:avLst>
          </a:prstGeom>
          <a:solidFill>
            <a:srgbClr val="F7F9FC"/>
          </a:solidFill>
          <a:ln/>
          <a:effectLst>
            <a:outerShdw sx="100000" sy="100000" kx="0" ky="0" algn="bl" rotWithShape="0" blurRad="76200" dist="25400" dir="8100000">
              <a:srgbClr val="000000">
                <a:alpha val="6000"/>
              </a:srgbClr>
            </a:outerShdw>
          </a:effectLst>
        </p:spPr>
      </p:sp>
      <p:pic>
        <p:nvPicPr>
          <p:cNvPr id="35" name="Image 4" descr="preencoded.png">    </p:cNvPr>
          <p:cNvPicPr>
            <a:picLocks noChangeAspect="1"/>
          </p:cNvPicPr>
          <p:nvPr/>
        </p:nvPicPr>
        <p:blipFill>
          <a:blip r:embed="rId5"/>
          <a:stretch>
            <a:fillRect/>
          </a:stretch>
        </p:blipFill>
        <p:spPr>
          <a:xfrm>
            <a:off x="7566660" y="1755648"/>
            <a:ext cx="365760" cy="365760"/>
          </a:xfrm>
          <a:prstGeom prst="rect">
            <a:avLst/>
          </a:prstGeom>
        </p:spPr>
      </p:pic>
      <p:sp>
        <p:nvSpPr>
          <p:cNvPr id="36" name="Text 29"/>
          <p:cNvSpPr/>
          <p:nvPr/>
        </p:nvSpPr>
        <p:spPr>
          <a:xfrm>
            <a:off x="7063740" y="2148840"/>
            <a:ext cx="1417320" cy="274320"/>
          </a:xfrm>
          <a:prstGeom prst="rect">
            <a:avLst/>
          </a:prstGeom>
          <a:noFill/>
          <a:ln/>
        </p:spPr>
        <p:txBody>
          <a:bodyPr wrap="square" lIns="0" tIns="0" rIns="0" bIns="0" rtlCol="0" anchor="ctr"/>
          <a:lstStyle/>
          <a:p>
            <a:pPr algn="ctr" indent="0" marL="0">
              <a:buNone/>
            </a:pPr>
            <a:r>
              <a:rPr lang="en-US" sz="1100" b="1" dirty="0">
                <a:solidFill>
                  <a:srgbClr val="16A34A"/>
                </a:solidFill>
                <a:latin typeface="Poppins" pitchFamily="34" charset="0"/>
                <a:ea typeface="Poppins" pitchFamily="34" charset="-122"/>
                <a:cs typeface="Poppins" pitchFamily="34" charset="-120"/>
              </a:rPr>
              <a:t>Closure</a:t>
            </a:r>
            <a:endParaRPr lang="en-US" sz="1100" dirty="0"/>
          </a:p>
        </p:txBody>
      </p:sp>
      <p:sp>
        <p:nvSpPr>
          <p:cNvPr id="37" name="Text 30"/>
          <p:cNvSpPr/>
          <p:nvPr/>
        </p:nvSpPr>
        <p:spPr>
          <a:xfrm>
            <a:off x="7109460" y="2423160"/>
            <a:ext cx="1325880" cy="777240"/>
          </a:xfrm>
          <a:prstGeom prst="rect">
            <a:avLst/>
          </a:prstGeom>
          <a:noFill/>
          <a:ln/>
        </p:spPr>
        <p:txBody>
          <a:bodyPr wrap="square" lIns="0" tIns="0" rIns="0" bIns="0" rtlCol="0" anchor="ctr"/>
          <a:lstStyle/>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Slot validated in</a:t>
            </a:r>
            <a:endParaRPr lang="en-US" sz="800" dirty="0"/>
          </a:p>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MHS, statistics</a:t>
            </a:r>
            <a:endParaRPr lang="en-US" sz="800" dirty="0"/>
          </a:p>
          <a:p>
            <a:pPr algn="ctr" indent="0" marL="0">
              <a:lnSpc>
                <a:spcPct val="130000"/>
              </a:lnSpc>
              <a:buNone/>
            </a:pPr>
            <a:r>
              <a:rPr lang="en-US" sz="800" dirty="0">
                <a:solidFill>
                  <a:srgbClr val="374151"/>
                </a:solidFill>
                <a:latin typeface="Poppins" pitchFamily="34" charset="0"/>
                <a:ea typeface="Poppins" pitchFamily="34" charset="-122"/>
                <a:cs typeface="Poppins" pitchFamily="34" charset="-120"/>
              </a:rPr>
              <a:t>updated</a:t>
            </a:r>
            <a:endParaRPr lang="en-US" sz="800" dirty="0"/>
          </a:p>
        </p:txBody>
      </p:sp>
      <p:sp>
        <p:nvSpPr>
          <p:cNvPr id="38" name="Shape 31"/>
          <p:cNvSpPr/>
          <p:nvPr/>
        </p:nvSpPr>
        <p:spPr>
          <a:xfrm>
            <a:off x="365760" y="3566160"/>
            <a:ext cx="8412480" cy="54864"/>
          </a:xfrm>
          <a:prstGeom prst="rect">
            <a:avLst/>
          </a:prstGeom>
          <a:solidFill>
            <a:srgbClr val="E5E7EB"/>
          </a:solidFill>
          <a:ln/>
        </p:spPr>
      </p:sp>
      <p:sp>
        <p:nvSpPr>
          <p:cNvPr id="39" name="Shape 32"/>
          <p:cNvSpPr/>
          <p:nvPr/>
        </p:nvSpPr>
        <p:spPr>
          <a:xfrm>
            <a:off x="571500" y="3749040"/>
            <a:ext cx="1828800" cy="594360"/>
          </a:xfrm>
          <a:prstGeom prst="rect">
            <a:avLst>
              <a:gd name="adj" fmla="val 6154"/>
            </a:avLst>
          </a:prstGeom>
          <a:solidFill>
            <a:srgbClr val="FFFFFF"/>
          </a:solidFill>
          <a:ln w="12700">
            <a:solidFill>
              <a:srgbClr val="1E3A5F"/>
            </a:solidFill>
            <a:prstDash val="solid"/>
          </a:ln>
        </p:spPr>
      </p:sp>
      <p:sp>
        <p:nvSpPr>
          <p:cNvPr id="40" name="Text 33"/>
          <p:cNvSpPr/>
          <p:nvPr/>
        </p:nvSpPr>
        <p:spPr>
          <a:xfrm>
            <a:off x="571500" y="3749040"/>
            <a:ext cx="1828800" cy="274320"/>
          </a:xfrm>
          <a:prstGeom prst="rect">
            <a:avLst/>
          </a:prstGeom>
          <a:noFill/>
          <a:ln/>
        </p:spPr>
        <p:txBody>
          <a:bodyPr wrap="square" lIns="0" tIns="0" rIns="0" bIns="0" rtlCol="0" anchor="ctr"/>
          <a:lstStyle/>
          <a:p>
            <a:pPr algn="ctr" indent="0" marL="0">
              <a:buNone/>
            </a:pPr>
            <a:r>
              <a:rPr lang="en-US" sz="1000" b="1" dirty="0">
                <a:solidFill>
                  <a:srgbClr val="1E3A5F"/>
                </a:solidFill>
                <a:latin typeface="Poppins" pitchFamily="34" charset="0"/>
                <a:ea typeface="Poppins" pitchFamily="34" charset="-122"/>
                <a:cs typeface="Poppins" pitchFamily="34" charset="-120"/>
              </a:rPr>
              <a:t>MHS</a:t>
            </a:r>
            <a:endParaRPr lang="en-US" sz="1000" dirty="0"/>
          </a:p>
        </p:txBody>
      </p:sp>
      <p:sp>
        <p:nvSpPr>
          <p:cNvPr id="41" name="Text 34"/>
          <p:cNvSpPr/>
          <p:nvPr/>
        </p:nvSpPr>
        <p:spPr>
          <a:xfrm>
            <a:off x="571500" y="4005072"/>
            <a:ext cx="1828800" cy="274320"/>
          </a:xfrm>
          <a:prstGeom prst="rect">
            <a:avLst/>
          </a:prstGeom>
          <a:noFill/>
          <a:ln/>
        </p:spPr>
        <p:txBody>
          <a:bodyPr wrap="square" lIns="0" tIns="0" rIns="0" bIns="0" rtlCol="0" anchor="ctr"/>
          <a:lstStyle/>
          <a:p>
            <a:pPr algn="ctr" indent="0" marL="0">
              <a:buNone/>
            </a:pPr>
            <a:r>
              <a:rPr lang="en-US" sz="800" dirty="0">
                <a:solidFill>
                  <a:srgbClr val="6B7280"/>
                </a:solidFill>
                <a:latin typeface="Poppins" pitchFamily="34" charset="0"/>
                <a:ea typeface="Poppins" pitchFamily="34" charset="-122"/>
                <a:cs typeface="Poppins" pitchFamily="34" charset="-120"/>
              </a:rPr>
              <a:t>Steps 1, 5</a:t>
            </a:r>
            <a:endParaRPr lang="en-US" sz="800" dirty="0"/>
          </a:p>
        </p:txBody>
      </p:sp>
      <p:sp>
        <p:nvSpPr>
          <p:cNvPr id="42" name="Shape 35"/>
          <p:cNvSpPr/>
          <p:nvPr/>
        </p:nvSpPr>
        <p:spPr>
          <a:xfrm>
            <a:off x="2628900" y="3749040"/>
            <a:ext cx="1828800" cy="594360"/>
          </a:xfrm>
          <a:prstGeom prst="rect">
            <a:avLst>
              <a:gd name="adj" fmla="val 6154"/>
            </a:avLst>
          </a:prstGeom>
          <a:solidFill>
            <a:srgbClr val="FFFFFF"/>
          </a:solidFill>
          <a:ln w="12700">
            <a:solidFill>
              <a:srgbClr val="1677FF"/>
            </a:solidFill>
            <a:prstDash val="solid"/>
          </a:ln>
        </p:spPr>
      </p:sp>
      <p:sp>
        <p:nvSpPr>
          <p:cNvPr id="43" name="Text 36"/>
          <p:cNvSpPr/>
          <p:nvPr/>
        </p:nvSpPr>
        <p:spPr>
          <a:xfrm>
            <a:off x="2628900" y="3749040"/>
            <a:ext cx="1828800" cy="274320"/>
          </a:xfrm>
          <a:prstGeom prst="rect">
            <a:avLst/>
          </a:prstGeom>
          <a:noFill/>
          <a:ln/>
        </p:spPr>
        <p:txBody>
          <a:bodyPr wrap="square" lIns="0" tIns="0" rIns="0" bIns="0" rtlCol="0" anchor="ctr"/>
          <a:lstStyle/>
          <a:p>
            <a:pPr algn="ctr" indent="0" marL="0">
              <a:buNone/>
            </a:pPr>
            <a:r>
              <a:rPr lang="en-US" sz="1000" b="1" dirty="0">
                <a:solidFill>
                  <a:srgbClr val="1677FF"/>
                </a:solidFill>
                <a:latin typeface="Poppins" pitchFamily="34" charset="0"/>
                <a:ea typeface="Poppins" pitchFamily="34" charset="-122"/>
                <a:cs typeface="Poppins" pitchFamily="34" charset="-120"/>
              </a:rPr>
              <a:t>KINN</a:t>
            </a:r>
            <a:endParaRPr lang="en-US" sz="1000" dirty="0"/>
          </a:p>
        </p:txBody>
      </p:sp>
      <p:sp>
        <p:nvSpPr>
          <p:cNvPr id="44" name="Text 37"/>
          <p:cNvSpPr/>
          <p:nvPr/>
        </p:nvSpPr>
        <p:spPr>
          <a:xfrm>
            <a:off x="2628900" y="4005072"/>
            <a:ext cx="1828800" cy="274320"/>
          </a:xfrm>
          <a:prstGeom prst="rect">
            <a:avLst/>
          </a:prstGeom>
          <a:noFill/>
          <a:ln/>
        </p:spPr>
        <p:txBody>
          <a:bodyPr wrap="square" lIns="0" tIns="0" rIns="0" bIns="0" rtlCol="0" anchor="ctr"/>
          <a:lstStyle/>
          <a:p>
            <a:pPr algn="ctr" indent="0" marL="0">
              <a:buNone/>
            </a:pPr>
            <a:r>
              <a:rPr lang="en-US" sz="800" dirty="0">
                <a:solidFill>
                  <a:srgbClr val="6B7280"/>
                </a:solidFill>
                <a:latin typeface="Poppins" pitchFamily="34" charset="0"/>
                <a:ea typeface="Poppins" pitchFamily="34" charset="-122"/>
                <a:cs typeface="Poppins" pitchFamily="34" charset="-120"/>
              </a:rPr>
              <a:t>Steps 1, 2, 3, 4, 5</a:t>
            </a:r>
            <a:endParaRPr lang="en-US" sz="800" dirty="0"/>
          </a:p>
        </p:txBody>
      </p:sp>
      <p:sp>
        <p:nvSpPr>
          <p:cNvPr id="45" name="Shape 38"/>
          <p:cNvSpPr/>
          <p:nvPr/>
        </p:nvSpPr>
        <p:spPr>
          <a:xfrm>
            <a:off x="4686300" y="3749040"/>
            <a:ext cx="1828800" cy="594360"/>
          </a:xfrm>
          <a:prstGeom prst="rect">
            <a:avLst>
              <a:gd name="adj" fmla="val 6154"/>
            </a:avLst>
          </a:prstGeom>
          <a:solidFill>
            <a:srgbClr val="FFFFFF"/>
          </a:solidFill>
          <a:ln w="12700">
            <a:solidFill>
              <a:srgbClr val="7C3AED"/>
            </a:solidFill>
            <a:prstDash val="solid"/>
          </a:ln>
        </p:spPr>
      </p:sp>
      <p:sp>
        <p:nvSpPr>
          <p:cNvPr id="46" name="Text 39"/>
          <p:cNvSpPr/>
          <p:nvPr/>
        </p:nvSpPr>
        <p:spPr>
          <a:xfrm>
            <a:off x="4686300" y="3749040"/>
            <a:ext cx="182880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Poppins" pitchFamily="34" charset="0"/>
                <a:ea typeface="Poppins" pitchFamily="34" charset="-122"/>
                <a:cs typeface="Poppins" pitchFamily="34" charset="-120"/>
              </a:rPr>
              <a:t>Forklift op.</a:t>
            </a:r>
            <a:endParaRPr lang="en-US" sz="1000" dirty="0"/>
          </a:p>
        </p:txBody>
      </p:sp>
      <p:sp>
        <p:nvSpPr>
          <p:cNvPr id="47" name="Text 40"/>
          <p:cNvSpPr/>
          <p:nvPr/>
        </p:nvSpPr>
        <p:spPr>
          <a:xfrm>
            <a:off x="4686300" y="4005072"/>
            <a:ext cx="1828800" cy="274320"/>
          </a:xfrm>
          <a:prstGeom prst="rect">
            <a:avLst/>
          </a:prstGeom>
          <a:noFill/>
          <a:ln/>
        </p:spPr>
        <p:txBody>
          <a:bodyPr wrap="square" lIns="0" tIns="0" rIns="0" bIns="0" rtlCol="0" anchor="ctr"/>
          <a:lstStyle/>
          <a:p>
            <a:pPr algn="ctr" indent="0" marL="0">
              <a:buNone/>
            </a:pPr>
            <a:r>
              <a:rPr lang="en-US" sz="800" dirty="0">
                <a:solidFill>
                  <a:srgbClr val="6B7280"/>
                </a:solidFill>
                <a:latin typeface="Poppins" pitchFamily="34" charset="0"/>
                <a:ea typeface="Poppins" pitchFamily="34" charset="-122"/>
                <a:cs typeface="Poppins" pitchFamily="34" charset="-120"/>
              </a:rPr>
              <a:t>Step 3</a:t>
            </a:r>
            <a:endParaRPr lang="en-US" sz="800" dirty="0"/>
          </a:p>
        </p:txBody>
      </p:sp>
      <p:sp>
        <p:nvSpPr>
          <p:cNvPr id="48" name="Shape 41"/>
          <p:cNvSpPr/>
          <p:nvPr/>
        </p:nvSpPr>
        <p:spPr>
          <a:xfrm>
            <a:off x="6743700" y="3749040"/>
            <a:ext cx="1828800" cy="594360"/>
          </a:xfrm>
          <a:prstGeom prst="rect">
            <a:avLst>
              <a:gd name="adj" fmla="val 6154"/>
            </a:avLst>
          </a:prstGeom>
          <a:solidFill>
            <a:srgbClr val="FFFFFF"/>
          </a:solidFill>
          <a:ln w="12700">
            <a:solidFill>
              <a:srgbClr val="F59E0B"/>
            </a:solidFill>
            <a:prstDash val="solid"/>
          </a:ln>
        </p:spPr>
      </p:sp>
      <p:sp>
        <p:nvSpPr>
          <p:cNvPr id="49" name="Text 42"/>
          <p:cNvSpPr/>
          <p:nvPr/>
        </p:nvSpPr>
        <p:spPr>
          <a:xfrm>
            <a:off x="6743700" y="3749040"/>
            <a:ext cx="1828800" cy="274320"/>
          </a:xfrm>
          <a:prstGeom prst="rect">
            <a:avLst/>
          </a:prstGeom>
          <a:noFill/>
          <a:ln/>
        </p:spPr>
        <p:txBody>
          <a:bodyPr wrap="square" lIns="0" tIns="0" rIns="0" bIns="0" rtlCol="0" anchor="ctr"/>
          <a:lstStyle/>
          <a:p>
            <a:pPr algn="ctr" indent="0" marL="0">
              <a:buNone/>
            </a:pPr>
            <a:r>
              <a:rPr lang="en-US" sz="1000" b="1" dirty="0">
                <a:solidFill>
                  <a:srgbClr val="F59E0B"/>
                </a:solidFill>
                <a:latin typeface="Poppins" pitchFamily="34" charset="0"/>
                <a:ea typeface="Poppins" pitchFamily="34" charset="-122"/>
                <a:cs typeface="Poppins" pitchFamily="34" charset="-120"/>
              </a:rPr>
              <a:t>Picker</a:t>
            </a:r>
            <a:endParaRPr lang="en-US" sz="1000" dirty="0"/>
          </a:p>
        </p:txBody>
      </p:sp>
      <p:sp>
        <p:nvSpPr>
          <p:cNvPr id="50" name="Text 43"/>
          <p:cNvSpPr/>
          <p:nvPr/>
        </p:nvSpPr>
        <p:spPr>
          <a:xfrm>
            <a:off x="6743700" y="4005072"/>
            <a:ext cx="1828800" cy="274320"/>
          </a:xfrm>
          <a:prstGeom prst="rect">
            <a:avLst/>
          </a:prstGeom>
          <a:noFill/>
          <a:ln/>
        </p:spPr>
        <p:txBody>
          <a:bodyPr wrap="square" lIns="0" tIns="0" rIns="0" bIns="0" rtlCol="0" anchor="ctr"/>
          <a:lstStyle/>
          <a:p>
            <a:pPr algn="ctr" indent="0" marL="0">
              <a:buNone/>
            </a:pPr>
            <a:r>
              <a:rPr lang="en-US" sz="800" dirty="0">
                <a:solidFill>
                  <a:srgbClr val="6B7280"/>
                </a:solidFill>
                <a:latin typeface="Poppins" pitchFamily="34" charset="0"/>
                <a:ea typeface="Poppins" pitchFamily="34" charset="-122"/>
                <a:cs typeface="Poppins" pitchFamily="34" charset="-120"/>
              </a:rPr>
              <a:t>Step 4</a:t>
            </a:r>
            <a:endParaRPr lang="en-US" sz="800" dirty="0"/>
          </a:p>
        </p:txBody>
      </p:sp>
      <p:sp>
        <p:nvSpPr>
          <p:cNvPr id="51" name="Text 44"/>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Field interfaces</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Connected applications for warehouse operators</a:t>
            </a:r>
            <a:endParaRPr lang="en-US" sz="1100" dirty="0"/>
          </a:p>
        </p:txBody>
      </p:sp>
      <p:sp>
        <p:nvSpPr>
          <p:cNvPr id="4" name="Shape 2"/>
          <p:cNvSpPr/>
          <p:nvPr/>
        </p:nvSpPr>
        <p:spPr>
          <a:xfrm>
            <a:off x="457200" y="1005840"/>
            <a:ext cx="2560320" cy="3657600"/>
          </a:xfrm>
          <a:prstGeom prst="rect">
            <a:avLst>
              <a:gd name="adj" fmla="val 2143"/>
            </a:avLst>
          </a:prstGeom>
          <a:solidFill>
            <a:srgbClr val="F7F9FC"/>
          </a:solidFill>
          <a:ln/>
          <a:effectLst>
            <a:outerShdw sx="100000" sy="100000" kx="0" ky="0" algn="bl" rotWithShape="0" blurRad="76200" dist="25400" dir="8100000">
              <a:srgbClr val="000000">
                <a:alpha val="6000"/>
              </a:srgbClr>
            </a:outerShdw>
          </a:effectLst>
        </p:spPr>
      </p:sp>
      <p:sp>
        <p:nvSpPr>
          <p:cNvPr id="5" name="Shape 3"/>
          <p:cNvSpPr/>
          <p:nvPr/>
        </p:nvSpPr>
        <p:spPr>
          <a:xfrm>
            <a:off x="457200" y="1005840"/>
            <a:ext cx="2560320" cy="54864"/>
          </a:xfrm>
          <a:prstGeom prst="rect">
            <a:avLst>
              <a:gd name="adj" fmla="val 100000"/>
            </a:avLst>
          </a:prstGeom>
          <a:solidFill>
            <a:srgbClr val="1677FF"/>
          </a:solidFill>
          <a:ln/>
        </p:spPr>
      </p:sp>
      <p:sp>
        <p:nvSpPr>
          <p:cNvPr id="6" name="Shape 4"/>
          <p:cNvSpPr/>
          <p:nvPr/>
        </p:nvSpPr>
        <p:spPr>
          <a:xfrm>
            <a:off x="1417320" y="1234440"/>
            <a:ext cx="640080" cy="640080"/>
          </a:xfrm>
          <a:prstGeom prst="ellipse">
            <a:avLst/>
          </a:prstGeom>
          <a:solidFill>
            <a:srgbClr val="EBF5FF"/>
          </a:solidFill>
          <a:ln/>
        </p:spPr>
      </p:sp>
      <p:pic>
        <p:nvPicPr>
          <p:cNvPr id="7" name="Image 0" descr="preencoded.png">    </p:cNvPr>
          <p:cNvPicPr>
            <a:picLocks noChangeAspect="1"/>
          </p:cNvPicPr>
          <p:nvPr/>
        </p:nvPicPr>
        <p:blipFill>
          <a:blip r:embed="rId1"/>
          <a:stretch>
            <a:fillRect/>
          </a:stretch>
        </p:blipFill>
        <p:spPr>
          <a:xfrm>
            <a:off x="1554480" y="1371600"/>
            <a:ext cx="365760" cy="365760"/>
          </a:xfrm>
          <a:prstGeom prst="rect">
            <a:avLst/>
          </a:prstGeom>
        </p:spPr>
      </p:pic>
      <p:sp>
        <p:nvSpPr>
          <p:cNvPr id="8" name="Text 5"/>
          <p:cNvSpPr/>
          <p:nvPr/>
        </p:nvSpPr>
        <p:spPr>
          <a:xfrm>
            <a:off x="457200" y="1965960"/>
            <a:ext cx="2560320" cy="274320"/>
          </a:xfrm>
          <a:prstGeom prst="rect">
            <a:avLst/>
          </a:prstGeom>
          <a:noFill/>
          <a:ln/>
        </p:spPr>
        <p:txBody>
          <a:bodyPr wrap="square" lIns="0" tIns="0" rIns="0" bIns="0" rtlCol="0" anchor="ctr"/>
          <a:lstStyle/>
          <a:p>
            <a:pPr algn="ctr" indent="0" marL="0">
              <a:buNone/>
            </a:pPr>
            <a:r>
              <a:rPr lang="en-US" sz="1300" b="1" dirty="0">
                <a:solidFill>
                  <a:srgbClr val="1677FF"/>
                </a:solidFill>
                <a:latin typeface="Poppins" pitchFamily="34" charset="0"/>
                <a:ea typeface="Poppins" pitchFamily="34" charset="-122"/>
                <a:cs typeface="Poppins" pitchFamily="34" charset="-120"/>
              </a:rPr>
              <a:t>Forklift tablet</a:t>
            </a:r>
            <a:endParaRPr lang="en-US" sz="1300" dirty="0"/>
          </a:p>
        </p:txBody>
      </p:sp>
      <p:sp>
        <p:nvSpPr>
          <p:cNvPr id="9" name="Text 6"/>
          <p:cNvSpPr/>
          <p:nvPr/>
        </p:nvSpPr>
        <p:spPr>
          <a:xfrm>
            <a:off x="457200" y="2212848"/>
            <a:ext cx="2560320" cy="201168"/>
          </a:xfrm>
          <a:prstGeom prst="rect">
            <a:avLst/>
          </a:prstGeom>
          <a:noFill/>
          <a:ln/>
        </p:spPr>
        <p:txBody>
          <a:bodyPr wrap="square" lIns="0" tIns="0" rIns="0" bIns="0" rtlCol="0" anchor="ctr"/>
          <a:lstStyle/>
          <a:p>
            <a:pPr algn="ctr" indent="0" marL="0">
              <a:buNone/>
            </a:pPr>
            <a:r>
              <a:rPr lang="en-US" sz="900" dirty="0">
                <a:solidFill>
                  <a:srgbClr val="6B7280"/>
                </a:solidFill>
                <a:latin typeface="Poppins" pitchFamily="34" charset="0"/>
                <a:ea typeface="Poppins" pitchFamily="34" charset="-122"/>
                <a:cs typeface="Poppins" pitchFamily="34" charset="-120"/>
              </a:rPr>
              <a:t>Mission interface</a:t>
            </a:r>
            <a:endParaRPr lang="en-US" sz="900" dirty="0"/>
          </a:p>
        </p:txBody>
      </p:sp>
      <p:sp>
        <p:nvSpPr>
          <p:cNvPr id="10" name="Shape 7"/>
          <p:cNvSpPr/>
          <p:nvPr/>
        </p:nvSpPr>
        <p:spPr>
          <a:xfrm>
            <a:off x="731520" y="2487168"/>
            <a:ext cx="2011680" cy="18288"/>
          </a:xfrm>
          <a:prstGeom prst="rect">
            <a:avLst/>
          </a:prstGeom>
          <a:solidFill>
            <a:srgbClr val="E5E7EB"/>
          </a:solidFill>
          <a:ln/>
        </p:spPr>
      </p:sp>
      <p:pic>
        <p:nvPicPr>
          <p:cNvPr id="11" name="Image 1" descr="preencoded.png">    </p:cNvPr>
          <p:cNvPicPr>
            <a:picLocks noChangeAspect="1"/>
          </p:cNvPicPr>
          <p:nvPr/>
        </p:nvPicPr>
        <p:blipFill>
          <a:blip r:embed="rId2"/>
          <a:stretch>
            <a:fillRect/>
          </a:stretch>
        </p:blipFill>
        <p:spPr>
          <a:xfrm>
            <a:off x="640080" y="2633472"/>
            <a:ext cx="164592" cy="164592"/>
          </a:xfrm>
          <a:prstGeom prst="rect">
            <a:avLst/>
          </a:prstGeom>
        </p:spPr>
      </p:pic>
      <p:sp>
        <p:nvSpPr>
          <p:cNvPr id="12" name="Text 8"/>
          <p:cNvSpPr/>
          <p:nvPr/>
        </p:nvSpPr>
        <p:spPr>
          <a:xfrm>
            <a:off x="868680" y="2615184"/>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List of assigned grouped missions</a:t>
            </a:r>
            <a:endParaRPr lang="en-US" sz="850" dirty="0"/>
          </a:p>
        </p:txBody>
      </p:sp>
      <p:pic>
        <p:nvPicPr>
          <p:cNvPr id="13" name="Image 2" descr="preencoded.png">    </p:cNvPr>
          <p:cNvPicPr>
            <a:picLocks noChangeAspect="1"/>
          </p:cNvPicPr>
          <p:nvPr/>
        </p:nvPicPr>
        <p:blipFill>
          <a:blip r:embed="rId3"/>
          <a:stretch>
            <a:fillRect/>
          </a:stretch>
        </p:blipFill>
        <p:spPr>
          <a:xfrm>
            <a:off x="640080" y="2935224"/>
            <a:ext cx="164592" cy="164592"/>
          </a:xfrm>
          <a:prstGeom prst="rect">
            <a:avLst/>
          </a:prstGeom>
        </p:spPr>
      </p:pic>
      <p:sp>
        <p:nvSpPr>
          <p:cNvPr id="14" name="Text 9"/>
          <p:cNvSpPr/>
          <p:nvPr/>
        </p:nvSpPr>
        <p:spPr>
          <a:xfrm>
            <a:off x="868680" y="2916936"/>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Optimized route visualization</a:t>
            </a:r>
            <a:endParaRPr lang="en-US" sz="850" dirty="0"/>
          </a:p>
        </p:txBody>
      </p:sp>
      <p:pic>
        <p:nvPicPr>
          <p:cNvPr id="15" name="Image 3" descr="preencoded.png">    </p:cNvPr>
          <p:cNvPicPr>
            <a:picLocks noChangeAspect="1"/>
          </p:cNvPicPr>
          <p:nvPr/>
        </p:nvPicPr>
        <p:blipFill>
          <a:blip r:embed="rId4"/>
          <a:stretch>
            <a:fillRect/>
          </a:stretch>
        </p:blipFill>
        <p:spPr>
          <a:xfrm>
            <a:off x="640080" y="3236976"/>
            <a:ext cx="164592" cy="164592"/>
          </a:xfrm>
          <a:prstGeom prst="rect">
            <a:avLst/>
          </a:prstGeom>
        </p:spPr>
      </p:pic>
      <p:sp>
        <p:nvSpPr>
          <p:cNvPr id="16" name="Text 10"/>
          <p:cNvSpPr/>
          <p:nvPr/>
        </p:nvSpPr>
        <p:spPr>
          <a:xfrm>
            <a:off x="868680" y="3218688"/>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Integrated stocker call (if auto zone)</a:t>
            </a:r>
            <a:endParaRPr lang="en-US" sz="850" dirty="0"/>
          </a:p>
        </p:txBody>
      </p:sp>
      <p:pic>
        <p:nvPicPr>
          <p:cNvPr id="17" name="Image 4" descr="preencoded.png">    </p:cNvPr>
          <p:cNvPicPr>
            <a:picLocks noChangeAspect="1"/>
          </p:cNvPicPr>
          <p:nvPr/>
        </p:nvPicPr>
        <p:blipFill>
          <a:blip r:embed="rId5"/>
          <a:stretch>
            <a:fillRect/>
          </a:stretch>
        </p:blipFill>
        <p:spPr>
          <a:xfrm>
            <a:off x="640080" y="3538728"/>
            <a:ext cx="164592" cy="164592"/>
          </a:xfrm>
          <a:prstGeom prst="rect">
            <a:avLst/>
          </a:prstGeom>
        </p:spPr>
      </p:pic>
      <p:sp>
        <p:nvSpPr>
          <p:cNvPr id="18" name="Text 11"/>
          <p:cNvSpPr/>
          <p:nvPr/>
        </p:nvSpPr>
        <p:spPr>
          <a:xfrm>
            <a:off x="868680" y="3520440"/>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Real-time status of each slot</a:t>
            </a:r>
            <a:endParaRPr lang="en-US" sz="850" dirty="0"/>
          </a:p>
        </p:txBody>
      </p:sp>
      <p:pic>
        <p:nvPicPr>
          <p:cNvPr id="19" name="Image 5" descr="preencoded.png">    </p:cNvPr>
          <p:cNvPicPr>
            <a:picLocks noChangeAspect="1"/>
          </p:cNvPicPr>
          <p:nvPr/>
        </p:nvPicPr>
        <p:blipFill>
          <a:blip r:embed="rId6"/>
          <a:stretch>
            <a:fillRect/>
          </a:stretch>
        </p:blipFill>
        <p:spPr>
          <a:xfrm>
            <a:off x="640080" y="3840480"/>
            <a:ext cx="164592" cy="164592"/>
          </a:xfrm>
          <a:prstGeom prst="rect">
            <a:avLst/>
          </a:prstGeom>
        </p:spPr>
      </p:pic>
      <p:sp>
        <p:nvSpPr>
          <p:cNvPr id="20" name="Text 12"/>
          <p:cNvSpPr/>
          <p:nvPr/>
        </p:nvSpPr>
        <p:spPr>
          <a:xfrm>
            <a:off x="868680" y="3822192"/>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New mission notification</a:t>
            </a:r>
            <a:endParaRPr lang="en-US" sz="850" dirty="0"/>
          </a:p>
        </p:txBody>
      </p:sp>
      <p:pic>
        <p:nvPicPr>
          <p:cNvPr id="21" name="Image 6" descr="preencoded.png">    </p:cNvPr>
          <p:cNvPicPr>
            <a:picLocks noChangeAspect="1"/>
          </p:cNvPicPr>
          <p:nvPr/>
        </p:nvPicPr>
        <p:blipFill>
          <a:blip r:embed="rId7"/>
          <a:stretch>
            <a:fillRect/>
          </a:stretch>
        </p:blipFill>
        <p:spPr>
          <a:xfrm>
            <a:off x="640080" y="4142232"/>
            <a:ext cx="164592" cy="164592"/>
          </a:xfrm>
          <a:prstGeom prst="rect">
            <a:avLst/>
          </a:prstGeom>
        </p:spPr>
      </p:pic>
      <p:sp>
        <p:nvSpPr>
          <p:cNvPr id="22" name="Text 13"/>
          <p:cNvSpPr/>
          <p:nvPr/>
        </p:nvSpPr>
        <p:spPr>
          <a:xfrm>
            <a:off x="868680" y="4123944"/>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Daily history and performance</a:t>
            </a:r>
            <a:endParaRPr lang="en-US" sz="850" dirty="0"/>
          </a:p>
        </p:txBody>
      </p:sp>
      <p:sp>
        <p:nvSpPr>
          <p:cNvPr id="23" name="Shape 14"/>
          <p:cNvSpPr/>
          <p:nvPr/>
        </p:nvSpPr>
        <p:spPr>
          <a:xfrm>
            <a:off x="3291840" y="1005840"/>
            <a:ext cx="2560320" cy="3657600"/>
          </a:xfrm>
          <a:prstGeom prst="rect">
            <a:avLst>
              <a:gd name="adj" fmla="val 2143"/>
            </a:avLst>
          </a:prstGeom>
          <a:solidFill>
            <a:srgbClr val="F7F9FC"/>
          </a:solidFill>
          <a:ln/>
          <a:effectLst>
            <a:outerShdw sx="100000" sy="100000" kx="0" ky="0" algn="bl" rotWithShape="0" blurRad="76200" dist="25400" dir="8100000">
              <a:srgbClr val="000000">
                <a:alpha val="6000"/>
              </a:srgbClr>
            </a:outerShdw>
          </a:effectLst>
        </p:spPr>
      </p:sp>
      <p:sp>
        <p:nvSpPr>
          <p:cNvPr id="24" name="Shape 15"/>
          <p:cNvSpPr/>
          <p:nvPr/>
        </p:nvSpPr>
        <p:spPr>
          <a:xfrm>
            <a:off x="3291840" y="1005840"/>
            <a:ext cx="2560320" cy="54864"/>
          </a:xfrm>
          <a:prstGeom prst="rect">
            <a:avLst>
              <a:gd name="adj" fmla="val 100000"/>
            </a:avLst>
          </a:prstGeom>
          <a:solidFill>
            <a:srgbClr val="16A34A"/>
          </a:solidFill>
          <a:ln/>
        </p:spPr>
      </p:sp>
      <p:sp>
        <p:nvSpPr>
          <p:cNvPr id="25" name="Shape 16"/>
          <p:cNvSpPr/>
          <p:nvPr/>
        </p:nvSpPr>
        <p:spPr>
          <a:xfrm>
            <a:off x="4251960" y="1234440"/>
            <a:ext cx="640080" cy="640080"/>
          </a:xfrm>
          <a:prstGeom prst="ellipse">
            <a:avLst/>
          </a:prstGeom>
          <a:solidFill>
            <a:srgbClr val="EBF5FF"/>
          </a:solidFill>
          <a:ln/>
        </p:spPr>
      </p:sp>
      <p:pic>
        <p:nvPicPr>
          <p:cNvPr id="26" name="Image 7" descr="preencoded.png">    </p:cNvPr>
          <p:cNvPicPr>
            <a:picLocks noChangeAspect="1"/>
          </p:cNvPicPr>
          <p:nvPr/>
        </p:nvPicPr>
        <p:blipFill>
          <a:blip r:embed="rId8"/>
          <a:stretch>
            <a:fillRect/>
          </a:stretch>
        </p:blipFill>
        <p:spPr>
          <a:xfrm>
            <a:off x="4389120" y="1371600"/>
            <a:ext cx="365760" cy="365760"/>
          </a:xfrm>
          <a:prstGeom prst="rect">
            <a:avLst/>
          </a:prstGeom>
        </p:spPr>
      </p:pic>
      <p:sp>
        <p:nvSpPr>
          <p:cNvPr id="27" name="Text 17"/>
          <p:cNvSpPr/>
          <p:nvPr/>
        </p:nvSpPr>
        <p:spPr>
          <a:xfrm>
            <a:off x="3291840" y="1965960"/>
            <a:ext cx="2560320" cy="274320"/>
          </a:xfrm>
          <a:prstGeom prst="rect">
            <a:avLst/>
          </a:prstGeom>
          <a:noFill/>
          <a:ln/>
        </p:spPr>
        <p:txBody>
          <a:bodyPr wrap="square" lIns="0" tIns="0" rIns="0" bIns="0" rtlCol="0" anchor="ctr"/>
          <a:lstStyle/>
          <a:p>
            <a:pPr algn="ctr" indent="0" marL="0">
              <a:buNone/>
            </a:pPr>
            <a:r>
              <a:rPr lang="en-US" sz="1300" b="1" dirty="0">
                <a:solidFill>
                  <a:srgbClr val="16A34A"/>
                </a:solidFill>
                <a:latin typeface="Poppins" pitchFamily="34" charset="0"/>
                <a:ea typeface="Poppins" pitchFamily="34" charset="-122"/>
                <a:cs typeface="Poppins" pitchFamily="34" charset="-120"/>
              </a:rPr>
              <a:t>Picker scanner</a:t>
            </a:r>
            <a:endParaRPr lang="en-US" sz="1300" dirty="0"/>
          </a:p>
        </p:txBody>
      </p:sp>
      <p:sp>
        <p:nvSpPr>
          <p:cNvPr id="28" name="Text 18"/>
          <p:cNvSpPr/>
          <p:nvPr/>
        </p:nvSpPr>
        <p:spPr>
          <a:xfrm>
            <a:off x="3291840" y="2212848"/>
            <a:ext cx="2560320" cy="201168"/>
          </a:xfrm>
          <a:prstGeom prst="rect">
            <a:avLst/>
          </a:prstGeom>
          <a:noFill/>
          <a:ln/>
        </p:spPr>
        <p:txBody>
          <a:bodyPr wrap="square" lIns="0" tIns="0" rIns="0" bIns="0" rtlCol="0" anchor="ctr"/>
          <a:lstStyle/>
          <a:p>
            <a:pPr algn="ctr" indent="0" marL="0">
              <a:buNone/>
            </a:pPr>
            <a:r>
              <a:rPr lang="en-US" sz="900" dirty="0">
                <a:solidFill>
                  <a:srgbClr val="6B7280"/>
                </a:solidFill>
                <a:latin typeface="Poppins" pitchFamily="34" charset="0"/>
                <a:ea typeface="Poppins" pitchFamily="34" charset="-122"/>
                <a:cs typeface="Poppins" pitchFamily="34" charset="-120"/>
              </a:rPr>
              <a:t>Picking interface</a:t>
            </a:r>
            <a:endParaRPr lang="en-US" sz="900" dirty="0"/>
          </a:p>
        </p:txBody>
      </p:sp>
      <p:sp>
        <p:nvSpPr>
          <p:cNvPr id="29" name="Shape 19"/>
          <p:cNvSpPr/>
          <p:nvPr/>
        </p:nvSpPr>
        <p:spPr>
          <a:xfrm>
            <a:off x="3566160" y="2487168"/>
            <a:ext cx="2011680" cy="18288"/>
          </a:xfrm>
          <a:prstGeom prst="rect">
            <a:avLst/>
          </a:prstGeom>
          <a:solidFill>
            <a:srgbClr val="E5E7EB"/>
          </a:solidFill>
          <a:ln/>
        </p:spPr>
      </p:sp>
      <p:pic>
        <p:nvPicPr>
          <p:cNvPr id="30" name="Image 8" descr="preencoded.png">    </p:cNvPr>
          <p:cNvPicPr>
            <a:picLocks noChangeAspect="1"/>
          </p:cNvPicPr>
          <p:nvPr/>
        </p:nvPicPr>
        <p:blipFill>
          <a:blip r:embed="rId9"/>
          <a:stretch>
            <a:fillRect/>
          </a:stretch>
        </p:blipFill>
        <p:spPr>
          <a:xfrm>
            <a:off x="3474720" y="2633472"/>
            <a:ext cx="164592" cy="164592"/>
          </a:xfrm>
          <a:prstGeom prst="rect">
            <a:avLst/>
          </a:prstGeom>
        </p:spPr>
      </p:pic>
      <p:sp>
        <p:nvSpPr>
          <p:cNvPr id="31" name="Text 20"/>
          <p:cNvSpPr/>
          <p:nvPr/>
        </p:nvSpPr>
        <p:spPr>
          <a:xfrm>
            <a:off x="3703320" y="2615184"/>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Scan article → instant validation</a:t>
            </a:r>
            <a:endParaRPr lang="en-US" sz="850" dirty="0"/>
          </a:p>
        </p:txBody>
      </p:sp>
      <p:pic>
        <p:nvPicPr>
          <p:cNvPr id="32" name="Image 9" descr="preencoded.png">    </p:cNvPr>
          <p:cNvPicPr>
            <a:picLocks noChangeAspect="1"/>
          </p:cNvPicPr>
          <p:nvPr/>
        </p:nvPicPr>
        <p:blipFill>
          <a:blip r:embed="rId10"/>
          <a:stretch>
            <a:fillRect/>
          </a:stretch>
        </p:blipFill>
        <p:spPr>
          <a:xfrm>
            <a:off x="3474720" y="2935224"/>
            <a:ext cx="164592" cy="164592"/>
          </a:xfrm>
          <a:prstGeom prst="rect">
            <a:avLst/>
          </a:prstGeom>
        </p:spPr>
      </p:pic>
      <p:sp>
        <p:nvSpPr>
          <p:cNvPr id="33" name="Text 21"/>
          <p:cNvSpPr/>
          <p:nvPr/>
        </p:nvSpPr>
        <p:spPr>
          <a:xfrm>
            <a:off x="3703320" y="2916936"/>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Remaining quantity per line</a:t>
            </a:r>
            <a:endParaRPr lang="en-US" sz="850" dirty="0"/>
          </a:p>
        </p:txBody>
      </p:sp>
      <p:pic>
        <p:nvPicPr>
          <p:cNvPr id="34" name="Image 10" descr="preencoded.png">    </p:cNvPr>
          <p:cNvPicPr>
            <a:picLocks noChangeAspect="1"/>
          </p:cNvPicPr>
          <p:nvPr/>
        </p:nvPicPr>
        <p:blipFill>
          <a:blip r:embed="rId11"/>
          <a:stretch>
            <a:fillRect/>
          </a:stretch>
        </p:blipFill>
        <p:spPr>
          <a:xfrm>
            <a:off x="3474720" y="3236976"/>
            <a:ext cx="164592" cy="164592"/>
          </a:xfrm>
          <a:prstGeom prst="rect">
            <a:avLst/>
          </a:prstGeom>
        </p:spPr>
      </p:pic>
      <p:sp>
        <p:nvSpPr>
          <p:cNvPr id="35" name="Text 22"/>
          <p:cNvSpPr/>
          <p:nvPr/>
        </p:nvSpPr>
        <p:spPr>
          <a:xfrm>
            <a:off x="3703320" y="3218688"/>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Alert if wrong reference scanned</a:t>
            </a:r>
            <a:endParaRPr lang="en-US" sz="850" dirty="0"/>
          </a:p>
        </p:txBody>
      </p:sp>
      <p:pic>
        <p:nvPicPr>
          <p:cNvPr id="36" name="Image 11" descr="preencoded.png">    </p:cNvPr>
          <p:cNvPicPr>
            <a:picLocks noChangeAspect="1"/>
          </p:cNvPicPr>
          <p:nvPr/>
        </p:nvPicPr>
        <p:blipFill>
          <a:blip r:embed="rId12"/>
          <a:stretch>
            <a:fillRect/>
          </a:stretch>
        </p:blipFill>
        <p:spPr>
          <a:xfrm>
            <a:off x="3474720" y="3538728"/>
            <a:ext cx="164592" cy="164592"/>
          </a:xfrm>
          <a:prstGeom prst="rect">
            <a:avLst/>
          </a:prstGeom>
        </p:spPr>
      </p:pic>
      <p:sp>
        <p:nvSpPr>
          <p:cNvPr id="37" name="Text 23"/>
          <p:cNvSpPr/>
          <p:nvPr/>
        </p:nvSpPr>
        <p:spPr>
          <a:xfrm>
            <a:off x="3703320" y="3520440"/>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Associated mother carton confirmation</a:t>
            </a:r>
            <a:endParaRPr lang="en-US" sz="850" dirty="0"/>
          </a:p>
        </p:txBody>
      </p:sp>
      <p:pic>
        <p:nvPicPr>
          <p:cNvPr id="38" name="Image 12" descr="preencoded.png">    </p:cNvPr>
          <p:cNvPicPr>
            <a:picLocks noChangeAspect="1"/>
          </p:cNvPicPr>
          <p:nvPr/>
        </p:nvPicPr>
        <p:blipFill>
          <a:blip r:embed="rId13"/>
          <a:stretch>
            <a:fillRect/>
          </a:stretch>
        </p:blipFill>
        <p:spPr>
          <a:xfrm>
            <a:off x="3474720" y="3840480"/>
            <a:ext cx="164592" cy="164592"/>
          </a:xfrm>
          <a:prstGeom prst="rect">
            <a:avLst/>
          </a:prstGeom>
        </p:spPr>
      </p:pic>
      <p:sp>
        <p:nvSpPr>
          <p:cNvPr id="39" name="Text 24"/>
          <p:cNvSpPr/>
          <p:nvPr/>
        </p:nvSpPr>
        <p:spPr>
          <a:xfrm>
            <a:off x="3703320" y="3822192"/>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Fallback mode (manual entry)</a:t>
            </a:r>
            <a:endParaRPr lang="en-US" sz="850" dirty="0"/>
          </a:p>
        </p:txBody>
      </p:sp>
      <p:pic>
        <p:nvPicPr>
          <p:cNvPr id="40" name="Image 13" descr="preencoded.png">    </p:cNvPr>
          <p:cNvPicPr>
            <a:picLocks noChangeAspect="1"/>
          </p:cNvPicPr>
          <p:nvPr/>
        </p:nvPicPr>
        <p:blipFill>
          <a:blip r:embed="rId14"/>
          <a:stretch>
            <a:fillRect/>
          </a:stretch>
        </p:blipFill>
        <p:spPr>
          <a:xfrm>
            <a:off x="3474720" y="4142232"/>
            <a:ext cx="164592" cy="164592"/>
          </a:xfrm>
          <a:prstGeom prst="rect">
            <a:avLst/>
          </a:prstGeom>
        </p:spPr>
      </p:pic>
      <p:sp>
        <p:nvSpPr>
          <p:cNvPr id="41" name="Text 25"/>
          <p:cNvSpPr/>
          <p:nvPr/>
        </p:nvSpPr>
        <p:spPr>
          <a:xfrm>
            <a:off x="3703320" y="4123944"/>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Current mission progress</a:t>
            </a:r>
            <a:endParaRPr lang="en-US" sz="850" dirty="0"/>
          </a:p>
        </p:txBody>
      </p:sp>
      <p:sp>
        <p:nvSpPr>
          <p:cNvPr id="42" name="Shape 26"/>
          <p:cNvSpPr/>
          <p:nvPr/>
        </p:nvSpPr>
        <p:spPr>
          <a:xfrm>
            <a:off x="6126480" y="1005840"/>
            <a:ext cx="2560320" cy="3657600"/>
          </a:xfrm>
          <a:prstGeom prst="rect">
            <a:avLst>
              <a:gd name="adj" fmla="val 2143"/>
            </a:avLst>
          </a:prstGeom>
          <a:solidFill>
            <a:srgbClr val="F7F9FC"/>
          </a:solidFill>
          <a:ln/>
          <a:effectLst>
            <a:outerShdw sx="100000" sy="100000" kx="0" ky="0" algn="bl" rotWithShape="0" blurRad="76200" dist="25400" dir="8100000">
              <a:srgbClr val="000000">
                <a:alpha val="6000"/>
              </a:srgbClr>
            </a:outerShdw>
          </a:effectLst>
        </p:spPr>
      </p:sp>
      <p:sp>
        <p:nvSpPr>
          <p:cNvPr id="43" name="Shape 27"/>
          <p:cNvSpPr/>
          <p:nvPr/>
        </p:nvSpPr>
        <p:spPr>
          <a:xfrm>
            <a:off x="6126480" y="1005840"/>
            <a:ext cx="2560320" cy="54864"/>
          </a:xfrm>
          <a:prstGeom prst="rect">
            <a:avLst>
              <a:gd name="adj" fmla="val 100000"/>
            </a:avLst>
          </a:prstGeom>
          <a:solidFill>
            <a:srgbClr val="7C3AED"/>
          </a:solidFill>
          <a:ln/>
        </p:spPr>
      </p:sp>
      <p:sp>
        <p:nvSpPr>
          <p:cNvPr id="44" name="Shape 28"/>
          <p:cNvSpPr/>
          <p:nvPr/>
        </p:nvSpPr>
        <p:spPr>
          <a:xfrm>
            <a:off x="7086600" y="1234440"/>
            <a:ext cx="640080" cy="640080"/>
          </a:xfrm>
          <a:prstGeom prst="ellipse">
            <a:avLst/>
          </a:prstGeom>
          <a:solidFill>
            <a:srgbClr val="EBF5FF"/>
          </a:solidFill>
          <a:ln/>
        </p:spPr>
      </p:sp>
      <p:pic>
        <p:nvPicPr>
          <p:cNvPr id="45" name="Image 14" descr="preencoded.png">    </p:cNvPr>
          <p:cNvPicPr>
            <a:picLocks noChangeAspect="1"/>
          </p:cNvPicPr>
          <p:nvPr/>
        </p:nvPicPr>
        <p:blipFill>
          <a:blip r:embed="rId15"/>
          <a:stretch>
            <a:fillRect/>
          </a:stretch>
        </p:blipFill>
        <p:spPr>
          <a:xfrm>
            <a:off x="7223760" y="1371600"/>
            <a:ext cx="365760" cy="365760"/>
          </a:xfrm>
          <a:prstGeom prst="rect">
            <a:avLst/>
          </a:prstGeom>
        </p:spPr>
      </p:pic>
      <p:sp>
        <p:nvSpPr>
          <p:cNvPr id="46" name="Text 29"/>
          <p:cNvSpPr/>
          <p:nvPr/>
        </p:nvSpPr>
        <p:spPr>
          <a:xfrm>
            <a:off x="6126480" y="1965960"/>
            <a:ext cx="2560320" cy="274320"/>
          </a:xfrm>
          <a:prstGeom prst="rect">
            <a:avLst/>
          </a:prstGeom>
          <a:noFill/>
          <a:ln/>
        </p:spPr>
        <p:txBody>
          <a:bodyPr wrap="square" lIns="0" tIns="0" rIns="0" bIns="0" rtlCol="0" anchor="ctr"/>
          <a:lstStyle/>
          <a:p>
            <a:pPr algn="ctr" indent="0" marL="0">
              <a:buNone/>
            </a:pPr>
            <a:r>
              <a:rPr lang="en-US" sz="1300" b="1" dirty="0">
                <a:solidFill>
                  <a:srgbClr val="7C3AED"/>
                </a:solidFill>
                <a:latin typeface="Poppins" pitchFamily="34" charset="0"/>
                <a:ea typeface="Poppins" pitchFamily="34" charset="-122"/>
                <a:cs typeface="Poppins" pitchFamily="34" charset="-120"/>
              </a:rPr>
              <a:t>Supervisor dashboard</a:t>
            </a:r>
            <a:endParaRPr lang="en-US" sz="1300" dirty="0"/>
          </a:p>
        </p:txBody>
      </p:sp>
      <p:sp>
        <p:nvSpPr>
          <p:cNvPr id="47" name="Text 30"/>
          <p:cNvSpPr/>
          <p:nvPr/>
        </p:nvSpPr>
        <p:spPr>
          <a:xfrm>
            <a:off x="6126480" y="2212848"/>
            <a:ext cx="2560320" cy="201168"/>
          </a:xfrm>
          <a:prstGeom prst="rect">
            <a:avLst/>
          </a:prstGeom>
          <a:noFill/>
          <a:ln/>
        </p:spPr>
        <p:txBody>
          <a:bodyPr wrap="square" lIns="0" tIns="0" rIns="0" bIns="0" rtlCol="0" anchor="ctr"/>
          <a:lstStyle/>
          <a:p>
            <a:pPr algn="ctr" indent="0" marL="0">
              <a:buNone/>
            </a:pPr>
            <a:r>
              <a:rPr lang="en-US" sz="900" dirty="0">
                <a:solidFill>
                  <a:srgbClr val="6B7280"/>
                </a:solidFill>
                <a:latin typeface="Poppins" pitchFamily="34" charset="0"/>
                <a:ea typeface="Poppins" pitchFamily="34" charset="-122"/>
                <a:cs typeface="Poppins" pitchFamily="34" charset="-120"/>
              </a:rPr>
              <a:t>Overview</a:t>
            </a:r>
            <a:endParaRPr lang="en-US" sz="900" dirty="0"/>
          </a:p>
        </p:txBody>
      </p:sp>
      <p:sp>
        <p:nvSpPr>
          <p:cNvPr id="48" name="Shape 31"/>
          <p:cNvSpPr/>
          <p:nvPr/>
        </p:nvSpPr>
        <p:spPr>
          <a:xfrm>
            <a:off x="6400800" y="2487168"/>
            <a:ext cx="2011680" cy="18288"/>
          </a:xfrm>
          <a:prstGeom prst="rect">
            <a:avLst/>
          </a:prstGeom>
          <a:solidFill>
            <a:srgbClr val="E5E7EB"/>
          </a:solidFill>
          <a:ln/>
        </p:spPr>
      </p:sp>
      <p:pic>
        <p:nvPicPr>
          <p:cNvPr id="49" name="Image 15" descr="preencoded.png">    </p:cNvPr>
          <p:cNvPicPr>
            <a:picLocks noChangeAspect="1"/>
          </p:cNvPicPr>
          <p:nvPr/>
        </p:nvPicPr>
        <p:blipFill>
          <a:blip r:embed="rId16"/>
          <a:stretch>
            <a:fillRect/>
          </a:stretch>
        </p:blipFill>
        <p:spPr>
          <a:xfrm>
            <a:off x="6309360" y="2633472"/>
            <a:ext cx="164592" cy="164592"/>
          </a:xfrm>
          <a:prstGeom prst="rect">
            <a:avLst/>
          </a:prstGeom>
        </p:spPr>
      </p:pic>
      <p:sp>
        <p:nvSpPr>
          <p:cNvPr id="50" name="Text 32"/>
          <p:cNvSpPr/>
          <p:nvPr/>
        </p:nvSpPr>
        <p:spPr>
          <a:xfrm>
            <a:off x="6537960" y="2615184"/>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Global view of missions in progress</a:t>
            </a:r>
            <a:endParaRPr lang="en-US" sz="850" dirty="0"/>
          </a:p>
        </p:txBody>
      </p:sp>
      <p:pic>
        <p:nvPicPr>
          <p:cNvPr id="51" name="Image 16" descr="preencoded.png">    </p:cNvPr>
          <p:cNvPicPr>
            <a:picLocks noChangeAspect="1"/>
          </p:cNvPicPr>
          <p:nvPr/>
        </p:nvPicPr>
        <p:blipFill>
          <a:blip r:embed="rId17"/>
          <a:stretch>
            <a:fillRect/>
          </a:stretch>
        </p:blipFill>
        <p:spPr>
          <a:xfrm>
            <a:off x="6309360" y="2935224"/>
            <a:ext cx="164592" cy="164592"/>
          </a:xfrm>
          <a:prstGeom prst="rect">
            <a:avLst/>
          </a:prstGeom>
        </p:spPr>
      </p:pic>
      <p:sp>
        <p:nvSpPr>
          <p:cNvPr id="52" name="Text 33"/>
          <p:cNvSpPr/>
          <p:nvPr/>
        </p:nvSpPr>
        <p:spPr>
          <a:xfrm>
            <a:off x="6537960" y="2916936"/>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Real-time completion rate</a:t>
            </a:r>
            <a:endParaRPr lang="en-US" sz="850" dirty="0"/>
          </a:p>
        </p:txBody>
      </p:sp>
      <p:pic>
        <p:nvPicPr>
          <p:cNvPr id="53" name="Image 17" descr="preencoded.png">    </p:cNvPr>
          <p:cNvPicPr>
            <a:picLocks noChangeAspect="1"/>
          </p:cNvPicPr>
          <p:nvPr/>
        </p:nvPicPr>
        <p:blipFill>
          <a:blip r:embed="rId18"/>
          <a:stretch>
            <a:fillRect/>
          </a:stretch>
        </p:blipFill>
        <p:spPr>
          <a:xfrm>
            <a:off x="6309360" y="3236976"/>
            <a:ext cx="164592" cy="164592"/>
          </a:xfrm>
          <a:prstGeom prst="rect">
            <a:avLst/>
          </a:prstGeom>
        </p:spPr>
      </p:pic>
      <p:sp>
        <p:nvSpPr>
          <p:cNvPr id="54" name="Text 34"/>
          <p:cNvSpPr/>
          <p:nvPr/>
        </p:nvSpPr>
        <p:spPr>
          <a:xfrm>
            <a:off x="6537960" y="3218688"/>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Delay and anomaly alerts</a:t>
            </a:r>
            <a:endParaRPr lang="en-US" sz="850" dirty="0"/>
          </a:p>
        </p:txBody>
      </p:sp>
      <p:pic>
        <p:nvPicPr>
          <p:cNvPr id="55" name="Image 18" descr="preencoded.png">    </p:cNvPr>
          <p:cNvPicPr>
            <a:picLocks noChangeAspect="1"/>
          </p:cNvPicPr>
          <p:nvPr/>
        </p:nvPicPr>
        <p:blipFill>
          <a:blip r:embed="rId19"/>
          <a:stretch>
            <a:fillRect/>
          </a:stretch>
        </p:blipFill>
        <p:spPr>
          <a:xfrm>
            <a:off x="6309360" y="3538728"/>
            <a:ext cx="164592" cy="164592"/>
          </a:xfrm>
          <a:prstGeom prst="rect">
            <a:avLst/>
          </a:prstGeom>
        </p:spPr>
      </p:pic>
      <p:sp>
        <p:nvSpPr>
          <p:cNvPr id="56" name="Text 35"/>
          <p:cNvSpPr/>
          <p:nvPr/>
        </p:nvSpPr>
        <p:spPr>
          <a:xfrm>
            <a:off x="6537960" y="3520440"/>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Productivity statistics</a:t>
            </a:r>
            <a:endParaRPr lang="en-US" sz="850" dirty="0"/>
          </a:p>
        </p:txBody>
      </p:sp>
      <p:pic>
        <p:nvPicPr>
          <p:cNvPr id="57" name="Image 19" descr="preencoded.png">    </p:cNvPr>
          <p:cNvPicPr>
            <a:picLocks noChangeAspect="1"/>
          </p:cNvPicPr>
          <p:nvPr/>
        </p:nvPicPr>
        <p:blipFill>
          <a:blip r:embed="rId20"/>
          <a:stretch>
            <a:fillRect/>
          </a:stretch>
        </p:blipFill>
        <p:spPr>
          <a:xfrm>
            <a:off x="6309360" y="3840480"/>
            <a:ext cx="164592" cy="164592"/>
          </a:xfrm>
          <a:prstGeom prst="rect">
            <a:avLst/>
          </a:prstGeom>
        </p:spPr>
      </p:pic>
      <p:sp>
        <p:nvSpPr>
          <p:cNvPr id="58" name="Text 36"/>
          <p:cNvSpPr/>
          <p:nvPr/>
        </p:nvSpPr>
        <p:spPr>
          <a:xfrm>
            <a:off x="6537960" y="3822192"/>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Before/after optimization comparison</a:t>
            </a:r>
            <a:endParaRPr lang="en-US" sz="850" dirty="0"/>
          </a:p>
        </p:txBody>
      </p:sp>
      <p:pic>
        <p:nvPicPr>
          <p:cNvPr id="59" name="Image 20" descr="preencoded.png">    </p:cNvPr>
          <p:cNvPicPr>
            <a:picLocks noChangeAspect="1"/>
          </p:cNvPicPr>
          <p:nvPr/>
        </p:nvPicPr>
        <p:blipFill>
          <a:blip r:embed="rId21"/>
          <a:stretch>
            <a:fillRect/>
          </a:stretch>
        </p:blipFill>
        <p:spPr>
          <a:xfrm>
            <a:off x="6309360" y="4142232"/>
            <a:ext cx="164592" cy="164592"/>
          </a:xfrm>
          <a:prstGeom prst="rect">
            <a:avLst/>
          </a:prstGeom>
        </p:spPr>
      </p:pic>
      <p:sp>
        <p:nvSpPr>
          <p:cNvPr id="60" name="Text 37"/>
          <p:cNvSpPr/>
          <p:nvPr/>
        </p:nvSpPr>
        <p:spPr>
          <a:xfrm>
            <a:off x="6537960" y="4123944"/>
            <a:ext cx="1965960" cy="274320"/>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Daily report export</a:t>
            </a:r>
            <a:endParaRPr lang="en-US" sz="850" dirty="0"/>
          </a:p>
        </p:txBody>
      </p:sp>
      <p:sp>
        <p:nvSpPr>
          <p:cNvPr id="61" name="Text 38"/>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Security &amp; deployment</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Technical constraints and network infrastructure</a:t>
            </a:r>
            <a:endParaRPr lang="en-US" sz="1100" dirty="0"/>
          </a:p>
        </p:txBody>
      </p:sp>
      <p:sp>
        <p:nvSpPr>
          <p:cNvPr id="4" name="Shape 2"/>
          <p:cNvSpPr/>
          <p:nvPr/>
        </p:nvSpPr>
        <p:spPr>
          <a:xfrm>
            <a:off x="365760" y="1051560"/>
            <a:ext cx="4023360" cy="3474720"/>
          </a:xfrm>
          <a:prstGeom prst="rect">
            <a:avLst>
              <a:gd name="adj" fmla="val 2105"/>
            </a:avLst>
          </a:prstGeom>
          <a:solidFill>
            <a:srgbClr val="F7F9FC"/>
          </a:solidFill>
          <a:ln/>
          <a:effectLst>
            <a:outerShdw sx="100000" sy="100000" kx="0" ky="0" algn="bl" rotWithShape="0" blurRad="76200" dist="25400" dir="8100000">
              <a:srgbClr val="000000">
                <a:alpha val="6000"/>
              </a:srgbClr>
            </a:outerShdw>
          </a:effectLst>
        </p:spPr>
      </p:sp>
      <p:sp>
        <p:nvSpPr>
          <p:cNvPr id="5" name="Shape 3"/>
          <p:cNvSpPr/>
          <p:nvPr/>
        </p:nvSpPr>
        <p:spPr>
          <a:xfrm>
            <a:off x="365760" y="1051560"/>
            <a:ext cx="4023360" cy="54864"/>
          </a:xfrm>
          <a:prstGeom prst="rect">
            <a:avLst>
              <a:gd name="adj" fmla="val 100000"/>
            </a:avLst>
          </a:prstGeom>
          <a:solidFill>
            <a:srgbClr val="EF4444"/>
          </a:solidFill>
          <a:ln/>
        </p:spPr>
      </p:sp>
      <p:pic>
        <p:nvPicPr>
          <p:cNvPr id="6" name="Image 0" descr="preencoded.png">    </p:cNvPr>
          <p:cNvPicPr>
            <a:picLocks noChangeAspect="1"/>
          </p:cNvPicPr>
          <p:nvPr/>
        </p:nvPicPr>
        <p:blipFill>
          <a:blip r:embed="rId1"/>
          <a:stretch>
            <a:fillRect/>
          </a:stretch>
        </p:blipFill>
        <p:spPr>
          <a:xfrm>
            <a:off x="548640" y="1234440"/>
            <a:ext cx="320040" cy="320040"/>
          </a:xfrm>
          <a:prstGeom prst="rect">
            <a:avLst/>
          </a:prstGeom>
        </p:spPr>
      </p:pic>
      <p:sp>
        <p:nvSpPr>
          <p:cNvPr id="7" name="Text 4"/>
          <p:cNvSpPr/>
          <p:nvPr/>
        </p:nvSpPr>
        <p:spPr>
          <a:xfrm>
            <a:off x="960120" y="123444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Poppins" pitchFamily="34" charset="0"/>
                <a:ea typeface="Poppins" pitchFamily="34" charset="-122"/>
                <a:cs typeface="Poppins" pitchFamily="34" charset="-120"/>
              </a:rPr>
              <a:t>Garrett security</a:t>
            </a:r>
            <a:endParaRPr lang="en-US" sz="1500" dirty="0"/>
          </a:p>
        </p:txBody>
      </p:sp>
      <p:pic>
        <p:nvPicPr>
          <p:cNvPr id="8" name="Image 1" descr="preencoded.png">    </p:cNvPr>
          <p:cNvPicPr>
            <a:picLocks noChangeAspect="1"/>
          </p:cNvPicPr>
          <p:nvPr/>
        </p:nvPicPr>
        <p:blipFill>
          <a:blip r:embed="rId2"/>
          <a:stretch>
            <a:fillRect/>
          </a:stretch>
        </p:blipFill>
        <p:spPr>
          <a:xfrm>
            <a:off x="548640" y="1783080"/>
            <a:ext cx="228600" cy="228600"/>
          </a:xfrm>
          <a:prstGeom prst="rect">
            <a:avLst/>
          </a:prstGeom>
        </p:spPr>
      </p:pic>
      <p:sp>
        <p:nvSpPr>
          <p:cNvPr id="9" name="Text 5"/>
          <p:cNvSpPr/>
          <p:nvPr/>
        </p:nvSpPr>
        <p:spPr>
          <a:xfrm>
            <a:off x="868680" y="1737360"/>
            <a:ext cx="329184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Site-to-site VPN</a:t>
            </a:r>
            <a:endParaRPr lang="en-US" sz="1000" dirty="0"/>
          </a:p>
        </p:txBody>
      </p:sp>
      <p:sp>
        <p:nvSpPr>
          <p:cNvPr id="10" name="Text 6"/>
          <p:cNvSpPr/>
          <p:nvPr/>
        </p:nvSpPr>
        <p:spPr>
          <a:xfrm>
            <a:off x="868680" y="1965960"/>
            <a:ext cx="3291840" cy="347472"/>
          </a:xfrm>
          <a:prstGeom prst="rect">
            <a:avLst/>
          </a:prstGeom>
          <a:noFill/>
          <a:ln/>
        </p:spPr>
        <p:txBody>
          <a:bodyPr wrap="square" lIns="0" tIns="0" rIns="0" bIns="0" rtlCol="0" anchor="ctr"/>
          <a:lstStyle/>
          <a:p>
            <a:pPr indent="0" marL="0">
              <a:lnSpc>
                <a:spcPct val="120000"/>
              </a:lnSpc>
              <a:buNone/>
            </a:pPr>
            <a:r>
              <a:rPr lang="en-US" sz="800" dirty="0">
                <a:solidFill>
                  <a:srgbClr val="374151"/>
                </a:solidFill>
                <a:latin typeface="Poppins" pitchFamily="34" charset="0"/>
                <a:ea typeface="Poppins" pitchFamily="34" charset="-122"/>
                <a:cs typeface="Poppins" pitchFamily="34" charset="-120"/>
              </a:rPr>
              <a:t>VPN tunnel between Stocklor and KINN infrastructure — required by Garrett</a:t>
            </a:r>
            <a:endParaRPr lang="en-US" sz="800" dirty="0"/>
          </a:p>
        </p:txBody>
      </p:sp>
      <p:pic>
        <p:nvPicPr>
          <p:cNvPr id="11" name="Image 2" descr="preencoded.png">    </p:cNvPr>
          <p:cNvPicPr>
            <a:picLocks noChangeAspect="1"/>
          </p:cNvPicPr>
          <p:nvPr/>
        </p:nvPicPr>
        <p:blipFill>
          <a:blip r:embed="rId3"/>
          <a:stretch>
            <a:fillRect/>
          </a:stretch>
        </p:blipFill>
        <p:spPr>
          <a:xfrm>
            <a:off x="548640" y="2441448"/>
            <a:ext cx="228600" cy="228600"/>
          </a:xfrm>
          <a:prstGeom prst="rect">
            <a:avLst/>
          </a:prstGeom>
        </p:spPr>
      </p:pic>
      <p:sp>
        <p:nvSpPr>
          <p:cNvPr id="12" name="Text 7"/>
          <p:cNvSpPr/>
          <p:nvPr/>
        </p:nvSpPr>
        <p:spPr>
          <a:xfrm>
            <a:off x="868680" y="2395728"/>
            <a:ext cx="329184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Port forwarding</a:t>
            </a:r>
            <a:endParaRPr lang="en-US" sz="1000" dirty="0"/>
          </a:p>
        </p:txBody>
      </p:sp>
      <p:sp>
        <p:nvSpPr>
          <p:cNvPr id="13" name="Text 8"/>
          <p:cNvSpPr/>
          <p:nvPr/>
        </p:nvSpPr>
        <p:spPr>
          <a:xfrm>
            <a:off x="868680" y="2624328"/>
            <a:ext cx="3291840" cy="347472"/>
          </a:xfrm>
          <a:prstGeom prst="rect">
            <a:avLst/>
          </a:prstGeom>
          <a:noFill/>
          <a:ln/>
        </p:spPr>
        <p:txBody>
          <a:bodyPr wrap="square" lIns="0" tIns="0" rIns="0" bIns="0" rtlCol="0" anchor="ctr"/>
          <a:lstStyle/>
          <a:p>
            <a:pPr indent="0" marL="0">
              <a:lnSpc>
                <a:spcPct val="120000"/>
              </a:lnSpc>
              <a:buNone/>
            </a:pPr>
            <a:r>
              <a:rPr lang="en-US" sz="800" dirty="0">
                <a:solidFill>
                  <a:srgbClr val="374151"/>
                </a:solidFill>
                <a:latin typeface="Poppins" pitchFamily="34" charset="0"/>
                <a:ea typeface="Poppins" pitchFamily="34" charset="-122"/>
                <a:cs typeface="Poppins" pitchFamily="34" charset="-120"/>
              </a:rPr>
              <a:t>Specific port forwarding rules on the Garrett firewall</a:t>
            </a:r>
            <a:endParaRPr lang="en-US" sz="800" dirty="0"/>
          </a:p>
        </p:txBody>
      </p:sp>
      <p:pic>
        <p:nvPicPr>
          <p:cNvPr id="14" name="Image 3" descr="preencoded.png">    </p:cNvPr>
          <p:cNvPicPr>
            <a:picLocks noChangeAspect="1"/>
          </p:cNvPicPr>
          <p:nvPr/>
        </p:nvPicPr>
        <p:blipFill>
          <a:blip r:embed="rId4"/>
          <a:stretch>
            <a:fillRect/>
          </a:stretch>
        </p:blipFill>
        <p:spPr>
          <a:xfrm>
            <a:off x="548640" y="3099816"/>
            <a:ext cx="228600" cy="228600"/>
          </a:xfrm>
          <a:prstGeom prst="rect">
            <a:avLst/>
          </a:prstGeom>
        </p:spPr>
      </p:pic>
      <p:sp>
        <p:nvSpPr>
          <p:cNvPr id="15" name="Text 9"/>
          <p:cNvSpPr/>
          <p:nvPr/>
        </p:nvSpPr>
        <p:spPr>
          <a:xfrm>
            <a:off x="868680" y="3054096"/>
            <a:ext cx="329184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Firewall rules</a:t>
            </a:r>
            <a:endParaRPr lang="en-US" sz="1000" dirty="0"/>
          </a:p>
        </p:txBody>
      </p:sp>
      <p:sp>
        <p:nvSpPr>
          <p:cNvPr id="16" name="Text 10"/>
          <p:cNvSpPr/>
          <p:nvPr/>
        </p:nvSpPr>
        <p:spPr>
          <a:xfrm>
            <a:off x="868680" y="3282696"/>
            <a:ext cx="3291840" cy="347472"/>
          </a:xfrm>
          <a:prstGeom prst="rect">
            <a:avLst/>
          </a:prstGeom>
          <a:noFill/>
          <a:ln/>
        </p:spPr>
        <p:txBody>
          <a:bodyPr wrap="square" lIns="0" tIns="0" rIns="0" bIns="0" rtlCol="0" anchor="ctr"/>
          <a:lstStyle/>
          <a:p>
            <a:pPr indent="0" marL="0">
              <a:lnSpc>
                <a:spcPct val="120000"/>
              </a:lnSpc>
              <a:buNone/>
            </a:pPr>
            <a:r>
              <a:rPr lang="en-US" sz="800" dirty="0">
                <a:solidFill>
                  <a:srgbClr val="374151"/>
                </a:solidFill>
                <a:latin typeface="Poppins" pitchFamily="34" charset="0"/>
                <a:ea typeface="Poppins" pitchFamily="34" charset="-122"/>
                <a:cs typeface="Poppins" pitchFamily="34" charset="-120"/>
              </a:rPr>
              <a:t>IP whitelist, authorized ports, HTTPS-only protocols</a:t>
            </a:r>
            <a:endParaRPr lang="en-US" sz="800" dirty="0"/>
          </a:p>
        </p:txBody>
      </p:sp>
      <p:pic>
        <p:nvPicPr>
          <p:cNvPr id="17" name="Image 4" descr="preencoded.png">    </p:cNvPr>
          <p:cNvPicPr>
            <a:picLocks noChangeAspect="1"/>
          </p:cNvPicPr>
          <p:nvPr/>
        </p:nvPicPr>
        <p:blipFill>
          <a:blip r:embed="rId5"/>
          <a:stretch>
            <a:fillRect/>
          </a:stretch>
        </p:blipFill>
        <p:spPr>
          <a:xfrm>
            <a:off x="548640" y="3758184"/>
            <a:ext cx="228600" cy="228600"/>
          </a:xfrm>
          <a:prstGeom prst="rect">
            <a:avLst/>
          </a:prstGeom>
        </p:spPr>
      </p:pic>
      <p:sp>
        <p:nvSpPr>
          <p:cNvPr id="18" name="Text 11"/>
          <p:cNvSpPr/>
          <p:nvPr/>
        </p:nvSpPr>
        <p:spPr>
          <a:xfrm>
            <a:off x="868680" y="3712464"/>
            <a:ext cx="329184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API authentication</a:t>
            </a:r>
            <a:endParaRPr lang="en-US" sz="1000" dirty="0"/>
          </a:p>
        </p:txBody>
      </p:sp>
      <p:sp>
        <p:nvSpPr>
          <p:cNvPr id="19" name="Text 12"/>
          <p:cNvSpPr/>
          <p:nvPr/>
        </p:nvSpPr>
        <p:spPr>
          <a:xfrm>
            <a:off x="868680" y="3941064"/>
            <a:ext cx="3291840" cy="347472"/>
          </a:xfrm>
          <a:prstGeom prst="rect">
            <a:avLst/>
          </a:prstGeom>
          <a:noFill/>
          <a:ln/>
        </p:spPr>
        <p:txBody>
          <a:bodyPr wrap="square" lIns="0" tIns="0" rIns="0" bIns="0" rtlCol="0" anchor="ctr"/>
          <a:lstStyle/>
          <a:p>
            <a:pPr indent="0" marL="0">
              <a:lnSpc>
                <a:spcPct val="120000"/>
              </a:lnSpc>
              <a:buNone/>
            </a:pPr>
            <a:r>
              <a:rPr lang="en-US" sz="800" dirty="0">
                <a:solidFill>
                  <a:srgbClr val="374151"/>
                </a:solidFill>
                <a:latin typeface="Poppins" pitchFamily="34" charset="0"/>
                <a:ea typeface="Poppins" pitchFamily="34" charset="-122"/>
                <a:cs typeface="Poppins" pitchFamily="34" charset="-120"/>
              </a:rPr>
              <a:t>OAuth2 / API Key? To be defined with MHS team — mutual TLS certificates</a:t>
            </a:r>
            <a:endParaRPr lang="en-US" sz="800" dirty="0"/>
          </a:p>
        </p:txBody>
      </p:sp>
      <p:sp>
        <p:nvSpPr>
          <p:cNvPr id="20" name="Shape 13"/>
          <p:cNvSpPr/>
          <p:nvPr/>
        </p:nvSpPr>
        <p:spPr>
          <a:xfrm>
            <a:off x="4754880" y="1051560"/>
            <a:ext cx="4023360" cy="3474720"/>
          </a:xfrm>
          <a:prstGeom prst="rect">
            <a:avLst>
              <a:gd name="adj" fmla="val 2105"/>
            </a:avLst>
          </a:prstGeom>
          <a:solidFill>
            <a:srgbClr val="F7F9FC"/>
          </a:solidFill>
          <a:ln/>
          <a:effectLst>
            <a:outerShdw sx="100000" sy="100000" kx="0" ky="0" algn="bl" rotWithShape="0" blurRad="76200" dist="25400" dir="8100000">
              <a:srgbClr val="000000">
                <a:alpha val="6000"/>
              </a:srgbClr>
            </a:outerShdw>
          </a:effectLst>
        </p:spPr>
      </p:sp>
      <p:sp>
        <p:nvSpPr>
          <p:cNvPr id="21" name="Shape 14"/>
          <p:cNvSpPr/>
          <p:nvPr/>
        </p:nvSpPr>
        <p:spPr>
          <a:xfrm>
            <a:off x="4754880" y="1051560"/>
            <a:ext cx="4023360" cy="54864"/>
          </a:xfrm>
          <a:prstGeom prst="rect">
            <a:avLst>
              <a:gd name="adj" fmla="val 100000"/>
            </a:avLst>
          </a:prstGeom>
          <a:solidFill>
            <a:srgbClr val="1677FF"/>
          </a:solidFill>
          <a:ln/>
        </p:spPr>
      </p:sp>
      <p:pic>
        <p:nvPicPr>
          <p:cNvPr id="22" name="Image 5" descr="preencoded.png">    </p:cNvPr>
          <p:cNvPicPr>
            <a:picLocks noChangeAspect="1"/>
          </p:cNvPicPr>
          <p:nvPr/>
        </p:nvPicPr>
        <p:blipFill>
          <a:blip r:embed="rId6"/>
          <a:stretch>
            <a:fillRect/>
          </a:stretch>
        </p:blipFill>
        <p:spPr>
          <a:xfrm>
            <a:off x="4937760" y="1234440"/>
            <a:ext cx="320040" cy="320040"/>
          </a:xfrm>
          <a:prstGeom prst="rect">
            <a:avLst/>
          </a:prstGeom>
        </p:spPr>
      </p:pic>
      <p:sp>
        <p:nvSpPr>
          <p:cNvPr id="23" name="Text 15"/>
          <p:cNvSpPr/>
          <p:nvPr/>
        </p:nvSpPr>
        <p:spPr>
          <a:xfrm>
            <a:off x="5349240" y="123444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Poppins" pitchFamily="34" charset="0"/>
                <a:ea typeface="Poppins" pitchFamily="34" charset="-122"/>
                <a:cs typeface="Poppins" pitchFamily="34" charset="-120"/>
              </a:rPr>
              <a:t>Deployment &amp; environments</a:t>
            </a:r>
            <a:endParaRPr lang="en-US" sz="1500" dirty="0"/>
          </a:p>
        </p:txBody>
      </p:sp>
      <p:pic>
        <p:nvPicPr>
          <p:cNvPr id="24" name="Image 6" descr="preencoded.png">    </p:cNvPr>
          <p:cNvPicPr>
            <a:picLocks noChangeAspect="1"/>
          </p:cNvPicPr>
          <p:nvPr/>
        </p:nvPicPr>
        <p:blipFill>
          <a:blip r:embed="rId7"/>
          <a:stretch>
            <a:fillRect/>
          </a:stretch>
        </p:blipFill>
        <p:spPr>
          <a:xfrm>
            <a:off x="4937760" y="1783080"/>
            <a:ext cx="228600" cy="228600"/>
          </a:xfrm>
          <a:prstGeom prst="rect">
            <a:avLst/>
          </a:prstGeom>
        </p:spPr>
      </p:pic>
      <p:sp>
        <p:nvSpPr>
          <p:cNvPr id="25" name="Text 16"/>
          <p:cNvSpPr/>
          <p:nvPr/>
        </p:nvSpPr>
        <p:spPr>
          <a:xfrm>
            <a:off x="5257800" y="1737360"/>
            <a:ext cx="329184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Test environment</a:t>
            </a:r>
            <a:endParaRPr lang="en-US" sz="1000" dirty="0"/>
          </a:p>
        </p:txBody>
      </p:sp>
      <p:sp>
        <p:nvSpPr>
          <p:cNvPr id="26" name="Text 17"/>
          <p:cNvSpPr/>
          <p:nvPr/>
        </p:nvSpPr>
        <p:spPr>
          <a:xfrm>
            <a:off x="5257800" y="1965960"/>
            <a:ext cx="3291840" cy="347472"/>
          </a:xfrm>
          <a:prstGeom prst="rect">
            <a:avLst/>
          </a:prstGeom>
          <a:noFill/>
          <a:ln/>
        </p:spPr>
        <p:txBody>
          <a:bodyPr wrap="square" lIns="0" tIns="0" rIns="0" bIns="0" rtlCol="0" anchor="ctr"/>
          <a:lstStyle/>
          <a:p>
            <a:pPr indent="0" marL="0">
              <a:lnSpc>
                <a:spcPct val="120000"/>
              </a:lnSpc>
              <a:buNone/>
            </a:pPr>
            <a:r>
              <a:rPr lang="en-US" sz="800" dirty="0">
                <a:solidFill>
                  <a:srgbClr val="374151"/>
                </a:solidFill>
                <a:latin typeface="Poppins" pitchFamily="34" charset="0"/>
                <a:ea typeface="Poppins" pitchFamily="34" charset="-122"/>
                <a:cs typeface="Poppins" pitchFamily="34" charset="-120"/>
              </a:rPr>
              <a:t>Need for a MHS test environment (sandbox) with mock data for development</a:t>
            </a:r>
            <a:endParaRPr lang="en-US" sz="800" dirty="0"/>
          </a:p>
        </p:txBody>
      </p:sp>
      <p:pic>
        <p:nvPicPr>
          <p:cNvPr id="27" name="Image 7" descr="preencoded.png">    </p:cNvPr>
          <p:cNvPicPr>
            <a:picLocks noChangeAspect="1"/>
          </p:cNvPicPr>
          <p:nvPr/>
        </p:nvPicPr>
        <p:blipFill>
          <a:blip r:embed="rId8"/>
          <a:stretch>
            <a:fillRect/>
          </a:stretch>
        </p:blipFill>
        <p:spPr>
          <a:xfrm>
            <a:off x="4937760" y="2441448"/>
            <a:ext cx="228600" cy="228600"/>
          </a:xfrm>
          <a:prstGeom prst="rect">
            <a:avLst/>
          </a:prstGeom>
        </p:spPr>
      </p:pic>
      <p:sp>
        <p:nvSpPr>
          <p:cNvPr id="28" name="Text 18"/>
          <p:cNvSpPr/>
          <p:nvPr/>
        </p:nvSpPr>
        <p:spPr>
          <a:xfrm>
            <a:off x="5257800" y="2395728"/>
            <a:ext cx="329184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Swagger documentation</a:t>
            </a:r>
            <a:endParaRPr lang="en-US" sz="1000" dirty="0"/>
          </a:p>
        </p:txBody>
      </p:sp>
      <p:sp>
        <p:nvSpPr>
          <p:cNvPr id="29" name="Text 19"/>
          <p:cNvSpPr/>
          <p:nvPr/>
        </p:nvSpPr>
        <p:spPr>
          <a:xfrm>
            <a:off x="5257800" y="2624328"/>
            <a:ext cx="3291840" cy="347472"/>
          </a:xfrm>
          <a:prstGeom prst="rect">
            <a:avLst/>
          </a:prstGeom>
          <a:noFill/>
          <a:ln/>
        </p:spPr>
        <p:txBody>
          <a:bodyPr wrap="square" lIns="0" tIns="0" rIns="0" bIns="0" rtlCol="0" anchor="ctr"/>
          <a:lstStyle/>
          <a:p>
            <a:pPr indent="0" marL="0">
              <a:lnSpc>
                <a:spcPct val="120000"/>
              </a:lnSpc>
              <a:buNone/>
            </a:pPr>
            <a:r>
              <a:rPr lang="en-US" sz="800" dirty="0">
                <a:solidFill>
                  <a:srgbClr val="374151"/>
                </a:solidFill>
                <a:latin typeface="Poppins" pitchFamily="34" charset="0"/>
                <a:ea typeface="Poppins" pitchFamily="34" charset="-122"/>
                <a:cs typeface="Poppins" pitchFamily="34" charset="-120"/>
              </a:rPr>
              <a:t>OpenAPI/Swagger documentation of all available MHS endpoints</a:t>
            </a:r>
            <a:endParaRPr lang="en-US" sz="800" dirty="0"/>
          </a:p>
        </p:txBody>
      </p:sp>
      <p:pic>
        <p:nvPicPr>
          <p:cNvPr id="30" name="Image 8" descr="preencoded.png">    </p:cNvPr>
          <p:cNvPicPr>
            <a:picLocks noChangeAspect="1"/>
          </p:cNvPicPr>
          <p:nvPr/>
        </p:nvPicPr>
        <p:blipFill>
          <a:blip r:embed="rId9"/>
          <a:stretch>
            <a:fillRect/>
          </a:stretch>
        </p:blipFill>
        <p:spPr>
          <a:xfrm>
            <a:off x="4937760" y="3099816"/>
            <a:ext cx="228600" cy="228600"/>
          </a:xfrm>
          <a:prstGeom prst="rect">
            <a:avLst/>
          </a:prstGeom>
        </p:spPr>
      </p:pic>
      <p:sp>
        <p:nvSpPr>
          <p:cNvPr id="31" name="Text 20"/>
          <p:cNvSpPr/>
          <p:nvPr/>
        </p:nvSpPr>
        <p:spPr>
          <a:xfrm>
            <a:off x="5257800" y="3054096"/>
            <a:ext cx="329184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Monitoring</a:t>
            </a:r>
            <a:endParaRPr lang="en-US" sz="1000" dirty="0"/>
          </a:p>
        </p:txBody>
      </p:sp>
      <p:sp>
        <p:nvSpPr>
          <p:cNvPr id="32" name="Text 21"/>
          <p:cNvSpPr/>
          <p:nvPr/>
        </p:nvSpPr>
        <p:spPr>
          <a:xfrm>
            <a:off x="5257800" y="3282696"/>
            <a:ext cx="3291840" cy="347472"/>
          </a:xfrm>
          <a:prstGeom prst="rect">
            <a:avLst/>
          </a:prstGeom>
          <a:noFill/>
          <a:ln/>
        </p:spPr>
        <p:txBody>
          <a:bodyPr wrap="square" lIns="0" tIns="0" rIns="0" bIns="0" rtlCol="0" anchor="ctr"/>
          <a:lstStyle/>
          <a:p>
            <a:pPr indent="0" marL="0">
              <a:lnSpc>
                <a:spcPct val="120000"/>
              </a:lnSpc>
              <a:buNone/>
            </a:pPr>
            <a:r>
              <a:rPr lang="en-US" sz="800" dirty="0">
                <a:solidFill>
                  <a:srgbClr val="374151"/>
                </a:solidFill>
                <a:latin typeface="Poppins" pitchFamily="34" charset="0"/>
                <a:ea typeface="Poppins" pitchFamily="34" charset="-122"/>
                <a:cs typeface="Poppins" pitchFamily="34" charset="-120"/>
              </a:rPr>
              <a:t>Healthcheck, alerts, shared logs — API response time SLA</a:t>
            </a:r>
            <a:endParaRPr lang="en-US" sz="800" dirty="0"/>
          </a:p>
        </p:txBody>
      </p:sp>
      <p:pic>
        <p:nvPicPr>
          <p:cNvPr id="33" name="Image 9" descr="preencoded.png">    </p:cNvPr>
          <p:cNvPicPr>
            <a:picLocks noChangeAspect="1"/>
          </p:cNvPicPr>
          <p:nvPr/>
        </p:nvPicPr>
        <p:blipFill>
          <a:blip r:embed="rId10"/>
          <a:stretch>
            <a:fillRect/>
          </a:stretch>
        </p:blipFill>
        <p:spPr>
          <a:xfrm>
            <a:off x="4937760" y="3758184"/>
            <a:ext cx="228600" cy="228600"/>
          </a:xfrm>
          <a:prstGeom prst="rect">
            <a:avLst/>
          </a:prstGeom>
        </p:spPr>
      </p:pic>
      <p:sp>
        <p:nvSpPr>
          <p:cNvPr id="34" name="Text 22"/>
          <p:cNvSpPr/>
          <p:nvPr/>
        </p:nvSpPr>
        <p:spPr>
          <a:xfrm>
            <a:off x="5257800" y="3712464"/>
            <a:ext cx="329184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Rollout plan</a:t>
            </a:r>
            <a:endParaRPr lang="en-US" sz="1000" dirty="0"/>
          </a:p>
        </p:txBody>
      </p:sp>
      <p:sp>
        <p:nvSpPr>
          <p:cNvPr id="35" name="Text 23"/>
          <p:cNvSpPr/>
          <p:nvPr/>
        </p:nvSpPr>
        <p:spPr>
          <a:xfrm>
            <a:off x="5257800" y="3941064"/>
            <a:ext cx="3291840" cy="347472"/>
          </a:xfrm>
          <a:prstGeom prst="rect">
            <a:avLst/>
          </a:prstGeom>
          <a:noFill/>
          <a:ln/>
        </p:spPr>
        <p:txBody>
          <a:bodyPr wrap="square" lIns="0" tIns="0" rIns="0" bIns="0" rtlCol="0" anchor="ctr"/>
          <a:lstStyle/>
          <a:p>
            <a:pPr indent="0" marL="0">
              <a:lnSpc>
                <a:spcPct val="120000"/>
              </a:lnSpc>
              <a:buNone/>
            </a:pPr>
            <a:r>
              <a:rPr lang="en-US" sz="800" dirty="0">
                <a:solidFill>
                  <a:srgbClr val="374151"/>
                </a:solidFill>
                <a:latin typeface="Poppins" pitchFamily="34" charset="0"/>
                <a:ea typeface="Poppins" pitchFamily="34" charset="-122"/>
                <a:cs typeface="Poppins" pitchFamily="34" charset="-120"/>
              </a:rPr>
              <a:t>Progressive migration: pilot on one zone → full warehouse extension</a:t>
            </a:r>
            <a:endParaRPr lang="en-US" sz="800" dirty="0"/>
          </a:p>
        </p:txBody>
      </p:sp>
      <p:sp>
        <p:nvSpPr>
          <p:cNvPr id="36" name="Text 24"/>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Questions for the MHS team</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Points to clarify for integration progress</a:t>
            </a:r>
            <a:endParaRPr lang="en-US" sz="1100" dirty="0"/>
          </a:p>
        </p:txBody>
      </p:sp>
      <p:sp>
        <p:nvSpPr>
          <p:cNvPr id="4" name="Shape 2"/>
          <p:cNvSpPr/>
          <p:nvPr/>
        </p:nvSpPr>
        <p:spPr>
          <a:xfrm>
            <a:off x="594360" y="1005840"/>
            <a:ext cx="3840480" cy="1828800"/>
          </a:xfrm>
          <a:prstGeom prst="rect">
            <a:avLst>
              <a:gd name="adj" fmla="val 3000"/>
            </a:avLst>
          </a:prstGeom>
          <a:solidFill>
            <a:srgbClr val="FFFFFF"/>
          </a:solidFill>
          <a:ln w="15240">
            <a:solidFill>
              <a:srgbClr val="1677FF"/>
            </a:solidFill>
            <a:prstDash val="solid"/>
          </a:ln>
        </p:spPr>
      </p:sp>
      <p:pic>
        <p:nvPicPr>
          <p:cNvPr id="5" name="Image 0" descr="preencoded.png">    </p:cNvPr>
          <p:cNvPicPr>
            <a:picLocks noChangeAspect="1"/>
          </p:cNvPicPr>
          <p:nvPr/>
        </p:nvPicPr>
        <p:blipFill>
          <a:blip r:embed="rId1"/>
          <a:stretch>
            <a:fillRect/>
          </a:stretch>
        </p:blipFill>
        <p:spPr>
          <a:xfrm>
            <a:off x="731520" y="1115568"/>
            <a:ext cx="256032" cy="256032"/>
          </a:xfrm>
          <a:prstGeom prst="rect">
            <a:avLst/>
          </a:prstGeom>
        </p:spPr>
      </p:pic>
      <p:sp>
        <p:nvSpPr>
          <p:cNvPr id="6" name="Text 3"/>
          <p:cNvSpPr/>
          <p:nvPr/>
        </p:nvSpPr>
        <p:spPr>
          <a:xfrm>
            <a:off x="1051560" y="1097280"/>
            <a:ext cx="2926080" cy="292608"/>
          </a:xfrm>
          <a:prstGeom prst="rect">
            <a:avLst/>
          </a:prstGeom>
          <a:noFill/>
          <a:ln/>
        </p:spPr>
        <p:txBody>
          <a:bodyPr wrap="square" lIns="0" tIns="0" rIns="0" bIns="0" rtlCol="0" anchor="ctr"/>
          <a:lstStyle/>
          <a:p>
            <a:pPr indent="0" marL="0">
              <a:buNone/>
            </a:pPr>
            <a:r>
              <a:rPr lang="en-US" sz="1300" b="1" dirty="0">
                <a:solidFill>
                  <a:srgbClr val="1677FF"/>
                </a:solidFill>
                <a:latin typeface="Poppins" pitchFamily="34" charset="0"/>
                <a:ea typeface="Poppins" pitchFamily="34" charset="-122"/>
                <a:cs typeface="Poppins" pitchFamily="34" charset="-120"/>
              </a:rPr>
              <a:t>API &amp; Endpoints</a:t>
            </a:r>
            <a:endParaRPr lang="en-US" sz="1300" dirty="0"/>
          </a:p>
        </p:txBody>
      </p:sp>
      <p:sp>
        <p:nvSpPr>
          <p:cNvPr id="7" name="Shape 4"/>
          <p:cNvSpPr/>
          <p:nvPr/>
        </p:nvSpPr>
        <p:spPr>
          <a:xfrm>
            <a:off x="731520" y="1444752"/>
            <a:ext cx="3566160" cy="18288"/>
          </a:xfrm>
          <a:prstGeom prst="rect">
            <a:avLst/>
          </a:prstGeom>
          <a:solidFill>
            <a:srgbClr val="E5E7EB"/>
          </a:solidFill>
          <a:ln/>
        </p:spPr>
      </p:sp>
      <p:pic>
        <p:nvPicPr>
          <p:cNvPr id="8" name="Image 1" descr="preencoded.png">    </p:cNvPr>
          <p:cNvPicPr>
            <a:picLocks noChangeAspect="1"/>
          </p:cNvPicPr>
          <p:nvPr/>
        </p:nvPicPr>
        <p:blipFill>
          <a:blip r:embed="rId2"/>
          <a:stretch>
            <a:fillRect/>
          </a:stretch>
        </p:blipFill>
        <p:spPr>
          <a:xfrm>
            <a:off x="777240" y="1554480"/>
            <a:ext cx="164592" cy="164592"/>
          </a:xfrm>
          <a:prstGeom prst="rect">
            <a:avLst/>
          </a:prstGeom>
        </p:spPr>
      </p:pic>
      <p:sp>
        <p:nvSpPr>
          <p:cNvPr id="9" name="Text 5"/>
          <p:cNvSpPr/>
          <p:nvPr/>
        </p:nvSpPr>
        <p:spPr>
          <a:xfrm>
            <a:off x="1005840" y="1536192"/>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Do the presented endpoints already exist in MHS?</a:t>
            </a:r>
            <a:endParaRPr lang="en-US" sz="900" dirty="0"/>
          </a:p>
        </p:txBody>
      </p:sp>
      <p:pic>
        <p:nvPicPr>
          <p:cNvPr id="10" name="Image 2" descr="preencoded.png">    </p:cNvPr>
          <p:cNvPicPr>
            <a:picLocks noChangeAspect="1"/>
          </p:cNvPicPr>
          <p:nvPr/>
        </p:nvPicPr>
        <p:blipFill>
          <a:blip r:embed="rId3"/>
          <a:stretch>
            <a:fillRect/>
          </a:stretch>
        </p:blipFill>
        <p:spPr>
          <a:xfrm>
            <a:off x="777240" y="1856232"/>
            <a:ext cx="164592" cy="164592"/>
          </a:xfrm>
          <a:prstGeom prst="rect">
            <a:avLst/>
          </a:prstGeom>
        </p:spPr>
      </p:pic>
      <p:sp>
        <p:nvSpPr>
          <p:cNvPr id="11" name="Text 6"/>
          <p:cNvSpPr/>
          <p:nvPr/>
        </p:nvSpPr>
        <p:spPr>
          <a:xfrm>
            <a:off x="1005840" y="1837944"/>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What data format? (JSON, XML, other)</a:t>
            </a:r>
            <a:endParaRPr lang="en-US" sz="900" dirty="0"/>
          </a:p>
        </p:txBody>
      </p:sp>
      <p:pic>
        <p:nvPicPr>
          <p:cNvPr id="12" name="Image 3" descr="preencoded.png">    </p:cNvPr>
          <p:cNvPicPr>
            <a:picLocks noChangeAspect="1"/>
          </p:cNvPicPr>
          <p:nvPr/>
        </p:nvPicPr>
        <p:blipFill>
          <a:blip r:embed="rId4"/>
          <a:stretch>
            <a:fillRect/>
          </a:stretch>
        </p:blipFill>
        <p:spPr>
          <a:xfrm>
            <a:off x="777240" y="2157984"/>
            <a:ext cx="164592" cy="164592"/>
          </a:xfrm>
          <a:prstGeom prst="rect">
            <a:avLst/>
          </a:prstGeom>
        </p:spPr>
      </p:pic>
      <p:sp>
        <p:nvSpPr>
          <p:cNvPr id="13" name="Text 7"/>
          <p:cNvSpPr/>
          <p:nvPr/>
        </p:nvSpPr>
        <p:spPr>
          <a:xfrm>
            <a:off x="1005840" y="2139696"/>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Is Swagger/OpenAPI documentation available?</a:t>
            </a:r>
            <a:endParaRPr lang="en-US" sz="900" dirty="0"/>
          </a:p>
        </p:txBody>
      </p:sp>
      <p:pic>
        <p:nvPicPr>
          <p:cNvPr id="14" name="Image 4" descr="preencoded.png">    </p:cNvPr>
          <p:cNvPicPr>
            <a:picLocks noChangeAspect="1"/>
          </p:cNvPicPr>
          <p:nvPr/>
        </p:nvPicPr>
        <p:blipFill>
          <a:blip r:embed="rId5"/>
          <a:stretch>
            <a:fillRect/>
          </a:stretch>
        </p:blipFill>
        <p:spPr>
          <a:xfrm>
            <a:off x="777240" y="2459736"/>
            <a:ext cx="164592" cy="164592"/>
          </a:xfrm>
          <a:prstGeom prst="rect">
            <a:avLst/>
          </a:prstGeom>
        </p:spPr>
      </p:pic>
      <p:sp>
        <p:nvSpPr>
          <p:cNvPr id="15" name="Text 8"/>
          <p:cNvSpPr/>
          <p:nvPr/>
        </p:nvSpPr>
        <p:spPr>
          <a:xfrm>
            <a:off x="1005840" y="2441448"/>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Rate limiting / API call quota restrictions?</a:t>
            </a:r>
            <a:endParaRPr lang="en-US" sz="900" dirty="0"/>
          </a:p>
        </p:txBody>
      </p:sp>
      <p:sp>
        <p:nvSpPr>
          <p:cNvPr id="16" name="Shape 9"/>
          <p:cNvSpPr/>
          <p:nvPr/>
        </p:nvSpPr>
        <p:spPr>
          <a:xfrm>
            <a:off x="4709160" y="1005840"/>
            <a:ext cx="3840480" cy="1828800"/>
          </a:xfrm>
          <a:prstGeom prst="rect">
            <a:avLst>
              <a:gd name="adj" fmla="val 3000"/>
            </a:avLst>
          </a:prstGeom>
          <a:solidFill>
            <a:srgbClr val="FFFFFF"/>
          </a:solidFill>
          <a:ln w="15240">
            <a:solidFill>
              <a:srgbClr val="0891B2"/>
            </a:solidFill>
            <a:prstDash val="solid"/>
          </a:ln>
        </p:spPr>
      </p:sp>
      <p:pic>
        <p:nvPicPr>
          <p:cNvPr id="17" name="Image 5" descr="preencoded.png">    </p:cNvPr>
          <p:cNvPicPr>
            <a:picLocks noChangeAspect="1"/>
          </p:cNvPicPr>
          <p:nvPr/>
        </p:nvPicPr>
        <p:blipFill>
          <a:blip r:embed="rId6"/>
          <a:stretch>
            <a:fillRect/>
          </a:stretch>
        </p:blipFill>
        <p:spPr>
          <a:xfrm>
            <a:off x="4846320" y="1115568"/>
            <a:ext cx="256032" cy="256032"/>
          </a:xfrm>
          <a:prstGeom prst="rect">
            <a:avLst/>
          </a:prstGeom>
        </p:spPr>
      </p:pic>
      <p:sp>
        <p:nvSpPr>
          <p:cNvPr id="18" name="Text 10"/>
          <p:cNvSpPr/>
          <p:nvPr/>
        </p:nvSpPr>
        <p:spPr>
          <a:xfrm>
            <a:off x="5166360" y="1097280"/>
            <a:ext cx="2926080" cy="292608"/>
          </a:xfrm>
          <a:prstGeom prst="rect">
            <a:avLst/>
          </a:prstGeom>
          <a:noFill/>
          <a:ln/>
        </p:spPr>
        <p:txBody>
          <a:bodyPr wrap="square" lIns="0" tIns="0" rIns="0" bIns="0" rtlCol="0" anchor="ctr"/>
          <a:lstStyle/>
          <a:p>
            <a:pPr indent="0" marL="0">
              <a:buNone/>
            </a:pPr>
            <a:r>
              <a:rPr lang="en-US" sz="1300" b="1" dirty="0">
                <a:solidFill>
                  <a:srgbClr val="0891B2"/>
                </a:solidFill>
                <a:latin typeface="Poppins" pitchFamily="34" charset="0"/>
                <a:ea typeface="Poppins" pitchFamily="34" charset="-122"/>
                <a:cs typeface="Poppins" pitchFamily="34" charset="-120"/>
              </a:rPr>
              <a:t>Data &amp; access</a:t>
            </a:r>
            <a:endParaRPr lang="en-US" sz="1300" dirty="0"/>
          </a:p>
        </p:txBody>
      </p:sp>
      <p:sp>
        <p:nvSpPr>
          <p:cNvPr id="19" name="Shape 11"/>
          <p:cNvSpPr/>
          <p:nvPr/>
        </p:nvSpPr>
        <p:spPr>
          <a:xfrm>
            <a:off x="4846320" y="1444752"/>
            <a:ext cx="3566160" cy="18288"/>
          </a:xfrm>
          <a:prstGeom prst="rect">
            <a:avLst/>
          </a:prstGeom>
          <a:solidFill>
            <a:srgbClr val="E5E7EB"/>
          </a:solidFill>
          <a:ln/>
        </p:spPr>
      </p:sp>
      <p:pic>
        <p:nvPicPr>
          <p:cNvPr id="20" name="Image 6" descr="preencoded.png">    </p:cNvPr>
          <p:cNvPicPr>
            <a:picLocks noChangeAspect="1"/>
          </p:cNvPicPr>
          <p:nvPr/>
        </p:nvPicPr>
        <p:blipFill>
          <a:blip r:embed="rId7"/>
          <a:stretch>
            <a:fillRect/>
          </a:stretch>
        </p:blipFill>
        <p:spPr>
          <a:xfrm>
            <a:off x="4892040" y="1554480"/>
            <a:ext cx="164592" cy="164592"/>
          </a:xfrm>
          <a:prstGeom prst="rect">
            <a:avLst/>
          </a:prstGeom>
        </p:spPr>
      </p:pic>
      <p:sp>
        <p:nvSpPr>
          <p:cNvPr id="21" name="Text 12"/>
          <p:cNvSpPr/>
          <p:nvPr/>
        </p:nvSpPr>
        <p:spPr>
          <a:xfrm>
            <a:off x="5120640" y="1536192"/>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Can we access the complete slot history?</a:t>
            </a:r>
            <a:endParaRPr lang="en-US" sz="900" dirty="0"/>
          </a:p>
        </p:txBody>
      </p:sp>
      <p:pic>
        <p:nvPicPr>
          <p:cNvPr id="22" name="Image 7" descr="preencoded.png">    </p:cNvPr>
          <p:cNvPicPr>
            <a:picLocks noChangeAspect="1"/>
          </p:cNvPicPr>
          <p:nvPr/>
        </p:nvPicPr>
        <p:blipFill>
          <a:blip r:embed="rId8"/>
          <a:stretch>
            <a:fillRect/>
          </a:stretch>
        </p:blipFill>
        <p:spPr>
          <a:xfrm>
            <a:off x="4892040" y="1856232"/>
            <a:ext cx="164592" cy="164592"/>
          </a:xfrm>
          <a:prstGeom prst="rect">
            <a:avLst/>
          </a:prstGeom>
        </p:spPr>
      </p:pic>
      <p:sp>
        <p:nvSpPr>
          <p:cNvPr id="23" name="Text 13"/>
          <p:cNvSpPr/>
          <p:nvPr/>
        </p:nvSpPr>
        <p:spPr>
          <a:xfrm>
            <a:off x="5120640" y="1837944"/>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What history depth is available?</a:t>
            </a:r>
            <a:endParaRPr lang="en-US" sz="900" dirty="0"/>
          </a:p>
        </p:txBody>
      </p:sp>
      <p:pic>
        <p:nvPicPr>
          <p:cNvPr id="24" name="Image 8" descr="preencoded.png">    </p:cNvPr>
          <p:cNvPicPr>
            <a:picLocks noChangeAspect="1"/>
          </p:cNvPicPr>
          <p:nvPr/>
        </p:nvPicPr>
        <p:blipFill>
          <a:blip r:embed="rId9"/>
          <a:stretch>
            <a:fillRect/>
          </a:stretch>
        </p:blipFill>
        <p:spPr>
          <a:xfrm>
            <a:off x="4892040" y="2157984"/>
            <a:ext cx="164592" cy="164592"/>
          </a:xfrm>
          <a:prstGeom prst="rect">
            <a:avLst/>
          </a:prstGeom>
        </p:spPr>
      </p:pic>
      <p:sp>
        <p:nvSpPr>
          <p:cNvPr id="25" name="Text 14"/>
          <p:cNvSpPr/>
          <p:nvPr/>
        </p:nvSpPr>
        <p:spPr>
          <a:xfrm>
            <a:off x="5120640" y="2139696"/>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Are stocker states exposed via API?</a:t>
            </a:r>
            <a:endParaRPr lang="en-US" sz="900" dirty="0"/>
          </a:p>
        </p:txBody>
      </p:sp>
      <p:pic>
        <p:nvPicPr>
          <p:cNvPr id="26" name="Image 9" descr="preencoded.png">    </p:cNvPr>
          <p:cNvPicPr>
            <a:picLocks noChangeAspect="1"/>
          </p:cNvPicPr>
          <p:nvPr/>
        </p:nvPicPr>
        <p:blipFill>
          <a:blip r:embed="rId10"/>
          <a:stretch>
            <a:fillRect/>
          </a:stretch>
        </p:blipFill>
        <p:spPr>
          <a:xfrm>
            <a:off x="4892040" y="2459736"/>
            <a:ext cx="164592" cy="164592"/>
          </a:xfrm>
          <a:prstGeom prst="rect">
            <a:avLst/>
          </a:prstGeom>
        </p:spPr>
      </p:pic>
      <p:sp>
        <p:nvSpPr>
          <p:cNvPr id="27" name="Text 15"/>
          <p:cNvSpPr/>
          <p:nvPr/>
        </p:nvSpPr>
        <p:spPr>
          <a:xfrm>
            <a:off x="5120640" y="2441448"/>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Real-time data refresh frequency?</a:t>
            </a:r>
            <a:endParaRPr lang="en-US" sz="900" dirty="0"/>
          </a:p>
        </p:txBody>
      </p:sp>
      <p:sp>
        <p:nvSpPr>
          <p:cNvPr id="28" name="Shape 16"/>
          <p:cNvSpPr/>
          <p:nvPr/>
        </p:nvSpPr>
        <p:spPr>
          <a:xfrm>
            <a:off x="594360" y="2971800"/>
            <a:ext cx="3840480" cy="1828800"/>
          </a:xfrm>
          <a:prstGeom prst="rect">
            <a:avLst>
              <a:gd name="adj" fmla="val 3000"/>
            </a:avLst>
          </a:prstGeom>
          <a:solidFill>
            <a:srgbClr val="FFFFFF"/>
          </a:solidFill>
          <a:ln w="15240">
            <a:solidFill>
              <a:srgbClr val="EA580C"/>
            </a:solidFill>
            <a:prstDash val="solid"/>
          </a:ln>
        </p:spPr>
      </p:sp>
      <p:pic>
        <p:nvPicPr>
          <p:cNvPr id="29" name="Image 10" descr="preencoded.png">    </p:cNvPr>
          <p:cNvPicPr>
            <a:picLocks noChangeAspect="1"/>
          </p:cNvPicPr>
          <p:nvPr/>
        </p:nvPicPr>
        <p:blipFill>
          <a:blip r:embed="rId11"/>
          <a:stretch>
            <a:fillRect/>
          </a:stretch>
        </p:blipFill>
        <p:spPr>
          <a:xfrm>
            <a:off x="731520" y="3081528"/>
            <a:ext cx="256032" cy="256032"/>
          </a:xfrm>
          <a:prstGeom prst="rect">
            <a:avLst/>
          </a:prstGeom>
        </p:spPr>
      </p:pic>
      <p:sp>
        <p:nvSpPr>
          <p:cNvPr id="30" name="Text 17"/>
          <p:cNvSpPr/>
          <p:nvPr/>
        </p:nvSpPr>
        <p:spPr>
          <a:xfrm>
            <a:off x="1051560" y="3063240"/>
            <a:ext cx="2926080" cy="292608"/>
          </a:xfrm>
          <a:prstGeom prst="rect">
            <a:avLst/>
          </a:prstGeom>
          <a:noFill/>
          <a:ln/>
        </p:spPr>
        <p:txBody>
          <a:bodyPr wrap="square" lIns="0" tIns="0" rIns="0" bIns="0" rtlCol="0" anchor="ctr"/>
          <a:lstStyle/>
          <a:p>
            <a:pPr indent="0" marL="0">
              <a:buNone/>
            </a:pPr>
            <a:r>
              <a:rPr lang="en-US" sz="1300" b="1" dirty="0">
                <a:solidFill>
                  <a:srgbClr val="EA580C"/>
                </a:solidFill>
                <a:latin typeface="Poppins" pitchFamily="34" charset="0"/>
                <a:ea typeface="Poppins" pitchFamily="34" charset="-122"/>
                <a:cs typeface="Poppins" pitchFamily="34" charset="-120"/>
              </a:rPr>
              <a:t>Write operations</a:t>
            </a:r>
            <a:endParaRPr lang="en-US" sz="1300" dirty="0"/>
          </a:p>
        </p:txBody>
      </p:sp>
      <p:sp>
        <p:nvSpPr>
          <p:cNvPr id="31" name="Shape 18"/>
          <p:cNvSpPr/>
          <p:nvPr/>
        </p:nvSpPr>
        <p:spPr>
          <a:xfrm>
            <a:off x="731520" y="3410712"/>
            <a:ext cx="3566160" cy="18288"/>
          </a:xfrm>
          <a:prstGeom prst="rect">
            <a:avLst/>
          </a:prstGeom>
          <a:solidFill>
            <a:srgbClr val="E5E7EB"/>
          </a:solidFill>
          <a:ln/>
        </p:spPr>
      </p:sp>
      <p:pic>
        <p:nvPicPr>
          <p:cNvPr id="32" name="Image 11" descr="preencoded.png">    </p:cNvPr>
          <p:cNvPicPr>
            <a:picLocks noChangeAspect="1"/>
          </p:cNvPicPr>
          <p:nvPr/>
        </p:nvPicPr>
        <p:blipFill>
          <a:blip r:embed="rId12"/>
          <a:stretch>
            <a:fillRect/>
          </a:stretch>
        </p:blipFill>
        <p:spPr>
          <a:xfrm>
            <a:off x="777240" y="3520440"/>
            <a:ext cx="164592" cy="164592"/>
          </a:xfrm>
          <a:prstGeom prst="rect">
            <a:avLst/>
          </a:prstGeom>
        </p:spPr>
      </p:pic>
      <p:sp>
        <p:nvSpPr>
          <p:cNvPr id="33" name="Text 19"/>
          <p:cNvSpPr/>
          <p:nvPr/>
        </p:nvSpPr>
        <p:spPr>
          <a:xfrm>
            <a:off x="1005840" y="3502152"/>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Does MHS accept writes via REST API?</a:t>
            </a:r>
            <a:endParaRPr lang="en-US" sz="900" dirty="0"/>
          </a:p>
        </p:txBody>
      </p:sp>
      <p:pic>
        <p:nvPicPr>
          <p:cNvPr id="34" name="Image 12" descr="preencoded.png">    </p:cNvPr>
          <p:cNvPicPr>
            <a:picLocks noChangeAspect="1"/>
          </p:cNvPicPr>
          <p:nvPr/>
        </p:nvPicPr>
        <p:blipFill>
          <a:blip r:embed="rId13"/>
          <a:stretch>
            <a:fillRect/>
          </a:stretch>
        </p:blipFill>
        <p:spPr>
          <a:xfrm>
            <a:off x="777240" y="3822192"/>
            <a:ext cx="164592" cy="164592"/>
          </a:xfrm>
          <a:prstGeom prst="rect">
            <a:avLst/>
          </a:prstGeom>
        </p:spPr>
      </p:pic>
      <p:sp>
        <p:nvSpPr>
          <p:cNvPr id="35" name="Text 20"/>
          <p:cNvSpPr/>
          <p:nvPr/>
        </p:nvSpPr>
        <p:spPr>
          <a:xfrm>
            <a:off x="1005840" y="3803904"/>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Or do we need another channel (MQ, file)?</a:t>
            </a:r>
            <a:endParaRPr lang="en-US" sz="900" dirty="0"/>
          </a:p>
        </p:txBody>
      </p:sp>
      <p:pic>
        <p:nvPicPr>
          <p:cNvPr id="36" name="Image 13" descr="preencoded.png">    </p:cNvPr>
          <p:cNvPicPr>
            <a:picLocks noChangeAspect="1"/>
          </p:cNvPicPr>
          <p:nvPr/>
        </p:nvPicPr>
        <p:blipFill>
          <a:blip r:embed="rId14"/>
          <a:stretch>
            <a:fillRect/>
          </a:stretch>
        </p:blipFill>
        <p:spPr>
          <a:xfrm>
            <a:off x="777240" y="4123944"/>
            <a:ext cx="164592" cy="164592"/>
          </a:xfrm>
          <a:prstGeom prst="rect">
            <a:avLst/>
          </a:prstGeom>
        </p:spPr>
      </p:pic>
      <p:sp>
        <p:nvSpPr>
          <p:cNvPr id="37" name="Text 21"/>
          <p:cNvSpPr/>
          <p:nvPr/>
        </p:nvSpPr>
        <p:spPr>
          <a:xfrm>
            <a:off x="1005840" y="4105656"/>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Can we assign a mother carton via API?</a:t>
            </a:r>
            <a:endParaRPr lang="en-US" sz="900" dirty="0"/>
          </a:p>
        </p:txBody>
      </p:sp>
      <p:pic>
        <p:nvPicPr>
          <p:cNvPr id="38" name="Image 14" descr="preencoded.png">    </p:cNvPr>
          <p:cNvPicPr>
            <a:picLocks noChangeAspect="1"/>
          </p:cNvPicPr>
          <p:nvPr/>
        </p:nvPicPr>
        <p:blipFill>
          <a:blip r:embed="rId15"/>
          <a:stretch>
            <a:fillRect/>
          </a:stretch>
        </p:blipFill>
        <p:spPr>
          <a:xfrm>
            <a:off x="777240" y="4425696"/>
            <a:ext cx="164592" cy="164592"/>
          </a:xfrm>
          <a:prstGeom prst="rect">
            <a:avLst/>
          </a:prstGeom>
        </p:spPr>
      </p:pic>
      <p:sp>
        <p:nvSpPr>
          <p:cNvPr id="39" name="Text 22"/>
          <p:cNvSpPr/>
          <p:nvPr/>
        </p:nvSpPr>
        <p:spPr>
          <a:xfrm>
            <a:off x="1005840" y="4407408"/>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Is picking validation possible via API?</a:t>
            </a:r>
            <a:endParaRPr lang="en-US" sz="900" dirty="0"/>
          </a:p>
        </p:txBody>
      </p:sp>
      <p:sp>
        <p:nvSpPr>
          <p:cNvPr id="40" name="Shape 23"/>
          <p:cNvSpPr/>
          <p:nvPr/>
        </p:nvSpPr>
        <p:spPr>
          <a:xfrm>
            <a:off x="4709160" y="2971800"/>
            <a:ext cx="3840480" cy="1828800"/>
          </a:xfrm>
          <a:prstGeom prst="rect">
            <a:avLst>
              <a:gd name="adj" fmla="val 3000"/>
            </a:avLst>
          </a:prstGeom>
          <a:solidFill>
            <a:srgbClr val="FFFFFF"/>
          </a:solidFill>
          <a:ln w="15240">
            <a:solidFill>
              <a:srgbClr val="16A34A"/>
            </a:solidFill>
            <a:prstDash val="solid"/>
          </a:ln>
        </p:spPr>
      </p:sp>
      <p:pic>
        <p:nvPicPr>
          <p:cNvPr id="41" name="Image 15" descr="preencoded.png">    </p:cNvPr>
          <p:cNvPicPr>
            <a:picLocks noChangeAspect="1"/>
          </p:cNvPicPr>
          <p:nvPr/>
        </p:nvPicPr>
        <p:blipFill>
          <a:blip r:embed="rId16"/>
          <a:stretch>
            <a:fillRect/>
          </a:stretch>
        </p:blipFill>
        <p:spPr>
          <a:xfrm>
            <a:off x="4846320" y="3081528"/>
            <a:ext cx="256032" cy="256032"/>
          </a:xfrm>
          <a:prstGeom prst="rect">
            <a:avLst/>
          </a:prstGeom>
        </p:spPr>
      </p:pic>
      <p:sp>
        <p:nvSpPr>
          <p:cNvPr id="42" name="Text 24"/>
          <p:cNvSpPr/>
          <p:nvPr/>
        </p:nvSpPr>
        <p:spPr>
          <a:xfrm>
            <a:off x="5166360" y="3063240"/>
            <a:ext cx="2926080" cy="292608"/>
          </a:xfrm>
          <a:prstGeom prst="rect">
            <a:avLst/>
          </a:prstGeom>
          <a:noFill/>
          <a:ln/>
        </p:spPr>
        <p:txBody>
          <a:bodyPr wrap="square" lIns="0" tIns="0" rIns="0" bIns="0" rtlCol="0" anchor="ctr"/>
          <a:lstStyle/>
          <a:p>
            <a:pPr indent="0" marL="0">
              <a:buNone/>
            </a:pPr>
            <a:r>
              <a:rPr lang="en-US" sz="1300" b="1" dirty="0">
                <a:solidFill>
                  <a:srgbClr val="16A34A"/>
                </a:solidFill>
                <a:latin typeface="Poppins" pitchFamily="34" charset="0"/>
                <a:ea typeface="Poppins" pitchFamily="34" charset="-122"/>
                <a:cs typeface="Poppins" pitchFamily="34" charset="-120"/>
              </a:rPr>
              <a:t>Infrastructure</a:t>
            </a:r>
            <a:endParaRPr lang="en-US" sz="1300" dirty="0"/>
          </a:p>
        </p:txBody>
      </p:sp>
      <p:sp>
        <p:nvSpPr>
          <p:cNvPr id="43" name="Shape 25"/>
          <p:cNvSpPr/>
          <p:nvPr/>
        </p:nvSpPr>
        <p:spPr>
          <a:xfrm>
            <a:off x="4846320" y="3410712"/>
            <a:ext cx="3566160" cy="18288"/>
          </a:xfrm>
          <a:prstGeom prst="rect">
            <a:avLst/>
          </a:prstGeom>
          <a:solidFill>
            <a:srgbClr val="E5E7EB"/>
          </a:solidFill>
          <a:ln/>
        </p:spPr>
      </p:sp>
      <p:pic>
        <p:nvPicPr>
          <p:cNvPr id="44" name="Image 16" descr="preencoded.png">    </p:cNvPr>
          <p:cNvPicPr>
            <a:picLocks noChangeAspect="1"/>
          </p:cNvPicPr>
          <p:nvPr/>
        </p:nvPicPr>
        <p:blipFill>
          <a:blip r:embed="rId17"/>
          <a:stretch>
            <a:fillRect/>
          </a:stretch>
        </p:blipFill>
        <p:spPr>
          <a:xfrm>
            <a:off x="4892040" y="3520440"/>
            <a:ext cx="164592" cy="164592"/>
          </a:xfrm>
          <a:prstGeom prst="rect">
            <a:avLst/>
          </a:prstGeom>
        </p:spPr>
      </p:pic>
      <p:sp>
        <p:nvSpPr>
          <p:cNvPr id="45" name="Text 26"/>
          <p:cNvSpPr/>
          <p:nvPr/>
        </p:nvSpPr>
        <p:spPr>
          <a:xfrm>
            <a:off x="5120640" y="3502152"/>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Is a test environment available?</a:t>
            </a:r>
            <a:endParaRPr lang="en-US" sz="900" dirty="0"/>
          </a:p>
        </p:txBody>
      </p:sp>
      <p:pic>
        <p:nvPicPr>
          <p:cNvPr id="46" name="Image 17" descr="preencoded.png">    </p:cNvPr>
          <p:cNvPicPr>
            <a:picLocks noChangeAspect="1"/>
          </p:cNvPicPr>
          <p:nvPr/>
        </p:nvPicPr>
        <p:blipFill>
          <a:blip r:embed="rId18"/>
          <a:stretch>
            <a:fillRect/>
          </a:stretch>
        </p:blipFill>
        <p:spPr>
          <a:xfrm>
            <a:off x="4892040" y="3822192"/>
            <a:ext cx="164592" cy="164592"/>
          </a:xfrm>
          <a:prstGeom prst="rect">
            <a:avLst/>
          </a:prstGeom>
        </p:spPr>
      </p:pic>
      <p:sp>
        <p:nvSpPr>
          <p:cNvPr id="47" name="Text 27"/>
          <p:cNvSpPr/>
          <p:nvPr/>
        </p:nvSpPr>
        <p:spPr>
          <a:xfrm>
            <a:off x="5120640" y="3803904"/>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What are the authentication requirements?</a:t>
            </a:r>
            <a:endParaRPr lang="en-US" sz="900" dirty="0"/>
          </a:p>
        </p:txBody>
      </p:sp>
      <p:pic>
        <p:nvPicPr>
          <p:cNvPr id="48" name="Image 18" descr="preencoded.png">    </p:cNvPr>
          <p:cNvPicPr>
            <a:picLocks noChangeAspect="1"/>
          </p:cNvPicPr>
          <p:nvPr/>
        </p:nvPicPr>
        <p:blipFill>
          <a:blip r:embed="rId19"/>
          <a:stretch>
            <a:fillRect/>
          </a:stretch>
        </p:blipFill>
        <p:spPr>
          <a:xfrm>
            <a:off x="4892040" y="4123944"/>
            <a:ext cx="164592" cy="164592"/>
          </a:xfrm>
          <a:prstGeom prst="rect">
            <a:avLst/>
          </a:prstGeom>
        </p:spPr>
      </p:pic>
      <p:sp>
        <p:nvSpPr>
          <p:cNvPr id="49" name="Text 28"/>
          <p:cNvSpPr/>
          <p:nvPr/>
        </p:nvSpPr>
        <p:spPr>
          <a:xfrm>
            <a:off x="5120640" y="4105656"/>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Who is the technical contact on MHS side?</a:t>
            </a:r>
            <a:endParaRPr lang="en-US" sz="900" dirty="0"/>
          </a:p>
        </p:txBody>
      </p:sp>
      <p:pic>
        <p:nvPicPr>
          <p:cNvPr id="50" name="Image 19" descr="preencoded.png">    </p:cNvPr>
          <p:cNvPicPr>
            <a:picLocks noChangeAspect="1"/>
          </p:cNvPicPr>
          <p:nvPr/>
        </p:nvPicPr>
        <p:blipFill>
          <a:blip r:embed="rId20"/>
          <a:stretch>
            <a:fillRect/>
          </a:stretch>
        </p:blipFill>
        <p:spPr>
          <a:xfrm>
            <a:off x="4892040" y="4425696"/>
            <a:ext cx="164592" cy="164592"/>
          </a:xfrm>
          <a:prstGeom prst="rect">
            <a:avLst/>
          </a:prstGeom>
        </p:spPr>
      </p:pic>
      <p:sp>
        <p:nvSpPr>
          <p:cNvPr id="51" name="Text 29"/>
          <p:cNvSpPr/>
          <p:nvPr/>
        </p:nvSpPr>
        <p:spPr>
          <a:xfrm>
            <a:off x="5120640" y="4407408"/>
            <a:ext cx="3246120" cy="274320"/>
          </a:xfrm>
          <a:prstGeom prst="rect">
            <a:avLst/>
          </a:prstGeom>
          <a:noFill/>
          <a:ln/>
        </p:spPr>
        <p:txBody>
          <a:bodyPr wrap="square" lIns="0" tIns="0" rIns="0" bIns="0" rtlCol="0" anchor="ctr"/>
          <a:lstStyle/>
          <a:p>
            <a:pPr indent="0" marL="0">
              <a:buNone/>
            </a:pPr>
            <a:r>
              <a:rPr lang="en-US" sz="900" dirty="0">
                <a:solidFill>
                  <a:srgbClr val="0F172A"/>
                </a:solidFill>
                <a:latin typeface="Poppins" pitchFamily="34" charset="0"/>
                <a:ea typeface="Poppins" pitchFamily="34" charset="-122"/>
                <a:cs typeface="Poppins" pitchFamily="34" charset="-120"/>
              </a:rPr>
              <a:t>What is the availability schedule for testing?</a:t>
            </a:r>
            <a:endParaRPr lang="en-US" sz="900" dirty="0"/>
          </a:p>
        </p:txBody>
      </p:sp>
      <p:sp>
        <p:nvSpPr>
          <p:cNvPr id="52" name="Text 30"/>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Timeline &amp; next steps</a:t>
            </a:r>
            <a:endParaRPr lang="en-US" sz="2800" dirty="0"/>
          </a:p>
        </p:txBody>
      </p:sp>
      <p:sp>
        <p:nvSpPr>
          <p:cNvPr id="3" name="Shape 1"/>
          <p:cNvSpPr/>
          <p:nvPr/>
        </p:nvSpPr>
        <p:spPr>
          <a:xfrm>
            <a:off x="731520" y="1280160"/>
            <a:ext cx="7680960" cy="73152"/>
          </a:xfrm>
          <a:prstGeom prst="rect">
            <a:avLst>
              <a:gd name="adj" fmla="val 50000"/>
            </a:avLst>
          </a:prstGeom>
          <a:solidFill>
            <a:srgbClr val="E5E7EB"/>
          </a:solidFill>
          <a:ln/>
        </p:spPr>
      </p:sp>
      <p:sp>
        <p:nvSpPr>
          <p:cNvPr id="4" name="Shape 2"/>
          <p:cNvSpPr/>
          <p:nvPr/>
        </p:nvSpPr>
        <p:spPr>
          <a:xfrm>
            <a:off x="1371600" y="1170432"/>
            <a:ext cx="320040" cy="320040"/>
          </a:xfrm>
          <a:prstGeom prst="ellipse">
            <a:avLst/>
          </a:prstGeom>
          <a:solidFill>
            <a:srgbClr val="1677FF"/>
          </a:solidFill>
          <a:ln/>
        </p:spPr>
      </p:sp>
      <p:sp>
        <p:nvSpPr>
          <p:cNvPr id="5" name="Text 3"/>
          <p:cNvSpPr/>
          <p:nvPr/>
        </p:nvSpPr>
        <p:spPr>
          <a:xfrm>
            <a:off x="1371600" y="117043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1</a:t>
            </a:r>
            <a:endParaRPr lang="en-US" sz="1200" dirty="0"/>
          </a:p>
        </p:txBody>
      </p:sp>
      <p:sp>
        <p:nvSpPr>
          <p:cNvPr id="6" name="Shape 4"/>
          <p:cNvSpPr/>
          <p:nvPr/>
        </p:nvSpPr>
        <p:spPr>
          <a:xfrm>
            <a:off x="685800" y="1691640"/>
            <a:ext cx="1737360" cy="3017520"/>
          </a:xfrm>
          <a:prstGeom prst="rect">
            <a:avLst>
              <a:gd name="adj" fmla="val 3158"/>
            </a:avLst>
          </a:prstGeom>
          <a:solidFill>
            <a:srgbClr val="F7F9FC"/>
          </a:solidFill>
          <a:ln/>
          <a:effectLst>
            <a:outerShdw sx="100000" sy="100000" kx="0" ky="0" algn="bl" rotWithShape="0" blurRad="76200" dist="25400" dir="8100000">
              <a:srgbClr val="000000">
                <a:alpha val="6000"/>
              </a:srgbClr>
            </a:outerShdw>
          </a:effectLst>
        </p:spPr>
      </p:sp>
      <p:sp>
        <p:nvSpPr>
          <p:cNvPr id="7" name="Shape 5"/>
          <p:cNvSpPr/>
          <p:nvPr/>
        </p:nvSpPr>
        <p:spPr>
          <a:xfrm>
            <a:off x="685800" y="1691640"/>
            <a:ext cx="1737360" cy="54864"/>
          </a:xfrm>
          <a:prstGeom prst="rect">
            <a:avLst>
              <a:gd name="adj" fmla="val 100000"/>
            </a:avLst>
          </a:prstGeom>
          <a:solidFill>
            <a:srgbClr val="1677FF"/>
          </a:solidFill>
          <a:ln/>
        </p:spPr>
      </p:sp>
      <p:sp>
        <p:nvSpPr>
          <p:cNvPr id="8" name="Text 6"/>
          <p:cNvSpPr/>
          <p:nvPr/>
        </p:nvSpPr>
        <p:spPr>
          <a:xfrm>
            <a:off x="685800" y="1801368"/>
            <a:ext cx="1737360" cy="182880"/>
          </a:xfrm>
          <a:prstGeom prst="rect">
            <a:avLst/>
          </a:prstGeom>
          <a:noFill/>
          <a:ln/>
        </p:spPr>
        <p:txBody>
          <a:bodyPr wrap="square" lIns="0" tIns="0" rIns="0" bIns="0" rtlCol="0" anchor="ctr"/>
          <a:lstStyle/>
          <a:p>
            <a:pPr algn="ctr" indent="0" marL="0">
              <a:buNone/>
            </a:pPr>
            <a:r>
              <a:rPr lang="en-US" sz="800" b="1" dirty="0">
                <a:solidFill>
                  <a:srgbClr val="1677FF"/>
                </a:solidFill>
                <a:latin typeface="Poppins" pitchFamily="34" charset="0"/>
                <a:ea typeface="Poppins" pitchFamily="34" charset="-122"/>
                <a:cs typeface="Poppins" pitchFamily="34" charset="-120"/>
              </a:rPr>
              <a:t>Phase 1</a:t>
            </a:r>
            <a:endParaRPr lang="en-US" sz="800" dirty="0"/>
          </a:p>
        </p:txBody>
      </p:sp>
      <p:sp>
        <p:nvSpPr>
          <p:cNvPr id="9" name="Text 7"/>
          <p:cNvSpPr/>
          <p:nvPr/>
        </p:nvSpPr>
        <p:spPr>
          <a:xfrm>
            <a:off x="685800" y="1965960"/>
            <a:ext cx="173736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Poppins" pitchFamily="34" charset="0"/>
                <a:ea typeface="Poppins" pitchFamily="34" charset="-122"/>
                <a:cs typeface="Poppins" pitchFamily="34" charset="-120"/>
              </a:rPr>
              <a:t>Discovery</a:t>
            </a:r>
            <a:endParaRPr lang="en-US" sz="1300" dirty="0"/>
          </a:p>
        </p:txBody>
      </p:sp>
      <p:sp>
        <p:nvSpPr>
          <p:cNvPr id="10" name="Shape 8"/>
          <p:cNvSpPr/>
          <p:nvPr/>
        </p:nvSpPr>
        <p:spPr>
          <a:xfrm>
            <a:off x="960120" y="2286000"/>
            <a:ext cx="1188720" cy="228600"/>
          </a:xfrm>
          <a:prstGeom prst="rect">
            <a:avLst>
              <a:gd name="adj" fmla="val 16000"/>
            </a:avLst>
          </a:prstGeom>
          <a:solidFill>
            <a:srgbClr val="1677FF"/>
          </a:solidFill>
          <a:ln/>
        </p:spPr>
      </p:sp>
      <p:sp>
        <p:nvSpPr>
          <p:cNvPr id="11" name="Text 9"/>
          <p:cNvSpPr/>
          <p:nvPr/>
        </p:nvSpPr>
        <p:spPr>
          <a:xfrm>
            <a:off x="960120" y="228600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2 weeks</a:t>
            </a:r>
            <a:endParaRPr lang="en-US" sz="800" dirty="0"/>
          </a:p>
        </p:txBody>
      </p:sp>
      <p:sp>
        <p:nvSpPr>
          <p:cNvPr id="12" name="Text 10"/>
          <p:cNvSpPr/>
          <p:nvPr/>
        </p:nvSpPr>
        <p:spPr>
          <a:xfrm>
            <a:off x="777240" y="265176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Access MHS test env.</a:t>
            </a:r>
            <a:endParaRPr lang="en-US" sz="800" dirty="0"/>
          </a:p>
        </p:txBody>
      </p:sp>
      <p:sp>
        <p:nvSpPr>
          <p:cNvPr id="13" name="Text 11"/>
          <p:cNvSpPr/>
          <p:nvPr/>
        </p:nvSpPr>
        <p:spPr>
          <a:xfrm>
            <a:off x="777240" y="306324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API documentation</a:t>
            </a:r>
            <a:endParaRPr lang="en-US" sz="800" dirty="0"/>
          </a:p>
        </p:txBody>
      </p:sp>
      <p:sp>
        <p:nvSpPr>
          <p:cNvPr id="14" name="Text 12"/>
          <p:cNvSpPr/>
          <p:nvPr/>
        </p:nvSpPr>
        <p:spPr>
          <a:xfrm>
            <a:off x="777240" y="347472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First GET calls</a:t>
            </a:r>
            <a:endParaRPr lang="en-US" sz="800" dirty="0"/>
          </a:p>
        </p:txBody>
      </p:sp>
      <p:sp>
        <p:nvSpPr>
          <p:cNvPr id="15" name="Text 13"/>
          <p:cNvSpPr/>
          <p:nvPr/>
        </p:nvSpPr>
        <p:spPr>
          <a:xfrm>
            <a:off x="777240" y="388620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Format validation</a:t>
            </a:r>
            <a:endParaRPr lang="en-US" sz="800" dirty="0"/>
          </a:p>
        </p:txBody>
      </p:sp>
      <p:sp>
        <p:nvSpPr>
          <p:cNvPr id="16" name="Shape 14"/>
          <p:cNvSpPr/>
          <p:nvPr/>
        </p:nvSpPr>
        <p:spPr>
          <a:xfrm>
            <a:off x="3383280" y="1170432"/>
            <a:ext cx="320040" cy="320040"/>
          </a:xfrm>
          <a:prstGeom prst="ellipse">
            <a:avLst/>
          </a:prstGeom>
          <a:solidFill>
            <a:srgbClr val="7C3AED"/>
          </a:solidFill>
          <a:ln/>
        </p:spPr>
      </p:sp>
      <p:sp>
        <p:nvSpPr>
          <p:cNvPr id="17" name="Text 15"/>
          <p:cNvSpPr/>
          <p:nvPr/>
        </p:nvSpPr>
        <p:spPr>
          <a:xfrm>
            <a:off x="3383280" y="117043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2</a:t>
            </a:r>
            <a:endParaRPr lang="en-US" sz="1200" dirty="0"/>
          </a:p>
        </p:txBody>
      </p:sp>
      <p:sp>
        <p:nvSpPr>
          <p:cNvPr id="18" name="Shape 16"/>
          <p:cNvSpPr/>
          <p:nvPr/>
        </p:nvSpPr>
        <p:spPr>
          <a:xfrm>
            <a:off x="2697480" y="1691640"/>
            <a:ext cx="1737360" cy="3017520"/>
          </a:xfrm>
          <a:prstGeom prst="rect">
            <a:avLst>
              <a:gd name="adj" fmla="val 3158"/>
            </a:avLst>
          </a:prstGeom>
          <a:solidFill>
            <a:srgbClr val="F7F9FC"/>
          </a:solidFill>
          <a:ln/>
          <a:effectLst>
            <a:outerShdw sx="100000" sy="100000" kx="0" ky="0" algn="bl" rotWithShape="0" blurRad="76200" dist="25400" dir="8100000">
              <a:srgbClr val="000000">
                <a:alpha val="6000"/>
              </a:srgbClr>
            </a:outerShdw>
          </a:effectLst>
        </p:spPr>
      </p:sp>
      <p:sp>
        <p:nvSpPr>
          <p:cNvPr id="19" name="Shape 17"/>
          <p:cNvSpPr/>
          <p:nvPr/>
        </p:nvSpPr>
        <p:spPr>
          <a:xfrm>
            <a:off x="2697480" y="1691640"/>
            <a:ext cx="1737360" cy="54864"/>
          </a:xfrm>
          <a:prstGeom prst="rect">
            <a:avLst>
              <a:gd name="adj" fmla="val 100000"/>
            </a:avLst>
          </a:prstGeom>
          <a:solidFill>
            <a:srgbClr val="7C3AED"/>
          </a:solidFill>
          <a:ln/>
        </p:spPr>
      </p:sp>
      <p:sp>
        <p:nvSpPr>
          <p:cNvPr id="20" name="Text 18"/>
          <p:cNvSpPr/>
          <p:nvPr/>
        </p:nvSpPr>
        <p:spPr>
          <a:xfrm>
            <a:off x="2697480" y="1801368"/>
            <a:ext cx="1737360" cy="182880"/>
          </a:xfrm>
          <a:prstGeom prst="rect">
            <a:avLst/>
          </a:prstGeom>
          <a:noFill/>
          <a:ln/>
        </p:spPr>
        <p:txBody>
          <a:bodyPr wrap="square" lIns="0" tIns="0" rIns="0" bIns="0" rtlCol="0" anchor="ctr"/>
          <a:lstStyle/>
          <a:p>
            <a:pPr algn="ctr" indent="0" marL="0">
              <a:buNone/>
            </a:pPr>
            <a:r>
              <a:rPr lang="en-US" sz="800" b="1" dirty="0">
                <a:solidFill>
                  <a:srgbClr val="7C3AED"/>
                </a:solidFill>
                <a:latin typeface="Poppins" pitchFamily="34" charset="0"/>
                <a:ea typeface="Poppins" pitchFamily="34" charset="-122"/>
                <a:cs typeface="Poppins" pitchFamily="34" charset="-120"/>
              </a:rPr>
              <a:t>Phase 2</a:t>
            </a:r>
            <a:endParaRPr lang="en-US" sz="800" dirty="0"/>
          </a:p>
        </p:txBody>
      </p:sp>
      <p:sp>
        <p:nvSpPr>
          <p:cNvPr id="21" name="Text 19"/>
          <p:cNvSpPr/>
          <p:nvPr/>
        </p:nvSpPr>
        <p:spPr>
          <a:xfrm>
            <a:off x="2697480" y="1965960"/>
            <a:ext cx="173736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Poppins" pitchFamily="34" charset="0"/>
                <a:ea typeface="Poppins" pitchFamily="34" charset="-122"/>
                <a:cs typeface="Poppins" pitchFamily="34" charset="-120"/>
              </a:rPr>
              <a:t>Integration</a:t>
            </a:r>
            <a:endParaRPr lang="en-US" sz="1300" dirty="0"/>
          </a:p>
        </p:txBody>
      </p:sp>
      <p:sp>
        <p:nvSpPr>
          <p:cNvPr id="22" name="Shape 20"/>
          <p:cNvSpPr/>
          <p:nvPr/>
        </p:nvSpPr>
        <p:spPr>
          <a:xfrm>
            <a:off x="2971800" y="2286000"/>
            <a:ext cx="1188720" cy="228600"/>
          </a:xfrm>
          <a:prstGeom prst="rect">
            <a:avLst>
              <a:gd name="adj" fmla="val 16000"/>
            </a:avLst>
          </a:prstGeom>
          <a:solidFill>
            <a:srgbClr val="7C3AED"/>
          </a:solidFill>
          <a:ln/>
        </p:spPr>
      </p:sp>
      <p:sp>
        <p:nvSpPr>
          <p:cNvPr id="23" name="Text 21"/>
          <p:cNvSpPr/>
          <p:nvPr/>
        </p:nvSpPr>
        <p:spPr>
          <a:xfrm>
            <a:off x="2971800" y="228600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4 weeks</a:t>
            </a:r>
            <a:endParaRPr lang="en-US" sz="800" dirty="0"/>
          </a:p>
        </p:txBody>
      </p:sp>
      <p:sp>
        <p:nvSpPr>
          <p:cNvPr id="24" name="Text 22"/>
          <p:cNvSpPr/>
          <p:nvPr/>
        </p:nvSpPr>
        <p:spPr>
          <a:xfrm>
            <a:off x="2788920" y="265176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GET/POST connectors</a:t>
            </a:r>
            <a:endParaRPr lang="en-US" sz="800" dirty="0"/>
          </a:p>
        </p:txBody>
      </p:sp>
      <p:sp>
        <p:nvSpPr>
          <p:cNvPr id="25" name="Text 23"/>
          <p:cNvSpPr/>
          <p:nvPr/>
        </p:nvSpPr>
        <p:spPr>
          <a:xfrm>
            <a:off x="2788920" y="306324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Optimization engine</a:t>
            </a:r>
            <a:endParaRPr lang="en-US" sz="800" dirty="0"/>
          </a:p>
        </p:txBody>
      </p:sp>
      <p:sp>
        <p:nvSpPr>
          <p:cNvPr id="26" name="Text 24"/>
          <p:cNvSpPr/>
          <p:nvPr/>
        </p:nvSpPr>
        <p:spPr>
          <a:xfrm>
            <a:off x="2788920" y="347472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Unit tests</a:t>
            </a:r>
            <a:endParaRPr lang="en-US" sz="800" dirty="0"/>
          </a:p>
        </p:txBody>
      </p:sp>
      <p:sp>
        <p:nvSpPr>
          <p:cNvPr id="27" name="Text 25"/>
          <p:cNvSpPr/>
          <p:nvPr/>
        </p:nvSpPr>
        <p:spPr>
          <a:xfrm>
            <a:off x="2788920" y="388620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Interface mockups</a:t>
            </a:r>
            <a:endParaRPr lang="en-US" sz="800" dirty="0"/>
          </a:p>
        </p:txBody>
      </p:sp>
      <p:sp>
        <p:nvSpPr>
          <p:cNvPr id="28" name="Shape 26"/>
          <p:cNvSpPr/>
          <p:nvPr/>
        </p:nvSpPr>
        <p:spPr>
          <a:xfrm>
            <a:off x="5394960" y="1170432"/>
            <a:ext cx="320040" cy="320040"/>
          </a:xfrm>
          <a:prstGeom prst="ellipse">
            <a:avLst/>
          </a:prstGeom>
          <a:solidFill>
            <a:srgbClr val="F59E0B"/>
          </a:solidFill>
          <a:ln/>
        </p:spPr>
      </p:sp>
      <p:sp>
        <p:nvSpPr>
          <p:cNvPr id="29" name="Text 27"/>
          <p:cNvSpPr/>
          <p:nvPr/>
        </p:nvSpPr>
        <p:spPr>
          <a:xfrm>
            <a:off x="5394960" y="117043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3</a:t>
            </a:r>
            <a:endParaRPr lang="en-US" sz="1200" dirty="0"/>
          </a:p>
        </p:txBody>
      </p:sp>
      <p:sp>
        <p:nvSpPr>
          <p:cNvPr id="30" name="Shape 28"/>
          <p:cNvSpPr/>
          <p:nvPr/>
        </p:nvSpPr>
        <p:spPr>
          <a:xfrm>
            <a:off x="4709160" y="1691640"/>
            <a:ext cx="1737360" cy="3017520"/>
          </a:xfrm>
          <a:prstGeom prst="rect">
            <a:avLst>
              <a:gd name="adj" fmla="val 3158"/>
            </a:avLst>
          </a:prstGeom>
          <a:solidFill>
            <a:srgbClr val="F7F9FC"/>
          </a:solidFill>
          <a:ln/>
          <a:effectLst>
            <a:outerShdw sx="100000" sy="100000" kx="0" ky="0" algn="bl" rotWithShape="0" blurRad="76200" dist="25400" dir="8100000">
              <a:srgbClr val="000000">
                <a:alpha val="6000"/>
              </a:srgbClr>
            </a:outerShdw>
          </a:effectLst>
        </p:spPr>
      </p:sp>
      <p:sp>
        <p:nvSpPr>
          <p:cNvPr id="31" name="Shape 29"/>
          <p:cNvSpPr/>
          <p:nvPr/>
        </p:nvSpPr>
        <p:spPr>
          <a:xfrm>
            <a:off x="4709160" y="1691640"/>
            <a:ext cx="1737360" cy="54864"/>
          </a:xfrm>
          <a:prstGeom prst="rect">
            <a:avLst>
              <a:gd name="adj" fmla="val 100000"/>
            </a:avLst>
          </a:prstGeom>
          <a:solidFill>
            <a:srgbClr val="F59E0B"/>
          </a:solidFill>
          <a:ln/>
        </p:spPr>
      </p:sp>
      <p:sp>
        <p:nvSpPr>
          <p:cNvPr id="32" name="Text 30"/>
          <p:cNvSpPr/>
          <p:nvPr/>
        </p:nvSpPr>
        <p:spPr>
          <a:xfrm>
            <a:off x="4709160" y="1801368"/>
            <a:ext cx="1737360" cy="182880"/>
          </a:xfrm>
          <a:prstGeom prst="rect">
            <a:avLst/>
          </a:prstGeom>
          <a:noFill/>
          <a:ln/>
        </p:spPr>
        <p:txBody>
          <a:bodyPr wrap="square" lIns="0" tIns="0" rIns="0" bIns="0" rtlCol="0" anchor="ctr"/>
          <a:lstStyle/>
          <a:p>
            <a:pPr algn="ctr" indent="0" marL="0">
              <a:buNone/>
            </a:pPr>
            <a:r>
              <a:rPr lang="en-US" sz="800" b="1" dirty="0">
                <a:solidFill>
                  <a:srgbClr val="F59E0B"/>
                </a:solidFill>
                <a:latin typeface="Poppins" pitchFamily="34" charset="0"/>
                <a:ea typeface="Poppins" pitchFamily="34" charset="-122"/>
                <a:cs typeface="Poppins" pitchFamily="34" charset="-120"/>
              </a:rPr>
              <a:t>Phase 3</a:t>
            </a:r>
            <a:endParaRPr lang="en-US" sz="800" dirty="0"/>
          </a:p>
        </p:txBody>
      </p:sp>
      <p:sp>
        <p:nvSpPr>
          <p:cNvPr id="33" name="Text 31"/>
          <p:cNvSpPr/>
          <p:nvPr/>
        </p:nvSpPr>
        <p:spPr>
          <a:xfrm>
            <a:off x="4709160" y="1965960"/>
            <a:ext cx="173736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Poppins" pitchFamily="34" charset="0"/>
                <a:ea typeface="Poppins" pitchFamily="34" charset="-122"/>
                <a:cs typeface="Poppins" pitchFamily="34" charset="-120"/>
              </a:rPr>
              <a:t>Pilot</a:t>
            </a:r>
            <a:endParaRPr lang="en-US" sz="1300" dirty="0"/>
          </a:p>
        </p:txBody>
      </p:sp>
      <p:sp>
        <p:nvSpPr>
          <p:cNvPr id="34" name="Shape 32"/>
          <p:cNvSpPr/>
          <p:nvPr/>
        </p:nvSpPr>
        <p:spPr>
          <a:xfrm>
            <a:off x="4983480" y="2286000"/>
            <a:ext cx="1188720" cy="228600"/>
          </a:xfrm>
          <a:prstGeom prst="rect">
            <a:avLst>
              <a:gd name="adj" fmla="val 16000"/>
            </a:avLst>
          </a:prstGeom>
          <a:solidFill>
            <a:srgbClr val="F59E0B"/>
          </a:solidFill>
          <a:ln/>
        </p:spPr>
      </p:sp>
      <p:sp>
        <p:nvSpPr>
          <p:cNvPr id="35" name="Text 33"/>
          <p:cNvSpPr/>
          <p:nvPr/>
        </p:nvSpPr>
        <p:spPr>
          <a:xfrm>
            <a:off x="4983480" y="228600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3 weeks</a:t>
            </a:r>
            <a:endParaRPr lang="en-US" sz="800" dirty="0"/>
          </a:p>
        </p:txBody>
      </p:sp>
      <p:sp>
        <p:nvSpPr>
          <p:cNvPr id="36" name="Text 34"/>
          <p:cNvSpPr/>
          <p:nvPr/>
        </p:nvSpPr>
        <p:spPr>
          <a:xfrm>
            <a:off x="4800600" y="265176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Deploy on 1 zone</a:t>
            </a:r>
            <a:endParaRPr lang="en-US" sz="800" dirty="0"/>
          </a:p>
        </p:txBody>
      </p:sp>
      <p:sp>
        <p:nvSpPr>
          <p:cNvPr id="37" name="Text 35"/>
          <p:cNvSpPr/>
          <p:nvPr/>
        </p:nvSpPr>
        <p:spPr>
          <a:xfrm>
            <a:off x="4800600" y="306324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Operator training</a:t>
            </a:r>
            <a:endParaRPr lang="en-US" sz="800" dirty="0"/>
          </a:p>
        </p:txBody>
      </p:sp>
      <p:sp>
        <p:nvSpPr>
          <p:cNvPr id="38" name="Text 36"/>
          <p:cNvSpPr/>
          <p:nvPr/>
        </p:nvSpPr>
        <p:spPr>
          <a:xfrm>
            <a:off x="4800600" y="347472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Real field tests</a:t>
            </a:r>
            <a:endParaRPr lang="en-US" sz="800" dirty="0"/>
          </a:p>
        </p:txBody>
      </p:sp>
      <p:sp>
        <p:nvSpPr>
          <p:cNvPr id="39" name="Text 37"/>
          <p:cNvSpPr/>
          <p:nvPr/>
        </p:nvSpPr>
        <p:spPr>
          <a:xfrm>
            <a:off x="4800600" y="388620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Algorithm tuning</a:t>
            </a:r>
            <a:endParaRPr lang="en-US" sz="800" dirty="0"/>
          </a:p>
        </p:txBody>
      </p:sp>
      <p:sp>
        <p:nvSpPr>
          <p:cNvPr id="40" name="Shape 38"/>
          <p:cNvSpPr/>
          <p:nvPr/>
        </p:nvSpPr>
        <p:spPr>
          <a:xfrm>
            <a:off x="7406640" y="1170432"/>
            <a:ext cx="320040" cy="320040"/>
          </a:xfrm>
          <a:prstGeom prst="ellipse">
            <a:avLst/>
          </a:prstGeom>
          <a:solidFill>
            <a:srgbClr val="16A34A"/>
          </a:solidFill>
          <a:ln/>
        </p:spPr>
      </p:sp>
      <p:sp>
        <p:nvSpPr>
          <p:cNvPr id="41" name="Text 39"/>
          <p:cNvSpPr/>
          <p:nvPr/>
        </p:nvSpPr>
        <p:spPr>
          <a:xfrm>
            <a:off x="7406640" y="117043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4</a:t>
            </a:r>
            <a:endParaRPr lang="en-US" sz="1200" dirty="0"/>
          </a:p>
        </p:txBody>
      </p:sp>
      <p:sp>
        <p:nvSpPr>
          <p:cNvPr id="42" name="Shape 40"/>
          <p:cNvSpPr/>
          <p:nvPr/>
        </p:nvSpPr>
        <p:spPr>
          <a:xfrm>
            <a:off x="6720840" y="1691640"/>
            <a:ext cx="1737360" cy="3017520"/>
          </a:xfrm>
          <a:prstGeom prst="rect">
            <a:avLst>
              <a:gd name="adj" fmla="val 3158"/>
            </a:avLst>
          </a:prstGeom>
          <a:solidFill>
            <a:srgbClr val="F7F9FC"/>
          </a:solidFill>
          <a:ln/>
          <a:effectLst>
            <a:outerShdw sx="100000" sy="100000" kx="0" ky="0" algn="bl" rotWithShape="0" blurRad="76200" dist="25400" dir="8100000">
              <a:srgbClr val="000000">
                <a:alpha val="6000"/>
              </a:srgbClr>
            </a:outerShdw>
          </a:effectLst>
        </p:spPr>
      </p:sp>
      <p:sp>
        <p:nvSpPr>
          <p:cNvPr id="43" name="Shape 41"/>
          <p:cNvSpPr/>
          <p:nvPr/>
        </p:nvSpPr>
        <p:spPr>
          <a:xfrm>
            <a:off x="6720840" y="1691640"/>
            <a:ext cx="1737360" cy="54864"/>
          </a:xfrm>
          <a:prstGeom prst="rect">
            <a:avLst>
              <a:gd name="adj" fmla="val 100000"/>
            </a:avLst>
          </a:prstGeom>
          <a:solidFill>
            <a:srgbClr val="16A34A"/>
          </a:solidFill>
          <a:ln/>
        </p:spPr>
      </p:sp>
      <p:sp>
        <p:nvSpPr>
          <p:cNvPr id="44" name="Text 42"/>
          <p:cNvSpPr/>
          <p:nvPr/>
        </p:nvSpPr>
        <p:spPr>
          <a:xfrm>
            <a:off x="6720840" y="1801368"/>
            <a:ext cx="1737360" cy="182880"/>
          </a:xfrm>
          <a:prstGeom prst="rect">
            <a:avLst/>
          </a:prstGeom>
          <a:noFill/>
          <a:ln/>
        </p:spPr>
        <p:txBody>
          <a:bodyPr wrap="square" lIns="0" tIns="0" rIns="0" bIns="0" rtlCol="0" anchor="ctr"/>
          <a:lstStyle/>
          <a:p>
            <a:pPr algn="ctr" indent="0" marL="0">
              <a:buNone/>
            </a:pPr>
            <a:r>
              <a:rPr lang="en-US" sz="800" b="1" dirty="0">
                <a:solidFill>
                  <a:srgbClr val="16A34A"/>
                </a:solidFill>
                <a:latin typeface="Poppins" pitchFamily="34" charset="0"/>
                <a:ea typeface="Poppins" pitchFamily="34" charset="-122"/>
                <a:cs typeface="Poppins" pitchFamily="34" charset="-120"/>
              </a:rPr>
              <a:t>Phase 4</a:t>
            </a:r>
            <a:endParaRPr lang="en-US" sz="800" dirty="0"/>
          </a:p>
        </p:txBody>
      </p:sp>
      <p:sp>
        <p:nvSpPr>
          <p:cNvPr id="45" name="Text 43"/>
          <p:cNvSpPr/>
          <p:nvPr/>
        </p:nvSpPr>
        <p:spPr>
          <a:xfrm>
            <a:off x="6720840" y="1965960"/>
            <a:ext cx="173736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Poppins" pitchFamily="34" charset="0"/>
                <a:ea typeface="Poppins" pitchFamily="34" charset="-122"/>
                <a:cs typeface="Poppins" pitchFamily="34" charset="-120"/>
              </a:rPr>
              <a:t>Rollout</a:t>
            </a:r>
            <a:endParaRPr lang="en-US" sz="1300" dirty="0"/>
          </a:p>
        </p:txBody>
      </p:sp>
      <p:sp>
        <p:nvSpPr>
          <p:cNvPr id="46" name="Shape 44"/>
          <p:cNvSpPr/>
          <p:nvPr/>
        </p:nvSpPr>
        <p:spPr>
          <a:xfrm>
            <a:off x="6995160" y="2286000"/>
            <a:ext cx="1188720" cy="228600"/>
          </a:xfrm>
          <a:prstGeom prst="rect">
            <a:avLst>
              <a:gd name="adj" fmla="val 16000"/>
            </a:avLst>
          </a:prstGeom>
          <a:solidFill>
            <a:srgbClr val="16A34A"/>
          </a:solidFill>
          <a:ln/>
        </p:spPr>
      </p:sp>
      <p:sp>
        <p:nvSpPr>
          <p:cNvPr id="47" name="Text 45"/>
          <p:cNvSpPr/>
          <p:nvPr/>
        </p:nvSpPr>
        <p:spPr>
          <a:xfrm>
            <a:off x="6995160" y="228600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2 weeks</a:t>
            </a:r>
            <a:endParaRPr lang="en-US" sz="800" dirty="0"/>
          </a:p>
        </p:txBody>
      </p:sp>
      <p:sp>
        <p:nvSpPr>
          <p:cNvPr id="48" name="Text 46"/>
          <p:cNvSpPr/>
          <p:nvPr/>
        </p:nvSpPr>
        <p:spPr>
          <a:xfrm>
            <a:off x="6812280" y="265176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Full warehouse</a:t>
            </a:r>
            <a:endParaRPr lang="en-US" sz="800" dirty="0"/>
          </a:p>
        </p:txBody>
      </p:sp>
      <p:sp>
        <p:nvSpPr>
          <p:cNvPr id="49" name="Text 47"/>
          <p:cNvSpPr/>
          <p:nvPr/>
        </p:nvSpPr>
        <p:spPr>
          <a:xfrm>
            <a:off x="6812280" y="306324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Production monitoring</a:t>
            </a:r>
            <a:endParaRPr lang="en-US" sz="800" dirty="0"/>
          </a:p>
        </p:txBody>
      </p:sp>
      <p:sp>
        <p:nvSpPr>
          <p:cNvPr id="50" name="Text 48"/>
          <p:cNvSpPr/>
          <p:nvPr/>
        </p:nvSpPr>
        <p:spPr>
          <a:xfrm>
            <a:off x="6812280" y="347472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Final documentation</a:t>
            </a:r>
            <a:endParaRPr lang="en-US" sz="800" dirty="0"/>
          </a:p>
        </p:txBody>
      </p:sp>
      <p:sp>
        <p:nvSpPr>
          <p:cNvPr id="51" name="Text 49"/>
          <p:cNvSpPr/>
          <p:nvPr/>
        </p:nvSpPr>
        <p:spPr>
          <a:xfrm>
            <a:off x="6812280" y="3886200"/>
            <a:ext cx="1554480" cy="365760"/>
          </a:xfrm>
          <a:prstGeom prst="rect">
            <a:avLst/>
          </a:prstGeom>
          <a:noFill/>
          <a:ln/>
        </p:spPr>
        <p:txBody>
          <a:bodyPr wrap="square" lIns="0" tIns="0" rIns="0" bIns="0" rtlCol="0" anchor="ctr"/>
          <a:lstStyle/>
          <a:p>
            <a:pPr indent="0" marL="0">
              <a:lnSpc>
                <a:spcPct val="110000"/>
              </a:lnSpc>
              <a:buNone/>
            </a:pPr>
            <a:r>
              <a:rPr lang="en-US" sz="800" dirty="0">
                <a:solidFill>
                  <a:srgbClr val="0F172A"/>
                </a:solidFill>
                <a:latin typeface="Poppins" pitchFamily="34" charset="0"/>
                <a:ea typeface="Poppins" pitchFamily="34" charset="-122"/>
                <a:cs typeface="Poppins" pitchFamily="34" charset="-120"/>
              </a:rPr>
              <a:t>•  Support &amp; maintenance</a:t>
            </a:r>
            <a:endParaRPr lang="en-US" sz="800" dirty="0"/>
          </a:p>
        </p:txBody>
      </p:sp>
      <p:sp>
        <p:nvSpPr>
          <p:cNvPr id="52" name="Text 50"/>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sp>
      <p:pic>
        <p:nvPicPr>
          <p:cNvPr id="3" name="Image 0" descr="preencoded.png">    </p:cNvPr>
          <p:cNvPicPr>
            <a:picLocks noChangeAspect="1"/>
          </p:cNvPicPr>
          <p:nvPr/>
        </p:nvPicPr>
        <p:blipFill>
          <a:blip r:embed="rId1"/>
          <a:stretch>
            <a:fillRect/>
          </a:stretch>
        </p:blipFill>
        <p:spPr>
          <a:xfrm>
            <a:off x="3200400" y="1097280"/>
            <a:ext cx="914400" cy="594360"/>
          </a:xfrm>
          <a:prstGeom prst="rect">
            <a:avLst/>
          </a:prstGeom>
        </p:spPr>
      </p:pic>
      <p:sp>
        <p:nvSpPr>
          <p:cNvPr id="4" name="Text 1"/>
          <p:cNvSpPr/>
          <p:nvPr/>
        </p:nvSpPr>
        <p:spPr>
          <a:xfrm>
            <a:off x="4160520" y="1097280"/>
            <a:ext cx="1828800" cy="594360"/>
          </a:xfrm>
          <a:prstGeom prst="rect">
            <a:avLst/>
          </a:prstGeom>
          <a:noFill/>
          <a:ln/>
        </p:spPr>
        <p:txBody>
          <a:bodyPr wrap="square" lIns="0" tIns="0" rIns="0" bIns="0" rtlCol="0" anchor="ctr"/>
          <a:lstStyle/>
          <a:p>
            <a:pPr indent="0" marL="0">
              <a:buNone/>
            </a:pPr>
            <a:r>
              <a:rPr lang="en-US" sz="3200" b="1" dirty="0">
                <a:solidFill>
                  <a:srgbClr val="0F172A"/>
                </a:solidFill>
                <a:latin typeface="Poppins" pitchFamily="34" charset="0"/>
                <a:ea typeface="Poppins" pitchFamily="34" charset="-122"/>
                <a:cs typeface="Poppins" pitchFamily="34" charset="-120"/>
              </a:rPr>
              <a:t>KINN</a:t>
            </a:r>
            <a:endParaRPr lang="en-US" sz="3200" dirty="0"/>
          </a:p>
        </p:txBody>
      </p:sp>
      <p:sp>
        <p:nvSpPr>
          <p:cNvPr id="5" name="Text 2"/>
          <p:cNvSpPr/>
          <p:nvPr/>
        </p:nvSpPr>
        <p:spPr>
          <a:xfrm>
            <a:off x="2286000" y="1874520"/>
            <a:ext cx="4572000" cy="365760"/>
          </a:xfrm>
          <a:prstGeom prst="rect">
            <a:avLst/>
          </a:prstGeom>
          <a:noFill/>
          <a:ln/>
        </p:spPr>
        <p:txBody>
          <a:bodyPr wrap="square" lIns="0" tIns="0" rIns="0" bIns="0" rtlCol="0" anchor="ctr"/>
          <a:lstStyle/>
          <a:p>
            <a:pPr algn="ctr" indent="0" marL="0">
              <a:buNone/>
            </a:pPr>
            <a:r>
              <a:rPr lang="en-US" sz="2000" b="1" dirty="0">
                <a:solidFill>
                  <a:srgbClr val="1E3A5F"/>
                </a:solidFill>
                <a:latin typeface="Poppins" pitchFamily="34" charset="0"/>
                <a:ea typeface="Poppins" pitchFamily="34" charset="-122"/>
                <a:cs typeface="Poppins" pitchFamily="34" charset="-120"/>
              </a:rPr>
              <a:t>×  Stocklor / Garrett</a:t>
            </a:r>
            <a:endParaRPr lang="en-US" sz="2000" dirty="0"/>
          </a:p>
        </p:txBody>
      </p:sp>
      <p:sp>
        <p:nvSpPr>
          <p:cNvPr id="6" name="Text 3"/>
          <p:cNvSpPr/>
          <p:nvPr/>
        </p:nvSpPr>
        <p:spPr>
          <a:xfrm>
            <a:off x="1828800" y="2468880"/>
            <a:ext cx="5486400" cy="365760"/>
          </a:xfrm>
          <a:prstGeom prst="rect">
            <a:avLst/>
          </a:prstGeom>
          <a:noFill/>
          <a:ln/>
        </p:spPr>
        <p:txBody>
          <a:bodyPr wrap="square" lIns="0" tIns="0" rIns="0" bIns="0" rtlCol="0" anchor="ctr"/>
          <a:lstStyle/>
          <a:p>
            <a:pPr algn="ctr" indent="0" marL="0">
              <a:buNone/>
            </a:pPr>
            <a:r>
              <a:rPr lang="en-US" sz="1600" dirty="0">
                <a:solidFill>
                  <a:srgbClr val="1677FF"/>
                </a:solidFill>
                <a:latin typeface="Poppins" pitchFamily="34" charset="0"/>
                <a:ea typeface="Poppins" pitchFamily="34" charset="-122"/>
                <a:cs typeface="Poppins" pitchFamily="34" charset="-120"/>
              </a:rPr>
              <a:t>Thank you — Next steps</a:t>
            </a:r>
            <a:endParaRPr lang="en-US" sz="1600" dirty="0"/>
          </a:p>
        </p:txBody>
      </p:sp>
      <p:pic>
        <p:nvPicPr>
          <p:cNvPr id="7" name="Image 1" descr="preencoded.png">    </p:cNvPr>
          <p:cNvPicPr>
            <a:picLocks noChangeAspect="1"/>
          </p:cNvPicPr>
          <p:nvPr/>
        </p:nvPicPr>
        <p:blipFill>
          <a:blip r:embed="rId2"/>
          <a:stretch>
            <a:fillRect/>
          </a:stretch>
        </p:blipFill>
        <p:spPr>
          <a:xfrm>
            <a:off x="2286000" y="3063240"/>
            <a:ext cx="182880" cy="182880"/>
          </a:xfrm>
          <a:prstGeom prst="rect">
            <a:avLst/>
          </a:prstGeom>
        </p:spPr>
      </p:pic>
      <p:sp>
        <p:nvSpPr>
          <p:cNvPr id="8" name="Text 4"/>
          <p:cNvSpPr/>
          <p:nvPr/>
        </p:nvSpPr>
        <p:spPr>
          <a:xfrm>
            <a:off x="2606040" y="3044952"/>
            <a:ext cx="4572000" cy="274320"/>
          </a:xfrm>
          <a:prstGeom prst="rect">
            <a:avLst/>
          </a:prstGeom>
          <a:noFill/>
          <a:ln/>
        </p:spPr>
        <p:txBody>
          <a:bodyPr wrap="square" lIns="0" tIns="0" rIns="0" bIns="0" rtlCol="0" anchor="ctr"/>
          <a:lstStyle/>
          <a:p>
            <a:pPr indent="0" marL="0">
              <a:buNone/>
            </a:pPr>
            <a:r>
              <a:rPr lang="en-US" sz="1000" dirty="0">
                <a:solidFill>
                  <a:srgbClr val="0F172A"/>
                </a:solidFill>
                <a:latin typeface="Poppins" pitchFamily="34" charset="0"/>
                <a:ea typeface="Poppins" pitchFamily="34" charset="-122"/>
                <a:cs typeface="Poppins" pitchFamily="34" charset="-120"/>
              </a:rPr>
              <a:t>Access to MHS API documentation (Swagger/OpenAPI)</a:t>
            </a:r>
            <a:endParaRPr lang="en-US" sz="1000" dirty="0"/>
          </a:p>
        </p:txBody>
      </p:sp>
      <p:pic>
        <p:nvPicPr>
          <p:cNvPr id="9" name="Image 2" descr="preencoded.png">    </p:cNvPr>
          <p:cNvPicPr>
            <a:picLocks noChangeAspect="1"/>
          </p:cNvPicPr>
          <p:nvPr/>
        </p:nvPicPr>
        <p:blipFill>
          <a:blip r:embed="rId3"/>
          <a:stretch>
            <a:fillRect/>
          </a:stretch>
        </p:blipFill>
        <p:spPr>
          <a:xfrm>
            <a:off x="2286000" y="3410712"/>
            <a:ext cx="182880" cy="182880"/>
          </a:xfrm>
          <a:prstGeom prst="rect">
            <a:avLst/>
          </a:prstGeom>
        </p:spPr>
      </p:pic>
      <p:sp>
        <p:nvSpPr>
          <p:cNvPr id="10" name="Text 5"/>
          <p:cNvSpPr/>
          <p:nvPr/>
        </p:nvSpPr>
        <p:spPr>
          <a:xfrm>
            <a:off x="2606040" y="3392424"/>
            <a:ext cx="4572000" cy="274320"/>
          </a:xfrm>
          <a:prstGeom prst="rect">
            <a:avLst/>
          </a:prstGeom>
          <a:noFill/>
          <a:ln/>
        </p:spPr>
        <p:txBody>
          <a:bodyPr wrap="square" lIns="0" tIns="0" rIns="0" bIns="0" rtlCol="0" anchor="ctr"/>
          <a:lstStyle/>
          <a:p>
            <a:pPr indent="0" marL="0">
              <a:buNone/>
            </a:pPr>
            <a:r>
              <a:rPr lang="en-US" sz="1000" dirty="0">
                <a:solidFill>
                  <a:srgbClr val="0F172A"/>
                </a:solidFill>
                <a:latin typeface="Poppins" pitchFamily="34" charset="0"/>
                <a:ea typeface="Poppins" pitchFamily="34" charset="-122"/>
                <a:cs typeface="Poppins" pitchFamily="34" charset="-120"/>
              </a:rPr>
              <a:t>Provision of a test environment</a:t>
            </a:r>
            <a:endParaRPr lang="en-US" sz="1000" dirty="0"/>
          </a:p>
        </p:txBody>
      </p:sp>
      <p:pic>
        <p:nvPicPr>
          <p:cNvPr id="11" name="Image 3" descr="preencoded.png">    </p:cNvPr>
          <p:cNvPicPr>
            <a:picLocks noChangeAspect="1"/>
          </p:cNvPicPr>
          <p:nvPr/>
        </p:nvPicPr>
        <p:blipFill>
          <a:blip r:embed="rId4"/>
          <a:stretch>
            <a:fillRect/>
          </a:stretch>
        </p:blipFill>
        <p:spPr>
          <a:xfrm>
            <a:off x="2286000" y="3758184"/>
            <a:ext cx="182880" cy="182880"/>
          </a:xfrm>
          <a:prstGeom prst="rect">
            <a:avLst/>
          </a:prstGeom>
        </p:spPr>
      </p:pic>
      <p:sp>
        <p:nvSpPr>
          <p:cNvPr id="12" name="Text 6"/>
          <p:cNvSpPr/>
          <p:nvPr/>
        </p:nvSpPr>
        <p:spPr>
          <a:xfrm>
            <a:off x="2606040" y="3739896"/>
            <a:ext cx="4572000" cy="274320"/>
          </a:xfrm>
          <a:prstGeom prst="rect">
            <a:avLst/>
          </a:prstGeom>
          <a:noFill/>
          <a:ln/>
        </p:spPr>
        <p:txBody>
          <a:bodyPr wrap="square" lIns="0" tIns="0" rIns="0" bIns="0" rtlCol="0" anchor="ctr"/>
          <a:lstStyle/>
          <a:p>
            <a:pPr indent="0" marL="0">
              <a:buNone/>
            </a:pPr>
            <a:r>
              <a:rPr lang="en-US" sz="1000" dirty="0">
                <a:solidFill>
                  <a:srgbClr val="0F172A"/>
                </a:solidFill>
                <a:latin typeface="Poppins" pitchFamily="34" charset="0"/>
                <a:ea typeface="Poppins" pitchFamily="34" charset="-122"/>
                <a:cs typeface="Poppins" pitchFamily="34" charset="-120"/>
              </a:rPr>
              <a:t>Define authentication method (OAuth2 / API Key)</a:t>
            </a:r>
            <a:endParaRPr lang="en-US" sz="1000" dirty="0"/>
          </a:p>
        </p:txBody>
      </p:sp>
      <p:pic>
        <p:nvPicPr>
          <p:cNvPr id="13" name="Image 4" descr="preencoded.png">    </p:cNvPr>
          <p:cNvPicPr>
            <a:picLocks noChangeAspect="1"/>
          </p:cNvPicPr>
          <p:nvPr/>
        </p:nvPicPr>
        <p:blipFill>
          <a:blip r:embed="rId5"/>
          <a:stretch>
            <a:fillRect/>
          </a:stretch>
        </p:blipFill>
        <p:spPr>
          <a:xfrm>
            <a:off x="2286000" y="4105656"/>
            <a:ext cx="182880" cy="182880"/>
          </a:xfrm>
          <a:prstGeom prst="rect">
            <a:avLst/>
          </a:prstGeom>
        </p:spPr>
      </p:pic>
      <p:sp>
        <p:nvSpPr>
          <p:cNvPr id="14" name="Text 7"/>
          <p:cNvSpPr/>
          <p:nvPr/>
        </p:nvSpPr>
        <p:spPr>
          <a:xfrm>
            <a:off x="2606040" y="4087368"/>
            <a:ext cx="4572000" cy="274320"/>
          </a:xfrm>
          <a:prstGeom prst="rect">
            <a:avLst/>
          </a:prstGeom>
          <a:noFill/>
          <a:ln/>
        </p:spPr>
        <p:txBody>
          <a:bodyPr wrap="square" lIns="0" tIns="0" rIns="0" bIns="0" rtlCol="0" anchor="ctr"/>
          <a:lstStyle/>
          <a:p>
            <a:pPr indent="0" marL="0">
              <a:buNone/>
            </a:pPr>
            <a:r>
              <a:rPr lang="en-US" sz="1000" dirty="0">
                <a:solidFill>
                  <a:srgbClr val="0F172A"/>
                </a:solidFill>
                <a:latin typeface="Poppins" pitchFamily="34" charset="0"/>
                <a:ea typeface="Poppins" pitchFamily="34" charset="-122"/>
                <a:cs typeface="Poppins" pitchFamily="34" charset="-120"/>
              </a:rPr>
              <a:t>Schedule Phase 1 technical kick-off</a:t>
            </a:r>
            <a:endParaRPr lang="en-US" sz="1000" dirty="0"/>
          </a:p>
        </p:txBody>
      </p:sp>
      <p:sp>
        <p:nvSpPr>
          <p:cNvPr id="15" name="Text 8"/>
          <p:cNvSpPr/>
          <p:nvPr/>
        </p:nvSpPr>
        <p:spPr>
          <a:xfrm>
            <a:off x="1828800" y="4572000"/>
            <a:ext cx="5486400" cy="274320"/>
          </a:xfrm>
          <a:prstGeom prst="rect">
            <a:avLst/>
          </a:prstGeom>
          <a:noFill/>
          <a:ln/>
        </p:spPr>
        <p:txBody>
          <a:bodyPr wrap="square" lIns="0" tIns="0" rIns="0" bIns="0" rtlCol="0" anchor="ctr"/>
          <a:lstStyle/>
          <a:p>
            <a:pPr algn="ctr" indent="0" marL="0">
              <a:buNone/>
            </a:pPr>
            <a:r>
              <a:rPr lang="en-US" sz="900" dirty="0">
                <a:solidFill>
                  <a:srgbClr val="9CA3AF"/>
                </a:solidFill>
                <a:latin typeface="Poppins" pitchFamily="34" charset="0"/>
                <a:ea typeface="Poppins" pitchFamily="34" charset="-122"/>
                <a:cs typeface="Poppins" pitchFamily="34" charset="-120"/>
              </a:rPr>
              <a:t>Contact: edouard@c4rbon.group  |  kinn.c4rbon.group</a:t>
            </a:r>
            <a:endParaRPr lang="en-US" sz="900" dirty="0"/>
          </a:p>
        </p:txBody>
      </p:sp>
      <p:sp>
        <p:nvSpPr>
          <p:cNvPr id="16" name="Text 9"/>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KINN × Stocklor — MHS Technical Integration</dc:title>
  <dc:subject>PptxGenJS Presentation</dc:subject>
  <dc:creator>C4RBON Group</dc:creator>
  <cp:lastModifiedBy>C4RBON Group</cp:lastModifiedBy>
  <cp:revision>1</cp:revision>
  <dcterms:created xsi:type="dcterms:W3CDTF">2026-03-11T09:34:54Z</dcterms:created>
  <dcterms:modified xsi:type="dcterms:W3CDTF">2026-03-11T09:34:54Z</dcterms:modified>
</cp:coreProperties>
</file>