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702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1677FF">
              <a:alpha val="8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731520"/>
            <a:ext cx="201168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Charte Graphique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Identité visuelle et règles d'utilisation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Version 1.0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Sommaire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005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logo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Versions, tailles minimales, zones de protection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572768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couleurs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783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Palette principale, secondaire et fonctionnelle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121408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103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typographie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331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Polices, hiérarchie et usage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670048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2651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L'iconographie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880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Systèmes d'icônes et style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218688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3200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espacements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429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Grille, rayons et ombres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767328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3749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composants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3977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Boutons, cartes, formulaires, code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315968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315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4297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bonnes pratiques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4526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Do's &amp; Don'ts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logo — Version principale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45720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29260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280160"/>
            <a:ext cx="3840480" cy="2011680"/>
          </a:xfrm>
          <a:prstGeom prst="rect">
            <a:avLst/>
          </a:prstGeom>
          <a:solidFill>
            <a:srgbClr val="F7F9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54480" y="1554480"/>
            <a:ext cx="292608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Logo principal — « W » stylisé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0" y="100584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1005840"/>
            <a:ext cx="54864" cy="292608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Spécifications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43600" y="15544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Monogramme « W » en noir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Couleur par défaut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#111111 (noir neutre)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Fichiers sources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logo.png (298 Ko)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trigger.svg (512×512)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c4.svg (1170×977)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logic.svg (1024×1024)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Favicon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favicon.ico (multi-résolution)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logo — Variantes et icônes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2011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188720"/>
            <a:ext cx="2011680" cy="1280160"/>
          </a:xfrm>
          <a:prstGeom prst="rect">
            <a:avLst/>
          </a:prstGeom>
          <a:solidFill>
            <a:srgbClr val="F7F9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0" y="128016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trigger.svg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00584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005840"/>
            <a:ext cx="54864" cy="2011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Shape 8"/>
          <p:cNvSpPr/>
          <p:nvPr/>
        </p:nvSpPr>
        <p:spPr>
          <a:xfrm>
            <a:off x="3566160" y="1188720"/>
            <a:ext cx="2011680" cy="1280160"/>
          </a:xfrm>
          <a:prstGeom prst="rect">
            <a:avLst/>
          </a:prstGeom>
          <a:solidFill>
            <a:srgbClr val="F7F9F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23360" y="1280160"/>
            <a:ext cx="1097280" cy="914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c4.svg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100584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0" y="1005840"/>
            <a:ext cx="54864" cy="2011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Shape 12"/>
          <p:cNvSpPr/>
          <p:nvPr/>
        </p:nvSpPr>
        <p:spPr>
          <a:xfrm>
            <a:off x="6217920" y="1188720"/>
            <a:ext cx="2011680" cy="1280160"/>
          </a:xfrm>
          <a:prstGeom prst="rect">
            <a:avLst/>
          </a:prstGeom>
          <a:solidFill>
            <a:srgbClr val="F7F9F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75120" y="1280160"/>
            <a:ext cx="1097280" cy="10972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logic.svg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1520" y="329184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291840"/>
            <a:ext cx="54864" cy="137160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1" name="Shape 16"/>
          <p:cNvSpPr/>
          <p:nvPr/>
        </p:nvSpPr>
        <p:spPr>
          <a:xfrm>
            <a:off x="914400" y="3474720"/>
            <a:ext cx="3383280" cy="914400"/>
          </a:xfrm>
          <a:prstGeom prst="rect">
            <a:avLst/>
          </a:prstGeom>
          <a:solidFill>
            <a:srgbClr val="0A1929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88720" y="3566160"/>
            <a:ext cx="731520" cy="731520"/>
          </a:xfrm>
          <a:prstGeom prst="rect">
            <a:avLst/>
          </a:prstGeom>
        </p:spPr>
      </p:pic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194560" y="3566160"/>
            <a:ext cx="731520" cy="640080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200400" y="3566160"/>
            <a:ext cx="731520" cy="7315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14400" y="44805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Version blanche sur fond sombre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4846320" y="3291840"/>
            <a:ext cx="35661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846320" y="3291840"/>
            <a:ext cx="54864" cy="137160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8" name="Shape 20"/>
          <p:cNvSpPr/>
          <p:nvPr/>
        </p:nvSpPr>
        <p:spPr>
          <a:xfrm>
            <a:off x="5029200" y="3474720"/>
            <a:ext cx="3200400" cy="914400"/>
          </a:xfrm>
          <a:prstGeom prst="rect">
            <a:avLst/>
          </a:prstGeom>
          <a:solidFill>
            <a:srgbClr val="F7F9FC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943600" y="3566160"/>
            <a:ext cx="731520" cy="7315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029200" y="44805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Version bleue — accent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logo — Zones de protection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45720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3200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280160"/>
            <a:ext cx="3840480" cy="2286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645920"/>
            <a:ext cx="292608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EF4444"/>
            </a:solidFill>
            <a:prstDash val="dash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0" y="1828800"/>
            <a:ext cx="201168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611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← Zone de protection →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97280" y="38862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Minimum : hauteur du « W » sur chaque côté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100584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0" y="1005840"/>
            <a:ext cx="54864" cy="320040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Règles d'utilisation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0" y="155448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Taille minimale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32px de hauteur (écran)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15mm de hauteur (print)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Zone de protection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Espace libre = hauteur du W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autour de chaque côté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 jamais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Déformer ou étirer le logo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Changer les couleurs du logo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Ajouter des effets ou ombres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Placer sur un fond chargé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couleurs — Palette principale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2011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Couleurs de marque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554480"/>
            <a:ext cx="640080" cy="640080"/>
          </a:xfrm>
          <a:prstGeom prst="rect">
            <a:avLst/>
          </a:prstGeom>
          <a:solidFill>
            <a:srgbClr val="111111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830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/ Brand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#111111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2286000"/>
            <a:ext cx="640080" cy="640080"/>
          </a:xfrm>
          <a:prstGeom prst="rect">
            <a:avLst/>
          </a:prstGeom>
          <a:solidFill>
            <a:srgbClr val="1677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8308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Accent / Interactive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#1677FF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100584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005840"/>
            <a:ext cx="54864" cy="2011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Couleurs fonctionnelles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12080" y="1554480"/>
            <a:ext cx="640080" cy="640080"/>
          </a:xfrm>
          <a:prstGeom prst="rect">
            <a:avLst/>
          </a:prstGeom>
          <a:solidFill>
            <a:srgbClr val="16A34A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8932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Success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#16A34A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2286000"/>
            <a:ext cx="640080" cy="640080"/>
          </a:xfrm>
          <a:prstGeom prst="rect">
            <a:avLst/>
          </a:prstGeom>
          <a:solidFill>
            <a:srgbClr val="F59E0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8932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Warning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#F59E0B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29184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29184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5840" y="3429000"/>
            <a:ext cx="640080" cy="640080"/>
          </a:xfrm>
          <a:prstGeom prst="rect">
            <a:avLst/>
          </a:prstGeom>
          <a:solidFill>
            <a:srgbClr val="EF4444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78308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Error / Danger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8308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#EF4444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5840" y="4069080"/>
            <a:ext cx="640080" cy="640080"/>
          </a:xfrm>
          <a:prstGeom prst="rect">
            <a:avLst/>
          </a:prstGeom>
          <a:solidFill>
            <a:srgbClr val="0F66E8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7830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Blue Hover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78308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#0F66E8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291840"/>
            <a:ext cx="34747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3291840"/>
            <a:ext cx="54864" cy="137160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212080" y="3429000"/>
            <a:ext cx="640080" cy="640080"/>
          </a:xfrm>
          <a:prstGeom prst="rect">
            <a:avLst/>
          </a:prstGeom>
          <a:solidFill>
            <a:srgbClr val="0A1929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8932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Dark Background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8932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#0A1929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12080" y="4069080"/>
            <a:ext cx="640080" cy="640080"/>
          </a:xfrm>
          <a:prstGeom prst="rect">
            <a:avLst/>
          </a:prstGeom>
          <a:solidFill>
            <a:srgbClr val="0080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8932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Nav Active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8932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#0080FF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couleurs — Neutres et surfaces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2011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554480"/>
            <a:ext cx="640080" cy="640080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830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Titre / Dark 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#0F172A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2286000"/>
            <a:ext cx="640080" cy="640080"/>
          </a:xfrm>
          <a:prstGeom prst="rect">
            <a:avLst/>
          </a:prstGeom>
          <a:solidFill>
            <a:srgbClr val="374151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8308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Body 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#374151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100584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005840"/>
            <a:ext cx="54864" cy="20116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12080" y="1554480"/>
            <a:ext cx="640080" cy="640080"/>
          </a:xfrm>
          <a:prstGeom prst="rect">
            <a:avLst/>
          </a:prstGeom>
          <a:solidFill>
            <a:srgbClr val="6B7280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8932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Label / Caption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#6B7280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2286000"/>
            <a:ext cx="640080" cy="640080"/>
          </a:xfrm>
          <a:prstGeom prst="rect">
            <a:avLst/>
          </a:prstGeom>
          <a:solidFill>
            <a:srgbClr val="8C8C8C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8932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Placeholder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#8C8C8C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291840"/>
            <a:ext cx="7680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291840"/>
            <a:ext cx="54864" cy="137160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Surfaces et fonds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05840" y="379476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Composant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377440" y="3794760"/>
            <a:ext cx="109728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bg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#F7F9FC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749040" y="3794760"/>
            <a:ext cx="109728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 bg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#FAFAFA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20640" y="3794760"/>
            <a:ext cx="1097280" cy="457200"/>
          </a:xfrm>
          <a:prstGeom prst="rect">
            <a:avLst/>
          </a:prstGeom>
          <a:solidFill>
            <a:srgbClr val="F3F7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bg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#F3F7FF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92240" y="3794760"/>
            <a:ext cx="1097280" cy="4572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#E5E7EB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typographie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45720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13716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Police système (UI)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-apple-system, BlinkMacSystemFont,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'Segoe UI', Roboto, 'Helvetica Neue', Arial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100584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005840"/>
            <a:ext cx="54864" cy="137160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Fonts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 Tight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Poids 100–900, italic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Flow Circular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Police décorative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3200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65176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Police personnalisée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Sarine Medium (.ttf)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Police display pour titres spéciaux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265176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2651760"/>
            <a:ext cx="54864" cy="2011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Hiérarchie typographique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Titre de slide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83680" y="3200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36-44pt bold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header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3474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20-24pt bold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Body text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3749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14-16pt regular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4023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4023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10-12pt gray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4297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/ mono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4297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 monospace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L'iconographie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2011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Systèmes d'icônes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 Design Icons (principal)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Via ng-zorro-antd v20.1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Inline SVG, cohérent avec l'UI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Font Awesome 6.5.1 (secondaire)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Via CDN, couverture étendue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Fallback et icônes de marque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00584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005840"/>
            <a:ext cx="54864" cy="201168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Style d'utilisation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15087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Style : outlined (par défaut)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Taille menu : 20-24px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Taille inline : 14-16px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Couleur : hérite du texte parent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Sidebar active : blanc sur fond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7680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291840"/>
            <a:ext cx="54864" cy="137160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Exemples d'icônes utilisées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3794760"/>
            <a:ext cx="502920" cy="50292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78" y="3870198"/>
            <a:ext cx="352044" cy="35204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783080" y="3794760"/>
            <a:ext cx="502920" cy="50292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518" y="3870198"/>
            <a:ext cx="352044" cy="35204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560320" y="3794760"/>
            <a:ext cx="502920" cy="50292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5758" y="3870198"/>
            <a:ext cx="352044" cy="35204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337560" y="3794760"/>
            <a:ext cx="502920" cy="50292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2998" y="3870198"/>
            <a:ext cx="352044" cy="35204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14800" y="3794760"/>
            <a:ext cx="502920" cy="50292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0238" y="3870198"/>
            <a:ext cx="352044" cy="352044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892040" y="3794760"/>
            <a:ext cx="502920" cy="50292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7478" y="3870198"/>
            <a:ext cx="352044" cy="352044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669280" y="3794760"/>
            <a:ext cx="502920" cy="50292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4718" y="3870198"/>
            <a:ext cx="352044" cy="352044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6446520" y="3794760"/>
            <a:ext cx="502920" cy="50292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1958" y="3870198"/>
            <a:ext cx="352044" cy="352044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7223760" y="3794760"/>
            <a:ext cx="502920" cy="50292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99198" y="3870198"/>
            <a:ext cx="352044" cy="352044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8001000" y="3794760"/>
            <a:ext cx="502920" cy="502920"/>
          </a:xfrm>
          <a:prstGeom prst="ellipse">
            <a:avLst/>
          </a:prstGeom>
          <a:solidFill>
            <a:srgbClr val="E6F4FF"/>
          </a:solidFill>
          <a:ln/>
        </p:spPr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6438" y="3870198"/>
            <a:ext cx="352044" cy="3520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Espacements, rayons et ombres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2011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Border Radius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77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Standard : 6px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(boutons, cards, inputs, modals)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Navbar items : 13px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blocks : 10px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Scrollbars : 8px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1005840"/>
            <a:ext cx="46634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49040" y="1005840"/>
            <a:ext cx="54864" cy="201168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Ombres (Box Shadows)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0" y="1554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Subtle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2px 0 rgba(0,0,0,0.045)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98080" y="1554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Boutons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23360" y="1901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1901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8px 24px rgba(0,0,0,0.06)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498080" y="1901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Cards, dropdowns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0" y="22494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Élevée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2494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12px 32px rgba(0,0,0,0.08)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98080" y="224942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Modals, overlays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23360" y="25968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Focus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0 0 2px rgba(22,119,255,0.15)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98080" y="259689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Inputs focus (bleu)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291840"/>
            <a:ext cx="7680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291840"/>
            <a:ext cx="54864" cy="13716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Espacements clés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7947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Header padding: 11px  |  Menu item margin: 6px  |  Menu padding: 12px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Drawer padding: 8px 2px  |  Navbar border-radius: 13px  |  Nav item: 40×40px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Grille formulaires: 24 colonnes  |  Transitions: 160ms ease (menu), 0.3s ease (tour)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composants — Boutons et cartes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2286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Boutons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554480"/>
            <a:ext cx="1645920" cy="365760"/>
          </a:xfrm>
          <a:prstGeom prst="rect">
            <a:avLst/>
          </a:prstGeom>
          <a:solidFill>
            <a:srgbClr val="111111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#111, blanc, 6px radius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05840" y="205740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Blanc, border, 8px radius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2560320"/>
            <a:ext cx="164592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#EF4444, blanc, 6px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100584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005840"/>
            <a:ext cx="54864" cy="228600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150876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Background: #FFFFFF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Border-radius: 6px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Shadow: 0 8px 24px rgba(0,0,0,0.06)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Accent bar gauche: #111 (4-6px)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Style Apple-like : minimal, propre,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ombres douces, coins arrondis.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566160"/>
            <a:ext cx="54864" cy="118872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5840" y="3977640"/>
            <a:ext cx="3200400" cy="365760"/>
          </a:xfrm>
          <a:prstGeom prst="rect">
            <a:avLst/>
          </a:prstGeom>
          <a:solidFill>
            <a:srgbClr val="F3F7FF"/>
          </a:solidFill>
          <a:ln w="12700">
            <a:solidFill>
              <a:srgbClr val="D9E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Placeholder text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389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Bg: #F3F7FF, border: #D9E4FF, focus: blue shadow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37760" y="3566160"/>
            <a:ext cx="3474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3566160"/>
            <a:ext cx="54864" cy="1188720"/>
          </a:xfrm>
          <a:prstGeom prst="rect">
            <a:avLst/>
          </a:prstGeom>
          <a:solidFill>
            <a:srgbClr val="0F66E8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blocks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212080" y="3977640"/>
            <a:ext cx="292608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4005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"key": "value" }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44805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Bg: #0F172A, text: #E2E8F0, radius: 10px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composants — Navbar et layout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3200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Navbar / Sidebar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554480"/>
            <a:ext cx="1371600" cy="22860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1828800"/>
            <a:ext cx="1188720" cy="365760"/>
          </a:xfrm>
          <a:prstGeom prst="rect">
            <a:avLst/>
          </a:prstGeom>
          <a:solidFill>
            <a:srgbClr val="0080F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2286000"/>
            <a:ext cx="1188720" cy="365760"/>
          </a:xfrm>
          <a:prstGeom prst="rect">
            <a:avLst/>
          </a:prstGeom>
          <a:solidFill>
            <a:srgbClr val="75BAFF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Hover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2743200"/>
            <a:ext cx="11887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743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Normal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160020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Background: #F8FAFC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Border-radius: 13px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Item: 40×40px, radius 13px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Active: #0080FF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Hover: #75BAFF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Transition: 0.3s ease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100584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005840"/>
            <a:ext cx="54864" cy="164592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Tours guidés (driver.js)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1508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Border-radius: 8px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Shadow: 0 6px 20px rgba(0,0,0,0.12)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Max-width: 380px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Titre: 16px, 600, #0F172A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Desc: 14px, line-height 1.6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Bouton: #111 bg, white text, 6px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2926080"/>
            <a:ext cx="34747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2926080"/>
            <a:ext cx="54864" cy="12801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Scrollbar &amp; transitions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3429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Scrollbar: 8px, thumb #CBD5E1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Border-radius: 8px, transparent bg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 anim: 160ms ease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Inspector: .18s ease (grid)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Bonnes pratiques — Do's &amp; Don'ts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8404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33832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Do's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Utiliser #111111 comme couleur primaire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Respecter le border-radius de 6px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Utiliser les ombres douces définies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Garder des espaces aérés (Apple-like)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Utiliser le bleu #1677FF pour l'interactif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Icônes outlined par défaut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Logo blanc sur fond sombre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Garder la zone de protection du logo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Utiliser la font system stack pour l'UI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Tester la lisibilité des contrastes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005840"/>
            <a:ext cx="34747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005840"/>
            <a:ext cx="54864" cy="3383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Don'ts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2080" y="155448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Déformer ou étirer le logo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Utiliser des couleurs hors palette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Ajouter des effets au logo (ombre, glow)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Ignorer les zones de protection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Utiliser du texte gris clair sur blanc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Mélanger les systèmes d'icônes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Utiliser des border-radius incohérents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Surcharger avec des ombres lourdes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Changer les polices arbitrairement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Utiliser le logo sous 32px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Récapitulatif des tokens de design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3169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Token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Valeur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Usage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@primary-color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#111111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Marque, boutons primaires, accents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@accent-blue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#1677FF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Liens, focus, interactivité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@success-color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#16A34A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Succès, validation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@warning-color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#F59E0B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Alertes, attention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@error-color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#EF4444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Erreurs, actions destructives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@border-radius-base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6px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Tous les composants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@box-shadow-base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 8px 24px rgba(0,0,0,0.06)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Cards, dropdowns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@font-family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System stack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-apple-system, SF, Segoe…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@border-color-base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#E5E7EB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Bordures par défaut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@component-background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#FFFFFF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Fond des composants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@nav-active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#0080FF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Item sidebar actif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@input-bg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#F3F7FF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Fond des champs de formulaire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1677FF">
              <a:alpha val="8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0" y="914400"/>
            <a:ext cx="274320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Charte Graphique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toute question, contactez l'équipe design.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8C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Version 1.0 — 2026  •  Kinn by C4rbon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1086</Words>
  <Application>Microsoft Macintosh PowerPoint</Application>
  <PresentationFormat>Affichage à l'écran (16:9)</PresentationFormat>
  <Paragraphs>296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Courier New</vt:lpstr>
      <vt:lpstr>Poppins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Charte Graphique Kinn</dc:title>
  <dc:subject>PptxGenJS Presentation</dc:subject>
  <dc:creator>Kinn</dc:creator>
  <cp:lastModifiedBy>Edouard Bernier-Nahon</cp:lastModifiedBy>
  <cp:revision>1</cp:revision>
  <dcterms:created xsi:type="dcterms:W3CDTF">2026-03-04T15:52:35Z</dcterms:created>
  <dcterms:modified xsi:type="dcterms:W3CDTF">2026-03-05T16:45:18Z</dcterms:modified>
</cp:coreProperties>
</file>