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couverture. Le groupe Hans &amp; Associés accompagne plus de 9 000 entreprises avec 450 collaborateurs répartis dans 40 bureaux. Le projet vise à créer une plateforme digitale unique propulsée par KINN.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groupe Hans &amp; Associés est un écosystème de 10 entités complémentaires. Fondé en 1985 par René Hans, le groupe a grandi par acquisitions successives : ALSEC en 2008 (1 600 clients), des cabinets en Île-de-France en 2016, et iLoos Informatique en 2023. Le groupe couvre : comptabilité, audit, juridique, social, assurance, financement, IT, formation, cession d'entreprise et centres d'affaires.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le groupe utilise de nombreux outils fragmentés : Pennylane pour la comptabilité, Cegid, MEG, des Excel, des emails... Les informations sont éparpillées entre les entités. L'expérience client est fragmentée : le dirigeant doit jongler entre plusieurs interfaces et interlocuteurs. Les tâches de création de dossier, génération de documents, affectation d'équipe sont toutes manuelles.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vision n'est pas de recréer un ERP. C'est de créer une plateforme connectée aux logiciels existants (Pennylane, Cegid, MEG) via API. La plateforme devient l'interface utilisateur unique, la couche d'automatisation et la couche d'intelligence. Les données restent dans les systèmes métiers.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interne, la plateforme automatise les processus du cabinet. Exemple : quand un nouveau client arrive, un workflow crée automatiquement le dossier, génère les documents juridiques, ouvre la GED et affecte l'équipe. Zéro saisie manuelle. Les collaborateurs gagnent du temps sur la gestion des dossiers, la génération documentaire, les workflows de validation et la communication inter-services.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portail dirigeant est le cockpit de l'entreprise. Le client peut : créer devis et factures, consulter et modifier ses documents, échanger avec son expert-comptable, voir ses KPI, souscrire une assurance via Beyer, demander un financement via Chasseur de Prêts, créer ses propres automatisations, et utiliser l'assistant IA. Les services du groupe Hans sont intégrés nativement — pas dans les workflows, directement dans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niveaux d'automatisation. Niveau 1 : les services du groupe (comptabilité, assurance, financement, GED) sont intégrés nativement dans l'application — pas besoin de créer un workflow. Niveau 2 : les workflows KINN permettent aux équipes internes ET aux clients dirigeants de créer leurs propres automatisations personnalisées. L'assistant IA aide à construire ces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plateforme intègre 3 piliers documentaires. L'édition en ligne permet d'ouvrir et modifier Word, Excel, PowerPoint directement dans l'app. La génération automatique crée des documents à partir de données clients et de modèles. L'IA est adaptée aux métiers du cabinet : comptabilité, juridique, social. Les agents IA spécialisés aident à l'analyse et à la rédaction.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en 4 couches. En haut : l'interface utilisateur (portails dirigeant et collaborateur). Ensuite la plateforme KINN qui gère workflows, forms, IA et connecteurs. Puis la couche API qui sécurise les échanges. En bas : les logiciels métiers existants. Condition technique clé : vérifier la disponibilité des API des outils existants (Pennylane, Cegid, MEG) pour s'assurer qu'on peut créer des clients, lire des données, synchroniser des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bénéfices sont triples. Pour le groupe : différenciation, efficacité interne, SI unifié. Pour les clients : point d'entrée unique, cockpit entreprise, services intégrés, autonomie. En revenus : upsell digital, cross-sell assurance et financement, abonnements, marketplace. Avec 9 000 clients existants, le potentiel de monétisation est massif.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closing. Le projet transforme Hans &amp; Associés d'un groupe de cabinets en une plateforme digitale connectée. Point d'entrée unique pour 9 000 entreprises, services intégrés nativement, IA adaptée aux métiers, et scalable pour une expansion nationale.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slideLayout" Target="../slideLayouts/slideLayout1.xml"/><Relationship Id="rId2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3A5C"/>
          </a:solidFill>
          <a:ln/>
        </p:spPr>
      </p:sp>
      <p:pic>
        <p:nvPicPr>
          <p:cNvPr id="3" name="Image 0" descr="preencoded.png">    </p:cNvPr>
          <p:cNvPicPr>
            <a:picLocks noChangeAspect="1"/>
          </p:cNvPicPr>
          <p:nvPr/>
        </p:nvPicPr>
        <p:blipFill>
          <a:blip r:embed="rId1"/>
          <a:stretch>
            <a:fillRect/>
          </a:stretch>
        </p:blipFill>
        <p:spPr>
          <a:xfrm>
            <a:off x="2926080" y="1097280"/>
            <a:ext cx="1097280" cy="685800"/>
          </a:xfrm>
          <a:prstGeom prst="rect">
            <a:avLst/>
          </a:prstGeom>
        </p:spPr>
      </p:pic>
      <p:sp>
        <p:nvSpPr>
          <p:cNvPr id="4" name="Text 1"/>
          <p:cNvSpPr/>
          <p:nvPr/>
        </p:nvSpPr>
        <p:spPr>
          <a:xfrm>
            <a:off x="4114800" y="1097280"/>
            <a:ext cx="2286000" cy="685800"/>
          </a:xfrm>
          <a:prstGeom prst="rect">
            <a:avLst/>
          </a:prstGeom>
          <a:noFill/>
          <a:ln/>
        </p:spPr>
        <p:txBody>
          <a:bodyPr wrap="square" lIns="0" tIns="0" rIns="0" bIns="0" rtlCol="0" anchor="ctr"/>
          <a:lstStyle/>
          <a:p>
            <a:pPr indent="0" marL="0">
              <a:buNone/>
            </a:pPr>
            <a:r>
              <a:rPr lang="en-US" sz="3600" b="1" dirty="0">
                <a:solidFill>
                  <a:srgbClr val="0F172A"/>
                </a:solidFill>
                <a:latin typeface="Poppins" pitchFamily="34" charset="0"/>
                <a:ea typeface="Poppins" pitchFamily="34" charset="-122"/>
                <a:cs typeface="Poppins" pitchFamily="34" charset="-120"/>
              </a:rPr>
              <a:t>KINN</a:t>
            </a:r>
            <a:endParaRPr lang="en-US" sz="3600" dirty="0"/>
          </a:p>
        </p:txBody>
      </p:sp>
      <p:sp>
        <p:nvSpPr>
          <p:cNvPr id="5" name="Text 2"/>
          <p:cNvSpPr/>
          <p:nvPr/>
        </p:nvSpPr>
        <p:spPr>
          <a:xfrm>
            <a:off x="2286000" y="1920240"/>
            <a:ext cx="4572000" cy="457200"/>
          </a:xfrm>
          <a:prstGeom prst="rect">
            <a:avLst/>
          </a:prstGeom>
          <a:noFill/>
          <a:ln/>
        </p:spPr>
        <p:txBody>
          <a:bodyPr wrap="square" lIns="0" tIns="0" rIns="0" bIns="0" rtlCol="0" anchor="ctr"/>
          <a:lstStyle/>
          <a:p>
            <a:pPr algn="ctr" indent="0" marL="0">
              <a:buNone/>
            </a:pPr>
            <a:r>
              <a:rPr lang="en-US" sz="2200" b="1" dirty="0">
                <a:solidFill>
                  <a:srgbClr val="1B3A5C"/>
                </a:solidFill>
                <a:latin typeface="Poppins" pitchFamily="34" charset="0"/>
                <a:ea typeface="Poppins" pitchFamily="34" charset="-122"/>
                <a:cs typeface="Poppins" pitchFamily="34" charset="-120"/>
              </a:rPr>
              <a:t>×  Hans &amp; Associés</a:t>
            </a:r>
            <a:endParaRPr lang="en-US" sz="2200" dirty="0"/>
          </a:p>
        </p:txBody>
      </p:sp>
      <p:sp>
        <p:nvSpPr>
          <p:cNvPr id="6" name="Text 3"/>
          <p:cNvSpPr/>
          <p:nvPr/>
        </p:nvSpPr>
        <p:spPr>
          <a:xfrm>
            <a:off x="1371600" y="2651760"/>
            <a:ext cx="6400800" cy="731520"/>
          </a:xfrm>
          <a:prstGeom prst="rect">
            <a:avLst/>
          </a:prstGeom>
          <a:noFill/>
          <a:ln/>
        </p:spPr>
        <p:txBody>
          <a:bodyPr wrap="square" lIns="0" tIns="0" rIns="0" bIns="0" rtlCol="0" anchor="ctr"/>
          <a:lstStyle/>
          <a:p>
            <a:pPr algn="ctr" indent="0" marL="0">
              <a:lnSpc>
                <a:spcPct val="140000"/>
              </a:lnSpc>
              <a:buNone/>
            </a:pPr>
            <a:r>
              <a:rPr lang="en-US" sz="1400" dirty="0">
                <a:solidFill>
                  <a:srgbClr val="374151"/>
                </a:solidFill>
                <a:latin typeface="Poppins" pitchFamily="34" charset="0"/>
                <a:ea typeface="Poppins" pitchFamily="34" charset="-122"/>
                <a:cs typeface="Poppins" pitchFamily="34" charset="-120"/>
              </a:rPr>
              <a:t>Plateforme digitale pour piloter</a:t>
            </a:r>
            <a:endParaRPr lang="en-US" sz="1400" dirty="0"/>
          </a:p>
          <a:p>
            <a:pPr algn="ctr" indent="0" marL="0">
              <a:lnSpc>
                <a:spcPct val="140000"/>
              </a:lnSpc>
              <a:buNone/>
            </a:pPr>
            <a:r>
              <a:rPr lang="en-US" sz="1400" dirty="0">
                <a:solidFill>
                  <a:srgbClr val="374151"/>
                </a:solidFill>
                <a:latin typeface="Poppins" pitchFamily="34" charset="0"/>
                <a:ea typeface="Poppins" pitchFamily="34" charset="-122"/>
                <a:cs typeface="Poppins" pitchFamily="34" charset="-120"/>
              </a:rPr>
              <a:t>9 000 entreprises depuis une seule interface</a:t>
            </a:r>
            <a:endParaRPr lang="en-US" sz="1400" dirty="0"/>
          </a:p>
        </p:txBody>
      </p:sp>
      <p:sp>
        <p:nvSpPr>
          <p:cNvPr id="7" name="Shape 4"/>
          <p:cNvSpPr/>
          <p:nvPr/>
        </p:nvSpPr>
        <p:spPr>
          <a:xfrm>
            <a:off x="800100" y="3749040"/>
            <a:ext cx="1645920" cy="777240"/>
          </a:xfrm>
          <a:prstGeom prst="rect">
            <a:avLst>
              <a:gd name="adj" fmla="val 7059"/>
            </a:avLst>
          </a:prstGeom>
          <a:solidFill>
            <a:srgbClr val="F7F9FC"/>
          </a:solidFill>
          <a:ln/>
        </p:spPr>
      </p:sp>
      <p:sp>
        <p:nvSpPr>
          <p:cNvPr id="8" name="Text 5"/>
          <p:cNvSpPr/>
          <p:nvPr/>
        </p:nvSpPr>
        <p:spPr>
          <a:xfrm>
            <a:off x="800100" y="3767328"/>
            <a:ext cx="1645920" cy="365760"/>
          </a:xfrm>
          <a:prstGeom prst="rect">
            <a:avLst/>
          </a:prstGeom>
          <a:noFill/>
          <a:ln/>
        </p:spPr>
        <p:txBody>
          <a:bodyPr wrap="square" lIns="0" tIns="0" rIns="0" bIns="0" rtlCol="0" anchor="ctr"/>
          <a:lstStyle/>
          <a:p>
            <a:pPr algn="ctr" indent="0" marL="0">
              <a:buNone/>
            </a:pPr>
            <a:r>
              <a:rPr lang="en-US" sz="1800" b="1" dirty="0">
                <a:solidFill>
                  <a:srgbClr val="1677FF"/>
                </a:solidFill>
                <a:latin typeface="Poppins" pitchFamily="34" charset="0"/>
                <a:ea typeface="Poppins" pitchFamily="34" charset="-122"/>
                <a:cs typeface="Poppins" pitchFamily="34" charset="-120"/>
              </a:rPr>
              <a:t>9 000</a:t>
            </a:r>
            <a:endParaRPr lang="en-US" sz="1800" dirty="0"/>
          </a:p>
        </p:txBody>
      </p:sp>
      <p:sp>
        <p:nvSpPr>
          <p:cNvPr id="9" name="Text 6"/>
          <p:cNvSpPr/>
          <p:nvPr/>
        </p:nvSpPr>
        <p:spPr>
          <a:xfrm>
            <a:off x="800100" y="4133088"/>
            <a:ext cx="1645920" cy="32004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entreprises clientes</a:t>
            </a:r>
            <a:endParaRPr lang="en-US" sz="850" dirty="0"/>
          </a:p>
        </p:txBody>
      </p:sp>
      <p:sp>
        <p:nvSpPr>
          <p:cNvPr id="10" name="Shape 7"/>
          <p:cNvSpPr/>
          <p:nvPr/>
        </p:nvSpPr>
        <p:spPr>
          <a:xfrm>
            <a:off x="2766060" y="3749040"/>
            <a:ext cx="1645920" cy="777240"/>
          </a:xfrm>
          <a:prstGeom prst="rect">
            <a:avLst>
              <a:gd name="adj" fmla="val 7059"/>
            </a:avLst>
          </a:prstGeom>
          <a:solidFill>
            <a:srgbClr val="F7F9FC"/>
          </a:solidFill>
          <a:ln/>
        </p:spPr>
      </p:sp>
      <p:sp>
        <p:nvSpPr>
          <p:cNvPr id="11" name="Text 8"/>
          <p:cNvSpPr/>
          <p:nvPr/>
        </p:nvSpPr>
        <p:spPr>
          <a:xfrm>
            <a:off x="2766060" y="3767328"/>
            <a:ext cx="1645920" cy="365760"/>
          </a:xfrm>
          <a:prstGeom prst="rect">
            <a:avLst/>
          </a:prstGeom>
          <a:noFill/>
          <a:ln/>
        </p:spPr>
        <p:txBody>
          <a:bodyPr wrap="square" lIns="0" tIns="0" rIns="0" bIns="0" rtlCol="0" anchor="ctr"/>
          <a:lstStyle/>
          <a:p>
            <a:pPr algn="ctr" indent="0" marL="0">
              <a:buNone/>
            </a:pPr>
            <a:r>
              <a:rPr lang="en-US" sz="1800" b="1" dirty="0">
                <a:solidFill>
                  <a:srgbClr val="1677FF"/>
                </a:solidFill>
                <a:latin typeface="Poppins" pitchFamily="34" charset="0"/>
                <a:ea typeface="Poppins" pitchFamily="34" charset="-122"/>
                <a:cs typeface="Poppins" pitchFamily="34" charset="-120"/>
              </a:rPr>
              <a:t>450+</a:t>
            </a:r>
            <a:endParaRPr lang="en-US" sz="1800" dirty="0"/>
          </a:p>
        </p:txBody>
      </p:sp>
      <p:sp>
        <p:nvSpPr>
          <p:cNvPr id="12" name="Text 9"/>
          <p:cNvSpPr/>
          <p:nvPr/>
        </p:nvSpPr>
        <p:spPr>
          <a:xfrm>
            <a:off x="2766060" y="4133088"/>
            <a:ext cx="1645920" cy="32004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collaborateurs</a:t>
            </a:r>
            <a:endParaRPr lang="en-US" sz="850" dirty="0"/>
          </a:p>
        </p:txBody>
      </p:sp>
      <p:sp>
        <p:nvSpPr>
          <p:cNvPr id="13" name="Shape 10"/>
          <p:cNvSpPr/>
          <p:nvPr/>
        </p:nvSpPr>
        <p:spPr>
          <a:xfrm>
            <a:off x="4732020" y="3749040"/>
            <a:ext cx="1645920" cy="777240"/>
          </a:xfrm>
          <a:prstGeom prst="rect">
            <a:avLst>
              <a:gd name="adj" fmla="val 7059"/>
            </a:avLst>
          </a:prstGeom>
          <a:solidFill>
            <a:srgbClr val="F7F9FC"/>
          </a:solidFill>
          <a:ln/>
        </p:spPr>
      </p:sp>
      <p:sp>
        <p:nvSpPr>
          <p:cNvPr id="14" name="Text 11"/>
          <p:cNvSpPr/>
          <p:nvPr/>
        </p:nvSpPr>
        <p:spPr>
          <a:xfrm>
            <a:off x="4732020" y="3767328"/>
            <a:ext cx="1645920" cy="365760"/>
          </a:xfrm>
          <a:prstGeom prst="rect">
            <a:avLst/>
          </a:prstGeom>
          <a:noFill/>
          <a:ln/>
        </p:spPr>
        <p:txBody>
          <a:bodyPr wrap="square" lIns="0" tIns="0" rIns="0" bIns="0" rtlCol="0" anchor="ctr"/>
          <a:lstStyle/>
          <a:p>
            <a:pPr algn="ctr" indent="0" marL="0">
              <a:buNone/>
            </a:pPr>
            <a:r>
              <a:rPr lang="en-US" sz="1800" b="1" dirty="0">
                <a:solidFill>
                  <a:srgbClr val="1677FF"/>
                </a:solidFill>
                <a:latin typeface="Poppins" pitchFamily="34" charset="0"/>
                <a:ea typeface="Poppins" pitchFamily="34" charset="-122"/>
                <a:cs typeface="Poppins" pitchFamily="34" charset="-120"/>
              </a:rPr>
              <a:t>40+</a:t>
            </a:r>
            <a:endParaRPr lang="en-US" sz="1800" dirty="0"/>
          </a:p>
        </p:txBody>
      </p:sp>
      <p:sp>
        <p:nvSpPr>
          <p:cNvPr id="15" name="Text 12"/>
          <p:cNvSpPr/>
          <p:nvPr/>
        </p:nvSpPr>
        <p:spPr>
          <a:xfrm>
            <a:off x="4732020" y="4133088"/>
            <a:ext cx="1645920" cy="32004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bureaux en France</a:t>
            </a:r>
            <a:endParaRPr lang="en-US" sz="850" dirty="0"/>
          </a:p>
        </p:txBody>
      </p:sp>
      <p:sp>
        <p:nvSpPr>
          <p:cNvPr id="16" name="Shape 13"/>
          <p:cNvSpPr/>
          <p:nvPr/>
        </p:nvSpPr>
        <p:spPr>
          <a:xfrm>
            <a:off x="6697980" y="3749040"/>
            <a:ext cx="1645920" cy="777240"/>
          </a:xfrm>
          <a:prstGeom prst="rect">
            <a:avLst>
              <a:gd name="adj" fmla="val 7059"/>
            </a:avLst>
          </a:prstGeom>
          <a:solidFill>
            <a:srgbClr val="F7F9FC"/>
          </a:solidFill>
          <a:ln/>
        </p:spPr>
      </p:sp>
      <p:sp>
        <p:nvSpPr>
          <p:cNvPr id="17" name="Text 14"/>
          <p:cNvSpPr/>
          <p:nvPr/>
        </p:nvSpPr>
        <p:spPr>
          <a:xfrm>
            <a:off x="6697980" y="3767328"/>
            <a:ext cx="1645920" cy="365760"/>
          </a:xfrm>
          <a:prstGeom prst="rect">
            <a:avLst/>
          </a:prstGeom>
          <a:noFill/>
          <a:ln/>
        </p:spPr>
        <p:txBody>
          <a:bodyPr wrap="square" lIns="0" tIns="0" rIns="0" bIns="0" rtlCol="0" anchor="ctr"/>
          <a:lstStyle/>
          <a:p>
            <a:pPr algn="ctr" indent="0" marL="0">
              <a:buNone/>
            </a:pPr>
            <a:r>
              <a:rPr lang="en-US" sz="1800" b="1" dirty="0">
                <a:solidFill>
                  <a:srgbClr val="1677FF"/>
                </a:solidFill>
                <a:latin typeface="Poppins" pitchFamily="34" charset="0"/>
                <a:ea typeface="Poppins" pitchFamily="34" charset="-122"/>
                <a:cs typeface="Poppins" pitchFamily="34" charset="-120"/>
              </a:rPr>
              <a:t>10</a:t>
            </a:r>
            <a:endParaRPr lang="en-US" sz="1800" dirty="0"/>
          </a:p>
        </p:txBody>
      </p:sp>
      <p:sp>
        <p:nvSpPr>
          <p:cNvPr id="18" name="Text 15"/>
          <p:cNvSpPr/>
          <p:nvPr/>
        </p:nvSpPr>
        <p:spPr>
          <a:xfrm>
            <a:off x="6697980" y="4133088"/>
            <a:ext cx="1645920" cy="320040"/>
          </a:xfrm>
          <a:prstGeom prst="rect">
            <a:avLst/>
          </a:prstGeom>
          <a:noFill/>
          <a:ln/>
        </p:spPr>
        <p:txBody>
          <a:bodyPr wrap="square" lIns="0" tIns="0" rIns="0" bIns="0" rtlCol="0" anchor="ctr"/>
          <a:lstStyle/>
          <a:p>
            <a:pPr algn="ctr" indent="0" marL="0">
              <a:buNone/>
            </a:pPr>
            <a:r>
              <a:rPr lang="en-US" sz="850" dirty="0">
                <a:solidFill>
                  <a:srgbClr val="374151"/>
                </a:solidFill>
                <a:latin typeface="Poppins" pitchFamily="34" charset="0"/>
                <a:ea typeface="Poppins" pitchFamily="34" charset="-122"/>
                <a:cs typeface="Poppins" pitchFamily="34" charset="-120"/>
              </a:rPr>
              <a:t>entités partenaires</a:t>
            </a:r>
            <a:endParaRPr lang="en-US" sz="850" dirty="0"/>
          </a:p>
        </p:txBody>
      </p:sp>
      <p:sp>
        <p:nvSpPr>
          <p:cNvPr id="19" name="Text 16"/>
          <p:cNvSpPr/>
          <p:nvPr/>
        </p:nvSpPr>
        <p:spPr>
          <a:xfrm>
            <a:off x="1828800" y="4754880"/>
            <a:ext cx="5486400" cy="274320"/>
          </a:xfrm>
          <a:prstGeom prst="rect">
            <a:avLst/>
          </a:prstGeom>
          <a:noFill/>
          <a:ln/>
        </p:spPr>
        <p:txBody>
          <a:bodyPr wrap="square" lIns="0" tIns="0" rIns="0" bIns="0" rtlCol="0" anchor="ctr"/>
          <a:lstStyle/>
          <a:p>
            <a:pPr algn="ctr" indent="0" marL="0">
              <a:buNone/>
            </a:pPr>
            <a:r>
              <a:rPr lang="en-US" sz="800" dirty="0">
                <a:solidFill>
                  <a:srgbClr val="9CA3AF"/>
                </a:solidFill>
                <a:latin typeface="Poppins" pitchFamily="34" charset="0"/>
                <a:ea typeface="Poppins" pitchFamily="34" charset="-122"/>
                <a:cs typeface="Poppins" pitchFamily="34" charset="-120"/>
              </a:rPr>
              <a:t>C4RBON Group  |  Projet confidentiel  |  2026</a:t>
            </a:r>
            <a:endParaRPr lang="en-US" sz="800" dirty="0"/>
          </a:p>
        </p:txBody>
      </p:sp>
      <p:sp>
        <p:nvSpPr>
          <p:cNvPr id="20" name="Text 17"/>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Le groupe Hans &amp; Associés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Un écosystème complet au service des dirigeants depuis 1985</a:t>
            </a:r>
            <a:endParaRPr lang="en-US" sz="1100" dirty="0"/>
          </a:p>
        </p:txBody>
      </p:sp>
      <p:sp>
        <p:nvSpPr>
          <p:cNvPr id="4" name="Shape 2"/>
          <p:cNvSpPr/>
          <p:nvPr/>
        </p:nvSpPr>
        <p:spPr>
          <a:xfrm>
            <a:off x="580644" y="100584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580644" y="1005840"/>
            <a:ext cx="1508760" cy="45720"/>
          </a:xfrm>
          <a:prstGeom prst="rect">
            <a:avLst/>
          </a:prstGeom>
          <a:solidFill>
            <a:srgbClr val="1B3A5C"/>
          </a:solidFill>
          <a:ln/>
        </p:spPr>
      </p:sp>
      <p:sp>
        <p:nvSpPr>
          <p:cNvPr id="6" name="Shape 4"/>
          <p:cNvSpPr/>
          <p:nvPr/>
        </p:nvSpPr>
        <p:spPr>
          <a:xfrm>
            <a:off x="1106424" y="1188720"/>
            <a:ext cx="457200" cy="457200"/>
          </a:xfrm>
          <a:prstGeom prst="ellipse">
            <a:avLst/>
          </a:prstGeom>
          <a:solidFill>
            <a:srgbClr val="EBF5FF"/>
          </a:solidFill>
          <a:ln/>
        </p:spPr>
      </p:sp>
      <p:pic>
        <p:nvPicPr>
          <p:cNvPr id="7" name="Image 0" descr="preencoded.png">    </p:cNvPr>
          <p:cNvPicPr>
            <a:picLocks noChangeAspect="1"/>
          </p:cNvPicPr>
          <p:nvPr/>
        </p:nvPicPr>
        <p:blipFill>
          <a:blip r:embed="rId1"/>
          <a:stretch>
            <a:fillRect/>
          </a:stretch>
        </p:blipFill>
        <p:spPr>
          <a:xfrm>
            <a:off x="1175004" y="1261872"/>
            <a:ext cx="320040" cy="320040"/>
          </a:xfrm>
          <a:prstGeom prst="rect">
            <a:avLst/>
          </a:prstGeom>
        </p:spPr>
      </p:pic>
      <p:sp>
        <p:nvSpPr>
          <p:cNvPr id="8" name="Text 5"/>
          <p:cNvSpPr/>
          <p:nvPr/>
        </p:nvSpPr>
        <p:spPr>
          <a:xfrm>
            <a:off x="626364" y="173736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Hans &amp; Associés</a:t>
            </a:r>
            <a:endParaRPr lang="en-US" sz="850" dirty="0"/>
          </a:p>
        </p:txBody>
      </p:sp>
      <p:sp>
        <p:nvSpPr>
          <p:cNvPr id="9" name="Text 6"/>
          <p:cNvSpPr/>
          <p:nvPr/>
        </p:nvSpPr>
        <p:spPr>
          <a:xfrm>
            <a:off x="626364" y="201168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Expertise comptable</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Audit · Conseil fiscal</a:t>
            </a:r>
            <a:endParaRPr lang="en-US" sz="750" dirty="0"/>
          </a:p>
        </p:txBody>
      </p:sp>
      <p:sp>
        <p:nvSpPr>
          <p:cNvPr id="10" name="Shape 7"/>
          <p:cNvSpPr/>
          <p:nvPr/>
        </p:nvSpPr>
        <p:spPr>
          <a:xfrm>
            <a:off x="2199132" y="100584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11" name="Shape 8"/>
          <p:cNvSpPr/>
          <p:nvPr/>
        </p:nvSpPr>
        <p:spPr>
          <a:xfrm>
            <a:off x="2199132" y="1005840"/>
            <a:ext cx="1508760" cy="45720"/>
          </a:xfrm>
          <a:prstGeom prst="rect">
            <a:avLst/>
          </a:prstGeom>
          <a:solidFill>
            <a:srgbClr val="0891B2"/>
          </a:solidFill>
          <a:ln/>
        </p:spPr>
      </p:sp>
      <p:sp>
        <p:nvSpPr>
          <p:cNvPr id="12" name="Shape 9"/>
          <p:cNvSpPr/>
          <p:nvPr/>
        </p:nvSpPr>
        <p:spPr>
          <a:xfrm>
            <a:off x="2724912" y="1188720"/>
            <a:ext cx="457200" cy="457200"/>
          </a:xfrm>
          <a:prstGeom prst="ellipse">
            <a:avLst/>
          </a:prstGeom>
          <a:solidFill>
            <a:srgbClr val="EBF5FF"/>
          </a:solidFill>
          <a:ln/>
        </p:spPr>
      </p:sp>
      <p:pic>
        <p:nvPicPr>
          <p:cNvPr id="13" name="Image 1" descr="preencoded.png">    </p:cNvPr>
          <p:cNvPicPr>
            <a:picLocks noChangeAspect="1"/>
          </p:cNvPicPr>
          <p:nvPr/>
        </p:nvPicPr>
        <p:blipFill>
          <a:blip r:embed="rId2"/>
          <a:stretch>
            <a:fillRect/>
          </a:stretch>
        </p:blipFill>
        <p:spPr>
          <a:xfrm>
            <a:off x="2793492" y="1261872"/>
            <a:ext cx="320040" cy="320040"/>
          </a:xfrm>
          <a:prstGeom prst="rect">
            <a:avLst/>
          </a:prstGeom>
        </p:spPr>
      </p:pic>
      <p:sp>
        <p:nvSpPr>
          <p:cNvPr id="14" name="Text 10"/>
          <p:cNvSpPr/>
          <p:nvPr/>
        </p:nvSpPr>
        <p:spPr>
          <a:xfrm>
            <a:off x="2244852" y="173736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Beyer Assurances</a:t>
            </a:r>
            <a:endParaRPr lang="en-US" sz="850" dirty="0"/>
          </a:p>
        </p:txBody>
      </p:sp>
      <p:sp>
        <p:nvSpPr>
          <p:cNvPr id="15" name="Text 11"/>
          <p:cNvSpPr/>
          <p:nvPr/>
        </p:nvSpPr>
        <p:spPr>
          <a:xfrm>
            <a:off x="2244852" y="201168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Assurance</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Gestion de patrimoine</a:t>
            </a:r>
            <a:endParaRPr lang="en-US" sz="750" dirty="0"/>
          </a:p>
        </p:txBody>
      </p:sp>
      <p:sp>
        <p:nvSpPr>
          <p:cNvPr id="16" name="Shape 12"/>
          <p:cNvSpPr/>
          <p:nvPr/>
        </p:nvSpPr>
        <p:spPr>
          <a:xfrm>
            <a:off x="3817620" y="100584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17" name="Shape 13"/>
          <p:cNvSpPr/>
          <p:nvPr/>
        </p:nvSpPr>
        <p:spPr>
          <a:xfrm>
            <a:off x="3817620" y="1005840"/>
            <a:ext cx="1508760" cy="45720"/>
          </a:xfrm>
          <a:prstGeom prst="rect">
            <a:avLst/>
          </a:prstGeom>
          <a:solidFill>
            <a:srgbClr val="16A34A"/>
          </a:solidFill>
          <a:ln/>
        </p:spPr>
      </p:sp>
      <p:sp>
        <p:nvSpPr>
          <p:cNvPr id="18" name="Shape 14"/>
          <p:cNvSpPr/>
          <p:nvPr/>
        </p:nvSpPr>
        <p:spPr>
          <a:xfrm>
            <a:off x="4343400" y="1188720"/>
            <a:ext cx="457200" cy="457200"/>
          </a:xfrm>
          <a:prstGeom prst="ellipse">
            <a:avLst/>
          </a:prstGeom>
          <a:solidFill>
            <a:srgbClr val="EBF5FF"/>
          </a:solidFill>
          <a:ln/>
        </p:spPr>
      </p:sp>
      <p:pic>
        <p:nvPicPr>
          <p:cNvPr id="19" name="Image 2" descr="preencoded.png">    </p:cNvPr>
          <p:cNvPicPr>
            <a:picLocks noChangeAspect="1"/>
          </p:cNvPicPr>
          <p:nvPr/>
        </p:nvPicPr>
        <p:blipFill>
          <a:blip r:embed="rId3"/>
          <a:stretch>
            <a:fillRect/>
          </a:stretch>
        </p:blipFill>
        <p:spPr>
          <a:xfrm>
            <a:off x="4411980" y="1261872"/>
            <a:ext cx="320040" cy="320040"/>
          </a:xfrm>
          <a:prstGeom prst="rect">
            <a:avLst/>
          </a:prstGeom>
        </p:spPr>
      </p:pic>
      <p:sp>
        <p:nvSpPr>
          <p:cNvPr id="20" name="Text 15"/>
          <p:cNvSpPr/>
          <p:nvPr/>
        </p:nvSpPr>
        <p:spPr>
          <a:xfrm>
            <a:off x="3863340" y="173736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Chasseur de Prêts</a:t>
            </a:r>
            <a:endParaRPr lang="en-US" sz="850" dirty="0"/>
          </a:p>
        </p:txBody>
      </p:sp>
      <p:sp>
        <p:nvSpPr>
          <p:cNvPr id="21" name="Text 16"/>
          <p:cNvSpPr/>
          <p:nvPr/>
        </p:nvSpPr>
        <p:spPr>
          <a:xfrm>
            <a:off x="3863340" y="201168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Courtage</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Financement</a:t>
            </a:r>
            <a:endParaRPr lang="en-US" sz="750" dirty="0"/>
          </a:p>
        </p:txBody>
      </p:sp>
      <p:sp>
        <p:nvSpPr>
          <p:cNvPr id="22" name="Shape 17"/>
          <p:cNvSpPr/>
          <p:nvPr/>
        </p:nvSpPr>
        <p:spPr>
          <a:xfrm>
            <a:off x="5436108" y="100584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23" name="Shape 18"/>
          <p:cNvSpPr/>
          <p:nvPr/>
        </p:nvSpPr>
        <p:spPr>
          <a:xfrm>
            <a:off x="5436108" y="1005840"/>
            <a:ext cx="1508760" cy="45720"/>
          </a:xfrm>
          <a:prstGeom prst="rect">
            <a:avLst/>
          </a:prstGeom>
          <a:solidFill>
            <a:srgbClr val="1677FF"/>
          </a:solidFill>
          <a:ln/>
        </p:spPr>
      </p:sp>
      <p:sp>
        <p:nvSpPr>
          <p:cNvPr id="24" name="Shape 19"/>
          <p:cNvSpPr/>
          <p:nvPr/>
        </p:nvSpPr>
        <p:spPr>
          <a:xfrm>
            <a:off x="5961888" y="1188720"/>
            <a:ext cx="457200" cy="457200"/>
          </a:xfrm>
          <a:prstGeom prst="ellipse">
            <a:avLst/>
          </a:prstGeom>
          <a:solidFill>
            <a:srgbClr val="EBF5FF"/>
          </a:solidFill>
          <a:ln/>
        </p:spPr>
      </p:sp>
      <p:pic>
        <p:nvPicPr>
          <p:cNvPr id="25" name="Image 3" descr="preencoded.png">    </p:cNvPr>
          <p:cNvPicPr>
            <a:picLocks noChangeAspect="1"/>
          </p:cNvPicPr>
          <p:nvPr/>
        </p:nvPicPr>
        <p:blipFill>
          <a:blip r:embed="rId4"/>
          <a:stretch>
            <a:fillRect/>
          </a:stretch>
        </p:blipFill>
        <p:spPr>
          <a:xfrm>
            <a:off x="6030468" y="1261872"/>
            <a:ext cx="320040" cy="320040"/>
          </a:xfrm>
          <a:prstGeom prst="rect">
            <a:avLst/>
          </a:prstGeom>
        </p:spPr>
      </p:pic>
      <p:sp>
        <p:nvSpPr>
          <p:cNvPr id="26" name="Text 20"/>
          <p:cNvSpPr/>
          <p:nvPr/>
        </p:nvSpPr>
        <p:spPr>
          <a:xfrm>
            <a:off x="5481828" y="173736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iLoos Informatique</a:t>
            </a:r>
            <a:endParaRPr lang="en-US" sz="850" dirty="0"/>
          </a:p>
        </p:txBody>
      </p:sp>
      <p:sp>
        <p:nvSpPr>
          <p:cNvPr id="27" name="Text 21"/>
          <p:cNvSpPr/>
          <p:nvPr/>
        </p:nvSpPr>
        <p:spPr>
          <a:xfrm>
            <a:off x="5481828" y="201168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Services IT</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30 collaborateurs</a:t>
            </a:r>
            <a:endParaRPr lang="en-US" sz="750" dirty="0"/>
          </a:p>
        </p:txBody>
      </p:sp>
      <p:sp>
        <p:nvSpPr>
          <p:cNvPr id="28" name="Shape 22"/>
          <p:cNvSpPr/>
          <p:nvPr/>
        </p:nvSpPr>
        <p:spPr>
          <a:xfrm>
            <a:off x="7054596" y="100584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29" name="Shape 23"/>
          <p:cNvSpPr/>
          <p:nvPr/>
        </p:nvSpPr>
        <p:spPr>
          <a:xfrm>
            <a:off x="7054596" y="1005840"/>
            <a:ext cx="1508760" cy="45720"/>
          </a:xfrm>
          <a:prstGeom prst="rect">
            <a:avLst/>
          </a:prstGeom>
          <a:solidFill>
            <a:srgbClr val="F59E0B"/>
          </a:solidFill>
          <a:ln/>
        </p:spPr>
      </p:sp>
      <p:sp>
        <p:nvSpPr>
          <p:cNvPr id="30" name="Shape 24"/>
          <p:cNvSpPr/>
          <p:nvPr/>
        </p:nvSpPr>
        <p:spPr>
          <a:xfrm>
            <a:off x="7580376" y="1188720"/>
            <a:ext cx="457200" cy="457200"/>
          </a:xfrm>
          <a:prstGeom prst="ellipse">
            <a:avLst/>
          </a:prstGeom>
          <a:solidFill>
            <a:srgbClr val="EBF5FF"/>
          </a:solidFill>
          <a:ln/>
        </p:spPr>
      </p:sp>
      <p:pic>
        <p:nvPicPr>
          <p:cNvPr id="31" name="Image 4" descr="preencoded.png">    </p:cNvPr>
          <p:cNvPicPr>
            <a:picLocks noChangeAspect="1"/>
          </p:cNvPicPr>
          <p:nvPr/>
        </p:nvPicPr>
        <p:blipFill>
          <a:blip r:embed="rId5"/>
          <a:stretch>
            <a:fillRect/>
          </a:stretch>
        </p:blipFill>
        <p:spPr>
          <a:xfrm>
            <a:off x="7648956" y="1261872"/>
            <a:ext cx="320040" cy="320040"/>
          </a:xfrm>
          <a:prstGeom prst="rect">
            <a:avLst/>
          </a:prstGeom>
        </p:spPr>
      </p:pic>
      <p:sp>
        <p:nvSpPr>
          <p:cNvPr id="32" name="Text 25"/>
          <p:cNvSpPr/>
          <p:nvPr/>
        </p:nvSpPr>
        <p:spPr>
          <a:xfrm>
            <a:off x="7100316" y="173736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ESGM / Pro Format</a:t>
            </a:r>
            <a:endParaRPr lang="en-US" sz="850" dirty="0"/>
          </a:p>
        </p:txBody>
      </p:sp>
      <p:sp>
        <p:nvSpPr>
          <p:cNvPr id="33" name="Text 26"/>
          <p:cNvSpPr/>
          <p:nvPr/>
        </p:nvSpPr>
        <p:spPr>
          <a:xfrm>
            <a:off x="7100316" y="201168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Centre de formation</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Mulhouse</a:t>
            </a:r>
            <a:endParaRPr lang="en-US" sz="750" dirty="0"/>
          </a:p>
        </p:txBody>
      </p:sp>
      <p:sp>
        <p:nvSpPr>
          <p:cNvPr id="34" name="Shape 27"/>
          <p:cNvSpPr/>
          <p:nvPr/>
        </p:nvSpPr>
        <p:spPr>
          <a:xfrm>
            <a:off x="580644" y="288036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35" name="Shape 28"/>
          <p:cNvSpPr/>
          <p:nvPr/>
        </p:nvSpPr>
        <p:spPr>
          <a:xfrm>
            <a:off x="580644" y="2880360"/>
            <a:ext cx="1508760" cy="45720"/>
          </a:xfrm>
          <a:prstGeom prst="rect">
            <a:avLst/>
          </a:prstGeom>
          <a:solidFill>
            <a:srgbClr val="7C3AED"/>
          </a:solidFill>
          <a:ln/>
        </p:spPr>
      </p:sp>
      <p:sp>
        <p:nvSpPr>
          <p:cNvPr id="36" name="Shape 29"/>
          <p:cNvSpPr/>
          <p:nvPr/>
        </p:nvSpPr>
        <p:spPr>
          <a:xfrm>
            <a:off x="1106424" y="3063240"/>
            <a:ext cx="457200" cy="457200"/>
          </a:xfrm>
          <a:prstGeom prst="ellipse">
            <a:avLst/>
          </a:prstGeom>
          <a:solidFill>
            <a:srgbClr val="EBF5FF"/>
          </a:solidFill>
          <a:ln/>
        </p:spPr>
      </p:sp>
      <p:pic>
        <p:nvPicPr>
          <p:cNvPr id="37" name="Image 5" descr="preencoded.png">    </p:cNvPr>
          <p:cNvPicPr>
            <a:picLocks noChangeAspect="1"/>
          </p:cNvPicPr>
          <p:nvPr/>
        </p:nvPicPr>
        <p:blipFill>
          <a:blip r:embed="rId6"/>
          <a:stretch>
            <a:fillRect/>
          </a:stretch>
        </p:blipFill>
        <p:spPr>
          <a:xfrm>
            <a:off x="1175004" y="3136392"/>
            <a:ext cx="320040" cy="320040"/>
          </a:xfrm>
          <a:prstGeom prst="rect">
            <a:avLst/>
          </a:prstGeom>
        </p:spPr>
      </p:pic>
      <p:sp>
        <p:nvSpPr>
          <p:cNvPr id="38" name="Text 30"/>
          <p:cNvSpPr/>
          <p:nvPr/>
        </p:nvSpPr>
        <p:spPr>
          <a:xfrm>
            <a:off x="626364" y="361188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Michel Simond</a:t>
            </a:r>
            <a:endParaRPr lang="en-US" sz="850" dirty="0"/>
          </a:p>
        </p:txBody>
      </p:sp>
      <p:sp>
        <p:nvSpPr>
          <p:cNvPr id="39" name="Text 31"/>
          <p:cNvSpPr/>
          <p:nvPr/>
        </p:nvSpPr>
        <p:spPr>
          <a:xfrm>
            <a:off x="626364" y="388620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Cession/acquisition</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d'entreprises</a:t>
            </a:r>
            <a:endParaRPr lang="en-US" sz="750" dirty="0"/>
          </a:p>
        </p:txBody>
      </p:sp>
      <p:sp>
        <p:nvSpPr>
          <p:cNvPr id="40" name="Shape 32"/>
          <p:cNvSpPr/>
          <p:nvPr/>
        </p:nvSpPr>
        <p:spPr>
          <a:xfrm>
            <a:off x="2199132" y="288036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41" name="Shape 33"/>
          <p:cNvSpPr/>
          <p:nvPr/>
        </p:nvSpPr>
        <p:spPr>
          <a:xfrm>
            <a:off x="2199132" y="2880360"/>
            <a:ext cx="1508760" cy="45720"/>
          </a:xfrm>
          <a:prstGeom prst="rect">
            <a:avLst/>
          </a:prstGeom>
          <a:solidFill>
            <a:srgbClr val="16A34A"/>
          </a:solidFill>
          <a:ln/>
        </p:spPr>
      </p:sp>
      <p:sp>
        <p:nvSpPr>
          <p:cNvPr id="42" name="Shape 34"/>
          <p:cNvSpPr/>
          <p:nvPr/>
        </p:nvSpPr>
        <p:spPr>
          <a:xfrm>
            <a:off x="2724912" y="3063240"/>
            <a:ext cx="457200" cy="457200"/>
          </a:xfrm>
          <a:prstGeom prst="ellipse">
            <a:avLst/>
          </a:prstGeom>
          <a:solidFill>
            <a:srgbClr val="EBF5FF"/>
          </a:solidFill>
          <a:ln/>
        </p:spPr>
      </p:sp>
      <p:pic>
        <p:nvPicPr>
          <p:cNvPr id="43" name="Image 6" descr="preencoded.png">    </p:cNvPr>
          <p:cNvPicPr>
            <a:picLocks noChangeAspect="1"/>
          </p:cNvPicPr>
          <p:nvPr/>
        </p:nvPicPr>
        <p:blipFill>
          <a:blip r:embed="rId7"/>
          <a:stretch>
            <a:fillRect/>
          </a:stretch>
        </p:blipFill>
        <p:spPr>
          <a:xfrm>
            <a:off x="2793492" y="3136392"/>
            <a:ext cx="320040" cy="320040"/>
          </a:xfrm>
          <a:prstGeom prst="rect">
            <a:avLst/>
          </a:prstGeom>
        </p:spPr>
      </p:pic>
      <p:sp>
        <p:nvSpPr>
          <p:cNvPr id="44" name="Text 35"/>
          <p:cNvSpPr/>
          <p:nvPr/>
        </p:nvSpPr>
        <p:spPr>
          <a:xfrm>
            <a:off x="2244852" y="361188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Capital Initiative</a:t>
            </a:r>
            <a:endParaRPr lang="en-US" sz="850" dirty="0"/>
          </a:p>
        </p:txBody>
      </p:sp>
      <p:sp>
        <p:nvSpPr>
          <p:cNvPr id="45" name="Text 36"/>
          <p:cNvSpPr/>
          <p:nvPr/>
        </p:nvSpPr>
        <p:spPr>
          <a:xfrm>
            <a:off x="2244852" y="388620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Fonds solidaire PME</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Financement</a:t>
            </a:r>
            <a:endParaRPr lang="en-US" sz="750" dirty="0"/>
          </a:p>
        </p:txBody>
      </p:sp>
      <p:sp>
        <p:nvSpPr>
          <p:cNvPr id="46" name="Shape 37"/>
          <p:cNvSpPr/>
          <p:nvPr/>
        </p:nvSpPr>
        <p:spPr>
          <a:xfrm>
            <a:off x="3817620" y="288036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47" name="Shape 38"/>
          <p:cNvSpPr/>
          <p:nvPr/>
        </p:nvSpPr>
        <p:spPr>
          <a:xfrm>
            <a:off x="3817620" y="2880360"/>
            <a:ext cx="1508760" cy="45720"/>
          </a:xfrm>
          <a:prstGeom prst="rect">
            <a:avLst/>
          </a:prstGeom>
          <a:solidFill>
            <a:srgbClr val="F59E0B"/>
          </a:solidFill>
          <a:ln/>
        </p:spPr>
      </p:sp>
      <p:sp>
        <p:nvSpPr>
          <p:cNvPr id="48" name="Shape 39"/>
          <p:cNvSpPr/>
          <p:nvPr/>
        </p:nvSpPr>
        <p:spPr>
          <a:xfrm>
            <a:off x="4343400" y="3063240"/>
            <a:ext cx="457200" cy="457200"/>
          </a:xfrm>
          <a:prstGeom prst="ellipse">
            <a:avLst/>
          </a:prstGeom>
          <a:solidFill>
            <a:srgbClr val="EBF5FF"/>
          </a:solidFill>
          <a:ln/>
        </p:spPr>
      </p:sp>
      <p:pic>
        <p:nvPicPr>
          <p:cNvPr id="49" name="Image 7" descr="preencoded.png">    </p:cNvPr>
          <p:cNvPicPr>
            <a:picLocks noChangeAspect="1"/>
          </p:cNvPicPr>
          <p:nvPr/>
        </p:nvPicPr>
        <p:blipFill>
          <a:blip r:embed="rId8"/>
          <a:stretch>
            <a:fillRect/>
          </a:stretch>
        </p:blipFill>
        <p:spPr>
          <a:xfrm>
            <a:off x="4411980" y="3136392"/>
            <a:ext cx="320040" cy="320040"/>
          </a:xfrm>
          <a:prstGeom prst="rect">
            <a:avLst/>
          </a:prstGeom>
        </p:spPr>
      </p:pic>
      <p:sp>
        <p:nvSpPr>
          <p:cNvPr id="50" name="Text 40"/>
          <p:cNvSpPr/>
          <p:nvPr/>
        </p:nvSpPr>
        <p:spPr>
          <a:xfrm>
            <a:off x="3863340" y="361188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IDÉE PME</a:t>
            </a:r>
            <a:endParaRPr lang="en-US" sz="850" dirty="0"/>
          </a:p>
        </p:txBody>
      </p:sp>
      <p:sp>
        <p:nvSpPr>
          <p:cNvPr id="51" name="Text 41"/>
          <p:cNvSpPr/>
          <p:nvPr/>
        </p:nvSpPr>
        <p:spPr>
          <a:xfrm>
            <a:off x="3863340" y="388620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Conseil et</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accompagnement PME</a:t>
            </a:r>
            <a:endParaRPr lang="en-US" sz="750" dirty="0"/>
          </a:p>
        </p:txBody>
      </p:sp>
      <p:sp>
        <p:nvSpPr>
          <p:cNvPr id="52" name="Shape 42"/>
          <p:cNvSpPr/>
          <p:nvPr/>
        </p:nvSpPr>
        <p:spPr>
          <a:xfrm>
            <a:off x="5436108" y="288036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53" name="Shape 43"/>
          <p:cNvSpPr/>
          <p:nvPr/>
        </p:nvSpPr>
        <p:spPr>
          <a:xfrm>
            <a:off x="5436108" y="2880360"/>
            <a:ext cx="1508760" cy="45720"/>
          </a:xfrm>
          <a:prstGeom prst="rect">
            <a:avLst/>
          </a:prstGeom>
          <a:solidFill>
            <a:srgbClr val="0891B2"/>
          </a:solidFill>
          <a:ln/>
        </p:spPr>
      </p:sp>
      <p:sp>
        <p:nvSpPr>
          <p:cNvPr id="54" name="Shape 44"/>
          <p:cNvSpPr/>
          <p:nvPr/>
        </p:nvSpPr>
        <p:spPr>
          <a:xfrm>
            <a:off x="5961888" y="3063240"/>
            <a:ext cx="457200" cy="457200"/>
          </a:xfrm>
          <a:prstGeom prst="ellipse">
            <a:avLst/>
          </a:prstGeom>
          <a:solidFill>
            <a:srgbClr val="EBF5FF"/>
          </a:solidFill>
          <a:ln/>
        </p:spPr>
      </p:sp>
      <p:pic>
        <p:nvPicPr>
          <p:cNvPr id="55" name="Image 8" descr="preencoded.png">    </p:cNvPr>
          <p:cNvPicPr>
            <a:picLocks noChangeAspect="1"/>
          </p:cNvPicPr>
          <p:nvPr/>
        </p:nvPicPr>
        <p:blipFill>
          <a:blip r:embed="rId9"/>
          <a:stretch>
            <a:fillRect/>
          </a:stretch>
        </p:blipFill>
        <p:spPr>
          <a:xfrm>
            <a:off x="6030468" y="3136392"/>
            <a:ext cx="320040" cy="320040"/>
          </a:xfrm>
          <a:prstGeom prst="rect">
            <a:avLst/>
          </a:prstGeom>
        </p:spPr>
      </p:pic>
      <p:sp>
        <p:nvSpPr>
          <p:cNvPr id="56" name="Text 45"/>
          <p:cNvSpPr/>
          <p:nvPr/>
        </p:nvSpPr>
        <p:spPr>
          <a:xfrm>
            <a:off x="5481828" y="361188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OBC / MBC</a:t>
            </a:r>
            <a:endParaRPr lang="en-US" sz="850" dirty="0"/>
          </a:p>
        </p:txBody>
      </p:sp>
      <p:sp>
        <p:nvSpPr>
          <p:cNvPr id="57" name="Text 46"/>
          <p:cNvSpPr/>
          <p:nvPr/>
        </p:nvSpPr>
        <p:spPr>
          <a:xfrm>
            <a:off x="5481828" y="388620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Centres d'affaires</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Coworking</a:t>
            </a:r>
            <a:endParaRPr lang="en-US" sz="750" dirty="0"/>
          </a:p>
        </p:txBody>
      </p:sp>
      <p:sp>
        <p:nvSpPr>
          <p:cNvPr id="58" name="Shape 47"/>
          <p:cNvSpPr/>
          <p:nvPr/>
        </p:nvSpPr>
        <p:spPr>
          <a:xfrm>
            <a:off x="7054596" y="2880360"/>
            <a:ext cx="1508760" cy="1691640"/>
          </a:xfrm>
          <a:prstGeom prst="rect">
            <a:avLst>
              <a:gd name="adj" fmla="val 3636"/>
            </a:avLst>
          </a:prstGeom>
          <a:solidFill>
            <a:srgbClr val="F7F9FC"/>
          </a:solidFill>
          <a:ln/>
          <a:effectLst>
            <a:outerShdw sx="100000" sy="100000" kx="0" ky="0" algn="bl" rotWithShape="0" blurRad="76200" dist="25400" dir="8100000">
              <a:srgbClr val="000000">
                <a:alpha val="6000"/>
              </a:srgbClr>
            </a:outerShdw>
          </a:effectLst>
        </p:spPr>
      </p:sp>
      <p:sp>
        <p:nvSpPr>
          <p:cNvPr id="59" name="Shape 48"/>
          <p:cNvSpPr/>
          <p:nvPr/>
        </p:nvSpPr>
        <p:spPr>
          <a:xfrm>
            <a:off x="7054596" y="2880360"/>
            <a:ext cx="1508760" cy="45720"/>
          </a:xfrm>
          <a:prstGeom prst="rect">
            <a:avLst/>
          </a:prstGeom>
          <a:solidFill>
            <a:srgbClr val="1677FF"/>
          </a:solidFill>
          <a:ln/>
        </p:spPr>
      </p:sp>
      <p:sp>
        <p:nvSpPr>
          <p:cNvPr id="60" name="Shape 49"/>
          <p:cNvSpPr/>
          <p:nvPr/>
        </p:nvSpPr>
        <p:spPr>
          <a:xfrm>
            <a:off x="7580376" y="3063240"/>
            <a:ext cx="457200" cy="457200"/>
          </a:xfrm>
          <a:prstGeom prst="ellipse">
            <a:avLst/>
          </a:prstGeom>
          <a:solidFill>
            <a:srgbClr val="EBF5FF"/>
          </a:solidFill>
          <a:ln/>
        </p:spPr>
      </p:sp>
      <p:pic>
        <p:nvPicPr>
          <p:cNvPr id="61" name="Image 9" descr="preencoded.png">    </p:cNvPr>
          <p:cNvPicPr>
            <a:picLocks noChangeAspect="1"/>
          </p:cNvPicPr>
          <p:nvPr/>
        </p:nvPicPr>
        <p:blipFill>
          <a:blip r:embed="rId10"/>
          <a:stretch>
            <a:fillRect/>
          </a:stretch>
        </p:blipFill>
        <p:spPr>
          <a:xfrm>
            <a:off x="7648956" y="3136392"/>
            <a:ext cx="320040" cy="320040"/>
          </a:xfrm>
          <a:prstGeom prst="rect">
            <a:avLst/>
          </a:prstGeom>
        </p:spPr>
      </p:pic>
      <p:sp>
        <p:nvSpPr>
          <p:cNvPr id="62" name="Text 50"/>
          <p:cNvSpPr/>
          <p:nvPr/>
        </p:nvSpPr>
        <p:spPr>
          <a:xfrm>
            <a:off x="7100316" y="3611880"/>
            <a:ext cx="1417320" cy="274320"/>
          </a:xfrm>
          <a:prstGeom prst="rect">
            <a:avLst/>
          </a:prstGeom>
          <a:noFill/>
          <a:ln/>
        </p:spPr>
        <p:txBody>
          <a:bodyPr wrap="square" lIns="0" tIns="0" rIns="0" bIns="0" rtlCol="0" anchor="ctr"/>
          <a:lstStyle/>
          <a:p>
            <a:pPr algn="ctr" indent="0" marL="0">
              <a:buNone/>
            </a:pPr>
            <a:r>
              <a:rPr lang="en-US" sz="850" b="1" dirty="0">
                <a:solidFill>
                  <a:srgbClr val="0F172A"/>
                </a:solidFill>
                <a:latin typeface="Poppins" pitchFamily="34" charset="0"/>
                <a:ea typeface="Poppins" pitchFamily="34" charset="-122"/>
                <a:cs typeface="Poppins" pitchFamily="34" charset="-120"/>
              </a:rPr>
              <a:t>Fimaris</a:t>
            </a:r>
            <a:endParaRPr lang="en-US" sz="850" dirty="0"/>
          </a:p>
        </p:txBody>
      </p:sp>
      <p:sp>
        <p:nvSpPr>
          <p:cNvPr id="63" name="Text 51"/>
          <p:cNvSpPr/>
          <p:nvPr/>
        </p:nvSpPr>
        <p:spPr>
          <a:xfrm>
            <a:off x="7100316" y="3886200"/>
            <a:ext cx="1417320" cy="548640"/>
          </a:xfrm>
          <a:prstGeom prst="rect">
            <a:avLst/>
          </a:prstGeom>
          <a:noFill/>
          <a:ln/>
        </p:spPr>
        <p:txBody>
          <a:bodyPr wrap="square" lIns="0" tIns="0" rIns="0" bIns="0" rtlCol="0" anchor="ctr"/>
          <a:lstStyle/>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Réseau</a:t>
            </a:r>
            <a:endParaRPr lang="en-US" sz="750" dirty="0"/>
          </a:p>
          <a:p>
            <a:pPr algn="ctr" indent="0" marL="0">
              <a:lnSpc>
                <a:spcPct val="120000"/>
              </a:lnSpc>
              <a:buNone/>
            </a:pPr>
            <a:r>
              <a:rPr lang="en-US" sz="750" dirty="0">
                <a:solidFill>
                  <a:srgbClr val="374151"/>
                </a:solidFill>
                <a:latin typeface="Poppins" pitchFamily="34" charset="0"/>
                <a:ea typeface="Poppins" pitchFamily="34" charset="-122"/>
                <a:cs typeface="Poppins" pitchFamily="34" charset="-120"/>
              </a:rPr>
              <a:t>partenaire</a:t>
            </a:r>
            <a:endParaRPr lang="en-US" sz="750" dirty="0"/>
          </a:p>
        </p:txBody>
      </p:sp>
      <p:sp>
        <p:nvSpPr>
          <p:cNvPr id="64" name="Text 52"/>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Le constat</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Des outils fragmentés, une expérience à unifier</a:t>
            </a:r>
            <a:endParaRPr lang="en-US" sz="1100" dirty="0"/>
          </a:p>
        </p:txBody>
      </p:sp>
      <p:sp>
        <p:nvSpPr>
          <p:cNvPr id="4" name="Shape 2"/>
          <p:cNvSpPr/>
          <p:nvPr/>
        </p:nvSpPr>
        <p:spPr>
          <a:xfrm>
            <a:off x="457200" y="987552"/>
            <a:ext cx="4846320" cy="658368"/>
          </a:xfrm>
          <a:prstGeom prst="rect">
            <a:avLst>
              <a:gd name="adj" fmla="val 5556"/>
            </a:avLst>
          </a:prstGeom>
          <a:solidFill>
            <a:srgbClr val="F7F9FC"/>
          </a:solidFill>
          <a:ln/>
        </p:spPr>
      </p:sp>
      <p:pic>
        <p:nvPicPr>
          <p:cNvPr id="5" name="Image 0" descr="preencoded.png">    </p:cNvPr>
          <p:cNvPicPr>
            <a:picLocks noChangeAspect="1"/>
          </p:cNvPicPr>
          <p:nvPr/>
        </p:nvPicPr>
        <p:blipFill>
          <a:blip r:embed="rId1"/>
          <a:stretch>
            <a:fillRect/>
          </a:stretch>
        </p:blipFill>
        <p:spPr>
          <a:xfrm>
            <a:off x="640080" y="1115568"/>
            <a:ext cx="320040" cy="320040"/>
          </a:xfrm>
          <a:prstGeom prst="rect">
            <a:avLst/>
          </a:prstGeom>
        </p:spPr>
      </p:pic>
      <p:sp>
        <p:nvSpPr>
          <p:cNvPr id="6" name="Text 3"/>
          <p:cNvSpPr/>
          <p:nvPr/>
        </p:nvSpPr>
        <p:spPr>
          <a:xfrm>
            <a:off x="1097280" y="1051560"/>
            <a:ext cx="182880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Logiciels multiples</a:t>
            </a:r>
            <a:endParaRPr lang="en-US" sz="1000" dirty="0"/>
          </a:p>
        </p:txBody>
      </p:sp>
      <p:sp>
        <p:nvSpPr>
          <p:cNvPr id="7" name="Text 4"/>
          <p:cNvSpPr/>
          <p:nvPr/>
        </p:nvSpPr>
        <p:spPr>
          <a:xfrm>
            <a:off x="1097280" y="1280160"/>
            <a:ext cx="3931920" cy="274320"/>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Pennylane, Cegid, MEG... chaque service son outil</a:t>
            </a:r>
            <a:endParaRPr lang="en-US" sz="850" dirty="0"/>
          </a:p>
        </p:txBody>
      </p:sp>
      <p:pic>
        <p:nvPicPr>
          <p:cNvPr id="8" name="Image 1" descr="preencoded.png">    </p:cNvPr>
          <p:cNvPicPr>
            <a:picLocks noChangeAspect="1"/>
          </p:cNvPicPr>
          <p:nvPr/>
        </p:nvPicPr>
        <p:blipFill>
          <a:blip r:embed="rId2"/>
          <a:stretch>
            <a:fillRect/>
          </a:stretch>
        </p:blipFill>
        <p:spPr>
          <a:xfrm>
            <a:off x="640080" y="1828800"/>
            <a:ext cx="320040" cy="320040"/>
          </a:xfrm>
          <a:prstGeom prst="rect">
            <a:avLst/>
          </a:prstGeom>
        </p:spPr>
      </p:pic>
      <p:sp>
        <p:nvSpPr>
          <p:cNvPr id="9" name="Text 5"/>
          <p:cNvSpPr/>
          <p:nvPr/>
        </p:nvSpPr>
        <p:spPr>
          <a:xfrm>
            <a:off x="1097280" y="1764792"/>
            <a:ext cx="182880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Échanges par email</a:t>
            </a:r>
            <a:endParaRPr lang="en-US" sz="1000" dirty="0"/>
          </a:p>
        </p:txBody>
      </p:sp>
      <p:sp>
        <p:nvSpPr>
          <p:cNvPr id="10" name="Text 6"/>
          <p:cNvSpPr/>
          <p:nvPr/>
        </p:nvSpPr>
        <p:spPr>
          <a:xfrm>
            <a:off x="1097280" y="1993392"/>
            <a:ext cx="3931920" cy="274320"/>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Documents perdus, suivi difficile, pas de traçabilité</a:t>
            </a:r>
            <a:endParaRPr lang="en-US" sz="850" dirty="0"/>
          </a:p>
        </p:txBody>
      </p:sp>
      <p:sp>
        <p:nvSpPr>
          <p:cNvPr id="11" name="Shape 7"/>
          <p:cNvSpPr/>
          <p:nvPr/>
        </p:nvSpPr>
        <p:spPr>
          <a:xfrm>
            <a:off x="457200" y="2414016"/>
            <a:ext cx="4846320" cy="658368"/>
          </a:xfrm>
          <a:prstGeom prst="rect">
            <a:avLst>
              <a:gd name="adj" fmla="val 5556"/>
            </a:avLst>
          </a:prstGeom>
          <a:solidFill>
            <a:srgbClr val="F7F9FC"/>
          </a:solidFill>
          <a:ln/>
        </p:spPr>
      </p:sp>
      <p:pic>
        <p:nvPicPr>
          <p:cNvPr id="12" name="Image 2" descr="preencoded.png">    </p:cNvPr>
          <p:cNvPicPr>
            <a:picLocks noChangeAspect="1"/>
          </p:cNvPicPr>
          <p:nvPr/>
        </p:nvPicPr>
        <p:blipFill>
          <a:blip r:embed="rId3"/>
          <a:stretch>
            <a:fillRect/>
          </a:stretch>
        </p:blipFill>
        <p:spPr>
          <a:xfrm>
            <a:off x="640080" y="2542032"/>
            <a:ext cx="320040" cy="320040"/>
          </a:xfrm>
          <a:prstGeom prst="rect">
            <a:avLst/>
          </a:prstGeom>
        </p:spPr>
      </p:pic>
      <p:sp>
        <p:nvSpPr>
          <p:cNvPr id="13" name="Text 8"/>
          <p:cNvSpPr/>
          <p:nvPr/>
        </p:nvSpPr>
        <p:spPr>
          <a:xfrm>
            <a:off x="1097280" y="2478024"/>
            <a:ext cx="182880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Pas de centralisation</a:t>
            </a:r>
            <a:endParaRPr lang="en-US" sz="1000" dirty="0"/>
          </a:p>
        </p:txBody>
      </p:sp>
      <p:sp>
        <p:nvSpPr>
          <p:cNvPr id="14" name="Text 9"/>
          <p:cNvSpPr/>
          <p:nvPr/>
        </p:nvSpPr>
        <p:spPr>
          <a:xfrm>
            <a:off x="1097280" y="2706624"/>
            <a:ext cx="3931920" cy="274320"/>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Informations éparpillées entre les entités du groupe</a:t>
            </a:r>
            <a:endParaRPr lang="en-US" sz="850" dirty="0"/>
          </a:p>
        </p:txBody>
      </p:sp>
      <p:pic>
        <p:nvPicPr>
          <p:cNvPr id="15" name="Image 3" descr="preencoded.png">    </p:cNvPr>
          <p:cNvPicPr>
            <a:picLocks noChangeAspect="1"/>
          </p:cNvPicPr>
          <p:nvPr/>
        </p:nvPicPr>
        <p:blipFill>
          <a:blip r:embed="rId4"/>
          <a:stretch>
            <a:fillRect/>
          </a:stretch>
        </p:blipFill>
        <p:spPr>
          <a:xfrm>
            <a:off x="640080" y="3255264"/>
            <a:ext cx="320040" cy="320040"/>
          </a:xfrm>
          <a:prstGeom prst="rect">
            <a:avLst/>
          </a:prstGeom>
        </p:spPr>
      </p:pic>
      <p:sp>
        <p:nvSpPr>
          <p:cNvPr id="16" name="Text 10"/>
          <p:cNvSpPr/>
          <p:nvPr/>
        </p:nvSpPr>
        <p:spPr>
          <a:xfrm>
            <a:off x="1097280" y="3191256"/>
            <a:ext cx="182880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Tâches manuelles</a:t>
            </a:r>
            <a:endParaRPr lang="en-US" sz="1000" dirty="0"/>
          </a:p>
        </p:txBody>
      </p:sp>
      <p:sp>
        <p:nvSpPr>
          <p:cNvPr id="17" name="Text 11"/>
          <p:cNvSpPr/>
          <p:nvPr/>
        </p:nvSpPr>
        <p:spPr>
          <a:xfrm>
            <a:off x="1097280" y="3419856"/>
            <a:ext cx="3931920" cy="274320"/>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Création dossier, documents, affectation — tout à la main</a:t>
            </a:r>
            <a:endParaRPr lang="en-US" sz="850" dirty="0"/>
          </a:p>
        </p:txBody>
      </p:sp>
      <p:sp>
        <p:nvSpPr>
          <p:cNvPr id="18" name="Shape 12"/>
          <p:cNvSpPr/>
          <p:nvPr/>
        </p:nvSpPr>
        <p:spPr>
          <a:xfrm>
            <a:off x="457200" y="3840480"/>
            <a:ext cx="4846320" cy="658368"/>
          </a:xfrm>
          <a:prstGeom prst="rect">
            <a:avLst>
              <a:gd name="adj" fmla="val 5556"/>
            </a:avLst>
          </a:prstGeom>
          <a:solidFill>
            <a:srgbClr val="F7F9FC"/>
          </a:solidFill>
          <a:ln/>
        </p:spPr>
      </p:sp>
      <p:pic>
        <p:nvPicPr>
          <p:cNvPr id="19" name="Image 4" descr="preencoded.png">    </p:cNvPr>
          <p:cNvPicPr>
            <a:picLocks noChangeAspect="1"/>
          </p:cNvPicPr>
          <p:nvPr/>
        </p:nvPicPr>
        <p:blipFill>
          <a:blip r:embed="rId5"/>
          <a:stretch>
            <a:fillRect/>
          </a:stretch>
        </p:blipFill>
        <p:spPr>
          <a:xfrm>
            <a:off x="640080" y="3968496"/>
            <a:ext cx="320040" cy="320040"/>
          </a:xfrm>
          <a:prstGeom prst="rect">
            <a:avLst/>
          </a:prstGeom>
        </p:spPr>
      </p:pic>
      <p:sp>
        <p:nvSpPr>
          <p:cNvPr id="20" name="Text 13"/>
          <p:cNvSpPr/>
          <p:nvPr/>
        </p:nvSpPr>
        <p:spPr>
          <a:xfrm>
            <a:off x="1097280" y="3904488"/>
            <a:ext cx="1828800" cy="228600"/>
          </a:xfrm>
          <a:prstGeom prst="rect">
            <a:avLst/>
          </a:prstGeom>
          <a:noFill/>
          <a:ln/>
        </p:spPr>
        <p:txBody>
          <a:bodyPr wrap="square" lIns="0" tIns="0" rIns="0" bIns="0" rtlCol="0" anchor="ctr"/>
          <a:lstStyle/>
          <a:p>
            <a:pPr indent="0" marL="0">
              <a:buNone/>
            </a:pPr>
            <a:r>
              <a:rPr lang="en-US" sz="1000" b="1" dirty="0">
                <a:solidFill>
                  <a:srgbClr val="0F172A"/>
                </a:solidFill>
                <a:latin typeface="Poppins" pitchFamily="34" charset="0"/>
                <a:ea typeface="Poppins" pitchFamily="34" charset="-122"/>
                <a:cs typeface="Poppins" pitchFamily="34" charset="-120"/>
              </a:rPr>
              <a:t>Expérience client limitée</a:t>
            </a:r>
            <a:endParaRPr lang="en-US" sz="1000" dirty="0"/>
          </a:p>
        </p:txBody>
      </p:sp>
      <p:sp>
        <p:nvSpPr>
          <p:cNvPr id="21" name="Text 14"/>
          <p:cNvSpPr/>
          <p:nvPr/>
        </p:nvSpPr>
        <p:spPr>
          <a:xfrm>
            <a:off x="1097280" y="4133088"/>
            <a:ext cx="3931920" cy="274320"/>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Le dirigeant n'a pas de vision unifiée de ses services</a:t>
            </a:r>
            <a:endParaRPr lang="en-US" sz="850" dirty="0"/>
          </a:p>
        </p:txBody>
      </p:sp>
      <p:sp>
        <p:nvSpPr>
          <p:cNvPr id="22" name="Shape 15"/>
          <p:cNvSpPr/>
          <p:nvPr/>
        </p:nvSpPr>
        <p:spPr>
          <a:xfrm>
            <a:off x="5760720" y="1188720"/>
            <a:ext cx="1188720" cy="594360"/>
          </a:xfrm>
          <a:prstGeom prst="rect">
            <a:avLst>
              <a:gd name="adj" fmla="val 6154"/>
            </a:avLst>
          </a:prstGeom>
          <a:solidFill>
            <a:srgbClr val="F0F2F5"/>
          </a:solidFill>
          <a:ln w="6350">
            <a:solidFill>
              <a:srgbClr val="E5E7EB"/>
            </a:solidFill>
            <a:prstDash val="solid"/>
          </a:ln>
        </p:spPr>
      </p:sp>
      <p:sp>
        <p:nvSpPr>
          <p:cNvPr id="23" name="Text 16"/>
          <p:cNvSpPr/>
          <p:nvPr/>
        </p:nvSpPr>
        <p:spPr>
          <a:xfrm>
            <a:off x="5760720" y="118872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Pennylane</a:t>
            </a:r>
            <a:endParaRPr lang="en-US" sz="900" dirty="0"/>
          </a:p>
        </p:txBody>
      </p:sp>
      <p:sp>
        <p:nvSpPr>
          <p:cNvPr id="24" name="Shape 17"/>
          <p:cNvSpPr/>
          <p:nvPr/>
        </p:nvSpPr>
        <p:spPr>
          <a:xfrm>
            <a:off x="7132320" y="1188720"/>
            <a:ext cx="1188720" cy="594360"/>
          </a:xfrm>
          <a:prstGeom prst="rect">
            <a:avLst>
              <a:gd name="adj" fmla="val 6154"/>
            </a:avLst>
          </a:prstGeom>
          <a:solidFill>
            <a:srgbClr val="F0F2F5"/>
          </a:solidFill>
          <a:ln w="6350">
            <a:solidFill>
              <a:srgbClr val="E5E7EB"/>
            </a:solidFill>
            <a:prstDash val="solid"/>
          </a:ln>
        </p:spPr>
      </p:sp>
      <p:sp>
        <p:nvSpPr>
          <p:cNvPr id="25" name="Text 18"/>
          <p:cNvSpPr/>
          <p:nvPr/>
        </p:nvSpPr>
        <p:spPr>
          <a:xfrm>
            <a:off x="7132320" y="118872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Cegid</a:t>
            </a:r>
            <a:endParaRPr lang="en-US" sz="900" dirty="0"/>
          </a:p>
        </p:txBody>
      </p:sp>
      <p:sp>
        <p:nvSpPr>
          <p:cNvPr id="26" name="Shape 19"/>
          <p:cNvSpPr/>
          <p:nvPr/>
        </p:nvSpPr>
        <p:spPr>
          <a:xfrm>
            <a:off x="6217920" y="2011680"/>
            <a:ext cx="1188720" cy="594360"/>
          </a:xfrm>
          <a:prstGeom prst="rect">
            <a:avLst>
              <a:gd name="adj" fmla="val 6154"/>
            </a:avLst>
          </a:prstGeom>
          <a:solidFill>
            <a:srgbClr val="F0F2F5"/>
          </a:solidFill>
          <a:ln w="6350">
            <a:solidFill>
              <a:srgbClr val="E5E7EB"/>
            </a:solidFill>
            <a:prstDash val="solid"/>
          </a:ln>
        </p:spPr>
      </p:sp>
      <p:sp>
        <p:nvSpPr>
          <p:cNvPr id="27" name="Text 20"/>
          <p:cNvSpPr/>
          <p:nvPr/>
        </p:nvSpPr>
        <p:spPr>
          <a:xfrm>
            <a:off x="6217920" y="201168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MEG</a:t>
            </a:r>
            <a:endParaRPr lang="en-US" sz="900" dirty="0"/>
          </a:p>
        </p:txBody>
      </p:sp>
      <p:sp>
        <p:nvSpPr>
          <p:cNvPr id="28" name="Shape 21"/>
          <p:cNvSpPr/>
          <p:nvPr/>
        </p:nvSpPr>
        <p:spPr>
          <a:xfrm>
            <a:off x="7589520" y="2011680"/>
            <a:ext cx="1188720" cy="594360"/>
          </a:xfrm>
          <a:prstGeom prst="rect">
            <a:avLst>
              <a:gd name="adj" fmla="val 6154"/>
            </a:avLst>
          </a:prstGeom>
          <a:solidFill>
            <a:srgbClr val="F0F2F5"/>
          </a:solidFill>
          <a:ln w="6350">
            <a:solidFill>
              <a:srgbClr val="E5E7EB"/>
            </a:solidFill>
            <a:prstDash val="solid"/>
          </a:ln>
        </p:spPr>
      </p:sp>
      <p:sp>
        <p:nvSpPr>
          <p:cNvPr id="29" name="Text 22"/>
          <p:cNvSpPr/>
          <p:nvPr/>
        </p:nvSpPr>
        <p:spPr>
          <a:xfrm>
            <a:off x="7589520" y="201168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Excel</a:t>
            </a:r>
            <a:endParaRPr lang="en-US" sz="900" dirty="0"/>
          </a:p>
        </p:txBody>
      </p:sp>
      <p:sp>
        <p:nvSpPr>
          <p:cNvPr id="30" name="Shape 23"/>
          <p:cNvSpPr/>
          <p:nvPr/>
        </p:nvSpPr>
        <p:spPr>
          <a:xfrm>
            <a:off x="5760720" y="2834640"/>
            <a:ext cx="1188720" cy="594360"/>
          </a:xfrm>
          <a:prstGeom prst="rect">
            <a:avLst>
              <a:gd name="adj" fmla="val 6154"/>
            </a:avLst>
          </a:prstGeom>
          <a:solidFill>
            <a:srgbClr val="F0F2F5"/>
          </a:solidFill>
          <a:ln w="6350">
            <a:solidFill>
              <a:srgbClr val="E5E7EB"/>
            </a:solidFill>
            <a:prstDash val="solid"/>
          </a:ln>
        </p:spPr>
      </p:sp>
      <p:sp>
        <p:nvSpPr>
          <p:cNvPr id="31" name="Text 24"/>
          <p:cNvSpPr/>
          <p:nvPr/>
        </p:nvSpPr>
        <p:spPr>
          <a:xfrm>
            <a:off x="5760720" y="283464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Emails</a:t>
            </a:r>
            <a:endParaRPr lang="en-US" sz="900" dirty="0"/>
          </a:p>
        </p:txBody>
      </p:sp>
      <p:sp>
        <p:nvSpPr>
          <p:cNvPr id="32" name="Shape 25"/>
          <p:cNvSpPr/>
          <p:nvPr/>
        </p:nvSpPr>
        <p:spPr>
          <a:xfrm>
            <a:off x="7132320" y="2834640"/>
            <a:ext cx="1188720" cy="594360"/>
          </a:xfrm>
          <a:prstGeom prst="rect">
            <a:avLst>
              <a:gd name="adj" fmla="val 6154"/>
            </a:avLst>
          </a:prstGeom>
          <a:solidFill>
            <a:srgbClr val="F0F2F5"/>
          </a:solidFill>
          <a:ln w="6350">
            <a:solidFill>
              <a:srgbClr val="E5E7EB"/>
            </a:solidFill>
            <a:prstDash val="solid"/>
          </a:ln>
        </p:spPr>
      </p:sp>
      <p:sp>
        <p:nvSpPr>
          <p:cNvPr id="33" name="Text 26"/>
          <p:cNvSpPr/>
          <p:nvPr/>
        </p:nvSpPr>
        <p:spPr>
          <a:xfrm>
            <a:off x="7132320" y="283464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GED</a:t>
            </a:r>
            <a:endParaRPr lang="en-US" sz="900" dirty="0"/>
          </a:p>
        </p:txBody>
      </p:sp>
      <p:sp>
        <p:nvSpPr>
          <p:cNvPr id="34" name="Shape 27"/>
          <p:cNvSpPr/>
          <p:nvPr/>
        </p:nvSpPr>
        <p:spPr>
          <a:xfrm>
            <a:off x="6400800" y="3657600"/>
            <a:ext cx="1188720" cy="594360"/>
          </a:xfrm>
          <a:prstGeom prst="rect">
            <a:avLst>
              <a:gd name="adj" fmla="val 6154"/>
            </a:avLst>
          </a:prstGeom>
          <a:solidFill>
            <a:srgbClr val="F0F2F5"/>
          </a:solidFill>
          <a:ln w="6350">
            <a:solidFill>
              <a:srgbClr val="E5E7EB"/>
            </a:solidFill>
            <a:prstDash val="solid"/>
          </a:ln>
        </p:spPr>
      </p:sp>
      <p:sp>
        <p:nvSpPr>
          <p:cNvPr id="35" name="Text 28"/>
          <p:cNvSpPr/>
          <p:nvPr/>
        </p:nvSpPr>
        <p:spPr>
          <a:xfrm>
            <a:off x="6400800" y="3657600"/>
            <a:ext cx="1188720" cy="594360"/>
          </a:xfrm>
          <a:prstGeom prst="rect">
            <a:avLst/>
          </a:prstGeom>
          <a:noFill/>
          <a:ln/>
        </p:spPr>
        <p:txBody>
          <a:bodyPr wrap="square" lIns="0" tIns="0" rIns="0" bIns="0" rtlCol="0" anchor="ctr"/>
          <a:lstStyle/>
          <a:p>
            <a:pPr algn="ctr" indent="0" marL="0">
              <a:buNone/>
            </a:pPr>
            <a:r>
              <a:rPr lang="en-US" sz="900" dirty="0">
                <a:solidFill>
                  <a:srgbClr val="6B7280"/>
                </a:solidFill>
                <a:latin typeface="Poppins" pitchFamily="34" charset="0"/>
                <a:ea typeface="Poppins" pitchFamily="34" charset="-122"/>
                <a:cs typeface="Poppins" pitchFamily="34" charset="-120"/>
              </a:rPr>
              <a:t>Téléphone</a:t>
            </a:r>
            <a:endParaRPr lang="en-US" sz="900" dirty="0"/>
          </a:p>
        </p:txBody>
      </p:sp>
      <p:sp>
        <p:nvSpPr>
          <p:cNvPr id="36" name="Text 29"/>
          <p:cNvSpPr/>
          <p:nvPr/>
        </p:nvSpPr>
        <p:spPr>
          <a:xfrm>
            <a:off x="6583680" y="2423160"/>
            <a:ext cx="457200" cy="457200"/>
          </a:xfrm>
          <a:prstGeom prst="rect">
            <a:avLst/>
          </a:prstGeom>
          <a:noFill/>
          <a:ln/>
        </p:spPr>
        <p:txBody>
          <a:bodyPr wrap="square" lIns="0" tIns="0" rIns="0" bIns="0" rtlCol="0" anchor="ctr"/>
          <a:lstStyle/>
          <a:p>
            <a:pPr algn="ctr" indent="0" marL="0">
              <a:buNone/>
            </a:pPr>
            <a:r>
              <a:rPr lang="en-US" sz="2800" b="1" dirty="0">
                <a:solidFill>
                  <a:srgbClr val="EF4444"/>
                </a:solidFill>
                <a:latin typeface="Poppins" pitchFamily="34" charset="0"/>
                <a:ea typeface="Poppins" pitchFamily="34" charset="-122"/>
                <a:cs typeface="Poppins" pitchFamily="34" charset="-120"/>
              </a:rPr>
              <a:t>?</a:t>
            </a:r>
            <a:endParaRPr lang="en-US" sz="2800" dirty="0"/>
          </a:p>
        </p:txBody>
      </p:sp>
      <p:sp>
        <p:nvSpPr>
          <p:cNvPr id="37" name="Text 30"/>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La vision</a:t>
            </a:r>
            <a:endParaRPr lang="en-US" sz="2800" dirty="0"/>
          </a:p>
        </p:txBody>
      </p:sp>
      <p:sp>
        <p:nvSpPr>
          <p:cNvPr id="3" name="Text 1"/>
          <p:cNvSpPr/>
          <p:nvPr/>
        </p:nvSpPr>
        <p:spPr>
          <a:xfrm>
            <a:off x="640080" y="640080"/>
            <a:ext cx="77724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Une plateforme digitale Hans &amp; Associés — point d'entrée unique</a:t>
            </a:r>
            <a:endParaRPr lang="en-US" sz="1100" dirty="0"/>
          </a:p>
        </p:txBody>
      </p:sp>
      <p:sp>
        <p:nvSpPr>
          <p:cNvPr id="4" name="Shape 2"/>
          <p:cNvSpPr/>
          <p:nvPr/>
        </p:nvSpPr>
        <p:spPr>
          <a:xfrm>
            <a:off x="594360" y="1051560"/>
            <a:ext cx="2377440" cy="320040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594360" y="1051560"/>
            <a:ext cx="2377440" cy="45720"/>
          </a:xfrm>
          <a:prstGeom prst="rect">
            <a:avLst/>
          </a:prstGeom>
          <a:solidFill>
            <a:srgbClr val="1B3A5C"/>
          </a:solidFill>
          <a:ln/>
        </p:spPr>
      </p:sp>
      <p:pic>
        <p:nvPicPr>
          <p:cNvPr id="6" name="Image 0" descr="preencoded.png">    </p:cNvPr>
          <p:cNvPicPr>
            <a:picLocks noChangeAspect="1"/>
          </p:cNvPicPr>
          <p:nvPr/>
        </p:nvPicPr>
        <p:blipFill>
          <a:blip r:embed="rId1"/>
          <a:stretch>
            <a:fillRect/>
          </a:stretch>
        </p:blipFill>
        <p:spPr>
          <a:xfrm>
            <a:off x="1508760" y="1234440"/>
            <a:ext cx="411480" cy="411480"/>
          </a:xfrm>
          <a:prstGeom prst="rect">
            <a:avLst/>
          </a:prstGeom>
        </p:spPr>
      </p:pic>
      <p:sp>
        <p:nvSpPr>
          <p:cNvPr id="7" name="Text 4"/>
          <p:cNvSpPr/>
          <p:nvPr/>
        </p:nvSpPr>
        <p:spPr>
          <a:xfrm>
            <a:off x="594360" y="1737360"/>
            <a:ext cx="2377440" cy="274320"/>
          </a:xfrm>
          <a:prstGeom prst="rect">
            <a:avLst/>
          </a:prstGeom>
          <a:noFill/>
          <a:ln/>
        </p:spPr>
        <p:txBody>
          <a:bodyPr wrap="square" lIns="0" tIns="0" rIns="0" bIns="0" rtlCol="0" anchor="ctr"/>
          <a:lstStyle/>
          <a:p>
            <a:pPr algn="ctr" indent="0" marL="0">
              <a:buNone/>
            </a:pPr>
            <a:r>
              <a:rPr lang="en-US" sz="1400" b="1" dirty="0">
                <a:solidFill>
                  <a:srgbClr val="1B3A5C"/>
                </a:solidFill>
                <a:latin typeface="Poppins" pitchFamily="34" charset="0"/>
                <a:ea typeface="Poppins" pitchFamily="34" charset="-122"/>
                <a:cs typeface="Poppins" pitchFamily="34" charset="-120"/>
              </a:rPr>
              <a:t>9 000 dirigeants</a:t>
            </a:r>
            <a:endParaRPr lang="en-US" sz="1400" dirty="0"/>
          </a:p>
        </p:txBody>
      </p:sp>
      <p:sp>
        <p:nvSpPr>
          <p:cNvPr id="8" name="Text 5"/>
          <p:cNvSpPr/>
          <p:nvPr/>
        </p:nvSpPr>
        <p:spPr>
          <a:xfrm>
            <a:off x="777240" y="2103120"/>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Devis &amp; facturation</a:t>
            </a:r>
            <a:endParaRPr lang="en-US" sz="850" dirty="0"/>
          </a:p>
        </p:txBody>
      </p:sp>
      <p:sp>
        <p:nvSpPr>
          <p:cNvPr id="9" name="Text 6"/>
          <p:cNvSpPr/>
          <p:nvPr/>
        </p:nvSpPr>
        <p:spPr>
          <a:xfrm>
            <a:off x="777240" y="2395728"/>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Suivi documents</a:t>
            </a:r>
            <a:endParaRPr lang="en-US" sz="850" dirty="0"/>
          </a:p>
        </p:txBody>
      </p:sp>
      <p:sp>
        <p:nvSpPr>
          <p:cNvPr id="10" name="Text 7"/>
          <p:cNvSpPr/>
          <p:nvPr/>
        </p:nvSpPr>
        <p:spPr>
          <a:xfrm>
            <a:off x="777240" y="2688336"/>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Échanges expert-comptable</a:t>
            </a:r>
            <a:endParaRPr lang="en-US" sz="850" dirty="0"/>
          </a:p>
        </p:txBody>
      </p:sp>
      <p:sp>
        <p:nvSpPr>
          <p:cNvPr id="11" name="Text 8"/>
          <p:cNvSpPr/>
          <p:nvPr/>
        </p:nvSpPr>
        <p:spPr>
          <a:xfrm>
            <a:off x="777240" y="2980944"/>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Services du groupe</a:t>
            </a:r>
            <a:endParaRPr lang="en-US" sz="850" dirty="0"/>
          </a:p>
        </p:txBody>
      </p:sp>
      <p:sp>
        <p:nvSpPr>
          <p:cNvPr id="12" name="Text 9"/>
          <p:cNvSpPr/>
          <p:nvPr/>
        </p:nvSpPr>
        <p:spPr>
          <a:xfrm>
            <a:off x="777240" y="3273552"/>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Automatisations propres</a:t>
            </a:r>
            <a:endParaRPr lang="en-US" sz="850" dirty="0"/>
          </a:p>
        </p:txBody>
      </p:sp>
      <p:sp>
        <p:nvSpPr>
          <p:cNvPr id="13" name="Text 10"/>
          <p:cNvSpPr/>
          <p:nvPr/>
        </p:nvSpPr>
        <p:spPr>
          <a:xfrm>
            <a:off x="777240" y="3566160"/>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Cockpit entreprise</a:t>
            </a:r>
            <a:endParaRPr lang="en-US" sz="850" dirty="0"/>
          </a:p>
        </p:txBody>
      </p:sp>
      <p:sp>
        <p:nvSpPr>
          <p:cNvPr id="14" name="Shape 11"/>
          <p:cNvSpPr/>
          <p:nvPr/>
        </p:nvSpPr>
        <p:spPr>
          <a:xfrm>
            <a:off x="3383280" y="1051560"/>
            <a:ext cx="2377440" cy="3200400"/>
          </a:xfrm>
          <a:prstGeom prst="rect">
            <a:avLst>
              <a:gd name="adj" fmla="val 3077"/>
            </a:avLst>
          </a:prstGeom>
          <a:solidFill>
            <a:srgbClr val="EBF5FF"/>
          </a:solidFill>
          <a:ln w="19050">
            <a:solidFill>
              <a:srgbClr val="1677FF"/>
            </a:solidFill>
            <a:prstDash val="solid"/>
          </a:ln>
        </p:spPr>
      </p:sp>
      <p:pic>
        <p:nvPicPr>
          <p:cNvPr id="15" name="Image 1" descr="preencoded.png">    </p:cNvPr>
          <p:cNvPicPr>
            <a:picLocks noChangeAspect="1"/>
          </p:cNvPicPr>
          <p:nvPr/>
        </p:nvPicPr>
        <p:blipFill>
          <a:blip r:embed="rId2"/>
          <a:stretch>
            <a:fillRect/>
          </a:stretch>
        </p:blipFill>
        <p:spPr>
          <a:xfrm>
            <a:off x="4069080" y="1188720"/>
            <a:ext cx="822960" cy="502920"/>
          </a:xfrm>
          <a:prstGeom prst="rect">
            <a:avLst/>
          </a:prstGeom>
        </p:spPr>
      </p:pic>
      <p:sp>
        <p:nvSpPr>
          <p:cNvPr id="16" name="Text 12"/>
          <p:cNvSpPr/>
          <p:nvPr/>
        </p:nvSpPr>
        <p:spPr>
          <a:xfrm>
            <a:off x="3383280" y="1737360"/>
            <a:ext cx="2377440" cy="274320"/>
          </a:xfrm>
          <a:prstGeom prst="rect">
            <a:avLst/>
          </a:prstGeom>
          <a:noFill/>
          <a:ln/>
        </p:spPr>
        <p:txBody>
          <a:bodyPr wrap="square" lIns="0" tIns="0" rIns="0" bIns="0" rtlCol="0" anchor="ctr"/>
          <a:lstStyle/>
          <a:p>
            <a:pPr algn="ctr" indent="0" marL="0">
              <a:buNone/>
            </a:pPr>
            <a:r>
              <a:rPr lang="en-US" sz="1400" b="1" dirty="0">
                <a:solidFill>
                  <a:srgbClr val="1677FF"/>
                </a:solidFill>
                <a:latin typeface="Poppins" pitchFamily="34" charset="0"/>
                <a:ea typeface="Poppins" pitchFamily="34" charset="-122"/>
                <a:cs typeface="Poppins" pitchFamily="34" charset="-120"/>
              </a:rPr>
              <a:t>Plateforme Hans</a:t>
            </a:r>
            <a:endParaRPr lang="en-US" sz="1400" dirty="0"/>
          </a:p>
        </p:txBody>
      </p:sp>
      <p:pic>
        <p:nvPicPr>
          <p:cNvPr id="17" name="Image 2" descr="preencoded.png">    </p:cNvPr>
          <p:cNvPicPr>
            <a:picLocks noChangeAspect="1"/>
          </p:cNvPicPr>
          <p:nvPr/>
        </p:nvPicPr>
        <p:blipFill>
          <a:blip r:embed="rId3"/>
          <a:stretch>
            <a:fillRect/>
          </a:stretch>
        </p:blipFill>
        <p:spPr>
          <a:xfrm>
            <a:off x="3566160" y="2148840"/>
            <a:ext cx="182880" cy="182880"/>
          </a:xfrm>
          <a:prstGeom prst="rect">
            <a:avLst/>
          </a:prstGeom>
        </p:spPr>
      </p:pic>
      <p:sp>
        <p:nvSpPr>
          <p:cNvPr id="18" name="Text 13"/>
          <p:cNvSpPr/>
          <p:nvPr/>
        </p:nvSpPr>
        <p:spPr>
          <a:xfrm>
            <a:off x="3840480" y="2103120"/>
            <a:ext cx="182880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Workflows visuels</a:t>
            </a:r>
            <a:endParaRPr lang="en-US" sz="850" dirty="0"/>
          </a:p>
        </p:txBody>
      </p:sp>
      <p:pic>
        <p:nvPicPr>
          <p:cNvPr id="19" name="Image 3" descr="preencoded.png">    </p:cNvPr>
          <p:cNvPicPr>
            <a:picLocks noChangeAspect="1"/>
          </p:cNvPicPr>
          <p:nvPr/>
        </p:nvPicPr>
        <p:blipFill>
          <a:blip r:embed="rId4"/>
          <a:stretch>
            <a:fillRect/>
          </a:stretch>
        </p:blipFill>
        <p:spPr>
          <a:xfrm>
            <a:off x="3566160" y="2441448"/>
            <a:ext cx="182880" cy="182880"/>
          </a:xfrm>
          <a:prstGeom prst="rect">
            <a:avLst/>
          </a:prstGeom>
        </p:spPr>
      </p:pic>
      <p:sp>
        <p:nvSpPr>
          <p:cNvPr id="20" name="Text 14"/>
          <p:cNvSpPr/>
          <p:nvPr/>
        </p:nvSpPr>
        <p:spPr>
          <a:xfrm>
            <a:off x="3840480" y="2395728"/>
            <a:ext cx="182880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Form builder</a:t>
            </a:r>
            <a:endParaRPr lang="en-US" sz="850" dirty="0"/>
          </a:p>
        </p:txBody>
      </p:sp>
      <p:pic>
        <p:nvPicPr>
          <p:cNvPr id="21" name="Image 4" descr="preencoded.png">    </p:cNvPr>
          <p:cNvPicPr>
            <a:picLocks noChangeAspect="1"/>
          </p:cNvPicPr>
          <p:nvPr/>
        </p:nvPicPr>
        <p:blipFill>
          <a:blip r:embed="rId5"/>
          <a:stretch>
            <a:fillRect/>
          </a:stretch>
        </p:blipFill>
        <p:spPr>
          <a:xfrm>
            <a:off x="3566160" y="2734056"/>
            <a:ext cx="182880" cy="182880"/>
          </a:xfrm>
          <a:prstGeom prst="rect">
            <a:avLst/>
          </a:prstGeom>
        </p:spPr>
      </p:pic>
      <p:sp>
        <p:nvSpPr>
          <p:cNvPr id="22" name="Text 15"/>
          <p:cNvSpPr/>
          <p:nvPr/>
        </p:nvSpPr>
        <p:spPr>
          <a:xfrm>
            <a:off x="3840480" y="2688336"/>
            <a:ext cx="182880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IA intégrée</a:t>
            </a:r>
            <a:endParaRPr lang="en-US" sz="850" dirty="0"/>
          </a:p>
        </p:txBody>
      </p:sp>
      <p:pic>
        <p:nvPicPr>
          <p:cNvPr id="23" name="Image 5" descr="preencoded.png">    </p:cNvPr>
          <p:cNvPicPr>
            <a:picLocks noChangeAspect="1"/>
          </p:cNvPicPr>
          <p:nvPr/>
        </p:nvPicPr>
        <p:blipFill>
          <a:blip r:embed="rId6"/>
          <a:stretch>
            <a:fillRect/>
          </a:stretch>
        </p:blipFill>
        <p:spPr>
          <a:xfrm>
            <a:off x="3566160" y="3026664"/>
            <a:ext cx="182880" cy="182880"/>
          </a:xfrm>
          <a:prstGeom prst="rect">
            <a:avLst/>
          </a:prstGeom>
        </p:spPr>
      </p:pic>
      <p:sp>
        <p:nvSpPr>
          <p:cNvPr id="24" name="Text 16"/>
          <p:cNvSpPr/>
          <p:nvPr/>
        </p:nvSpPr>
        <p:spPr>
          <a:xfrm>
            <a:off x="3840480" y="2980944"/>
            <a:ext cx="182880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Gestion documentaire</a:t>
            </a:r>
            <a:endParaRPr lang="en-US" sz="850" dirty="0"/>
          </a:p>
        </p:txBody>
      </p:sp>
      <p:pic>
        <p:nvPicPr>
          <p:cNvPr id="25" name="Image 6" descr="preencoded.png">    </p:cNvPr>
          <p:cNvPicPr>
            <a:picLocks noChangeAspect="1"/>
          </p:cNvPicPr>
          <p:nvPr/>
        </p:nvPicPr>
        <p:blipFill>
          <a:blip r:embed="rId7"/>
          <a:stretch>
            <a:fillRect/>
          </a:stretch>
        </p:blipFill>
        <p:spPr>
          <a:xfrm>
            <a:off x="3566160" y="3319272"/>
            <a:ext cx="182880" cy="182880"/>
          </a:xfrm>
          <a:prstGeom prst="rect">
            <a:avLst/>
          </a:prstGeom>
        </p:spPr>
      </p:pic>
      <p:sp>
        <p:nvSpPr>
          <p:cNvPr id="26" name="Text 17"/>
          <p:cNvSpPr/>
          <p:nvPr/>
        </p:nvSpPr>
        <p:spPr>
          <a:xfrm>
            <a:off x="3840480" y="3273552"/>
            <a:ext cx="182880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Connecteurs API</a:t>
            </a:r>
            <a:endParaRPr lang="en-US" sz="850" dirty="0"/>
          </a:p>
        </p:txBody>
      </p:sp>
      <p:pic>
        <p:nvPicPr>
          <p:cNvPr id="27" name="Image 7" descr="preencoded.png">    </p:cNvPr>
          <p:cNvPicPr>
            <a:picLocks noChangeAspect="1"/>
          </p:cNvPicPr>
          <p:nvPr/>
        </p:nvPicPr>
        <p:blipFill>
          <a:blip r:embed="rId8"/>
          <a:stretch>
            <a:fillRect/>
          </a:stretch>
        </p:blipFill>
        <p:spPr>
          <a:xfrm>
            <a:off x="3566160" y="3611880"/>
            <a:ext cx="182880" cy="182880"/>
          </a:xfrm>
          <a:prstGeom prst="rect">
            <a:avLst/>
          </a:prstGeom>
        </p:spPr>
      </p:pic>
      <p:sp>
        <p:nvSpPr>
          <p:cNvPr id="28" name="Text 18"/>
          <p:cNvSpPr/>
          <p:nvPr/>
        </p:nvSpPr>
        <p:spPr>
          <a:xfrm>
            <a:off x="3840480" y="3566160"/>
            <a:ext cx="182880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Portail client</a:t>
            </a:r>
            <a:endParaRPr lang="en-US" sz="850" dirty="0"/>
          </a:p>
        </p:txBody>
      </p:sp>
      <p:sp>
        <p:nvSpPr>
          <p:cNvPr id="29" name="Shape 19"/>
          <p:cNvSpPr/>
          <p:nvPr/>
        </p:nvSpPr>
        <p:spPr>
          <a:xfrm>
            <a:off x="6172200" y="1051560"/>
            <a:ext cx="2377440" cy="320040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sp>
        <p:nvSpPr>
          <p:cNvPr id="30" name="Shape 20"/>
          <p:cNvSpPr/>
          <p:nvPr/>
        </p:nvSpPr>
        <p:spPr>
          <a:xfrm>
            <a:off x="6172200" y="1051560"/>
            <a:ext cx="2377440" cy="45720"/>
          </a:xfrm>
          <a:prstGeom prst="rect">
            <a:avLst/>
          </a:prstGeom>
          <a:solidFill>
            <a:srgbClr val="16A34A"/>
          </a:solidFill>
          <a:ln/>
        </p:spPr>
      </p:sp>
      <p:pic>
        <p:nvPicPr>
          <p:cNvPr id="31" name="Image 8" descr="preencoded.png">    </p:cNvPr>
          <p:cNvPicPr>
            <a:picLocks noChangeAspect="1"/>
          </p:cNvPicPr>
          <p:nvPr/>
        </p:nvPicPr>
        <p:blipFill>
          <a:blip r:embed="rId9"/>
          <a:stretch>
            <a:fillRect/>
          </a:stretch>
        </p:blipFill>
        <p:spPr>
          <a:xfrm>
            <a:off x="7086600" y="1234440"/>
            <a:ext cx="411480" cy="411480"/>
          </a:xfrm>
          <a:prstGeom prst="rect">
            <a:avLst/>
          </a:prstGeom>
        </p:spPr>
      </p:pic>
      <p:sp>
        <p:nvSpPr>
          <p:cNvPr id="32" name="Text 21"/>
          <p:cNvSpPr/>
          <p:nvPr/>
        </p:nvSpPr>
        <p:spPr>
          <a:xfrm>
            <a:off x="6172200" y="1737360"/>
            <a:ext cx="237744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Poppins" pitchFamily="34" charset="0"/>
                <a:ea typeface="Poppins" pitchFamily="34" charset="-122"/>
                <a:cs typeface="Poppins" pitchFamily="34" charset="-120"/>
              </a:rPr>
              <a:t>Logiciels métiers</a:t>
            </a:r>
            <a:endParaRPr lang="en-US" sz="1400" dirty="0"/>
          </a:p>
        </p:txBody>
      </p:sp>
      <p:sp>
        <p:nvSpPr>
          <p:cNvPr id="33" name="Text 22"/>
          <p:cNvSpPr/>
          <p:nvPr/>
        </p:nvSpPr>
        <p:spPr>
          <a:xfrm>
            <a:off x="6355080" y="2103120"/>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Pennylane</a:t>
            </a:r>
            <a:endParaRPr lang="en-US" sz="850" dirty="0"/>
          </a:p>
        </p:txBody>
      </p:sp>
      <p:sp>
        <p:nvSpPr>
          <p:cNvPr id="34" name="Text 23"/>
          <p:cNvSpPr/>
          <p:nvPr/>
        </p:nvSpPr>
        <p:spPr>
          <a:xfrm>
            <a:off x="6355080" y="2395728"/>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Cegid</a:t>
            </a:r>
            <a:endParaRPr lang="en-US" sz="850" dirty="0"/>
          </a:p>
        </p:txBody>
      </p:sp>
      <p:sp>
        <p:nvSpPr>
          <p:cNvPr id="35" name="Text 24"/>
          <p:cNvSpPr/>
          <p:nvPr/>
        </p:nvSpPr>
        <p:spPr>
          <a:xfrm>
            <a:off x="6355080" y="2688336"/>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MEG</a:t>
            </a:r>
            <a:endParaRPr lang="en-US" sz="850" dirty="0"/>
          </a:p>
        </p:txBody>
      </p:sp>
      <p:sp>
        <p:nvSpPr>
          <p:cNvPr id="36" name="Text 25"/>
          <p:cNvSpPr/>
          <p:nvPr/>
        </p:nvSpPr>
        <p:spPr>
          <a:xfrm>
            <a:off x="6355080" y="2980944"/>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GED existante</a:t>
            </a:r>
            <a:endParaRPr lang="en-US" sz="850" dirty="0"/>
          </a:p>
        </p:txBody>
      </p:sp>
      <p:sp>
        <p:nvSpPr>
          <p:cNvPr id="37" name="Text 26"/>
          <p:cNvSpPr/>
          <p:nvPr/>
        </p:nvSpPr>
        <p:spPr>
          <a:xfrm>
            <a:off x="6355080" y="3273552"/>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APIs internes</a:t>
            </a:r>
            <a:endParaRPr lang="en-US" sz="850" dirty="0"/>
          </a:p>
        </p:txBody>
      </p:sp>
      <p:sp>
        <p:nvSpPr>
          <p:cNvPr id="38" name="Text 27"/>
          <p:cNvSpPr/>
          <p:nvPr/>
        </p:nvSpPr>
        <p:spPr>
          <a:xfrm>
            <a:off x="6355080" y="3566160"/>
            <a:ext cx="210312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  Outils RH / Paie</a:t>
            </a:r>
            <a:endParaRPr lang="en-US" sz="850" dirty="0"/>
          </a:p>
        </p:txBody>
      </p:sp>
      <p:sp>
        <p:nvSpPr>
          <p:cNvPr id="39" name="Text 28"/>
          <p:cNvSpPr/>
          <p:nvPr/>
        </p:nvSpPr>
        <p:spPr>
          <a:xfrm>
            <a:off x="2971800" y="2560320"/>
            <a:ext cx="411480" cy="365760"/>
          </a:xfrm>
          <a:prstGeom prst="rect">
            <a:avLst/>
          </a:prstGeom>
          <a:noFill/>
          <a:ln/>
        </p:spPr>
        <p:txBody>
          <a:bodyPr wrap="square" lIns="0" tIns="0" rIns="0" bIns="0" rtlCol="0" anchor="ctr"/>
          <a:lstStyle/>
          <a:p>
            <a:pPr algn="ctr" indent="0" marL="0">
              <a:buNone/>
            </a:pPr>
            <a:r>
              <a:rPr lang="en-US" sz="1600" b="1" dirty="0">
                <a:solidFill>
                  <a:srgbClr val="1677FF"/>
                </a:solidFill>
                <a:latin typeface="Poppins" pitchFamily="34" charset="0"/>
                <a:ea typeface="Poppins" pitchFamily="34" charset="-122"/>
                <a:cs typeface="Poppins" pitchFamily="34" charset="-120"/>
              </a:rPr>
              <a:t>◄►</a:t>
            </a:r>
            <a:endParaRPr lang="en-US" sz="1600" dirty="0"/>
          </a:p>
        </p:txBody>
      </p:sp>
      <p:sp>
        <p:nvSpPr>
          <p:cNvPr id="40" name="Text 29"/>
          <p:cNvSpPr/>
          <p:nvPr/>
        </p:nvSpPr>
        <p:spPr>
          <a:xfrm>
            <a:off x="5760720" y="2560320"/>
            <a:ext cx="411480" cy="365760"/>
          </a:xfrm>
          <a:prstGeom prst="rect">
            <a:avLst/>
          </a:prstGeom>
          <a:noFill/>
          <a:ln/>
        </p:spPr>
        <p:txBody>
          <a:bodyPr wrap="square" lIns="0" tIns="0" rIns="0" bIns="0" rtlCol="0" anchor="ctr"/>
          <a:lstStyle/>
          <a:p>
            <a:pPr algn="ctr" indent="0" marL="0">
              <a:buNone/>
            </a:pPr>
            <a:r>
              <a:rPr lang="en-US" sz="1600" b="1" dirty="0">
                <a:solidFill>
                  <a:srgbClr val="1677FF"/>
                </a:solidFill>
                <a:latin typeface="Poppins" pitchFamily="34" charset="0"/>
                <a:ea typeface="Poppins" pitchFamily="34" charset="-122"/>
                <a:cs typeface="Poppins" pitchFamily="34" charset="-120"/>
              </a:rPr>
              <a:t>◄►</a:t>
            </a:r>
            <a:endParaRPr lang="en-US" sz="1600" dirty="0"/>
          </a:p>
        </p:txBody>
      </p:sp>
      <p:sp>
        <p:nvSpPr>
          <p:cNvPr id="41" name="Shape 30"/>
          <p:cNvSpPr/>
          <p:nvPr/>
        </p:nvSpPr>
        <p:spPr>
          <a:xfrm>
            <a:off x="640080" y="4434840"/>
            <a:ext cx="7863840" cy="457200"/>
          </a:xfrm>
          <a:prstGeom prst="rect">
            <a:avLst>
              <a:gd name="adj" fmla="val 8000"/>
            </a:avLst>
          </a:prstGeom>
          <a:solidFill>
            <a:srgbClr val="EBF5FF"/>
          </a:solidFill>
          <a:ln/>
        </p:spPr>
      </p:sp>
      <p:sp>
        <p:nvSpPr>
          <p:cNvPr id="42" name="Text 31"/>
          <p:cNvSpPr/>
          <p:nvPr/>
        </p:nvSpPr>
        <p:spPr>
          <a:xfrm>
            <a:off x="640080" y="4434840"/>
            <a:ext cx="7863840" cy="457200"/>
          </a:xfrm>
          <a:prstGeom prst="rect">
            <a:avLst/>
          </a:prstGeom>
          <a:noFill/>
          <a:ln/>
        </p:spPr>
        <p:txBody>
          <a:bodyPr wrap="square" lIns="0" tIns="0" rIns="0" bIns="0" rtlCol="0" anchor="ctr"/>
          <a:lstStyle/>
          <a:p>
            <a:pPr algn="ctr" indent="0" marL="0">
              <a:buNone/>
            </a:pPr>
            <a:r>
              <a:rPr lang="en-US" sz="1100" b="1" dirty="0">
                <a:solidFill>
                  <a:srgbClr val="1677FF"/>
                </a:solidFill>
                <a:latin typeface="Poppins" pitchFamily="34" charset="0"/>
                <a:ea typeface="Poppins" pitchFamily="34" charset="-122"/>
                <a:cs typeface="Poppins" pitchFamily="34" charset="-120"/>
              </a:rPr>
              <a:t>Pas un ERP — une plateforme connectée aux logiciels existants</a:t>
            </a:r>
            <a:endParaRPr lang="en-US" sz="1100" dirty="0"/>
          </a:p>
        </p:txBody>
      </p:sp>
      <p:sp>
        <p:nvSpPr>
          <p:cNvPr id="43" name="Text 32"/>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Usage interne — Équipes cabinet</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Automatiser les processus internes pour 450+ collaborateurs</a:t>
            </a:r>
            <a:endParaRPr lang="en-US" sz="1100" dirty="0"/>
          </a:p>
        </p:txBody>
      </p:sp>
      <p:sp>
        <p:nvSpPr>
          <p:cNvPr id="4" name="Text 2"/>
          <p:cNvSpPr/>
          <p:nvPr/>
        </p:nvSpPr>
        <p:spPr>
          <a:xfrm>
            <a:off x="640080" y="1005840"/>
            <a:ext cx="3657600" cy="228600"/>
          </a:xfrm>
          <a:prstGeom prst="rect">
            <a:avLst/>
          </a:prstGeom>
          <a:noFill/>
          <a:ln/>
        </p:spPr>
        <p:txBody>
          <a:bodyPr wrap="square" lIns="0" tIns="0" rIns="0" bIns="0" rtlCol="0" anchor="ctr"/>
          <a:lstStyle/>
          <a:p>
            <a:pPr indent="0" marL="0">
              <a:buNone/>
            </a:pPr>
            <a:r>
              <a:rPr lang="en-US" sz="1000" b="1" dirty="0">
                <a:solidFill>
                  <a:srgbClr val="1677FF"/>
                </a:solidFill>
                <a:latin typeface="Poppins" pitchFamily="34" charset="0"/>
                <a:ea typeface="Poppins" pitchFamily="34" charset="-122"/>
                <a:cs typeface="Poppins" pitchFamily="34" charset="-120"/>
              </a:rPr>
              <a:t>Exemple : nouveau client</a:t>
            </a:r>
            <a:endParaRPr lang="en-US" sz="1000" dirty="0"/>
          </a:p>
        </p:txBody>
      </p:sp>
      <p:sp>
        <p:nvSpPr>
          <p:cNvPr id="5" name="Shape 3"/>
          <p:cNvSpPr/>
          <p:nvPr/>
        </p:nvSpPr>
        <p:spPr>
          <a:xfrm>
            <a:off x="777240" y="1325880"/>
            <a:ext cx="1188720" cy="1097280"/>
          </a:xfrm>
          <a:prstGeom prst="rect">
            <a:avLst>
              <a:gd name="adj" fmla="val 5000"/>
            </a:avLst>
          </a:prstGeom>
          <a:solidFill>
            <a:srgbClr val="EBF5FF"/>
          </a:solidFill>
          <a:ln/>
        </p:spPr>
      </p:sp>
      <p:pic>
        <p:nvPicPr>
          <p:cNvPr id="6" name="Image 0" descr="preencoded.png">    </p:cNvPr>
          <p:cNvPicPr>
            <a:picLocks noChangeAspect="1"/>
          </p:cNvPicPr>
          <p:nvPr/>
        </p:nvPicPr>
        <p:blipFill>
          <a:blip r:embed="rId1"/>
          <a:stretch>
            <a:fillRect/>
          </a:stretch>
        </p:blipFill>
        <p:spPr>
          <a:xfrm>
            <a:off x="1161288" y="1417320"/>
            <a:ext cx="320040" cy="320040"/>
          </a:xfrm>
          <a:prstGeom prst="rect">
            <a:avLst/>
          </a:prstGeom>
        </p:spPr>
      </p:pic>
      <p:sp>
        <p:nvSpPr>
          <p:cNvPr id="7" name="Text 4"/>
          <p:cNvSpPr/>
          <p:nvPr/>
        </p:nvSpPr>
        <p:spPr>
          <a:xfrm>
            <a:off x="822960" y="1828800"/>
            <a:ext cx="1097280" cy="502920"/>
          </a:xfrm>
          <a:prstGeom prst="rect">
            <a:avLst/>
          </a:prstGeom>
          <a:noFill/>
          <a:ln/>
        </p:spPr>
        <p:txBody>
          <a:bodyPr wrap="square" lIns="0" tIns="0" rIns="0" bIns="0" rtlCol="0" anchor="ctr"/>
          <a:lstStyle/>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Formulaire</a:t>
            </a:r>
            <a:endParaRPr lang="en-US" sz="850" dirty="0"/>
          </a:p>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d'entrée</a:t>
            </a:r>
            <a:endParaRPr lang="en-US" sz="850" dirty="0"/>
          </a:p>
        </p:txBody>
      </p:sp>
      <p:sp>
        <p:nvSpPr>
          <p:cNvPr id="8" name="Text 5"/>
          <p:cNvSpPr/>
          <p:nvPr/>
        </p:nvSpPr>
        <p:spPr>
          <a:xfrm>
            <a:off x="1965960" y="1645920"/>
            <a:ext cx="411480" cy="365760"/>
          </a:xfrm>
          <a:prstGeom prst="rect">
            <a:avLst/>
          </a:prstGeom>
          <a:noFill/>
          <a:ln/>
        </p:spPr>
        <p:txBody>
          <a:bodyPr wrap="square" lIns="0" tIns="0" rIns="0" bIns="0" rtlCol="0" anchor="ctr"/>
          <a:lstStyle/>
          <a:p>
            <a:pPr algn="ctr" indent="0" marL="0">
              <a:buNone/>
            </a:pPr>
            <a:r>
              <a:rPr lang="en-US" sz="1800" dirty="0">
                <a:solidFill>
                  <a:srgbClr val="1677FF"/>
                </a:solidFill>
                <a:latin typeface="Poppins" pitchFamily="34" charset="0"/>
                <a:ea typeface="Poppins" pitchFamily="34" charset="-122"/>
                <a:cs typeface="Poppins" pitchFamily="34" charset="-120"/>
              </a:rPr>
              <a:t>→</a:t>
            </a:r>
            <a:endParaRPr lang="en-US" sz="1800" dirty="0"/>
          </a:p>
        </p:txBody>
      </p:sp>
      <p:sp>
        <p:nvSpPr>
          <p:cNvPr id="9" name="Shape 6"/>
          <p:cNvSpPr/>
          <p:nvPr/>
        </p:nvSpPr>
        <p:spPr>
          <a:xfrm>
            <a:off x="2377440" y="1325880"/>
            <a:ext cx="1188720" cy="1097280"/>
          </a:xfrm>
          <a:prstGeom prst="rect">
            <a:avLst>
              <a:gd name="adj" fmla="val 5000"/>
            </a:avLst>
          </a:prstGeom>
          <a:solidFill>
            <a:srgbClr val="EBF5FF"/>
          </a:solidFill>
          <a:ln/>
        </p:spPr>
      </p:sp>
      <p:pic>
        <p:nvPicPr>
          <p:cNvPr id="10" name="Image 1" descr="preencoded.png">    </p:cNvPr>
          <p:cNvPicPr>
            <a:picLocks noChangeAspect="1"/>
          </p:cNvPicPr>
          <p:nvPr/>
        </p:nvPicPr>
        <p:blipFill>
          <a:blip r:embed="rId2"/>
          <a:stretch>
            <a:fillRect/>
          </a:stretch>
        </p:blipFill>
        <p:spPr>
          <a:xfrm>
            <a:off x="2761488" y="1417320"/>
            <a:ext cx="320040" cy="320040"/>
          </a:xfrm>
          <a:prstGeom prst="rect">
            <a:avLst/>
          </a:prstGeom>
        </p:spPr>
      </p:pic>
      <p:sp>
        <p:nvSpPr>
          <p:cNvPr id="11" name="Text 7"/>
          <p:cNvSpPr/>
          <p:nvPr/>
        </p:nvSpPr>
        <p:spPr>
          <a:xfrm>
            <a:off x="2423160" y="1828800"/>
            <a:ext cx="1097280" cy="502920"/>
          </a:xfrm>
          <a:prstGeom prst="rect">
            <a:avLst/>
          </a:prstGeom>
          <a:noFill/>
          <a:ln/>
        </p:spPr>
        <p:txBody>
          <a:bodyPr wrap="square" lIns="0" tIns="0" rIns="0" bIns="0" rtlCol="0" anchor="ctr"/>
          <a:lstStyle/>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Création</a:t>
            </a:r>
            <a:endParaRPr lang="en-US" sz="850" dirty="0"/>
          </a:p>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dossier auto</a:t>
            </a:r>
            <a:endParaRPr lang="en-US" sz="850" dirty="0"/>
          </a:p>
        </p:txBody>
      </p:sp>
      <p:sp>
        <p:nvSpPr>
          <p:cNvPr id="12" name="Text 8"/>
          <p:cNvSpPr/>
          <p:nvPr/>
        </p:nvSpPr>
        <p:spPr>
          <a:xfrm>
            <a:off x="3566160" y="1645920"/>
            <a:ext cx="411480" cy="365760"/>
          </a:xfrm>
          <a:prstGeom prst="rect">
            <a:avLst/>
          </a:prstGeom>
          <a:noFill/>
          <a:ln/>
        </p:spPr>
        <p:txBody>
          <a:bodyPr wrap="square" lIns="0" tIns="0" rIns="0" bIns="0" rtlCol="0" anchor="ctr"/>
          <a:lstStyle/>
          <a:p>
            <a:pPr algn="ctr" indent="0" marL="0">
              <a:buNone/>
            </a:pPr>
            <a:r>
              <a:rPr lang="en-US" sz="1800" dirty="0">
                <a:solidFill>
                  <a:srgbClr val="1677FF"/>
                </a:solidFill>
                <a:latin typeface="Poppins" pitchFamily="34" charset="0"/>
                <a:ea typeface="Poppins" pitchFamily="34" charset="-122"/>
                <a:cs typeface="Poppins" pitchFamily="34" charset="-120"/>
              </a:rPr>
              <a:t>→</a:t>
            </a:r>
            <a:endParaRPr lang="en-US" sz="1800" dirty="0"/>
          </a:p>
        </p:txBody>
      </p:sp>
      <p:sp>
        <p:nvSpPr>
          <p:cNvPr id="13" name="Shape 9"/>
          <p:cNvSpPr/>
          <p:nvPr/>
        </p:nvSpPr>
        <p:spPr>
          <a:xfrm>
            <a:off x="3977640" y="1325880"/>
            <a:ext cx="1188720" cy="1097280"/>
          </a:xfrm>
          <a:prstGeom prst="rect">
            <a:avLst>
              <a:gd name="adj" fmla="val 5000"/>
            </a:avLst>
          </a:prstGeom>
          <a:solidFill>
            <a:srgbClr val="EBF5FF"/>
          </a:solidFill>
          <a:ln/>
        </p:spPr>
      </p:sp>
      <p:pic>
        <p:nvPicPr>
          <p:cNvPr id="14" name="Image 2" descr="preencoded.png">    </p:cNvPr>
          <p:cNvPicPr>
            <a:picLocks noChangeAspect="1"/>
          </p:cNvPicPr>
          <p:nvPr/>
        </p:nvPicPr>
        <p:blipFill>
          <a:blip r:embed="rId3"/>
          <a:stretch>
            <a:fillRect/>
          </a:stretch>
        </p:blipFill>
        <p:spPr>
          <a:xfrm>
            <a:off x="4361688" y="1417320"/>
            <a:ext cx="320040" cy="320040"/>
          </a:xfrm>
          <a:prstGeom prst="rect">
            <a:avLst/>
          </a:prstGeom>
        </p:spPr>
      </p:pic>
      <p:sp>
        <p:nvSpPr>
          <p:cNvPr id="15" name="Text 10"/>
          <p:cNvSpPr/>
          <p:nvPr/>
        </p:nvSpPr>
        <p:spPr>
          <a:xfrm>
            <a:off x="4023360" y="1828800"/>
            <a:ext cx="1097280" cy="502920"/>
          </a:xfrm>
          <a:prstGeom prst="rect">
            <a:avLst/>
          </a:prstGeom>
          <a:noFill/>
          <a:ln/>
        </p:spPr>
        <p:txBody>
          <a:bodyPr wrap="square" lIns="0" tIns="0" rIns="0" bIns="0" rtlCol="0" anchor="ctr"/>
          <a:lstStyle/>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Documents</a:t>
            </a:r>
            <a:endParaRPr lang="en-US" sz="850" dirty="0"/>
          </a:p>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juridiques</a:t>
            </a:r>
            <a:endParaRPr lang="en-US" sz="850" dirty="0"/>
          </a:p>
        </p:txBody>
      </p:sp>
      <p:sp>
        <p:nvSpPr>
          <p:cNvPr id="16" name="Text 11"/>
          <p:cNvSpPr/>
          <p:nvPr/>
        </p:nvSpPr>
        <p:spPr>
          <a:xfrm>
            <a:off x="5166360" y="1645920"/>
            <a:ext cx="411480" cy="365760"/>
          </a:xfrm>
          <a:prstGeom prst="rect">
            <a:avLst/>
          </a:prstGeom>
          <a:noFill/>
          <a:ln/>
        </p:spPr>
        <p:txBody>
          <a:bodyPr wrap="square" lIns="0" tIns="0" rIns="0" bIns="0" rtlCol="0" anchor="ctr"/>
          <a:lstStyle/>
          <a:p>
            <a:pPr algn="ctr" indent="0" marL="0">
              <a:buNone/>
            </a:pPr>
            <a:r>
              <a:rPr lang="en-US" sz="1800" dirty="0">
                <a:solidFill>
                  <a:srgbClr val="1677FF"/>
                </a:solidFill>
                <a:latin typeface="Poppins" pitchFamily="34" charset="0"/>
                <a:ea typeface="Poppins" pitchFamily="34" charset="-122"/>
                <a:cs typeface="Poppins" pitchFamily="34" charset="-120"/>
              </a:rPr>
              <a:t>→</a:t>
            </a:r>
            <a:endParaRPr lang="en-US" sz="1800" dirty="0"/>
          </a:p>
        </p:txBody>
      </p:sp>
      <p:sp>
        <p:nvSpPr>
          <p:cNvPr id="17" name="Shape 12"/>
          <p:cNvSpPr/>
          <p:nvPr/>
        </p:nvSpPr>
        <p:spPr>
          <a:xfrm>
            <a:off x="5577840" y="1325880"/>
            <a:ext cx="1188720" cy="1097280"/>
          </a:xfrm>
          <a:prstGeom prst="rect">
            <a:avLst>
              <a:gd name="adj" fmla="val 5000"/>
            </a:avLst>
          </a:prstGeom>
          <a:solidFill>
            <a:srgbClr val="EBF5FF"/>
          </a:solidFill>
          <a:ln/>
        </p:spPr>
      </p:sp>
      <p:pic>
        <p:nvPicPr>
          <p:cNvPr id="18" name="Image 3" descr="preencoded.png">    </p:cNvPr>
          <p:cNvPicPr>
            <a:picLocks noChangeAspect="1"/>
          </p:cNvPicPr>
          <p:nvPr/>
        </p:nvPicPr>
        <p:blipFill>
          <a:blip r:embed="rId4"/>
          <a:stretch>
            <a:fillRect/>
          </a:stretch>
        </p:blipFill>
        <p:spPr>
          <a:xfrm>
            <a:off x="5961888" y="1417320"/>
            <a:ext cx="320040" cy="320040"/>
          </a:xfrm>
          <a:prstGeom prst="rect">
            <a:avLst/>
          </a:prstGeom>
        </p:spPr>
      </p:pic>
      <p:sp>
        <p:nvSpPr>
          <p:cNvPr id="19" name="Text 13"/>
          <p:cNvSpPr/>
          <p:nvPr/>
        </p:nvSpPr>
        <p:spPr>
          <a:xfrm>
            <a:off x="5623560" y="1828800"/>
            <a:ext cx="1097280" cy="502920"/>
          </a:xfrm>
          <a:prstGeom prst="rect">
            <a:avLst/>
          </a:prstGeom>
          <a:noFill/>
          <a:ln/>
        </p:spPr>
        <p:txBody>
          <a:bodyPr wrap="square" lIns="0" tIns="0" rIns="0" bIns="0" rtlCol="0" anchor="ctr"/>
          <a:lstStyle/>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Ouverture</a:t>
            </a:r>
            <a:endParaRPr lang="en-US" sz="850" dirty="0"/>
          </a:p>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GED</a:t>
            </a:r>
            <a:endParaRPr lang="en-US" sz="850" dirty="0"/>
          </a:p>
        </p:txBody>
      </p:sp>
      <p:sp>
        <p:nvSpPr>
          <p:cNvPr id="20" name="Text 14"/>
          <p:cNvSpPr/>
          <p:nvPr/>
        </p:nvSpPr>
        <p:spPr>
          <a:xfrm>
            <a:off x="6766560" y="1645920"/>
            <a:ext cx="411480" cy="365760"/>
          </a:xfrm>
          <a:prstGeom prst="rect">
            <a:avLst/>
          </a:prstGeom>
          <a:noFill/>
          <a:ln/>
        </p:spPr>
        <p:txBody>
          <a:bodyPr wrap="square" lIns="0" tIns="0" rIns="0" bIns="0" rtlCol="0" anchor="ctr"/>
          <a:lstStyle/>
          <a:p>
            <a:pPr algn="ctr" indent="0" marL="0">
              <a:buNone/>
            </a:pPr>
            <a:r>
              <a:rPr lang="en-US" sz="1800" dirty="0">
                <a:solidFill>
                  <a:srgbClr val="1677FF"/>
                </a:solidFill>
                <a:latin typeface="Poppins" pitchFamily="34" charset="0"/>
                <a:ea typeface="Poppins" pitchFamily="34" charset="-122"/>
                <a:cs typeface="Poppins" pitchFamily="34" charset="-120"/>
              </a:rPr>
              <a:t>→</a:t>
            </a:r>
            <a:endParaRPr lang="en-US" sz="1800" dirty="0"/>
          </a:p>
        </p:txBody>
      </p:sp>
      <p:sp>
        <p:nvSpPr>
          <p:cNvPr id="21" name="Shape 15"/>
          <p:cNvSpPr/>
          <p:nvPr/>
        </p:nvSpPr>
        <p:spPr>
          <a:xfrm>
            <a:off x="7178040" y="1325880"/>
            <a:ext cx="1188720" cy="1097280"/>
          </a:xfrm>
          <a:prstGeom prst="rect">
            <a:avLst>
              <a:gd name="adj" fmla="val 5000"/>
            </a:avLst>
          </a:prstGeom>
          <a:solidFill>
            <a:srgbClr val="EBF5FF"/>
          </a:solidFill>
          <a:ln/>
        </p:spPr>
      </p:sp>
      <p:pic>
        <p:nvPicPr>
          <p:cNvPr id="22" name="Image 4" descr="preencoded.png">    </p:cNvPr>
          <p:cNvPicPr>
            <a:picLocks noChangeAspect="1"/>
          </p:cNvPicPr>
          <p:nvPr/>
        </p:nvPicPr>
        <p:blipFill>
          <a:blip r:embed="rId5"/>
          <a:stretch>
            <a:fillRect/>
          </a:stretch>
        </p:blipFill>
        <p:spPr>
          <a:xfrm>
            <a:off x="7562088" y="1417320"/>
            <a:ext cx="320040" cy="320040"/>
          </a:xfrm>
          <a:prstGeom prst="rect">
            <a:avLst/>
          </a:prstGeom>
        </p:spPr>
      </p:pic>
      <p:sp>
        <p:nvSpPr>
          <p:cNvPr id="23" name="Text 16"/>
          <p:cNvSpPr/>
          <p:nvPr/>
        </p:nvSpPr>
        <p:spPr>
          <a:xfrm>
            <a:off x="7223760" y="1828800"/>
            <a:ext cx="1097280" cy="502920"/>
          </a:xfrm>
          <a:prstGeom prst="rect">
            <a:avLst/>
          </a:prstGeom>
          <a:noFill/>
          <a:ln/>
        </p:spPr>
        <p:txBody>
          <a:bodyPr wrap="square" lIns="0" tIns="0" rIns="0" bIns="0" rtlCol="0" anchor="ctr"/>
          <a:lstStyle/>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Affectation</a:t>
            </a:r>
            <a:endParaRPr lang="en-US" sz="850" dirty="0"/>
          </a:p>
          <a:p>
            <a:pPr algn="ctr" indent="0" marL="0">
              <a:lnSpc>
                <a:spcPct val="120000"/>
              </a:lnSpc>
              <a:buNone/>
            </a:pPr>
            <a:r>
              <a:rPr lang="en-US" sz="850" dirty="0">
                <a:solidFill>
                  <a:srgbClr val="0F172A"/>
                </a:solidFill>
                <a:latin typeface="Poppins" pitchFamily="34" charset="0"/>
                <a:ea typeface="Poppins" pitchFamily="34" charset="-122"/>
                <a:cs typeface="Poppins" pitchFamily="34" charset="-120"/>
              </a:rPr>
              <a:t>équipe</a:t>
            </a:r>
            <a:endParaRPr lang="en-US" sz="850" dirty="0"/>
          </a:p>
        </p:txBody>
      </p:sp>
      <p:sp>
        <p:nvSpPr>
          <p:cNvPr id="24" name="Shape 17"/>
          <p:cNvSpPr/>
          <p:nvPr/>
        </p:nvSpPr>
        <p:spPr>
          <a:xfrm>
            <a:off x="2743200" y="2514600"/>
            <a:ext cx="3657600" cy="274320"/>
          </a:xfrm>
          <a:prstGeom prst="rect">
            <a:avLst>
              <a:gd name="adj" fmla="val 50000"/>
            </a:avLst>
          </a:prstGeom>
          <a:solidFill>
            <a:srgbClr val="16A34A"/>
          </a:solidFill>
          <a:ln/>
        </p:spPr>
      </p:sp>
      <p:sp>
        <p:nvSpPr>
          <p:cNvPr id="25" name="Text 18"/>
          <p:cNvSpPr/>
          <p:nvPr/>
        </p:nvSpPr>
        <p:spPr>
          <a:xfrm>
            <a:off x="2743200" y="2514600"/>
            <a:ext cx="3657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 Tout automatique, zéro saisie manuelle</a:t>
            </a:r>
            <a:endParaRPr lang="en-US" sz="900" dirty="0"/>
          </a:p>
        </p:txBody>
      </p:sp>
      <p:sp>
        <p:nvSpPr>
          <p:cNvPr id="26" name="Shape 19"/>
          <p:cNvSpPr/>
          <p:nvPr/>
        </p:nvSpPr>
        <p:spPr>
          <a:xfrm>
            <a:off x="640080" y="3017520"/>
            <a:ext cx="1828800" cy="1554480"/>
          </a:xfrm>
          <a:prstGeom prst="rect">
            <a:avLst>
              <a:gd name="adj" fmla="val 3529"/>
            </a:avLst>
          </a:prstGeom>
          <a:solidFill>
            <a:srgbClr val="F7F9FC"/>
          </a:solidFill>
          <a:ln/>
          <a:effectLst>
            <a:outerShdw sx="100000" sy="100000" kx="0" ky="0" algn="bl" rotWithShape="0" blurRad="76200" dist="25400" dir="8100000">
              <a:srgbClr val="000000">
                <a:alpha val="6000"/>
              </a:srgbClr>
            </a:outerShdw>
          </a:effectLst>
        </p:spPr>
      </p:sp>
      <p:sp>
        <p:nvSpPr>
          <p:cNvPr id="27" name="Shape 20"/>
          <p:cNvSpPr/>
          <p:nvPr/>
        </p:nvSpPr>
        <p:spPr>
          <a:xfrm>
            <a:off x="1280160" y="3154680"/>
            <a:ext cx="411480" cy="411480"/>
          </a:xfrm>
          <a:prstGeom prst="ellipse">
            <a:avLst/>
          </a:prstGeom>
          <a:solidFill>
            <a:srgbClr val="EBF5FF"/>
          </a:solidFill>
          <a:ln/>
        </p:spPr>
      </p:sp>
      <p:pic>
        <p:nvPicPr>
          <p:cNvPr id="28" name="Image 5" descr="preencoded.png">    </p:cNvPr>
          <p:cNvPicPr>
            <a:picLocks noChangeAspect="1"/>
          </p:cNvPicPr>
          <p:nvPr/>
        </p:nvPicPr>
        <p:blipFill>
          <a:blip r:embed="rId6"/>
          <a:stretch>
            <a:fillRect/>
          </a:stretch>
        </p:blipFill>
        <p:spPr>
          <a:xfrm>
            <a:off x="1353312" y="3227832"/>
            <a:ext cx="274320" cy="274320"/>
          </a:xfrm>
          <a:prstGeom prst="rect">
            <a:avLst/>
          </a:prstGeom>
        </p:spPr>
      </p:pic>
      <p:sp>
        <p:nvSpPr>
          <p:cNvPr id="29" name="Text 21"/>
          <p:cNvSpPr/>
          <p:nvPr/>
        </p:nvSpPr>
        <p:spPr>
          <a:xfrm>
            <a:off x="685800" y="3657600"/>
            <a:ext cx="1737360" cy="22860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Gestion dossiers</a:t>
            </a:r>
            <a:endParaRPr lang="en-US" sz="1000" dirty="0"/>
          </a:p>
        </p:txBody>
      </p:sp>
      <p:sp>
        <p:nvSpPr>
          <p:cNvPr id="30" name="Text 22"/>
          <p:cNvSpPr/>
          <p:nvPr/>
        </p:nvSpPr>
        <p:spPr>
          <a:xfrm>
            <a:off x="685800" y="3931920"/>
            <a:ext cx="1737360" cy="50292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Création, suivi, archivage</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automatique</a:t>
            </a:r>
            <a:endParaRPr lang="en-US" sz="850" dirty="0"/>
          </a:p>
        </p:txBody>
      </p:sp>
      <p:sp>
        <p:nvSpPr>
          <p:cNvPr id="31" name="Shape 23"/>
          <p:cNvSpPr/>
          <p:nvPr/>
        </p:nvSpPr>
        <p:spPr>
          <a:xfrm>
            <a:off x="2651760" y="3017520"/>
            <a:ext cx="1828800" cy="1554480"/>
          </a:xfrm>
          <a:prstGeom prst="rect">
            <a:avLst>
              <a:gd name="adj" fmla="val 3529"/>
            </a:avLst>
          </a:prstGeom>
          <a:solidFill>
            <a:srgbClr val="F7F9FC"/>
          </a:solidFill>
          <a:ln/>
          <a:effectLst>
            <a:outerShdw sx="100000" sy="100000" kx="0" ky="0" algn="bl" rotWithShape="0" blurRad="76200" dist="25400" dir="8100000">
              <a:srgbClr val="000000">
                <a:alpha val="6000"/>
              </a:srgbClr>
            </a:outerShdw>
          </a:effectLst>
        </p:spPr>
      </p:sp>
      <p:sp>
        <p:nvSpPr>
          <p:cNvPr id="32" name="Shape 24"/>
          <p:cNvSpPr/>
          <p:nvPr/>
        </p:nvSpPr>
        <p:spPr>
          <a:xfrm>
            <a:off x="3291840" y="3154680"/>
            <a:ext cx="411480" cy="411480"/>
          </a:xfrm>
          <a:prstGeom prst="ellipse">
            <a:avLst/>
          </a:prstGeom>
          <a:solidFill>
            <a:srgbClr val="EBF5FF"/>
          </a:solidFill>
          <a:ln/>
        </p:spPr>
      </p:sp>
      <p:pic>
        <p:nvPicPr>
          <p:cNvPr id="33" name="Image 6" descr="preencoded.png">    </p:cNvPr>
          <p:cNvPicPr>
            <a:picLocks noChangeAspect="1"/>
          </p:cNvPicPr>
          <p:nvPr/>
        </p:nvPicPr>
        <p:blipFill>
          <a:blip r:embed="rId7"/>
          <a:stretch>
            <a:fillRect/>
          </a:stretch>
        </p:blipFill>
        <p:spPr>
          <a:xfrm>
            <a:off x="3364992" y="3227832"/>
            <a:ext cx="274320" cy="274320"/>
          </a:xfrm>
          <a:prstGeom prst="rect">
            <a:avLst/>
          </a:prstGeom>
        </p:spPr>
      </p:pic>
      <p:sp>
        <p:nvSpPr>
          <p:cNvPr id="34" name="Text 25"/>
          <p:cNvSpPr/>
          <p:nvPr/>
        </p:nvSpPr>
        <p:spPr>
          <a:xfrm>
            <a:off x="2697480" y="3657600"/>
            <a:ext cx="1737360" cy="22860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Génération docs</a:t>
            </a:r>
            <a:endParaRPr lang="en-US" sz="1000" dirty="0"/>
          </a:p>
        </p:txBody>
      </p:sp>
      <p:sp>
        <p:nvSpPr>
          <p:cNvPr id="35" name="Text 26"/>
          <p:cNvSpPr/>
          <p:nvPr/>
        </p:nvSpPr>
        <p:spPr>
          <a:xfrm>
            <a:off x="2697480" y="3931920"/>
            <a:ext cx="1737360" cy="50292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Contrats, bilans, lettres</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de mission</a:t>
            </a:r>
            <a:endParaRPr lang="en-US" sz="850" dirty="0"/>
          </a:p>
        </p:txBody>
      </p:sp>
      <p:sp>
        <p:nvSpPr>
          <p:cNvPr id="36" name="Shape 27"/>
          <p:cNvSpPr/>
          <p:nvPr/>
        </p:nvSpPr>
        <p:spPr>
          <a:xfrm>
            <a:off x="4663440" y="3017520"/>
            <a:ext cx="1828800" cy="1554480"/>
          </a:xfrm>
          <a:prstGeom prst="rect">
            <a:avLst>
              <a:gd name="adj" fmla="val 3529"/>
            </a:avLst>
          </a:prstGeom>
          <a:solidFill>
            <a:srgbClr val="F7F9FC"/>
          </a:solidFill>
          <a:ln/>
          <a:effectLst>
            <a:outerShdw sx="100000" sy="100000" kx="0" ky="0" algn="bl" rotWithShape="0" blurRad="76200" dist="25400" dir="8100000">
              <a:srgbClr val="000000">
                <a:alpha val="6000"/>
              </a:srgbClr>
            </a:outerShdw>
          </a:effectLst>
        </p:spPr>
      </p:sp>
      <p:sp>
        <p:nvSpPr>
          <p:cNvPr id="37" name="Shape 28"/>
          <p:cNvSpPr/>
          <p:nvPr/>
        </p:nvSpPr>
        <p:spPr>
          <a:xfrm>
            <a:off x="5303520" y="3154680"/>
            <a:ext cx="411480" cy="411480"/>
          </a:xfrm>
          <a:prstGeom prst="ellipse">
            <a:avLst/>
          </a:prstGeom>
          <a:solidFill>
            <a:srgbClr val="EBF5FF"/>
          </a:solidFill>
          <a:ln/>
        </p:spPr>
      </p:sp>
      <p:pic>
        <p:nvPicPr>
          <p:cNvPr id="38" name="Image 7" descr="preencoded.png">    </p:cNvPr>
          <p:cNvPicPr>
            <a:picLocks noChangeAspect="1"/>
          </p:cNvPicPr>
          <p:nvPr/>
        </p:nvPicPr>
        <p:blipFill>
          <a:blip r:embed="rId8"/>
          <a:stretch>
            <a:fillRect/>
          </a:stretch>
        </p:blipFill>
        <p:spPr>
          <a:xfrm>
            <a:off x="5376672" y="3227832"/>
            <a:ext cx="274320" cy="274320"/>
          </a:xfrm>
          <a:prstGeom prst="rect">
            <a:avLst/>
          </a:prstGeom>
        </p:spPr>
      </p:pic>
      <p:sp>
        <p:nvSpPr>
          <p:cNvPr id="39" name="Text 29"/>
          <p:cNvSpPr/>
          <p:nvPr/>
        </p:nvSpPr>
        <p:spPr>
          <a:xfrm>
            <a:off x="4709160" y="3657600"/>
            <a:ext cx="1737360" cy="22860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Workflows internes</a:t>
            </a:r>
            <a:endParaRPr lang="en-US" sz="1000" dirty="0"/>
          </a:p>
        </p:txBody>
      </p:sp>
      <p:sp>
        <p:nvSpPr>
          <p:cNvPr id="40" name="Text 30"/>
          <p:cNvSpPr/>
          <p:nvPr/>
        </p:nvSpPr>
        <p:spPr>
          <a:xfrm>
            <a:off x="4709160" y="3931920"/>
            <a:ext cx="1737360" cy="50292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Validation, routage,</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notifications</a:t>
            </a:r>
            <a:endParaRPr lang="en-US" sz="850" dirty="0"/>
          </a:p>
        </p:txBody>
      </p:sp>
      <p:sp>
        <p:nvSpPr>
          <p:cNvPr id="41" name="Shape 31"/>
          <p:cNvSpPr/>
          <p:nvPr/>
        </p:nvSpPr>
        <p:spPr>
          <a:xfrm>
            <a:off x="6675120" y="3017520"/>
            <a:ext cx="1828800" cy="1554480"/>
          </a:xfrm>
          <a:prstGeom prst="rect">
            <a:avLst>
              <a:gd name="adj" fmla="val 3529"/>
            </a:avLst>
          </a:prstGeom>
          <a:solidFill>
            <a:srgbClr val="F7F9FC"/>
          </a:solidFill>
          <a:ln/>
          <a:effectLst>
            <a:outerShdw sx="100000" sy="100000" kx="0" ky="0" algn="bl" rotWithShape="0" blurRad="76200" dist="25400" dir="8100000">
              <a:srgbClr val="000000">
                <a:alpha val="6000"/>
              </a:srgbClr>
            </a:outerShdw>
          </a:effectLst>
        </p:spPr>
      </p:sp>
      <p:sp>
        <p:nvSpPr>
          <p:cNvPr id="42" name="Shape 32"/>
          <p:cNvSpPr/>
          <p:nvPr/>
        </p:nvSpPr>
        <p:spPr>
          <a:xfrm>
            <a:off x="7315200" y="3154680"/>
            <a:ext cx="411480" cy="411480"/>
          </a:xfrm>
          <a:prstGeom prst="ellipse">
            <a:avLst/>
          </a:prstGeom>
          <a:solidFill>
            <a:srgbClr val="EBF5FF"/>
          </a:solidFill>
          <a:ln/>
        </p:spPr>
      </p:sp>
      <p:pic>
        <p:nvPicPr>
          <p:cNvPr id="43" name="Image 8" descr="preencoded.png">    </p:cNvPr>
          <p:cNvPicPr>
            <a:picLocks noChangeAspect="1"/>
          </p:cNvPicPr>
          <p:nvPr/>
        </p:nvPicPr>
        <p:blipFill>
          <a:blip r:embed="rId9"/>
          <a:stretch>
            <a:fillRect/>
          </a:stretch>
        </p:blipFill>
        <p:spPr>
          <a:xfrm>
            <a:off x="7388352" y="3227832"/>
            <a:ext cx="274320" cy="274320"/>
          </a:xfrm>
          <a:prstGeom prst="rect">
            <a:avLst/>
          </a:prstGeom>
        </p:spPr>
      </p:pic>
      <p:sp>
        <p:nvSpPr>
          <p:cNvPr id="44" name="Text 33"/>
          <p:cNvSpPr/>
          <p:nvPr/>
        </p:nvSpPr>
        <p:spPr>
          <a:xfrm>
            <a:off x="6720840" y="3657600"/>
            <a:ext cx="1737360" cy="22860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Communication</a:t>
            </a:r>
            <a:endParaRPr lang="en-US" sz="1000" dirty="0"/>
          </a:p>
        </p:txBody>
      </p:sp>
      <p:sp>
        <p:nvSpPr>
          <p:cNvPr id="45" name="Text 34"/>
          <p:cNvSpPr/>
          <p:nvPr/>
        </p:nvSpPr>
        <p:spPr>
          <a:xfrm>
            <a:off x="6720840" y="3931920"/>
            <a:ext cx="1737360" cy="50292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Inter-services, alertes,</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suivi collaboratif</a:t>
            </a:r>
            <a:endParaRPr lang="en-US" sz="850" dirty="0"/>
          </a:p>
        </p:txBody>
      </p:sp>
      <p:sp>
        <p:nvSpPr>
          <p:cNvPr id="46" name="Text 35"/>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Portail dirigeant — Application client</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Le cockpit digital de l'entreprise, connecté au cabinet</a:t>
            </a:r>
            <a:endParaRPr lang="en-US" sz="1100" dirty="0"/>
          </a:p>
        </p:txBody>
      </p:sp>
      <p:sp>
        <p:nvSpPr>
          <p:cNvPr id="4" name="Shape 2"/>
          <p:cNvSpPr/>
          <p:nvPr/>
        </p:nvSpPr>
        <p:spPr>
          <a:xfrm>
            <a:off x="640080" y="100584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1280160" y="1143000"/>
            <a:ext cx="457200" cy="457200"/>
          </a:xfrm>
          <a:prstGeom prst="ellipse">
            <a:avLst/>
          </a:prstGeom>
          <a:solidFill>
            <a:srgbClr val="EBF5FF"/>
          </a:solidFill>
          <a:ln/>
        </p:spPr>
      </p:sp>
      <p:pic>
        <p:nvPicPr>
          <p:cNvPr id="6" name="Image 0" descr="preencoded.png">    </p:cNvPr>
          <p:cNvPicPr>
            <a:picLocks noChangeAspect="1"/>
          </p:cNvPicPr>
          <p:nvPr/>
        </p:nvPicPr>
        <p:blipFill>
          <a:blip r:embed="rId1"/>
          <a:stretch>
            <a:fillRect/>
          </a:stretch>
        </p:blipFill>
        <p:spPr>
          <a:xfrm>
            <a:off x="1353312" y="1216152"/>
            <a:ext cx="320040" cy="320040"/>
          </a:xfrm>
          <a:prstGeom prst="rect">
            <a:avLst/>
          </a:prstGeom>
        </p:spPr>
      </p:pic>
      <p:sp>
        <p:nvSpPr>
          <p:cNvPr id="7" name="Text 4"/>
          <p:cNvSpPr/>
          <p:nvPr/>
        </p:nvSpPr>
        <p:spPr>
          <a:xfrm>
            <a:off x="685800" y="169164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Devis &amp; factures</a:t>
            </a:r>
            <a:endParaRPr lang="en-US" sz="1000" dirty="0"/>
          </a:p>
        </p:txBody>
      </p:sp>
      <p:sp>
        <p:nvSpPr>
          <p:cNvPr id="8" name="Text 5"/>
          <p:cNvSpPr/>
          <p:nvPr/>
        </p:nvSpPr>
        <p:spPr>
          <a:xfrm>
            <a:off x="685800" y="201168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Créer, envoyer et suivre</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devis et factures</a:t>
            </a:r>
            <a:endParaRPr lang="en-US" sz="850" dirty="0"/>
          </a:p>
        </p:txBody>
      </p:sp>
      <p:sp>
        <p:nvSpPr>
          <p:cNvPr id="9" name="Shape 6"/>
          <p:cNvSpPr/>
          <p:nvPr/>
        </p:nvSpPr>
        <p:spPr>
          <a:xfrm>
            <a:off x="2651760" y="100584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10" name="Shape 7"/>
          <p:cNvSpPr/>
          <p:nvPr/>
        </p:nvSpPr>
        <p:spPr>
          <a:xfrm>
            <a:off x="3291840" y="1143000"/>
            <a:ext cx="457200" cy="457200"/>
          </a:xfrm>
          <a:prstGeom prst="ellipse">
            <a:avLst/>
          </a:prstGeom>
          <a:solidFill>
            <a:srgbClr val="EBF5FF"/>
          </a:solidFill>
          <a:ln/>
        </p:spPr>
      </p:sp>
      <p:pic>
        <p:nvPicPr>
          <p:cNvPr id="11" name="Image 1" descr="preencoded.png">    </p:cNvPr>
          <p:cNvPicPr>
            <a:picLocks noChangeAspect="1"/>
          </p:cNvPicPr>
          <p:nvPr/>
        </p:nvPicPr>
        <p:blipFill>
          <a:blip r:embed="rId2"/>
          <a:stretch>
            <a:fillRect/>
          </a:stretch>
        </p:blipFill>
        <p:spPr>
          <a:xfrm>
            <a:off x="3364992" y="1216152"/>
            <a:ext cx="320040" cy="320040"/>
          </a:xfrm>
          <a:prstGeom prst="rect">
            <a:avLst/>
          </a:prstGeom>
        </p:spPr>
      </p:pic>
      <p:sp>
        <p:nvSpPr>
          <p:cNvPr id="12" name="Text 8"/>
          <p:cNvSpPr/>
          <p:nvPr/>
        </p:nvSpPr>
        <p:spPr>
          <a:xfrm>
            <a:off x="2697480" y="169164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Documents</a:t>
            </a:r>
            <a:endParaRPr lang="en-US" sz="1000" dirty="0"/>
          </a:p>
        </p:txBody>
      </p:sp>
      <p:sp>
        <p:nvSpPr>
          <p:cNvPr id="13" name="Text 9"/>
          <p:cNvSpPr/>
          <p:nvPr/>
        </p:nvSpPr>
        <p:spPr>
          <a:xfrm>
            <a:off x="2697480" y="201168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Consulter, modifier, signer</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directement dans l'app</a:t>
            </a:r>
            <a:endParaRPr lang="en-US" sz="850" dirty="0"/>
          </a:p>
        </p:txBody>
      </p:sp>
      <p:sp>
        <p:nvSpPr>
          <p:cNvPr id="14" name="Shape 10"/>
          <p:cNvSpPr/>
          <p:nvPr/>
        </p:nvSpPr>
        <p:spPr>
          <a:xfrm>
            <a:off x="4663440" y="100584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15" name="Shape 11"/>
          <p:cNvSpPr/>
          <p:nvPr/>
        </p:nvSpPr>
        <p:spPr>
          <a:xfrm>
            <a:off x="5303520" y="1143000"/>
            <a:ext cx="457200" cy="457200"/>
          </a:xfrm>
          <a:prstGeom prst="ellipse">
            <a:avLst/>
          </a:prstGeom>
          <a:solidFill>
            <a:srgbClr val="EBF5FF"/>
          </a:solidFill>
          <a:ln/>
        </p:spPr>
      </p:sp>
      <p:pic>
        <p:nvPicPr>
          <p:cNvPr id="16" name="Image 2" descr="preencoded.png">    </p:cNvPr>
          <p:cNvPicPr>
            <a:picLocks noChangeAspect="1"/>
          </p:cNvPicPr>
          <p:nvPr/>
        </p:nvPicPr>
        <p:blipFill>
          <a:blip r:embed="rId3"/>
          <a:stretch>
            <a:fillRect/>
          </a:stretch>
        </p:blipFill>
        <p:spPr>
          <a:xfrm>
            <a:off x="5376672" y="1216152"/>
            <a:ext cx="320040" cy="320040"/>
          </a:xfrm>
          <a:prstGeom prst="rect">
            <a:avLst/>
          </a:prstGeom>
        </p:spPr>
      </p:pic>
      <p:sp>
        <p:nvSpPr>
          <p:cNvPr id="17" name="Text 12"/>
          <p:cNvSpPr/>
          <p:nvPr/>
        </p:nvSpPr>
        <p:spPr>
          <a:xfrm>
            <a:off x="4709160" y="169164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Expert-comptable</a:t>
            </a:r>
            <a:endParaRPr lang="en-US" sz="1000" dirty="0"/>
          </a:p>
        </p:txBody>
      </p:sp>
      <p:sp>
        <p:nvSpPr>
          <p:cNvPr id="18" name="Text 13"/>
          <p:cNvSpPr/>
          <p:nvPr/>
        </p:nvSpPr>
        <p:spPr>
          <a:xfrm>
            <a:off x="4709160" y="201168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Messagerie intégrée,</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échanges centralisés</a:t>
            </a:r>
            <a:endParaRPr lang="en-US" sz="850" dirty="0"/>
          </a:p>
        </p:txBody>
      </p:sp>
      <p:sp>
        <p:nvSpPr>
          <p:cNvPr id="19" name="Shape 14"/>
          <p:cNvSpPr/>
          <p:nvPr/>
        </p:nvSpPr>
        <p:spPr>
          <a:xfrm>
            <a:off x="6675120" y="100584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20" name="Shape 15"/>
          <p:cNvSpPr/>
          <p:nvPr/>
        </p:nvSpPr>
        <p:spPr>
          <a:xfrm>
            <a:off x="7315200" y="1143000"/>
            <a:ext cx="457200" cy="457200"/>
          </a:xfrm>
          <a:prstGeom prst="ellipse">
            <a:avLst/>
          </a:prstGeom>
          <a:solidFill>
            <a:srgbClr val="EBF5FF"/>
          </a:solidFill>
          <a:ln/>
        </p:spPr>
      </p:sp>
      <p:pic>
        <p:nvPicPr>
          <p:cNvPr id="21" name="Image 3" descr="preencoded.png">    </p:cNvPr>
          <p:cNvPicPr>
            <a:picLocks noChangeAspect="1"/>
          </p:cNvPicPr>
          <p:nvPr/>
        </p:nvPicPr>
        <p:blipFill>
          <a:blip r:embed="rId4"/>
          <a:stretch>
            <a:fillRect/>
          </a:stretch>
        </p:blipFill>
        <p:spPr>
          <a:xfrm>
            <a:off x="7388352" y="1216152"/>
            <a:ext cx="320040" cy="320040"/>
          </a:xfrm>
          <a:prstGeom prst="rect">
            <a:avLst/>
          </a:prstGeom>
        </p:spPr>
      </p:pic>
      <p:sp>
        <p:nvSpPr>
          <p:cNvPr id="22" name="Text 16"/>
          <p:cNvSpPr/>
          <p:nvPr/>
        </p:nvSpPr>
        <p:spPr>
          <a:xfrm>
            <a:off x="6720840" y="169164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Tableau de bord</a:t>
            </a:r>
            <a:endParaRPr lang="en-US" sz="1000" dirty="0"/>
          </a:p>
        </p:txBody>
      </p:sp>
      <p:sp>
        <p:nvSpPr>
          <p:cNvPr id="23" name="Text 17"/>
          <p:cNvSpPr/>
          <p:nvPr/>
        </p:nvSpPr>
        <p:spPr>
          <a:xfrm>
            <a:off x="6720840" y="201168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KPI financiers, alertes,</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vue d'ensemble</a:t>
            </a:r>
            <a:endParaRPr lang="en-US" sz="850" dirty="0"/>
          </a:p>
        </p:txBody>
      </p:sp>
      <p:sp>
        <p:nvSpPr>
          <p:cNvPr id="24" name="Shape 18"/>
          <p:cNvSpPr/>
          <p:nvPr/>
        </p:nvSpPr>
        <p:spPr>
          <a:xfrm>
            <a:off x="640080" y="288036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25" name="Shape 19"/>
          <p:cNvSpPr/>
          <p:nvPr/>
        </p:nvSpPr>
        <p:spPr>
          <a:xfrm>
            <a:off x="1280160" y="3017520"/>
            <a:ext cx="457200" cy="457200"/>
          </a:xfrm>
          <a:prstGeom prst="ellipse">
            <a:avLst/>
          </a:prstGeom>
          <a:solidFill>
            <a:srgbClr val="EBF5FF"/>
          </a:solidFill>
          <a:ln/>
        </p:spPr>
      </p:sp>
      <p:pic>
        <p:nvPicPr>
          <p:cNvPr id="26" name="Image 4" descr="preencoded.png">    </p:cNvPr>
          <p:cNvPicPr>
            <a:picLocks noChangeAspect="1"/>
          </p:cNvPicPr>
          <p:nvPr/>
        </p:nvPicPr>
        <p:blipFill>
          <a:blip r:embed="rId5"/>
          <a:stretch>
            <a:fillRect/>
          </a:stretch>
        </p:blipFill>
        <p:spPr>
          <a:xfrm>
            <a:off x="1353312" y="3090672"/>
            <a:ext cx="320040" cy="320040"/>
          </a:xfrm>
          <a:prstGeom prst="rect">
            <a:avLst/>
          </a:prstGeom>
        </p:spPr>
      </p:pic>
      <p:sp>
        <p:nvSpPr>
          <p:cNvPr id="27" name="Text 20"/>
          <p:cNvSpPr/>
          <p:nvPr/>
        </p:nvSpPr>
        <p:spPr>
          <a:xfrm>
            <a:off x="685800" y="356616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Assurance</a:t>
            </a:r>
            <a:endParaRPr lang="en-US" sz="1000" dirty="0"/>
          </a:p>
        </p:txBody>
      </p:sp>
      <p:sp>
        <p:nvSpPr>
          <p:cNvPr id="28" name="Text 21"/>
          <p:cNvSpPr/>
          <p:nvPr/>
        </p:nvSpPr>
        <p:spPr>
          <a:xfrm>
            <a:off x="685800" y="388620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Souscrire via</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Beyer Assurances</a:t>
            </a:r>
            <a:endParaRPr lang="en-US" sz="850" dirty="0"/>
          </a:p>
        </p:txBody>
      </p:sp>
      <p:sp>
        <p:nvSpPr>
          <p:cNvPr id="29" name="Shape 22"/>
          <p:cNvSpPr/>
          <p:nvPr/>
        </p:nvSpPr>
        <p:spPr>
          <a:xfrm>
            <a:off x="2651760" y="288036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30" name="Shape 23"/>
          <p:cNvSpPr/>
          <p:nvPr/>
        </p:nvSpPr>
        <p:spPr>
          <a:xfrm>
            <a:off x="3291840" y="3017520"/>
            <a:ext cx="457200" cy="457200"/>
          </a:xfrm>
          <a:prstGeom prst="ellipse">
            <a:avLst/>
          </a:prstGeom>
          <a:solidFill>
            <a:srgbClr val="EBF5FF"/>
          </a:solidFill>
          <a:ln/>
        </p:spPr>
      </p:sp>
      <p:pic>
        <p:nvPicPr>
          <p:cNvPr id="31" name="Image 5" descr="preencoded.png">    </p:cNvPr>
          <p:cNvPicPr>
            <a:picLocks noChangeAspect="1"/>
          </p:cNvPicPr>
          <p:nvPr/>
        </p:nvPicPr>
        <p:blipFill>
          <a:blip r:embed="rId6"/>
          <a:stretch>
            <a:fillRect/>
          </a:stretch>
        </p:blipFill>
        <p:spPr>
          <a:xfrm>
            <a:off x="3364992" y="3090672"/>
            <a:ext cx="320040" cy="320040"/>
          </a:xfrm>
          <a:prstGeom prst="rect">
            <a:avLst/>
          </a:prstGeom>
        </p:spPr>
      </p:pic>
      <p:sp>
        <p:nvSpPr>
          <p:cNvPr id="32" name="Text 24"/>
          <p:cNvSpPr/>
          <p:nvPr/>
        </p:nvSpPr>
        <p:spPr>
          <a:xfrm>
            <a:off x="2697480" y="356616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Financement</a:t>
            </a:r>
            <a:endParaRPr lang="en-US" sz="1000" dirty="0"/>
          </a:p>
        </p:txBody>
      </p:sp>
      <p:sp>
        <p:nvSpPr>
          <p:cNvPr id="33" name="Text 25"/>
          <p:cNvSpPr/>
          <p:nvPr/>
        </p:nvSpPr>
        <p:spPr>
          <a:xfrm>
            <a:off x="2697480" y="388620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Demande de prêt via</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Chasseur de Prêts</a:t>
            </a:r>
            <a:endParaRPr lang="en-US" sz="850" dirty="0"/>
          </a:p>
        </p:txBody>
      </p:sp>
      <p:sp>
        <p:nvSpPr>
          <p:cNvPr id="34" name="Shape 26"/>
          <p:cNvSpPr/>
          <p:nvPr/>
        </p:nvSpPr>
        <p:spPr>
          <a:xfrm>
            <a:off x="4663440" y="288036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35" name="Shape 27"/>
          <p:cNvSpPr/>
          <p:nvPr/>
        </p:nvSpPr>
        <p:spPr>
          <a:xfrm>
            <a:off x="5303520" y="3017520"/>
            <a:ext cx="457200" cy="457200"/>
          </a:xfrm>
          <a:prstGeom prst="ellipse">
            <a:avLst/>
          </a:prstGeom>
          <a:solidFill>
            <a:srgbClr val="EBF5FF"/>
          </a:solidFill>
          <a:ln/>
        </p:spPr>
      </p:sp>
      <p:pic>
        <p:nvPicPr>
          <p:cNvPr id="36" name="Image 6" descr="preencoded.png">    </p:cNvPr>
          <p:cNvPicPr>
            <a:picLocks noChangeAspect="1"/>
          </p:cNvPicPr>
          <p:nvPr/>
        </p:nvPicPr>
        <p:blipFill>
          <a:blip r:embed="rId7"/>
          <a:stretch>
            <a:fillRect/>
          </a:stretch>
        </p:blipFill>
        <p:spPr>
          <a:xfrm>
            <a:off x="5376672" y="3090672"/>
            <a:ext cx="320040" cy="320040"/>
          </a:xfrm>
          <a:prstGeom prst="rect">
            <a:avLst/>
          </a:prstGeom>
        </p:spPr>
      </p:pic>
      <p:sp>
        <p:nvSpPr>
          <p:cNvPr id="37" name="Text 28"/>
          <p:cNvSpPr/>
          <p:nvPr/>
        </p:nvSpPr>
        <p:spPr>
          <a:xfrm>
            <a:off x="4709160" y="356616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Automatisations</a:t>
            </a:r>
            <a:endParaRPr lang="en-US" sz="1000" dirty="0"/>
          </a:p>
        </p:txBody>
      </p:sp>
      <p:sp>
        <p:nvSpPr>
          <p:cNvPr id="38" name="Text 29"/>
          <p:cNvSpPr/>
          <p:nvPr/>
        </p:nvSpPr>
        <p:spPr>
          <a:xfrm>
            <a:off x="4709160" y="388620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Le dirigeant crée ses</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propres workflows</a:t>
            </a:r>
            <a:endParaRPr lang="en-US" sz="850" dirty="0"/>
          </a:p>
        </p:txBody>
      </p:sp>
      <p:sp>
        <p:nvSpPr>
          <p:cNvPr id="39" name="Shape 30"/>
          <p:cNvSpPr/>
          <p:nvPr/>
        </p:nvSpPr>
        <p:spPr>
          <a:xfrm>
            <a:off x="6675120" y="2880360"/>
            <a:ext cx="1828800" cy="1691640"/>
          </a:xfrm>
          <a:prstGeom prst="rect">
            <a:avLst>
              <a:gd name="adj" fmla="val 3243"/>
            </a:avLst>
          </a:prstGeom>
          <a:solidFill>
            <a:srgbClr val="F7F9FC"/>
          </a:solidFill>
          <a:ln/>
          <a:effectLst>
            <a:outerShdw sx="100000" sy="100000" kx="0" ky="0" algn="bl" rotWithShape="0" blurRad="76200" dist="25400" dir="8100000">
              <a:srgbClr val="000000">
                <a:alpha val="6000"/>
              </a:srgbClr>
            </a:outerShdw>
          </a:effectLst>
        </p:spPr>
      </p:sp>
      <p:sp>
        <p:nvSpPr>
          <p:cNvPr id="40" name="Shape 31"/>
          <p:cNvSpPr/>
          <p:nvPr/>
        </p:nvSpPr>
        <p:spPr>
          <a:xfrm>
            <a:off x="7315200" y="3017520"/>
            <a:ext cx="457200" cy="457200"/>
          </a:xfrm>
          <a:prstGeom prst="ellipse">
            <a:avLst/>
          </a:prstGeom>
          <a:solidFill>
            <a:srgbClr val="EBF5FF"/>
          </a:solidFill>
          <a:ln/>
        </p:spPr>
      </p:sp>
      <p:pic>
        <p:nvPicPr>
          <p:cNvPr id="41" name="Image 7" descr="preencoded.png">    </p:cNvPr>
          <p:cNvPicPr>
            <a:picLocks noChangeAspect="1"/>
          </p:cNvPicPr>
          <p:nvPr/>
        </p:nvPicPr>
        <p:blipFill>
          <a:blip r:embed="rId8"/>
          <a:stretch>
            <a:fillRect/>
          </a:stretch>
        </p:blipFill>
        <p:spPr>
          <a:xfrm>
            <a:off x="7388352" y="3090672"/>
            <a:ext cx="320040" cy="320040"/>
          </a:xfrm>
          <a:prstGeom prst="rect">
            <a:avLst/>
          </a:prstGeom>
        </p:spPr>
      </p:pic>
      <p:sp>
        <p:nvSpPr>
          <p:cNvPr id="42" name="Text 32"/>
          <p:cNvSpPr/>
          <p:nvPr/>
        </p:nvSpPr>
        <p:spPr>
          <a:xfrm>
            <a:off x="6720840" y="3566160"/>
            <a:ext cx="1737360" cy="274320"/>
          </a:xfrm>
          <a:prstGeom prst="rect">
            <a:avLst/>
          </a:prstGeom>
          <a:noFill/>
          <a:ln/>
        </p:spPr>
        <p:txBody>
          <a:bodyPr wrap="square" lIns="0" tIns="0" rIns="0" bIns="0" rtlCol="0" anchor="ctr"/>
          <a:lstStyle/>
          <a:p>
            <a:pPr algn="ctr" indent="0" marL="0">
              <a:buNone/>
            </a:pPr>
            <a:r>
              <a:rPr lang="en-US" sz="1000" b="1" dirty="0">
                <a:solidFill>
                  <a:srgbClr val="0F172A"/>
                </a:solidFill>
                <a:latin typeface="Poppins" pitchFamily="34" charset="0"/>
                <a:ea typeface="Poppins" pitchFamily="34" charset="-122"/>
                <a:cs typeface="Poppins" pitchFamily="34" charset="-120"/>
              </a:rPr>
              <a:t>Assistant IA</a:t>
            </a:r>
            <a:endParaRPr lang="en-US" sz="1000" dirty="0"/>
          </a:p>
        </p:txBody>
      </p:sp>
      <p:sp>
        <p:nvSpPr>
          <p:cNvPr id="43" name="Text 33"/>
          <p:cNvSpPr/>
          <p:nvPr/>
        </p:nvSpPr>
        <p:spPr>
          <a:xfrm>
            <a:off x="6720840" y="3886200"/>
            <a:ext cx="1737360" cy="548640"/>
          </a:xfrm>
          <a:prstGeom prst="rect">
            <a:avLst/>
          </a:prstGeom>
          <a:noFill/>
          <a:ln/>
        </p:spPr>
        <p:txBody>
          <a:bodyPr wrap="square" lIns="0" tIns="0" rIns="0" bIns="0" rtlCol="0" anchor="ctr"/>
          <a:lstStyle/>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Aide à la rédaction,</a:t>
            </a:r>
            <a:endParaRPr lang="en-US" sz="850" dirty="0"/>
          </a:p>
          <a:p>
            <a:pPr algn="ctr" indent="0" marL="0">
              <a:lnSpc>
                <a:spcPct val="120000"/>
              </a:lnSpc>
              <a:buNone/>
            </a:pPr>
            <a:r>
              <a:rPr lang="en-US" sz="850" dirty="0">
                <a:solidFill>
                  <a:srgbClr val="374151"/>
                </a:solidFill>
                <a:latin typeface="Poppins" pitchFamily="34" charset="0"/>
                <a:ea typeface="Poppins" pitchFamily="34" charset="-122"/>
                <a:cs typeface="Poppins" pitchFamily="34" charset="-120"/>
              </a:rPr>
              <a:t>analyse de documents</a:t>
            </a:r>
            <a:endParaRPr lang="en-US" sz="850" dirty="0"/>
          </a:p>
        </p:txBody>
      </p:sp>
      <p:sp>
        <p:nvSpPr>
          <p:cNvPr id="44" name="Text 34"/>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Automatisation à deux niveaux</a:t>
            </a:r>
            <a:endParaRPr lang="en-US" sz="2800" dirty="0"/>
          </a:p>
        </p:txBody>
      </p:sp>
      <p:sp>
        <p:nvSpPr>
          <p:cNvPr id="3" name="Text 1"/>
          <p:cNvSpPr/>
          <p:nvPr/>
        </p:nvSpPr>
        <p:spPr>
          <a:xfrm>
            <a:off x="640080" y="640080"/>
            <a:ext cx="7772400" cy="228600"/>
          </a:xfrm>
          <a:prstGeom prst="rect">
            <a:avLst/>
          </a:prstGeom>
          <a:noFill/>
          <a:ln/>
        </p:spPr>
        <p:txBody>
          <a:bodyPr wrap="square" lIns="0" tIns="0" rIns="0" bIns="0" rtlCol="0" anchor="ctr"/>
          <a:lstStyle/>
          <a:p>
            <a:pPr indent="0" marL="0">
              <a:buNone/>
            </a:pPr>
            <a:r>
              <a:rPr lang="en-US" sz="1000" dirty="0">
                <a:solidFill>
                  <a:srgbClr val="6B7280"/>
                </a:solidFill>
                <a:latin typeface="Poppins" pitchFamily="34" charset="0"/>
                <a:ea typeface="Poppins" pitchFamily="34" charset="-122"/>
                <a:cs typeface="Poppins" pitchFamily="34" charset="-120"/>
              </a:rPr>
              <a:t>Les services de base intégrés nativement — les workflows pour aller plus loin</a:t>
            </a:r>
            <a:endParaRPr lang="en-US" sz="1000" dirty="0"/>
          </a:p>
        </p:txBody>
      </p:sp>
      <p:sp>
        <p:nvSpPr>
          <p:cNvPr id="4" name="Shape 2"/>
          <p:cNvSpPr/>
          <p:nvPr/>
        </p:nvSpPr>
        <p:spPr>
          <a:xfrm>
            <a:off x="548640" y="1005840"/>
            <a:ext cx="3840480" cy="3566160"/>
          </a:xfrm>
          <a:prstGeom prst="rect">
            <a:avLst>
              <a:gd name="adj" fmla="val 2051"/>
            </a:avLst>
          </a:prstGeom>
          <a:solidFill>
            <a:srgbClr val="E8EEF5"/>
          </a:solidFill>
          <a:ln/>
        </p:spPr>
      </p:sp>
      <p:sp>
        <p:nvSpPr>
          <p:cNvPr id="5" name="Shape 3"/>
          <p:cNvSpPr/>
          <p:nvPr/>
        </p:nvSpPr>
        <p:spPr>
          <a:xfrm>
            <a:off x="548640" y="1005840"/>
            <a:ext cx="3840480" cy="54864"/>
          </a:xfrm>
          <a:prstGeom prst="rect">
            <a:avLst/>
          </a:prstGeom>
          <a:solidFill>
            <a:srgbClr val="1B3A5C"/>
          </a:solidFill>
          <a:ln/>
        </p:spPr>
      </p:sp>
      <p:sp>
        <p:nvSpPr>
          <p:cNvPr id="6" name="Text 4"/>
          <p:cNvSpPr/>
          <p:nvPr/>
        </p:nvSpPr>
        <p:spPr>
          <a:xfrm>
            <a:off x="548640" y="1143000"/>
            <a:ext cx="3840480" cy="274320"/>
          </a:xfrm>
          <a:prstGeom prst="rect">
            <a:avLst/>
          </a:prstGeom>
          <a:noFill/>
          <a:ln/>
        </p:spPr>
        <p:txBody>
          <a:bodyPr wrap="square" lIns="0" tIns="0" rIns="0" bIns="0" rtlCol="0" anchor="ctr"/>
          <a:lstStyle/>
          <a:p>
            <a:pPr algn="ctr" indent="0" marL="0">
              <a:buNone/>
            </a:pPr>
            <a:r>
              <a:rPr lang="en-US" sz="1300" b="1" dirty="0">
                <a:solidFill>
                  <a:srgbClr val="1B3A5C"/>
                </a:solidFill>
                <a:latin typeface="Poppins" pitchFamily="34" charset="0"/>
                <a:ea typeface="Poppins" pitchFamily="34" charset="-122"/>
                <a:cs typeface="Poppins" pitchFamily="34" charset="-120"/>
              </a:rPr>
              <a:t>Intégré dans l'application</a:t>
            </a:r>
            <a:endParaRPr lang="en-US" sz="1300" dirty="0"/>
          </a:p>
        </p:txBody>
      </p:sp>
      <p:sp>
        <p:nvSpPr>
          <p:cNvPr id="7" name="Text 5"/>
          <p:cNvSpPr/>
          <p:nvPr/>
        </p:nvSpPr>
        <p:spPr>
          <a:xfrm>
            <a:off x="548640" y="1417320"/>
            <a:ext cx="3840480" cy="201168"/>
          </a:xfrm>
          <a:prstGeom prst="rect">
            <a:avLst/>
          </a:prstGeom>
          <a:noFill/>
          <a:ln/>
        </p:spPr>
        <p:txBody>
          <a:bodyPr wrap="square" lIns="0" tIns="0" rIns="0" bIns="0" rtlCol="0" anchor="ctr"/>
          <a:lstStyle/>
          <a:p>
            <a:pPr algn="ctr" indent="0" marL="0">
              <a:buNone/>
            </a:pPr>
            <a:r>
              <a:rPr lang="en-US" sz="850" dirty="0">
                <a:solidFill>
                  <a:srgbClr val="6B7280"/>
                </a:solidFill>
                <a:latin typeface="Poppins" pitchFamily="34" charset="0"/>
                <a:ea typeface="Poppins" pitchFamily="34" charset="-122"/>
                <a:cs typeface="Poppins" pitchFamily="34" charset="-120"/>
              </a:rPr>
              <a:t>Services du groupe connectés nativement</a:t>
            </a:r>
            <a:endParaRPr lang="en-US" sz="850" dirty="0"/>
          </a:p>
        </p:txBody>
      </p:sp>
      <p:pic>
        <p:nvPicPr>
          <p:cNvPr id="8" name="Image 0" descr="preencoded.png">    </p:cNvPr>
          <p:cNvPicPr>
            <a:picLocks noChangeAspect="1"/>
          </p:cNvPicPr>
          <p:nvPr/>
        </p:nvPicPr>
        <p:blipFill>
          <a:blip r:embed="rId1"/>
          <a:stretch>
            <a:fillRect/>
          </a:stretch>
        </p:blipFill>
        <p:spPr>
          <a:xfrm>
            <a:off x="822960" y="1783080"/>
            <a:ext cx="201168" cy="201168"/>
          </a:xfrm>
          <a:prstGeom prst="rect">
            <a:avLst/>
          </a:prstGeom>
        </p:spPr>
      </p:pic>
      <p:sp>
        <p:nvSpPr>
          <p:cNvPr id="9" name="Text 6"/>
          <p:cNvSpPr/>
          <p:nvPr/>
        </p:nvSpPr>
        <p:spPr>
          <a:xfrm>
            <a:off x="1143000" y="1755648"/>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Comptabilité &amp; fiscalité (Pennylane, Cegid)</a:t>
            </a:r>
            <a:endParaRPr lang="en-US" sz="850" dirty="0"/>
          </a:p>
        </p:txBody>
      </p:sp>
      <p:pic>
        <p:nvPicPr>
          <p:cNvPr id="10" name="Image 1" descr="preencoded.png">    </p:cNvPr>
          <p:cNvPicPr>
            <a:picLocks noChangeAspect="1"/>
          </p:cNvPicPr>
          <p:nvPr/>
        </p:nvPicPr>
        <p:blipFill>
          <a:blip r:embed="rId2"/>
          <a:stretch>
            <a:fillRect/>
          </a:stretch>
        </p:blipFill>
        <p:spPr>
          <a:xfrm>
            <a:off x="822960" y="2130552"/>
            <a:ext cx="201168" cy="201168"/>
          </a:xfrm>
          <a:prstGeom prst="rect">
            <a:avLst/>
          </a:prstGeom>
        </p:spPr>
      </p:pic>
      <p:sp>
        <p:nvSpPr>
          <p:cNvPr id="11" name="Text 7"/>
          <p:cNvSpPr/>
          <p:nvPr/>
        </p:nvSpPr>
        <p:spPr>
          <a:xfrm>
            <a:off x="1143000" y="2103120"/>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Juridique &amp; social (paie, contrats)</a:t>
            </a:r>
            <a:endParaRPr lang="en-US" sz="850" dirty="0"/>
          </a:p>
        </p:txBody>
      </p:sp>
      <p:pic>
        <p:nvPicPr>
          <p:cNvPr id="12" name="Image 2" descr="preencoded.png">    </p:cNvPr>
          <p:cNvPicPr>
            <a:picLocks noChangeAspect="1"/>
          </p:cNvPicPr>
          <p:nvPr/>
        </p:nvPicPr>
        <p:blipFill>
          <a:blip r:embed="rId3"/>
          <a:stretch>
            <a:fillRect/>
          </a:stretch>
        </p:blipFill>
        <p:spPr>
          <a:xfrm>
            <a:off x="822960" y="2478024"/>
            <a:ext cx="201168" cy="201168"/>
          </a:xfrm>
          <a:prstGeom prst="rect">
            <a:avLst/>
          </a:prstGeom>
        </p:spPr>
      </p:pic>
      <p:sp>
        <p:nvSpPr>
          <p:cNvPr id="13" name="Text 8"/>
          <p:cNvSpPr/>
          <p:nvPr/>
        </p:nvSpPr>
        <p:spPr>
          <a:xfrm>
            <a:off x="1143000" y="2450592"/>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Assurance (Beyer Assurances)</a:t>
            </a:r>
            <a:endParaRPr lang="en-US" sz="850" dirty="0"/>
          </a:p>
        </p:txBody>
      </p:sp>
      <p:pic>
        <p:nvPicPr>
          <p:cNvPr id="14" name="Image 3" descr="preencoded.png">    </p:cNvPr>
          <p:cNvPicPr>
            <a:picLocks noChangeAspect="1"/>
          </p:cNvPicPr>
          <p:nvPr/>
        </p:nvPicPr>
        <p:blipFill>
          <a:blip r:embed="rId4"/>
          <a:stretch>
            <a:fillRect/>
          </a:stretch>
        </p:blipFill>
        <p:spPr>
          <a:xfrm>
            <a:off x="822960" y="2825496"/>
            <a:ext cx="201168" cy="201168"/>
          </a:xfrm>
          <a:prstGeom prst="rect">
            <a:avLst/>
          </a:prstGeom>
        </p:spPr>
      </p:pic>
      <p:sp>
        <p:nvSpPr>
          <p:cNvPr id="15" name="Text 9"/>
          <p:cNvSpPr/>
          <p:nvPr/>
        </p:nvSpPr>
        <p:spPr>
          <a:xfrm>
            <a:off x="1143000" y="2798064"/>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Financement (Chasseur de Prêts)</a:t>
            </a:r>
            <a:endParaRPr lang="en-US" sz="850" dirty="0"/>
          </a:p>
        </p:txBody>
      </p:sp>
      <p:pic>
        <p:nvPicPr>
          <p:cNvPr id="16" name="Image 4" descr="preencoded.png">    </p:cNvPr>
          <p:cNvPicPr>
            <a:picLocks noChangeAspect="1"/>
          </p:cNvPicPr>
          <p:nvPr/>
        </p:nvPicPr>
        <p:blipFill>
          <a:blip r:embed="rId5"/>
          <a:stretch>
            <a:fillRect/>
          </a:stretch>
        </p:blipFill>
        <p:spPr>
          <a:xfrm>
            <a:off x="822960" y="3172968"/>
            <a:ext cx="201168" cy="201168"/>
          </a:xfrm>
          <a:prstGeom prst="rect">
            <a:avLst/>
          </a:prstGeom>
        </p:spPr>
      </p:pic>
      <p:sp>
        <p:nvSpPr>
          <p:cNvPr id="17" name="Text 10"/>
          <p:cNvSpPr/>
          <p:nvPr/>
        </p:nvSpPr>
        <p:spPr>
          <a:xfrm>
            <a:off x="1143000" y="3145536"/>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Informatique (iLoos)</a:t>
            </a:r>
            <a:endParaRPr lang="en-US" sz="850" dirty="0"/>
          </a:p>
        </p:txBody>
      </p:sp>
      <p:pic>
        <p:nvPicPr>
          <p:cNvPr id="18" name="Image 5" descr="preencoded.png">    </p:cNvPr>
          <p:cNvPicPr>
            <a:picLocks noChangeAspect="1"/>
          </p:cNvPicPr>
          <p:nvPr/>
        </p:nvPicPr>
        <p:blipFill>
          <a:blip r:embed="rId6"/>
          <a:stretch>
            <a:fillRect/>
          </a:stretch>
        </p:blipFill>
        <p:spPr>
          <a:xfrm>
            <a:off x="822960" y="3520440"/>
            <a:ext cx="201168" cy="201168"/>
          </a:xfrm>
          <a:prstGeom prst="rect">
            <a:avLst/>
          </a:prstGeom>
        </p:spPr>
      </p:pic>
      <p:sp>
        <p:nvSpPr>
          <p:cNvPr id="19" name="Text 11"/>
          <p:cNvSpPr/>
          <p:nvPr/>
        </p:nvSpPr>
        <p:spPr>
          <a:xfrm>
            <a:off x="1143000" y="3493008"/>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GED &amp; documents (Word, Excel, PPT)</a:t>
            </a:r>
            <a:endParaRPr lang="en-US" sz="850" dirty="0"/>
          </a:p>
        </p:txBody>
      </p:sp>
      <p:pic>
        <p:nvPicPr>
          <p:cNvPr id="20" name="Image 6" descr="preencoded.png">    </p:cNvPr>
          <p:cNvPicPr>
            <a:picLocks noChangeAspect="1"/>
          </p:cNvPicPr>
          <p:nvPr/>
        </p:nvPicPr>
        <p:blipFill>
          <a:blip r:embed="rId7"/>
          <a:stretch>
            <a:fillRect/>
          </a:stretch>
        </p:blipFill>
        <p:spPr>
          <a:xfrm>
            <a:off x="822960" y="3867912"/>
            <a:ext cx="201168" cy="201168"/>
          </a:xfrm>
          <a:prstGeom prst="rect">
            <a:avLst/>
          </a:prstGeom>
        </p:spPr>
      </p:pic>
      <p:sp>
        <p:nvSpPr>
          <p:cNvPr id="21" name="Text 12"/>
          <p:cNvSpPr/>
          <p:nvPr/>
        </p:nvSpPr>
        <p:spPr>
          <a:xfrm>
            <a:off x="1143000" y="3840480"/>
            <a:ext cx="301752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Messagerie expert-comptable</a:t>
            </a:r>
            <a:endParaRPr lang="en-US" sz="850" dirty="0"/>
          </a:p>
        </p:txBody>
      </p:sp>
      <p:sp>
        <p:nvSpPr>
          <p:cNvPr id="22" name="Shape 13"/>
          <p:cNvSpPr/>
          <p:nvPr/>
        </p:nvSpPr>
        <p:spPr>
          <a:xfrm>
            <a:off x="4754880" y="1005840"/>
            <a:ext cx="3840480" cy="3566160"/>
          </a:xfrm>
          <a:prstGeom prst="rect">
            <a:avLst>
              <a:gd name="adj" fmla="val 2051"/>
            </a:avLst>
          </a:prstGeom>
          <a:solidFill>
            <a:srgbClr val="EBF5FF"/>
          </a:solidFill>
          <a:ln/>
        </p:spPr>
      </p:sp>
      <p:sp>
        <p:nvSpPr>
          <p:cNvPr id="23" name="Shape 14"/>
          <p:cNvSpPr/>
          <p:nvPr/>
        </p:nvSpPr>
        <p:spPr>
          <a:xfrm>
            <a:off x="4754880" y="1005840"/>
            <a:ext cx="3840480" cy="54864"/>
          </a:xfrm>
          <a:prstGeom prst="rect">
            <a:avLst/>
          </a:prstGeom>
          <a:solidFill>
            <a:srgbClr val="1677FF"/>
          </a:solidFill>
          <a:ln/>
        </p:spPr>
      </p:sp>
      <p:sp>
        <p:nvSpPr>
          <p:cNvPr id="24" name="Text 15"/>
          <p:cNvSpPr/>
          <p:nvPr/>
        </p:nvSpPr>
        <p:spPr>
          <a:xfrm>
            <a:off x="4754880" y="1143000"/>
            <a:ext cx="3840480" cy="274320"/>
          </a:xfrm>
          <a:prstGeom prst="rect">
            <a:avLst/>
          </a:prstGeom>
          <a:noFill/>
          <a:ln/>
        </p:spPr>
        <p:txBody>
          <a:bodyPr wrap="square" lIns="0" tIns="0" rIns="0" bIns="0" rtlCol="0" anchor="ctr"/>
          <a:lstStyle/>
          <a:p>
            <a:pPr algn="ctr" indent="0" marL="0">
              <a:buNone/>
            </a:pPr>
            <a:r>
              <a:rPr lang="en-US" sz="1300" b="1" dirty="0">
                <a:solidFill>
                  <a:srgbClr val="1677FF"/>
                </a:solidFill>
                <a:latin typeface="Poppins" pitchFamily="34" charset="0"/>
                <a:ea typeface="Poppins" pitchFamily="34" charset="-122"/>
                <a:cs typeface="Poppins" pitchFamily="34" charset="-120"/>
              </a:rPr>
              <a:t>Workflows personnalisés</a:t>
            </a:r>
            <a:endParaRPr lang="en-US" sz="1300" dirty="0"/>
          </a:p>
        </p:txBody>
      </p:sp>
      <p:sp>
        <p:nvSpPr>
          <p:cNvPr id="25" name="Text 16"/>
          <p:cNvSpPr/>
          <p:nvPr/>
        </p:nvSpPr>
        <p:spPr>
          <a:xfrm>
            <a:off x="4754880" y="1417320"/>
            <a:ext cx="3840480" cy="201168"/>
          </a:xfrm>
          <a:prstGeom prst="rect">
            <a:avLst/>
          </a:prstGeom>
          <a:noFill/>
          <a:ln/>
        </p:spPr>
        <p:txBody>
          <a:bodyPr wrap="square" lIns="0" tIns="0" rIns="0" bIns="0" rtlCol="0" anchor="ctr"/>
          <a:lstStyle/>
          <a:p>
            <a:pPr algn="ctr" indent="0" marL="0">
              <a:buNone/>
            </a:pPr>
            <a:r>
              <a:rPr lang="en-US" sz="850" dirty="0">
                <a:solidFill>
                  <a:srgbClr val="6B7280"/>
                </a:solidFill>
                <a:latin typeface="Poppins" pitchFamily="34" charset="0"/>
                <a:ea typeface="Poppins" pitchFamily="34" charset="-122"/>
                <a:cs typeface="Poppins" pitchFamily="34" charset="-120"/>
              </a:rPr>
              <a:t>Créés par les équipes et les clients</a:t>
            </a:r>
            <a:endParaRPr lang="en-US" sz="850" dirty="0"/>
          </a:p>
        </p:txBody>
      </p:sp>
      <p:sp>
        <p:nvSpPr>
          <p:cNvPr id="26" name="Shape 17"/>
          <p:cNvSpPr/>
          <p:nvPr/>
        </p:nvSpPr>
        <p:spPr>
          <a:xfrm>
            <a:off x="4937760" y="1755648"/>
            <a:ext cx="502920" cy="201168"/>
          </a:xfrm>
          <a:prstGeom prst="rect">
            <a:avLst>
              <a:gd name="adj" fmla="val 45455"/>
            </a:avLst>
          </a:prstGeom>
          <a:solidFill>
            <a:srgbClr val="1B3A5C"/>
          </a:solidFill>
          <a:ln/>
        </p:spPr>
      </p:sp>
      <p:sp>
        <p:nvSpPr>
          <p:cNvPr id="27" name="Text 18"/>
          <p:cNvSpPr/>
          <p:nvPr/>
        </p:nvSpPr>
        <p:spPr>
          <a:xfrm>
            <a:off x="4937760" y="1755648"/>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Équipes</a:t>
            </a:r>
            <a:endParaRPr lang="en-US" sz="650" dirty="0"/>
          </a:p>
        </p:txBody>
      </p:sp>
      <p:sp>
        <p:nvSpPr>
          <p:cNvPr id="28" name="Text 19"/>
          <p:cNvSpPr/>
          <p:nvPr/>
        </p:nvSpPr>
        <p:spPr>
          <a:xfrm>
            <a:off x="5532120" y="1755648"/>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Workflow onboarding client</a:t>
            </a:r>
            <a:endParaRPr lang="en-US" sz="850" dirty="0"/>
          </a:p>
        </p:txBody>
      </p:sp>
      <p:sp>
        <p:nvSpPr>
          <p:cNvPr id="29" name="Shape 20"/>
          <p:cNvSpPr/>
          <p:nvPr/>
        </p:nvSpPr>
        <p:spPr>
          <a:xfrm>
            <a:off x="4937760" y="2103120"/>
            <a:ext cx="502920" cy="201168"/>
          </a:xfrm>
          <a:prstGeom prst="rect">
            <a:avLst>
              <a:gd name="adj" fmla="val 45455"/>
            </a:avLst>
          </a:prstGeom>
          <a:solidFill>
            <a:srgbClr val="1B3A5C"/>
          </a:solidFill>
          <a:ln/>
        </p:spPr>
      </p:sp>
      <p:sp>
        <p:nvSpPr>
          <p:cNvPr id="30" name="Text 21"/>
          <p:cNvSpPr/>
          <p:nvPr/>
        </p:nvSpPr>
        <p:spPr>
          <a:xfrm>
            <a:off x="4937760" y="2103120"/>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Équipes</a:t>
            </a:r>
            <a:endParaRPr lang="en-US" sz="650" dirty="0"/>
          </a:p>
        </p:txBody>
      </p:sp>
      <p:sp>
        <p:nvSpPr>
          <p:cNvPr id="31" name="Text 22"/>
          <p:cNvSpPr/>
          <p:nvPr/>
        </p:nvSpPr>
        <p:spPr>
          <a:xfrm>
            <a:off x="5532120" y="2103120"/>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Formulaires de collecte automatisés</a:t>
            </a:r>
            <a:endParaRPr lang="en-US" sz="850" dirty="0"/>
          </a:p>
        </p:txBody>
      </p:sp>
      <p:sp>
        <p:nvSpPr>
          <p:cNvPr id="32" name="Shape 23"/>
          <p:cNvSpPr/>
          <p:nvPr/>
        </p:nvSpPr>
        <p:spPr>
          <a:xfrm>
            <a:off x="4937760" y="2450592"/>
            <a:ext cx="502920" cy="201168"/>
          </a:xfrm>
          <a:prstGeom prst="rect">
            <a:avLst>
              <a:gd name="adj" fmla="val 45455"/>
            </a:avLst>
          </a:prstGeom>
          <a:solidFill>
            <a:srgbClr val="1B3A5C"/>
          </a:solidFill>
          <a:ln/>
        </p:spPr>
      </p:sp>
      <p:sp>
        <p:nvSpPr>
          <p:cNvPr id="33" name="Text 24"/>
          <p:cNvSpPr/>
          <p:nvPr/>
        </p:nvSpPr>
        <p:spPr>
          <a:xfrm>
            <a:off x="4937760" y="2450592"/>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Équipes</a:t>
            </a:r>
            <a:endParaRPr lang="en-US" sz="650" dirty="0"/>
          </a:p>
        </p:txBody>
      </p:sp>
      <p:sp>
        <p:nvSpPr>
          <p:cNvPr id="34" name="Text 25"/>
          <p:cNvSpPr/>
          <p:nvPr/>
        </p:nvSpPr>
        <p:spPr>
          <a:xfrm>
            <a:off x="5532120" y="2450592"/>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Routage inter-services</a:t>
            </a:r>
            <a:endParaRPr lang="en-US" sz="850" dirty="0"/>
          </a:p>
        </p:txBody>
      </p:sp>
      <p:sp>
        <p:nvSpPr>
          <p:cNvPr id="35" name="Shape 26"/>
          <p:cNvSpPr/>
          <p:nvPr/>
        </p:nvSpPr>
        <p:spPr>
          <a:xfrm>
            <a:off x="4937760" y="2798064"/>
            <a:ext cx="502920" cy="201168"/>
          </a:xfrm>
          <a:prstGeom prst="rect">
            <a:avLst>
              <a:gd name="adj" fmla="val 45455"/>
            </a:avLst>
          </a:prstGeom>
          <a:solidFill>
            <a:srgbClr val="16A34A"/>
          </a:solidFill>
          <a:ln/>
        </p:spPr>
      </p:sp>
      <p:sp>
        <p:nvSpPr>
          <p:cNvPr id="36" name="Text 27"/>
          <p:cNvSpPr/>
          <p:nvPr/>
        </p:nvSpPr>
        <p:spPr>
          <a:xfrm>
            <a:off x="4937760" y="2798064"/>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Client</a:t>
            </a:r>
            <a:endParaRPr lang="en-US" sz="650" dirty="0"/>
          </a:p>
        </p:txBody>
      </p:sp>
      <p:sp>
        <p:nvSpPr>
          <p:cNvPr id="37" name="Text 28"/>
          <p:cNvSpPr/>
          <p:nvPr/>
        </p:nvSpPr>
        <p:spPr>
          <a:xfrm>
            <a:off x="5532120" y="2798064"/>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IA pour analyser ses documents</a:t>
            </a:r>
            <a:endParaRPr lang="en-US" sz="850" dirty="0"/>
          </a:p>
        </p:txBody>
      </p:sp>
      <p:sp>
        <p:nvSpPr>
          <p:cNvPr id="38" name="Shape 29"/>
          <p:cNvSpPr/>
          <p:nvPr/>
        </p:nvSpPr>
        <p:spPr>
          <a:xfrm>
            <a:off x="4937760" y="3145536"/>
            <a:ext cx="502920" cy="201168"/>
          </a:xfrm>
          <a:prstGeom prst="rect">
            <a:avLst>
              <a:gd name="adj" fmla="val 45455"/>
            </a:avLst>
          </a:prstGeom>
          <a:solidFill>
            <a:srgbClr val="16A34A"/>
          </a:solidFill>
          <a:ln/>
        </p:spPr>
      </p:sp>
      <p:sp>
        <p:nvSpPr>
          <p:cNvPr id="39" name="Text 30"/>
          <p:cNvSpPr/>
          <p:nvPr/>
        </p:nvSpPr>
        <p:spPr>
          <a:xfrm>
            <a:off x="4937760" y="3145536"/>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Client</a:t>
            </a:r>
            <a:endParaRPr lang="en-US" sz="650" dirty="0"/>
          </a:p>
        </p:txBody>
      </p:sp>
      <p:sp>
        <p:nvSpPr>
          <p:cNvPr id="40" name="Text 31"/>
          <p:cNvSpPr/>
          <p:nvPr/>
        </p:nvSpPr>
        <p:spPr>
          <a:xfrm>
            <a:off x="5532120" y="3145536"/>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Alertes échéances automatiques</a:t>
            </a:r>
            <a:endParaRPr lang="en-US" sz="850" dirty="0"/>
          </a:p>
        </p:txBody>
      </p:sp>
      <p:sp>
        <p:nvSpPr>
          <p:cNvPr id="41" name="Shape 32"/>
          <p:cNvSpPr/>
          <p:nvPr/>
        </p:nvSpPr>
        <p:spPr>
          <a:xfrm>
            <a:off x="4937760" y="3493008"/>
            <a:ext cx="502920" cy="201168"/>
          </a:xfrm>
          <a:prstGeom prst="rect">
            <a:avLst>
              <a:gd name="adj" fmla="val 45455"/>
            </a:avLst>
          </a:prstGeom>
          <a:solidFill>
            <a:srgbClr val="16A34A"/>
          </a:solidFill>
          <a:ln/>
        </p:spPr>
      </p:sp>
      <p:sp>
        <p:nvSpPr>
          <p:cNvPr id="42" name="Text 33"/>
          <p:cNvSpPr/>
          <p:nvPr/>
        </p:nvSpPr>
        <p:spPr>
          <a:xfrm>
            <a:off x="4937760" y="3493008"/>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Client</a:t>
            </a:r>
            <a:endParaRPr lang="en-US" sz="650" dirty="0"/>
          </a:p>
        </p:txBody>
      </p:sp>
      <p:sp>
        <p:nvSpPr>
          <p:cNvPr id="43" name="Text 34"/>
          <p:cNvSpPr/>
          <p:nvPr/>
        </p:nvSpPr>
        <p:spPr>
          <a:xfrm>
            <a:off x="5532120" y="3493008"/>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Facturation récurrente auto</a:t>
            </a:r>
            <a:endParaRPr lang="en-US" sz="850" dirty="0"/>
          </a:p>
        </p:txBody>
      </p:sp>
      <p:sp>
        <p:nvSpPr>
          <p:cNvPr id="44" name="Shape 35"/>
          <p:cNvSpPr/>
          <p:nvPr/>
        </p:nvSpPr>
        <p:spPr>
          <a:xfrm>
            <a:off x="4937760" y="3840480"/>
            <a:ext cx="502920" cy="201168"/>
          </a:xfrm>
          <a:prstGeom prst="rect">
            <a:avLst>
              <a:gd name="adj" fmla="val 45455"/>
            </a:avLst>
          </a:prstGeom>
          <a:solidFill>
            <a:srgbClr val="16A34A"/>
          </a:solidFill>
          <a:ln/>
        </p:spPr>
      </p:sp>
      <p:sp>
        <p:nvSpPr>
          <p:cNvPr id="45" name="Text 36"/>
          <p:cNvSpPr/>
          <p:nvPr/>
        </p:nvSpPr>
        <p:spPr>
          <a:xfrm>
            <a:off x="4937760" y="3840480"/>
            <a:ext cx="502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Client</a:t>
            </a:r>
            <a:endParaRPr lang="en-US" sz="650" dirty="0"/>
          </a:p>
        </p:txBody>
      </p:sp>
      <p:sp>
        <p:nvSpPr>
          <p:cNvPr id="46" name="Text 37"/>
          <p:cNvSpPr/>
          <p:nvPr/>
        </p:nvSpPr>
        <p:spPr>
          <a:xfrm>
            <a:off x="5532120" y="3840480"/>
            <a:ext cx="2834640" cy="256032"/>
          </a:xfrm>
          <a:prstGeom prst="rect">
            <a:avLst/>
          </a:prstGeom>
          <a:noFill/>
          <a:ln/>
        </p:spPr>
        <p:txBody>
          <a:bodyPr wrap="square" lIns="0" tIns="0" rIns="0" bIns="0" rtlCol="0" anchor="ctr"/>
          <a:lstStyle/>
          <a:p>
            <a:pPr indent="0" marL="0">
              <a:buNone/>
            </a:pPr>
            <a:r>
              <a:rPr lang="en-US" sz="850" dirty="0">
                <a:solidFill>
                  <a:srgbClr val="0F172A"/>
                </a:solidFill>
                <a:latin typeface="Poppins" pitchFamily="34" charset="0"/>
                <a:ea typeface="Poppins" pitchFamily="34" charset="-122"/>
                <a:cs typeface="Poppins" pitchFamily="34" charset="-120"/>
              </a:rPr>
              <a:t>Reporting personnalisé</a:t>
            </a:r>
            <a:endParaRPr lang="en-US" sz="850" dirty="0"/>
          </a:p>
        </p:txBody>
      </p:sp>
      <p:sp>
        <p:nvSpPr>
          <p:cNvPr id="47" name="Shape 38"/>
          <p:cNvSpPr/>
          <p:nvPr/>
        </p:nvSpPr>
        <p:spPr>
          <a:xfrm>
            <a:off x="640080" y="4663440"/>
            <a:ext cx="7863840" cy="320040"/>
          </a:xfrm>
          <a:prstGeom prst="rect">
            <a:avLst>
              <a:gd name="adj" fmla="val 11429"/>
            </a:avLst>
          </a:prstGeom>
          <a:solidFill>
            <a:srgbClr val="F7F9FC"/>
          </a:solidFill>
          <a:ln/>
        </p:spPr>
      </p:sp>
      <p:sp>
        <p:nvSpPr>
          <p:cNvPr id="48" name="Text 39"/>
          <p:cNvSpPr/>
          <p:nvPr/>
        </p:nvSpPr>
        <p:spPr>
          <a:xfrm>
            <a:off x="640080" y="4663440"/>
            <a:ext cx="7863840" cy="320040"/>
          </a:xfrm>
          <a:prstGeom prst="rect">
            <a:avLst/>
          </a:prstGeom>
          <a:noFill/>
          <a:ln/>
        </p:spPr>
        <p:txBody>
          <a:bodyPr wrap="square" lIns="0" tIns="0" rIns="0" bIns="0" rtlCol="0" anchor="ctr"/>
          <a:lstStyle/>
          <a:p>
            <a:pPr algn="ctr" indent="0" marL="0">
              <a:buNone/>
            </a:pPr>
            <a:r>
              <a:rPr lang="en-US" sz="850" b="1" dirty="0">
                <a:solidFill>
                  <a:srgbClr val="1677FF"/>
                </a:solidFill>
                <a:latin typeface="Poppins" pitchFamily="34" charset="0"/>
                <a:ea typeface="Poppins" pitchFamily="34" charset="-122"/>
                <a:cs typeface="Poppins" pitchFamily="34" charset="-120"/>
              </a:rPr>
              <a:t>La base est déjà connectée — les workflows permettent aux utilisateurs de créer leurs propres automatisations</a:t>
            </a:r>
            <a:endParaRPr lang="en-US" sz="850" dirty="0"/>
          </a:p>
        </p:txBody>
      </p:sp>
      <p:sp>
        <p:nvSpPr>
          <p:cNvPr id="49" name="Text 40"/>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Gestion documentaire et IA</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Édition en ligne, génération automatique, intelligence artificielle</a:t>
            </a:r>
            <a:endParaRPr lang="en-US" sz="1100" dirty="0"/>
          </a:p>
        </p:txBody>
      </p:sp>
      <p:sp>
        <p:nvSpPr>
          <p:cNvPr id="4" name="Shape 2"/>
          <p:cNvSpPr/>
          <p:nvPr/>
        </p:nvSpPr>
        <p:spPr>
          <a:xfrm>
            <a:off x="685800" y="1051560"/>
            <a:ext cx="2377440" cy="33832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685800" y="1051560"/>
            <a:ext cx="2377440" cy="54864"/>
          </a:xfrm>
          <a:prstGeom prst="rect">
            <a:avLst/>
          </a:prstGeom>
          <a:solidFill>
            <a:srgbClr val="1677FF"/>
          </a:solidFill>
          <a:ln/>
        </p:spPr>
      </p:sp>
      <p:pic>
        <p:nvPicPr>
          <p:cNvPr id="6" name="Image 0" descr="preencoded.png">    </p:cNvPr>
          <p:cNvPicPr>
            <a:picLocks noChangeAspect="1"/>
          </p:cNvPicPr>
          <p:nvPr/>
        </p:nvPicPr>
        <p:blipFill>
          <a:blip r:embed="rId1"/>
          <a:stretch>
            <a:fillRect/>
          </a:stretch>
        </p:blipFill>
        <p:spPr>
          <a:xfrm>
            <a:off x="1600200" y="1234440"/>
            <a:ext cx="411480" cy="411480"/>
          </a:xfrm>
          <a:prstGeom prst="rect">
            <a:avLst/>
          </a:prstGeom>
        </p:spPr>
      </p:pic>
      <p:sp>
        <p:nvSpPr>
          <p:cNvPr id="7" name="Text 4"/>
          <p:cNvSpPr/>
          <p:nvPr/>
        </p:nvSpPr>
        <p:spPr>
          <a:xfrm>
            <a:off x="685800" y="1737360"/>
            <a:ext cx="237744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Poppins" pitchFamily="34" charset="0"/>
                <a:ea typeface="Poppins" pitchFamily="34" charset="-122"/>
                <a:cs typeface="Poppins" pitchFamily="34" charset="-120"/>
              </a:rPr>
              <a:t>Édition en ligne</a:t>
            </a:r>
            <a:endParaRPr lang="en-US" sz="1400" dirty="0"/>
          </a:p>
        </p:txBody>
      </p:sp>
      <p:sp>
        <p:nvSpPr>
          <p:cNvPr id="8" name="Text 5"/>
          <p:cNvSpPr/>
          <p:nvPr/>
        </p:nvSpPr>
        <p:spPr>
          <a:xfrm>
            <a:off x="685800" y="2011680"/>
            <a:ext cx="23774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Poppins" pitchFamily="34" charset="0"/>
                <a:ea typeface="Poppins" pitchFamily="34" charset="-122"/>
                <a:cs typeface="Poppins" pitchFamily="34" charset="-120"/>
              </a:rPr>
              <a:t>Sans quitter l'application</a:t>
            </a:r>
            <a:endParaRPr lang="en-US" sz="850" dirty="0"/>
          </a:p>
        </p:txBody>
      </p:sp>
      <p:pic>
        <p:nvPicPr>
          <p:cNvPr id="9" name="Image 1" descr="preencoded.png">    </p:cNvPr>
          <p:cNvPicPr>
            <a:picLocks noChangeAspect="1"/>
          </p:cNvPicPr>
          <p:nvPr/>
        </p:nvPicPr>
        <p:blipFill>
          <a:blip r:embed="rId2"/>
          <a:stretch>
            <a:fillRect/>
          </a:stretch>
        </p:blipFill>
        <p:spPr>
          <a:xfrm>
            <a:off x="960120" y="2331720"/>
            <a:ext cx="201168" cy="201168"/>
          </a:xfrm>
          <a:prstGeom prst="rect">
            <a:avLst/>
          </a:prstGeom>
        </p:spPr>
      </p:pic>
      <p:sp>
        <p:nvSpPr>
          <p:cNvPr id="10" name="Text 6"/>
          <p:cNvSpPr/>
          <p:nvPr/>
        </p:nvSpPr>
        <p:spPr>
          <a:xfrm>
            <a:off x="1280160" y="2313432"/>
            <a:ext cx="164592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Documents Word</a:t>
            </a:r>
            <a:endParaRPr lang="en-US" sz="900" dirty="0"/>
          </a:p>
        </p:txBody>
      </p:sp>
      <p:pic>
        <p:nvPicPr>
          <p:cNvPr id="11" name="Image 2" descr="preencoded.png">    </p:cNvPr>
          <p:cNvPicPr>
            <a:picLocks noChangeAspect="1"/>
          </p:cNvPicPr>
          <p:nvPr/>
        </p:nvPicPr>
        <p:blipFill>
          <a:blip r:embed="rId3"/>
          <a:stretch>
            <a:fillRect/>
          </a:stretch>
        </p:blipFill>
        <p:spPr>
          <a:xfrm>
            <a:off x="960120" y="2679192"/>
            <a:ext cx="201168" cy="201168"/>
          </a:xfrm>
          <a:prstGeom prst="rect">
            <a:avLst/>
          </a:prstGeom>
        </p:spPr>
      </p:pic>
      <p:sp>
        <p:nvSpPr>
          <p:cNvPr id="12" name="Text 7"/>
          <p:cNvSpPr/>
          <p:nvPr/>
        </p:nvSpPr>
        <p:spPr>
          <a:xfrm>
            <a:off x="1280160" y="2660904"/>
            <a:ext cx="164592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Tableaux Excel</a:t>
            </a:r>
            <a:endParaRPr lang="en-US" sz="900" dirty="0"/>
          </a:p>
        </p:txBody>
      </p:sp>
      <p:pic>
        <p:nvPicPr>
          <p:cNvPr id="13" name="Image 3" descr="preencoded.png">    </p:cNvPr>
          <p:cNvPicPr>
            <a:picLocks noChangeAspect="1"/>
          </p:cNvPicPr>
          <p:nvPr/>
        </p:nvPicPr>
        <p:blipFill>
          <a:blip r:embed="rId4"/>
          <a:stretch>
            <a:fillRect/>
          </a:stretch>
        </p:blipFill>
        <p:spPr>
          <a:xfrm>
            <a:off x="960120" y="3026664"/>
            <a:ext cx="201168" cy="201168"/>
          </a:xfrm>
          <a:prstGeom prst="rect">
            <a:avLst/>
          </a:prstGeom>
        </p:spPr>
      </p:pic>
      <p:sp>
        <p:nvSpPr>
          <p:cNvPr id="14" name="Text 8"/>
          <p:cNvSpPr/>
          <p:nvPr/>
        </p:nvSpPr>
        <p:spPr>
          <a:xfrm>
            <a:off x="1280160" y="3008376"/>
            <a:ext cx="164592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Présentations PPT</a:t>
            </a:r>
            <a:endParaRPr lang="en-US" sz="900" dirty="0"/>
          </a:p>
        </p:txBody>
      </p:sp>
      <p:pic>
        <p:nvPicPr>
          <p:cNvPr id="15" name="Image 4" descr="preencoded.png">    </p:cNvPr>
          <p:cNvPicPr>
            <a:picLocks noChangeAspect="1"/>
          </p:cNvPicPr>
          <p:nvPr/>
        </p:nvPicPr>
        <p:blipFill>
          <a:blip r:embed="rId5"/>
          <a:stretch>
            <a:fillRect/>
          </a:stretch>
        </p:blipFill>
        <p:spPr>
          <a:xfrm>
            <a:off x="960120" y="3374136"/>
            <a:ext cx="201168" cy="201168"/>
          </a:xfrm>
          <a:prstGeom prst="rect">
            <a:avLst/>
          </a:prstGeom>
        </p:spPr>
      </p:pic>
      <p:sp>
        <p:nvSpPr>
          <p:cNvPr id="16" name="Text 9"/>
          <p:cNvSpPr/>
          <p:nvPr/>
        </p:nvSpPr>
        <p:spPr>
          <a:xfrm>
            <a:off x="1280160" y="3355848"/>
            <a:ext cx="164592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Contrats &amp; bilans</a:t>
            </a:r>
            <a:endParaRPr lang="en-US" sz="900" dirty="0"/>
          </a:p>
        </p:txBody>
      </p:sp>
      <p:pic>
        <p:nvPicPr>
          <p:cNvPr id="17" name="Image 5" descr="preencoded.png">    </p:cNvPr>
          <p:cNvPicPr>
            <a:picLocks noChangeAspect="1"/>
          </p:cNvPicPr>
          <p:nvPr/>
        </p:nvPicPr>
        <p:blipFill>
          <a:blip r:embed="rId6"/>
          <a:stretch>
            <a:fillRect/>
          </a:stretch>
        </p:blipFill>
        <p:spPr>
          <a:xfrm>
            <a:off x="960120" y="3721608"/>
            <a:ext cx="201168" cy="201168"/>
          </a:xfrm>
          <a:prstGeom prst="rect">
            <a:avLst/>
          </a:prstGeom>
        </p:spPr>
      </p:pic>
      <p:sp>
        <p:nvSpPr>
          <p:cNvPr id="18" name="Text 10"/>
          <p:cNvSpPr/>
          <p:nvPr/>
        </p:nvSpPr>
        <p:spPr>
          <a:xfrm>
            <a:off x="1280160" y="3703320"/>
            <a:ext cx="164592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Rapports financiers</a:t>
            </a:r>
            <a:endParaRPr lang="en-US" sz="900" dirty="0"/>
          </a:p>
        </p:txBody>
      </p:sp>
      <p:sp>
        <p:nvSpPr>
          <p:cNvPr id="19" name="Shape 11"/>
          <p:cNvSpPr/>
          <p:nvPr/>
        </p:nvSpPr>
        <p:spPr>
          <a:xfrm>
            <a:off x="3383280" y="1051560"/>
            <a:ext cx="2377440" cy="33832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sp>
        <p:nvSpPr>
          <p:cNvPr id="20" name="Shape 12"/>
          <p:cNvSpPr/>
          <p:nvPr/>
        </p:nvSpPr>
        <p:spPr>
          <a:xfrm>
            <a:off x="3383280" y="1051560"/>
            <a:ext cx="2377440" cy="54864"/>
          </a:xfrm>
          <a:prstGeom prst="rect">
            <a:avLst/>
          </a:prstGeom>
          <a:solidFill>
            <a:srgbClr val="16A34A"/>
          </a:solidFill>
          <a:ln/>
        </p:spPr>
      </p:sp>
      <p:pic>
        <p:nvPicPr>
          <p:cNvPr id="21" name="Image 6" descr="preencoded.png">    </p:cNvPr>
          <p:cNvPicPr>
            <a:picLocks noChangeAspect="1"/>
          </p:cNvPicPr>
          <p:nvPr/>
        </p:nvPicPr>
        <p:blipFill>
          <a:blip r:embed="rId7"/>
          <a:stretch>
            <a:fillRect/>
          </a:stretch>
        </p:blipFill>
        <p:spPr>
          <a:xfrm>
            <a:off x="4297680" y="1234440"/>
            <a:ext cx="411480" cy="411480"/>
          </a:xfrm>
          <a:prstGeom prst="rect">
            <a:avLst/>
          </a:prstGeom>
        </p:spPr>
      </p:pic>
      <p:sp>
        <p:nvSpPr>
          <p:cNvPr id="22" name="Text 13"/>
          <p:cNvSpPr/>
          <p:nvPr/>
        </p:nvSpPr>
        <p:spPr>
          <a:xfrm>
            <a:off x="3383280" y="1737360"/>
            <a:ext cx="237744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Poppins" pitchFamily="34" charset="0"/>
                <a:ea typeface="Poppins" pitchFamily="34" charset="-122"/>
                <a:cs typeface="Poppins" pitchFamily="34" charset="-120"/>
              </a:rPr>
              <a:t>Génération auto</a:t>
            </a:r>
            <a:endParaRPr lang="en-US" sz="1400" dirty="0"/>
          </a:p>
        </p:txBody>
      </p:sp>
      <p:sp>
        <p:nvSpPr>
          <p:cNvPr id="23" name="Text 14"/>
          <p:cNvSpPr/>
          <p:nvPr/>
        </p:nvSpPr>
        <p:spPr>
          <a:xfrm>
            <a:off x="3383280" y="2011680"/>
            <a:ext cx="23774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Poppins" pitchFamily="34" charset="0"/>
                <a:ea typeface="Poppins" pitchFamily="34" charset="-122"/>
                <a:cs typeface="Poppins" pitchFamily="34" charset="-120"/>
              </a:rPr>
              <a:t>À partir de données et modèles</a:t>
            </a:r>
            <a:endParaRPr lang="en-US" sz="850" dirty="0"/>
          </a:p>
        </p:txBody>
      </p:sp>
      <p:sp>
        <p:nvSpPr>
          <p:cNvPr id="24" name="Text 15"/>
          <p:cNvSpPr/>
          <p:nvPr/>
        </p:nvSpPr>
        <p:spPr>
          <a:xfrm>
            <a:off x="3611880" y="2331720"/>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Contrats &amp; lettres de mission</a:t>
            </a:r>
            <a:endParaRPr lang="en-US" sz="900" dirty="0"/>
          </a:p>
        </p:txBody>
      </p:sp>
      <p:sp>
        <p:nvSpPr>
          <p:cNvPr id="25" name="Text 16"/>
          <p:cNvSpPr/>
          <p:nvPr/>
        </p:nvSpPr>
        <p:spPr>
          <a:xfrm>
            <a:off x="3611880" y="2679192"/>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Devis &amp; factures</a:t>
            </a:r>
            <a:endParaRPr lang="en-US" sz="900" dirty="0"/>
          </a:p>
        </p:txBody>
      </p:sp>
      <p:sp>
        <p:nvSpPr>
          <p:cNvPr id="26" name="Text 17"/>
          <p:cNvSpPr/>
          <p:nvPr/>
        </p:nvSpPr>
        <p:spPr>
          <a:xfrm>
            <a:off x="3611880" y="3026664"/>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Bilans &amp; rapports</a:t>
            </a:r>
            <a:endParaRPr lang="en-US" sz="900" dirty="0"/>
          </a:p>
        </p:txBody>
      </p:sp>
      <p:sp>
        <p:nvSpPr>
          <p:cNvPr id="27" name="Text 18"/>
          <p:cNvSpPr/>
          <p:nvPr/>
        </p:nvSpPr>
        <p:spPr>
          <a:xfrm>
            <a:off x="3611880" y="3374136"/>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Documents juridiques</a:t>
            </a:r>
            <a:endParaRPr lang="en-US" sz="900" dirty="0"/>
          </a:p>
        </p:txBody>
      </p:sp>
      <p:sp>
        <p:nvSpPr>
          <p:cNvPr id="28" name="Text 19"/>
          <p:cNvSpPr/>
          <p:nvPr/>
        </p:nvSpPr>
        <p:spPr>
          <a:xfrm>
            <a:off x="3611880" y="3721608"/>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Présentations clients</a:t>
            </a:r>
            <a:endParaRPr lang="en-US" sz="900" dirty="0"/>
          </a:p>
        </p:txBody>
      </p:sp>
      <p:sp>
        <p:nvSpPr>
          <p:cNvPr id="29" name="Shape 20"/>
          <p:cNvSpPr/>
          <p:nvPr/>
        </p:nvSpPr>
        <p:spPr>
          <a:xfrm>
            <a:off x="6080760" y="1051560"/>
            <a:ext cx="2377440" cy="3383280"/>
          </a:xfrm>
          <a:prstGeom prst="rect">
            <a:avLst>
              <a:gd name="adj" fmla="val 3077"/>
            </a:avLst>
          </a:prstGeom>
          <a:solidFill>
            <a:srgbClr val="F7F9FC"/>
          </a:solidFill>
          <a:ln/>
          <a:effectLst>
            <a:outerShdw sx="100000" sy="100000" kx="0" ky="0" algn="bl" rotWithShape="0" blurRad="76200" dist="25400" dir="8100000">
              <a:srgbClr val="000000">
                <a:alpha val="6000"/>
              </a:srgbClr>
            </a:outerShdw>
          </a:effectLst>
        </p:spPr>
      </p:sp>
      <p:sp>
        <p:nvSpPr>
          <p:cNvPr id="30" name="Shape 21"/>
          <p:cNvSpPr/>
          <p:nvPr/>
        </p:nvSpPr>
        <p:spPr>
          <a:xfrm>
            <a:off x="6080760" y="1051560"/>
            <a:ext cx="2377440" cy="54864"/>
          </a:xfrm>
          <a:prstGeom prst="rect">
            <a:avLst/>
          </a:prstGeom>
          <a:solidFill>
            <a:srgbClr val="7C3AED"/>
          </a:solidFill>
          <a:ln/>
        </p:spPr>
      </p:sp>
      <p:pic>
        <p:nvPicPr>
          <p:cNvPr id="31" name="Image 7" descr="preencoded.png">    </p:cNvPr>
          <p:cNvPicPr>
            <a:picLocks noChangeAspect="1"/>
          </p:cNvPicPr>
          <p:nvPr/>
        </p:nvPicPr>
        <p:blipFill>
          <a:blip r:embed="rId8"/>
          <a:stretch>
            <a:fillRect/>
          </a:stretch>
        </p:blipFill>
        <p:spPr>
          <a:xfrm>
            <a:off x="6995160" y="1234440"/>
            <a:ext cx="411480" cy="411480"/>
          </a:xfrm>
          <a:prstGeom prst="rect">
            <a:avLst/>
          </a:prstGeom>
        </p:spPr>
      </p:pic>
      <p:sp>
        <p:nvSpPr>
          <p:cNvPr id="32" name="Text 22"/>
          <p:cNvSpPr/>
          <p:nvPr/>
        </p:nvSpPr>
        <p:spPr>
          <a:xfrm>
            <a:off x="6080760" y="1737360"/>
            <a:ext cx="237744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Poppins" pitchFamily="34" charset="0"/>
                <a:ea typeface="Poppins" pitchFamily="34" charset="-122"/>
                <a:cs typeface="Poppins" pitchFamily="34" charset="-120"/>
              </a:rPr>
              <a:t>Intelligence artificielle</a:t>
            </a:r>
            <a:endParaRPr lang="en-US" sz="1400" dirty="0"/>
          </a:p>
        </p:txBody>
      </p:sp>
      <p:sp>
        <p:nvSpPr>
          <p:cNvPr id="33" name="Text 23"/>
          <p:cNvSpPr/>
          <p:nvPr/>
        </p:nvSpPr>
        <p:spPr>
          <a:xfrm>
            <a:off x="6080760" y="2011680"/>
            <a:ext cx="2377440" cy="201168"/>
          </a:xfrm>
          <a:prstGeom prst="rect">
            <a:avLst/>
          </a:prstGeom>
          <a:noFill/>
          <a:ln/>
        </p:spPr>
        <p:txBody>
          <a:bodyPr wrap="square" lIns="0" tIns="0" rIns="0" bIns="0" rtlCol="0" anchor="ctr"/>
          <a:lstStyle/>
          <a:p>
            <a:pPr algn="ctr" indent="0" marL="0">
              <a:buNone/>
            </a:pPr>
            <a:r>
              <a:rPr lang="en-US" sz="850" dirty="0">
                <a:solidFill>
                  <a:srgbClr val="6B7280"/>
                </a:solidFill>
                <a:latin typeface="Poppins" pitchFamily="34" charset="0"/>
                <a:ea typeface="Poppins" pitchFamily="34" charset="-122"/>
                <a:cs typeface="Poppins" pitchFamily="34" charset="-120"/>
              </a:rPr>
              <a:t>Adaptée aux métiers du cabinet</a:t>
            </a:r>
            <a:endParaRPr lang="en-US" sz="850" dirty="0"/>
          </a:p>
        </p:txBody>
      </p:sp>
      <p:sp>
        <p:nvSpPr>
          <p:cNvPr id="34" name="Text 24"/>
          <p:cNvSpPr/>
          <p:nvPr/>
        </p:nvSpPr>
        <p:spPr>
          <a:xfrm>
            <a:off x="6309360" y="2331720"/>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Analyse de documents</a:t>
            </a:r>
            <a:endParaRPr lang="en-US" sz="900" dirty="0"/>
          </a:p>
        </p:txBody>
      </p:sp>
      <p:sp>
        <p:nvSpPr>
          <p:cNvPr id="35" name="Text 25"/>
          <p:cNvSpPr/>
          <p:nvPr/>
        </p:nvSpPr>
        <p:spPr>
          <a:xfrm>
            <a:off x="6309360" y="2679192"/>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Aide à la rédaction</a:t>
            </a:r>
            <a:endParaRPr lang="en-US" sz="900" dirty="0"/>
          </a:p>
        </p:txBody>
      </p:sp>
      <p:sp>
        <p:nvSpPr>
          <p:cNvPr id="36" name="Text 26"/>
          <p:cNvSpPr/>
          <p:nvPr/>
        </p:nvSpPr>
        <p:spPr>
          <a:xfrm>
            <a:off x="6309360" y="3026664"/>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Structuration cahier des charges</a:t>
            </a:r>
            <a:endParaRPr lang="en-US" sz="900" dirty="0"/>
          </a:p>
        </p:txBody>
      </p:sp>
      <p:sp>
        <p:nvSpPr>
          <p:cNvPr id="37" name="Text 27"/>
          <p:cNvSpPr/>
          <p:nvPr/>
        </p:nvSpPr>
        <p:spPr>
          <a:xfrm>
            <a:off x="6309360" y="3374136"/>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Agents IA comptabilité</a:t>
            </a:r>
            <a:endParaRPr lang="en-US" sz="900" dirty="0"/>
          </a:p>
        </p:txBody>
      </p:sp>
      <p:sp>
        <p:nvSpPr>
          <p:cNvPr id="38" name="Text 28"/>
          <p:cNvSpPr/>
          <p:nvPr/>
        </p:nvSpPr>
        <p:spPr>
          <a:xfrm>
            <a:off x="6309360" y="3721608"/>
            <a:ext cx="2011680" cy="256032"/>
          </a:xfrm>
          <a:prstGeom prst="rect">
            <a:avLst/>
          </a:prstGeom>
          <a:noFill/>
          <a:ln/>
        </p:spPr>
        <p:txBody>
          <a:bodyPr wrap="square" lIns="0" tIns="0" rIns="0" bIns="0" rtlCol="0" anchor="ctr"/>
          <a:lstStyle/>
          <a:p>
            <a:pPr indent="0" marL="0">
              <a:buNone/>
            </a:pPr>
            <a:r>
              <a:rPr lang="en-US" sz="900" dirty="0">
                <a:solidFill>
                  <a:srgbClr val="374151"/>
                </a:solidFill>
                <a:latin typeface="Poppins" pitchFamily="34" charset="0"/>
                <a:ea typeface="Poppins" pitchFamily="34" charset="-122"/>
                <a:cs typeface="Poppins" pitchFamily="34" charset="-120"/>
              </a:rPr>
              <a:t>→  Agents IA juridique &amp; social</a:t>
            </a:r>
            <a:endParaRPr lang="en-US" sz="900" dirty="0"/>
          </a:p>
        </p:txBody>
      </p:sp>
      <p:sp>
        <p:nvSpPr>
          <p:cNvPr id="39" name="Text 29"/>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Architecture technique</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Plateforme connectée — pas un ERP, une couche d'orchestration</a:t>
            </a:r>
            <a:endParaRPr lang="en-US" sz="1100" dirty="0"/>
          </a:p>
        </p:txBody>
      </p:sp>
      <p:sp>
        <p:nvSpPr>
          <p:cNvPr id="4" name="Shape 2"/>
          <p:cNvSpPr/>
          <p:nvPr/>
        </p:nvSpPr>
        <p:spPr>
          <a:xfrm>
            <a:off x="914400" y="1051560"/>
            <a:ext cx="7315200" cy="777240"/>
          </a:xfrm>
          <a:prstGeom prst="rect">
            <a:avLst>
              <a:gd name="adj" fmla="val 7059"/>
            </a:avLst>
          </a:prstGeom>
          <a:solidFill>
            <a:srgbClr val="1677FF"/>
          </a:solidFill>
          <a:ln/>
        </p:spPr>
      </p:sp>
      <p:pic>
        <p:nvPicPr>
          <p:cNvPr id="5" name="Image 0" descr="preencoded.png">    </p:cNvPr>
          <p:cNvPicPr>
            <a:picLocks noChangeAspect="1"/>
          </p:cNvPicPr>
          <p:nvPr/>
        </p:nvPicPr>
        <p:blipFill>
          <a:blip r:embed="rId1"/>
          <a:stretch>
            <a:fillRect/>
          </a:stretch>
        </p:blipFill>
        <p:spPr>
          <a:xfrm>
            <a:off x="1143000" y="1234440"/>
            <a:ext cx="347472" cy="347472"/>
          </a:xfrm>
          <a:prstGeom prst="rect">
            <a:avLst/>
          </a:prstGeom>
        </p:spPr>
      </p:pic>
      <p:sp>
        <p:nvSpPr>
          <p:cNvPr id="6" name="Text 3"/>
          <p:cNvSpPr/>
          <p:nvPr/>
        </p:nvSpPr>
        <p:spPr>
          <a:xfrm>
            <a:off x="1645920" y="1124712"/>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Interface utilisateur</a:t>
            </a:r>
            <a:endParaRPr lang="en-US" sz="1400" dirty="0"/>
          </a:p>
        </p:txBody>
      </p:sp>
      <p:sp>
        <p:nvSpPr>
          <p:cNvPr id="7" name="Text 4"/>
          <p:cNvSpPr/>
          <p:nvPr/>
        </p:nvSpPr>
        <p:spPr>
          <a:xfrm>
            <a:off x="1645920" y="1435608"/>
            <a:ext cx="5943600" cy="274320"/>
          </a:xfrm>
          <a:prstGeom prst="rect">
            <a:avLst/>
          </a:prstGeom>
          <a:noFill/>
          <a:ln/>
        </p:spPr>
        <p:txBody>
          <a:bodyPr wrap="square" lIns="0" tIns="0" rIns="0" bIns="0" rtlCol="0" anchor="ctr"/>
          <a:lstStyle/>
          <a:p>
            <a:pPr indent="0" marL="0">
              <a:buNone/>
            </a:pPr>
            <a:r>
              <a:rPr lang="en-US" sz="950" dirty="0">
                <a:solidFill>
                  <a:srgbClr val="E8EEF5"/>
                </a:solidFill>
                <a:latin typeface="Poppins" pitchFamily="34" charset="0"/>
                <a:ea typeface="Poppins" pitchFamily="34" charset="-122"/>
                <a:cs typeface="Poppins" pitchFamily="34" charset="-120"/>
              </a:rPr>
              <a:t>Portail dirigeant · Portail collaborateur · App mobile</a:t>
            </a:r>
            <a:endParaRPr lang="en-US" sz="950" dirty="0"/>
          </a:p>
        </p:txBody>
      </p:sp>
      <p:sp>
        <p:nvSpPr>
          <p:cNvPr id="8" name="Text 5"/>
          <p:cNvSpPr/>
          <p:nvPr/>
        </p:nvSpPr>
        <p:spPr>
          <a:xfrm>
            <a:off x="4206240" y="1783080"/>
            <a:ext cx="731520" cy="228600"/>
          </a:xfrm>
          <a:prstGeom prst="rect">
            <a:avLst/>
          </a:prstGeom>
          <a:noFill/>
          <a:ln/>
        </p:spPr>
        <p:txBody>
          <a:bodyPr wrap="square" lIns="0" tIns="0" rIns="0" bIns="0" rtlCol="0" anchor="ctr"/>
          <a:lstStyle/>
          <a:p>
            <a:pPr algn="ctr" indent="0" marL="0">
              <a:buNone/>
            </a:pPr>
            <a:r>
              <a:rPr lang="en-US" sz="1400" dirty="0">
                <a:solidFill>
                  <a:srgbClr val="9CA3AF"/>
                </a:solidFill>
                <a:latin typeface="Poppins" pitchFamily="34" charset="0"/>
                <a:ea typeface="Poppins" pitchFamily="34" charset="-122"/>
                <a:cs typeface="Poppins" pitchFamily="34" charset="-120"/>
              </a:rPr>
              <a:t>▼</a:t>
            </a:r>
            <a:endParaRPr lang="en-US" sz="1400" dirty="0"/>
          </a:p>
        </p:txBody>
      </p:sp>
      <p:sp>
        <p:nvSpPr>
          <p:cNvPr id="9" name="Shape 6"/>
          <p:cNvSpPr/>
          <p:nvPr/>
        </p:nvSpPr>
        <p:spPr>
          <a:xfrm>
            <a:off x="914400" y="1965960"/>
            <a:ext cx="7315200" cy="777240"/>
          </a:xfrm>
          <a:prstGeom prst="rect">
            <a:avLst>
              <a:gd name="adj" fmla="val 7059"/>
            </a:avLst>
          </a:prstGeom>
          <a:solidFill>
            <a:srgbClr val="1B3A5C"/>
          </a:solidFill>
          <a:ln/>
        </p:spPr>
      </p:sp>
      <p:pic>
        <p:nvPicPr>
          <p:cNvPr id="10" name="Image 1" descr="preencoded.png">    </p:cNvPr>
          <p:cNvPicPr>
            <a:picLocks noChangeAspect="1"/>
          </p:cNvPicPr>
          <p:nvPr/>
        </p:nvPicPr>
        <p:blipFill>
          <a:blip r:embed="rId2"/>
          <a:stretch>
            <a:fillRect/>
          </a:stretch>
        </p:blipFill>
        <p:spPr>
          <a:xfrm>
            <a:off x="1143000" y="2148840"/>
            <a:ext cx="347472" cy="347472"/>
          </a:xfrm>
          <a:prstGeom prst="rect">
            <a:avLst/>
          </a:prstGeom>
        </p:spPr>
      </p:pic>
      <p:sp>
        <p:nvSpPr>
          <p:cNvPr id="11" name="Text 7"/>
          <p:cNvSpPr/>
          <p:nvPr/>
        </p:nvSpPr>
        <p:spPr>
          <a:xfrm>
            <a:off x="1645920" y="2039112"/>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Plateforme KINN</a:t>
            </a:r>
            <a:endParaRPr lang="en-US" sz="1400" dirty="0"/>
          </a:p>
        </p:txBody>
      </p:sp>
      <p:sp>
        <p:nvSpPr>
          <p:cNvPr id="12" name="Text 8"/>
          <p:cNvSpPr/>
          <p:nvPr/>
        </p:nvSpPr>
        <p:spPr>
          <a:xfrm>
            <a:off x="1645920" y="2350008"/>
            <a:ext cx="5943600" cy="274320"/>
          </a:xfrm>
          <a:prstGeom prst="rect">
            <a:avLst/>
          </a:prstGeom>
          <a:noFill/>
          <a:ln/>
        </p:spPr>
        <p:txBody>
          <a:bodyPr wrap="square" lIns="0" tIns="0" rIns="0" bIns="0" rtlCol="0" anchor="ctr"/>
          <a:lstStyle/>
          <a:p>
            <a:pPr indent="0" marL="0">
              <a:buNone/>
            </a:pPr>
            <a:r>
              <a:rPr lang="en-US" sz="950" dirty="0">
                <a:solidFill>
                  <a:srgbClr val="E8EEF5"/>
                </a:solidFill>
                <a:latin typeface="Poppins" pitchFamily="34" charset="0"/>
                <a:ea typeface="Poppins" pitchFamily="34" charset="-122"/>
                <a:cs typeface="Poppins" pitchFamily="34" charset="-120"/>
              </a:rPr>
              <a:t>Workflows · Form builder · IA · Connecteurs · Marketplace</a:t>
            </a:r>
            <a:endParaRPr lang="en-US" sz="950" dirty="0"/>
          </a:p>
        </p:txBody>
      </p:sp>
      <p:sp>
        <p:nvSpPr>
          <p:cNvPr id="13" name="Text 9"/>
          <p:cNvSpPr/>
          <p:nvPr/>
        </p:nvSpPr>
        <p:spPr>
          <a:xfrm>
            <a:off x="4206240" y="2697480"/>
            <a:ext cx="731520" cy="228600"/>
          </a:xfrm>
          <a:prstGeom prst="rect">
            <a:avLst/>
          </a:prstGeom>
          <a:noFill/>
          <a:ln/>
        </p:spPr>
        <p:txBody>
          <a:bodyPr wrap="square" lIns="0" tIns="0" rIns="0" bIns="0" rtlCol="0" anchor="ctr"/>
          <a:lstStyle/>
          <a:p>
            <a:pPr algn="ctr" indent="0" marL="0">
              <a:buNone/>
            </a:pPr>
            <a:r>
              <a:rPr lang="en-US" sz="1400" dirty="0">
                <a:solidFill>
                  <a:srgbClr val="9CA3AF"/>
                </a:solidFill>
                <a:latin typeface="Poppins" pitchFamily="34" charset="0"/>
                <a:ea typeface="Poppins" pitchFamily="34" charset="-122"/>
                <a:cs typeface="Poppins" pitchFamily="34" charset="-120"/>
              </a:rPr>
              <a:t>▼</a:t>
            </a:r>
            <a:endParaRPr lang="en-US" sz="1400" dirty="0"/>
          </a:p>
        </p:txBody>
      </p:sp>
      <p:sp>
        <p:nvSpPr>
          <p:cNvPr id="14" name="Shape 10"/>
          <p:cNvSpPr/>
          <p:nvPr/>
        </p:nvSpPr>
        <p:spPr>
          <a:xfrm>
            <a:off x="914400" y="2880360"/>
            <a:ext cx="7315200" cy="777240"/>
          </a:xfrm>
          <a:prstGeom prst="rect">
            <a:avLst>
              <a:gd name="adj" fmla="val 7059"/>
            </a:avLst>
          </a:prstGeom>
          <a:solidFill>
            <a:srgbClr val="0891B2"/>
          </a:solidFill>
          <a:ln/>
        </p:spPr>
      </p:sp>
      <p:pic>
        <p:nvPicPr>
          <p:cNvPr id="15" name="Image 2" descr="preencoded.png">    </p:cNvPr>
          <p:cNvPicPr>
            <a:picLocks noChangeAspect="1"/>
          </p:cNvPicPr>
          <p:nvPr/>
        </p:nvPicPr>
        <p:blipFill>
          <a:blip r:embed="rId3"/>
          <a:stretch>
            <a:fillRect/>
          </a:stretch>
        </p:blipFill>
        <p:spPr>
          <a:xfrm>
            <a:off x="1143000" y="3063240"/>
            <a:ext cx="347472" cy="347472"/>
          </a:xfrm>
          <a:prstGeom prst="rect">
            <a:avLst/>
          </a:prstGeom>
        </p:spPr>
      </p:pic>
      <p:sp>
        <p:nvSpPr>
          <p:cNvPr id="16" name="Text 11"/>
          <p:cNvSpPr/>
          <p:nvPr/>
        </p:nvSpPr>
        <p:spPr>
          <a:xfrm>
            <a:off x="1645920" y="2953512"/>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Couche API</a:t>
            </a:r>
            <a:endParaRPr lang="en-US" sz="1400" dirty="0"/>
          </a:p>
        </p:txBody>
      </p:sp>
      <p:sp>
        <p:nvSpPr>
          <p:cNvPr id="17" name="Text 12"/>
          <p:cNvSpPr/>
          <p:nvPr/>
        </p:nvSpPr>
        <p:spPr>
          <a:xfrm>
            <a:off x="1645920" y="3264408"/>
            <a:ext cx="5943600" cy="274320"/>
          </a:xfrm>
          <a:prstGeom prst="rect">
            <a:avLst/>
          </a:prstGeom>
          <a:noFill/>
          <a:ln/>
        </p:spPr>
        <p:txBody>
          <a:bodyPr wrap="square" lIns="0" tIns="0" rIns="0" bIns="0" rtlCol="0" anchor="ctr"/>
          <a:lstStyle/>
          <a:p>
            <a:pPr indent="0" marL="0">
              <a:buNone/>
            </a:pPr>
            <a:r>
              <a:rPr lang="en-US" sz="950" dirty="0">
                <a:solidFill>
                  <a:srgbClr val="E8EEF5"/>
                </a:solidFill>
                <a:latin typeface="Poppins" pitchFamily="34" charset="0"/>
                <a:ea typeface="Poppins" pitchFamily="34" charset="-122"/>
                <a:cs typeface="Poppins" pitchFamily="34" charset="-120"/>
              </a:rPr>
              <a:t>REST / Webhooks · Authentification · Sécurité · Logs</a:t>
            </a:r>
            <a:endParaRPr lang="en-US" sz="950" dirty="0"/>
          </a:p>
        </p:txBody>
      </p:sp>
      <p:sp>
        <p:nvSpPr>
          <p:cNvPr id="18" name="Text 13"/>
          <p:cNvSpPr/>
          <p:nvPr/>
        </p:nvSpPr>
        <p:spPr>
          <a:xfrm>
            <a:off x="4206240" y="3611880"/>
            <a:ext cx="731520" cy="228600"/>
          </a:xfrm>
          <a:prstGeom prst="rect">
            <a:avLst/>
          </a:prstGeom>
          <a:noFill/>
          <a:ln/>
        </p:spPr>
        <p:txBody>
          <a:bodyPr wrap="square" lIns="0" tIns="0" rIns="0" bIns="0" rtlCol="0" anchor="ctr"/>
          <a:lstStyle/>
          <a:p>
            <a:pPr algn="ctr" indent="0" marL="0">
              <a:buNone/>
            </a:pPr>
            <a:r>
              <a:rPr lang="en-US" sz="1400" dirty="0">
                <a:solidFill>
                  <a:srgbClr val="9CA3AF"/>
                </a:solidFill>
                <a:latin typeface="Poppins" pitchFamily="34" charset="0"/>
                <a:ea typeface="Poppins" pitchFamily="34" charset="-122"/>
                <a:cs typeface="Poppins" pitchFamily="34" charset="-120"/>
              </a:rPr>
              <a:t>▼</a:t>
            </a:r>
            <a:endParaRPr lang="en-US" sz="1400" dirty="0"/>
          </a:p>
        </p:txBody>
      </p:sp>
      <p:sp>
        <p:nvSpPr>
          <p:cNvPr id="19" name="Shape 14"/>
          <p:cNvSpPr/>
          <p:nvPr/>
        </p:nvSpPr>
        <p:spPr>
          <a:xfrm>
            <a:off x="914400" y="3794760"/>
            <a:ext cx="7315200" cy="777240"/>
          </a:xfrm>
          <a:prstGeom prst="rect">
            <a:avLst>
              <a:gd name="adj" fmla="val 7059"/>
            </a:avLst>
          </a:prstGeom>
          <a:solidFill>
            <a:srgbClr val="16A34A"/>
          </a:solidFill>
          <a:ln/>
        </p:spPr>
      </p:sp>
      <p:pic>
        <p:nvPicPr>
          <p:cNvPr id="20" name="Image 3" descr="preencoded.png">    </p:cNvPr>
          <p:cNvPicPr>
            <a:picLocks noChangeAspect="1"/>
          </p:cNvPicPr>
          <p:nvPr/>
        </p:nvPicPr>
        <p:blipFill>
          <a:blip r:embed="rId4"/>
          <a:stretch>
            <a:fillRect/>
          </a:stretch>
        </p:blipFill>
        <p:spPr>
          <a:xfrm>
            <a:off x="1143000" y="3977640"/>
            <a:ext cx="347472" cy="347472"/>
          </a:xfrm>
          <a:prstGeom prst="rect">
            <a:avLst/>
          </a:prstGeom>
        </p:spPr>
      </p:pic>
      <p:sp>
        <p:nvSpPr>
          <p:cNvPr id="21" name="Text 15"/>
          <p:cNvSpPr/>
          <p:nvPr/>
        </p:nvSpPr>
        <p:spPr>
          <a:xfrm>
            <a:off x="1645920" y="3867912"/>
            <a:ext cx="2743200" cy="3200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Logiciels métiers</a:t>
            </a:r>
            <a:endParaRPr lang="en-US" sz="1400" dirty="0"/>
          </a:p>
        </p:txBody>
      </p:sp>
      <p:sp>
        <p:nvSpPr>
          <p:cNvPr id="22" name="Text 16"/>
          <p:cNvSpPr/>
          <p:nvPr/>
        </p:nvSpPr>
        <p:spPr>
          <a:xfrm>
            <a:off x="1645920" y="4178808"/>
            <a:ext cx="5943600" cy="274320"/>
          </a:xfrm>
          <a:prstGeom prst="rect">
            <a:avLst/>
          </a:prstGeom>
          <a:noFill/>
          <a:ln/>
        </p:spPr>
        <p:txBody>
          <a:bodyPr wrap="square" lIns="0" tIns="0" rIns="0" bIns="0" rtlCol="0" anchor="ctr"/>
          <a:lstStyle/>
          <a:p>
            <a:pPr indent="0" marL="0">
              <a:buNone/>
            </a:pPr>
            <a:r>
              <a:rPr lang="en-US" sz="950" dirty="0">
                <a:solidFill>
                  <a:srgbClr val="E8EEF5"/>
                </a:solidFill>
                <a:latin typeface="Poppins" pitchFamily="34" charset="0"/>
                <a:ea typeface="Poppins" pitchFamily="34" charset="-122"/>
                <a:cs typeface="Poppins" pitchFamily="34" charset="-120"/>
              </a:rPr>
              <a:t>Pennylane · Cegid · MEG · GED · Outils RH · APIs internes</a:t>
            </a:r>
            <a:endParaRPr lang="en-US" sz="950" dirty="0"/>
          </a:p>
        </p:txBody>
      </p:sp>
      <p:sp>
        <p:nvSpPr>
          <p:cNvPr id="23" name="Shape 17"/>
          <p:cNvSpPr/>
          <p:nvPr/>
        </p:nvSpPr>
        <p:spPr>
          <a:xfrm>
            <a:off x="640080" y="4617720"/>
            <a:ext cx="7863840" cy="365760"/>
          </a:xfrm>
          <a:prstGeom prst="rect">
            <a:avLst>
              <a:gd name="adj" fmla="val 10000"/>
            </a:avLst>
          </a:prstGeom>
          <a:solidFill>
            <a:srgbClr val="F7F9FC"/>
          </a:solidFill>
          <a:ln/>
        </p:spPr>
      </p:sp>
      <p:sp>
        <p:nvSpPr>
          <p:cNvPr id="24" name="Text 18"/>
          <p:cNvSpPr/>
          <p:nvPr/>
        </p:nvSpPr>
        <p:spPr>
          <a:xfrm>
            <a:off x="640080" y="4617720"/>
            <a:ext cx="7863840" cy="365760"/>
          </a:xfrm>
          <a:prstGeom prst="rect">
            <a:avLst/>
          </a:prstGeom>
          <a:noFill/>
          <a:ln/>
        </p:spPr>
        <p:txBody>
          <a:bodyPr wrap="square" lIns="0" tIns="0" rIns="0" bIns="0" rtlCol="0" anchor="ctr"/>
          <a:lstStyle/>
          <a:p>
            <a:pPr algn="ctr" indent="0" marL="0">
              <a:buNone/>
            </a:pPr>
            <a:r>
              <a:rPr lang="en-US" sz="900" dirty="0">
                <a:solidFill>
                  <a:srgbClr val="374151"/>
                </a:solidFill>
                <a:latin typeface="Poppins" pitchFamily="34" charset="0"/>
                <a:ea typeface="Poppins" pitchFamily="34" charset="-122"/>
                <a:cs typeface="Poppins" pitchFamily="34" charset="-120"/>
              </a:rPr>
              <a:t>Prérequis : vérifier les API disponibles (Pennylane, Cegid, MEG) — actions, vitesse, sécurité</a:t>
            </a:r>
            <a:endParaRPr lang="en-US" sz="900" dirty="0"/>
          </a:p>
        </p:txBody>
      </p:sp>
      <p:sp>
        <p:nvSpPr>
          <p:cNvPr id="25" name="Text 19"/>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indent="0" marL="0">
              <a:buNone/>
            </a:pPr>
            <a:r>
              <a:rPr lang="en-US" sz="2800" b="1" dirty="0">
                <a:solidFill>
                  <a:srgbClr val="0F172A"/>
                </a:solidFill>
                <a:latin typeface="Poppins" pitchFamily="34" charset="0"/>
                <a:ea typeface="Poppins" pitchFamily="34" charset="-122"/>
                <a:cs typeface="Poppins" pitchFamily="34" charset="-120"/>
              </a:rPr>
              <a:t>Bénéfices stratégiques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indent="0" marL="0">
              <a:buNone/>
            </a:pPr>
            <a:r>
              <a:rPr lang="en-US" sz="1100" dirty="0">
                <a:solidFill>
                  <a:srgbClr val="6B7280"/>
                </a:solidFill>
                <a:latin typeface="Poppins" pitchFamily="34" charset="0"/>
                <a:ea typeface="Poppins" pitchFamily="34" charset="-122"/>
                <a:cs typeface="Poppins" pitchFamily="34" charset="-120"/>
              </a:rPr>
              <a:t>Impact pour Hans &amp; Associés et ses 9 000 entreprises clientes</a:t>
            </a:r>
            <a:endParaRPr lang="en-US" sz="1100" dirty="0"/>
          </a:p>
        </p:txBody>
      </p:sp>
      <p:sp>
        <p:nvSpPr>
          <p:cNvPr id="4" name="Shape 2"/>
          <p:cNvSpPr/>
          <p:nvPr/>
        </p:nvSpPr>
        <p:spPr>
          <a:xfrm>
            <a:off x="640080" y="1005840"/>
            <a:ext cx="2468880" cy="3200400"/>
          </a:xfrm>
          <a:prstGeom prst="rect">
            <a:avLst>
              <a:gd name="adj" fmla="val 2963"/>
            </a:avLst>
          </a:prstGeom>
          <a:solidFill>
            <a:srgbClr val="F7F9FC"/>
          </a:solidFill>
          <a:ln/>
          <a:effectLst>
            <a:outerShdw sx="100000" sy="100000" kx="0" ky="0" algn="bl" rotWithShape="0" blurRad="76200" dist="25400" dir="8100000">
              <a:srgbClr val="000000">
                <a:alpha val="6000"/>
              </a:srgbClr>
            </a:outerShdw>
          </a:effectLst>
        </p:spPr>
      </p:sp>
      <p:sp>
        <p:nvSpPr>
          <p:cNvPr id="5" name="Shape 3"/>
          <p:cNvSpPr/>
          <p:nvPr/>
        </p:nvSpPr>
        <p:spPr>
          <a:xfrm>
            <a:off x="640080" y="1005840"/>
            <a:ext cx="2468880" cy="54864"/>
          </a:xfrm>
          <a:prstGeom prst="rect">
            <a:avLst/>
          </a:prstGeom>
          <a:solidFill>
            <a:srgbClr val="1B3A5C"/>
          </a:solidFill>
          <a:ln/>
        </p:spPr>
      </p:sp>
      <p:pic>
        <p:nvPicPr>
          <p:cNvPr id="6" name="Image 0" descr="preencoded.png">    </p:cNvPr>
          <p:cNvPicPr>
            <a:picLocks noChangeAspect="1"/>
          </p:cNvPicPr>
          <p:nvPr/>
        </p:nvPicPr>
        <p:blipFill>
          <a:blip r:embed="rId1"/>
          <a:stretch>
            <a:fillRect/>
          </a:stretch>
        </p:blipFill>
        <p:spPr>
          <a:xfrm>
            <a:off x="1668780" y="1188720"/>
            <a:ext cx="411480" cy="411480"/>
          </a:xfrm>
          <a:prstGeom prst="rect">
            <a:avLst/>
          </a:prstGeom>
        </p:spPr>
      </p:pic>
      <p:sp>
        <p:nvSpPr>
          <p:cNvPr id="7" name="Text 4"/>
          <p:cNvSpPr/>
          <p:nvPr/>
        </p:nvSpPr>
        <p:spPr>
          <a:xfrm>
            <a:off x="640080" y="1691640"/>
            <a:ext cx="246888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Pour le groupe</a:t>
            </a:r>
            <a:endParaRPr lang="en-US" sz="1300" dirty="0"/>
          </a:p>
        </p:txBody>
      </p:sp>
      <p:pic>
        <p:nvPicPr>
          <p:cNvPr id="8" name="Image 1" descr="preencoded.png">    </p:cNvPr>
          <p:cNvPicPr>
            <a:picLocks noChangeAspect="1"/>
          </p:cNvPicPr>
          <p:nvPr/>
        </p:nvPicPr>
        <p:blipFill>
          <a:blip r:embed="rId2"/>
          <a:stretch>
            <a:fillRect/>
          </a:stretch>
        </p:blipFill>
        <p:spPr>
          <a:xfrm>
            <a:off x="822960" y="2103120"/>
            <a:ext cx="164592" cy="164592"/>
          </a:xfrm>
          <a:prstGeom prst="rect">
            <a:avLst/>
          </a:prstGeom>
        </p:spPr>
      </p:pic>
      <p:sp>
        <p:nvSpPr>
          <p:cNvPr id="9" name="Text 5"/>
          <p:cNvSpPr/>
          <p:nvPr/>
        </p:nvSpPr>
        <p:spPr>
          <a:xfrm>
            <a:off x="1097280" y="2075688"/>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Différenciation marché</a:t>
            </a:r>
            <a:endParaRPr lang="en-US" sz="850" dirty="0"/>
          </a:p>
        </p:txBody>
      </p:sp>
      <p:pic>
        <p:nvPicPr>
          <p:cNvPr id="10" name="Image 2" descr="preencoded.png">    </p:cNvPr>
          <p:cNvPicPr>
            <a:picLocks noChangeAspect="1"/>
          </p:cNvPicPr>
          <p:nvPr/>
        </p:nvPicPr>
        <p:blipFill>
          <a:blip r:embed="rId3"/>
          <a:stretch>
            <a:fillRect/>
          </a:stretch>
        </p:blipFill>
        <p:spPr>
          <a:xfrm>
            <a:off x="822960" y="2404872"/>
            <a:ext cx="164592" cy="164592"/>
          </a:xfrm>
          <a:prstGeom prst="rect">
            <a:avLst/>
          </a:prstGeom>
        </p:spPr>
      </p:pic>
      <p:sp>
        <p:nvSpPr>
          <p:cNvPr id="11" name="Text 6"/>
          <p:cNvSpPr/>
          <p:nvPr/>
        </p:nvSpPr>
        <p:spPr>
          <a:xfrm>
            <a:off x="1097280" y="2377440"/>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450 collaborateurs connectés</a:t>
            </a:r>
            <a:endParaRPr lang="en-US" sz="850" dirty="0"/>
          </a:p>
        </p:txBody>
      </p:sp>
      <p:pic>
        <p:nvPicPr>
          <p:cNvPr id="12" name="Image 3" descr="preencoded.png">    </p:cNvPr>
          <p:cNvPicPr>
            <a:picLocks noChangeAspect="1"/>
          </p:cNvPicPr>
          <p:nvPr/>
        </p:nvPicPr>
        <p:blipFill>
          <a:blip r:embed="rId4"/>
          <a:stretch>
            <a:fillRect/>
          </a:stretch>
        </p:blipFill>
        <p:spPr>
          <a:xfrm>
            <a:off x="822960" y="2706624"/>
            <a:ext cx="164592" cy="164592"/>
          </a:xfrm>
          <a:prstGeom prst="rect">
            <a:avLst/>
          </a:prstGeom>
        </p:spPr>
      </p:pic>
      <p:sp>
        <p:nvSpPr>
          <p:cNvPr id="13" name="Text 7"/>
          <p:cNvSpPr/>
          <p:nvPr/>
        </p:nvSpPr>
        <p:spPr>
          <a:xfrm>
            <a:off x="1097280" y="2679192"/>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Réduction tâches manuelles</a:t>
            </a:r>
            <a:endParaRPr lang="en-US" sz="850" dirty="0"/>
          </a:p>
        </p:txBody>
      </p:sp>
      <p:pic>
        <p:nvPicPr>
          <p:cNvPr id="14" name="Image 4" descr="preencoded.png">    </p:cNvPr>
          <p:cNvPicPr>
            <a:picLocks noChangeAspect="1"/>
          </p:cNvPicPr>
          <p:nvPr/>
        </p:nvPicPr>
        <p:blipFill>
          <a:blip r:embed="rId5"/>
          <a:stretch>
            <a:fillRect/>
          </a:stretch>
        </p:blipFill>
        <p:spPr>
          <a:xfrm>
            <a:off x="822960" y="3008376"/>
            <a:ext cx="164592" cy="164592"/>
          </a:xfrm>
          <a:prstGeom prst="rect">
            <a:avLst/>
          </a:prstGeom>
        </p:spPr>
      </p:pic>
      <p:sp>
        <p:nvSpPr>
          <p:cNvPr id="15" name="Text 8"/>
          <p:cNvSpPr/>
          <p:nvPr/>
        </p:nvSpPr>
        <p:spPr>
          <a:xfrm>
            <a:off x="1097280" y="2980944"/>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Communication inter-entités</a:t>
            </a:r>
            <a:endParaRPr lang="en-US" sz="850" dirty="0"/>
          </a:p>
        </p:txBody>
      </p:sp>
      <p:pic>
        <p:nvPicPr>
          <p:cNvPr id="16" name="Image 5" descr="preencoded.png">    </p:cNvPr>
          <p:cNvPicPr>
            <a:picLocks noChangeAspect="1"/>
          </p:cNvPicPr>
          <p:nvPr/>
        </p:nvPicPr>
        <p:blipFill>
          <a:blip r:embed="rId6"/>
          <a:stretch>
            <a:fillRect/>
          </a:stretch>
        </p:blipFill>
        <p:spPr>
          <a:xfrm>
            <a:off x="822960" y="3310128"/>
            <a:ext cx="164592" cy="164592"/>
          </a:xfrm>
          <a:prstGeom prst="rect">
            <a:avLst/>
          </a:prstGeom>
        </p:spPr>
      </p:pic>
      <p:sp>
        <p:nvSpPr>
          <p:cNvPr id="17" name="Text 9"/>
          <p:cNvSpPr/>
          <p:nvPr/>
        </p:nvSpPr>
        <p:spPr>
          <a:xfrm>
            <a:off x="1097280" y="3282696"/>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SI unifié et gouverné</a:t>
            </a:r>
            <a:endParaRPr lang="en-US" sz="850" dirty="0"/>
          </a:p>
        </p:txBody>
      </p:sp>
      <p:pic>
        <p:nvPicPr>
          <p:cNvPr id="18" name="Image 6" descr="preencoded.png">    </p:cNvPr>
          <p:cNvPicPr>
            <a:picLocks noChangeAspect="1"/>
          </p:cNvPicPr>
          <p:nvPr/>
        </p:nvPicPr>
        <p:blipFill>
          <a:blip r:embed="rId7"/>
          <a:stretch>
            <a:fillRect/>
          </a:stretch>
        </p:blipFill>
        <p:spPr>
          <a:xfrm>
            <a:off x="822960" y="3611880"/>
            <a:ext cx="164592" cy="164592"/>
          </a:xfrm>
          <a:prstGeom prst="rect">
            <a:avLst/>
          </a:prstGeom>
        </p:spPr>
      </p:pic>
      <p:sp>
        <p:nvSpPr>
          <p:cNvPr id="19" name="Text 10"/>
          <p:cNvSpPr/>
          <p:nvPr/>
        </p:nvSpPr>
        <p:spPr>
          <a:xfrm>
            <a:off x="1097280" y="3584448"/>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Image innovante</a:t>
            </a:r>
            <a:endParaRPr lang="en-US" sz="850" dirty="0"/>
          </a:p>
        </p:txBody>
      </p:sp>
      <p:sp>
        <p:nvSpPr>
          <p:cNvPr id="20" name="Shape 11"/>
          <p:cNvSpPr/>
          <p:nvPr/>
        </p:nvSpPr>
        <p:spPr>
          <a:xfrm>
            <a:off x="3337560" y="1005840"/>
            <a:ext cx="2468880" cy="3200400"/>
          </a:xfrm>
          <a:prstGeom prst="rect">
            <a:avLst>
              <a:gd name="adj" fmla="val 2963"/>
            </a:avLst>
          </a:prstGeom>
          <a:solidFill>
            <a:srgbClr val="F7F9FC"/>
          </a:solidFill>
          <a:ln/>
          <a:effectLst>
            <a:outerShdw sx="100000" sy="100000" kx="0" ky="0" algn="bl" rotWithShape="0" blurRad="76200" dist="25400" dir="8100000">
              <a:srgbClr val="000000">
                <a:alpha val="6000"/>
              </a:srgbClr>
            </a:outerShdw>
          </a:effectLst>
        </p:spPr>
      </p:sp>
      <p:sp>
        <p:nvSpPr>
          <p:cNvPr id="21" name="Shape 12"/>
          <p:cNvSpPr/>
          <p:nvPr/>
        </p:nvSpPr>
        <p:spPr>
          <a:xfrm>
            <a:off x="3337560" y="1005840"/>
            <a:ext cx="2468880" cy="54864"/>
          </a:xfrm>
          <a:prstGeom prst="rect">
            <a:avLst/>
          </a:prstGeom>
          <a:solidFill>
            <a:srgbClr val="1677FF"/>
          </a:solidFill>
          <a:ln/>
        </p:spPr>
      </p:sp>
      <p:pic>
        <p:nvPicPr>
          <p:cNvPr id="22" name="Image 7" descr="preencoded.png">    </p:cNvPr>
          <p:cNvPicPr>
            <a:picLocks noChangeAspect="1"/>
          </p:cNvPicPr>
          <p:nvPr/>
        </p:nvPicPr>
        <p:blipFill>
          <a:blip r:embed="rId8"/>
          <a:stretch>
            <a:fillRect/>
          </a:stretch>
        </p:blipFill>
        <p:spPr>
          <a:xfrm>
            <a:off x="4366260" y="1188720"/>
            <a:ext cx="411480" cy="411480"/>
          </a:xfrm>
          <a:prstGeom prst="rect">
            <a:avLst/>
          </a:prstGeom>
        </p:spPr>
      </p:pic>
      <p:sp>
        <p:nvSpPr>
          <p:cNvPr id="23" name="Text 13"/>
          <p:cNvSpPr/>
          <p:nvPr/>
        </p:nvSpPr>
        <p:spPr>
          <a:xfrm>
            <a:off x="3337560" y="1691640"/>
            <a:ext cx="246888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Pour les clients</a:t>
            </a:r>
            <a:endParaRPr lang="en-US" sz="1300" dirty="0"/>
          </a:p>
        </p:txBody>
      </p:sp>
      <p:pic>
        <p:nvPicPr>
          <p:cNvPr id="24" name="Image 8" descr="preencoded.png">    </p:cNvPr>
          <p:cNvPicPr>
            <a:picLocks noChangeAspect="1"/>
          </p:cNvPicPr>
          <p:nvPr/>
        </p:nvPicPr>
        <p:blipFill>
          <a:blip r:embed="rId9"/>
          <a:stretch>
            <a:fillRect/>
          </a:stretch>
        </p:blipFill>
        <p:spPr>
          <a:xfrm>
            <a:off x="3520440" y="2103120"/>
            <a:ext cx="164592" cy="164592"/>
          </a:xfrm>
          <a:prstGeom prst="rect">
            <a:avLst/>
          </a:prstGeom>
        </p:spPr>
      </p:pic>
      <p:sp>
        <p:nvSpPr>
          <p:cNvPr id="25" name="Text 14"/>
          <p:cNvSpPr/>
          <p:nvPr/>
        </p:nvSpPr>
        <p:spPr>
          <a:xfrm>
            <a:off x="3794760" y="2075688"/>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Point d'entrée unique</a:t>
            </a:r>
            <a:endParaRPr lang="en-US" sz="850" dirty="0"/>
          </a:p>
        </p:txBody>
      </p:sp>
      <p:pic>
        <p:nvPicPr>
          <p:cNvPr id="26" name="Image 9" descr="preencoded.png">    </p:cNvPr>
          <p:cNvPicPr>
            <a:picLocks noChangeAspect="1"/>
          </p:cNvPicPr>
          <p:nvPr/>
        </p:nvPicPr>
        <p:blipFill>
          <a:blip r:embed="rId10"/>
          <a:stretch>
            <a:fillRect/>
          </a:stretch>
        </p:blipFill>
        <p:spPr>
          <a:xfrm>
            <a:off x="3520440" y="2404872"/>
            <a:ext cx="164592" cy="164592"/>
          </a:xfrm>
          <a:prstGeom prst="rect">
            <a:avLst/>
          </a:prstGeom>
        </p:spPr>
      </p:pic>
      <p:sp>
        <p:nvSpPr>
          <p:cNvPr id="27" name="Text 15"/>
          <p:cNvSpPr/>
          <p:nvPr/>
        </p:nvSpPr>
        <p:spPr>
          <a:xfrm>
            <a:off x="3794760" y="2377440"/>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Cockpit entreprise</a:t>
            </a:r>
            <a:endParaRPr lang="en-US" sz="850" dirty="0"/>
          </a:p>
        </p:txBody>
      </p:sp>
      <p:pic>
        <p:nvPicPr>
          <p:cNvPr id="28" name="Image 10" descr="preencoded.png">    </p:cNvPr>
          <p:cNvPicPr>
            <a:picLocks noChangeAspect="1"/>
          </p:cNvPicPr>
          <p:nvPr/>
        </p:nvPicPr>
        <p:blipFill>
          <a:blip r:embed="rId11"/>
          <a:stretch>
            <a:fillRect/>
          </a:stretch>
        </p:blipFill>
        <p:spPr>
          <a:xfrm>
            <a:off x="3520440" y="2706624"/>
            <a:ext cx="164592" cy="164592"/>
          </a:xfrm>
          <a:prstGeom prst="rect">
            <a:avLst/>
          </a:prstGeom>
        </p:spPr>
      </p:pic>
      <p:sp>
        <p:nvSpPr>
          <p:cNvPr id="29" name="Text 16"/>
          <p:cNvSpPr/>
          <p:nvPr/>
        </p:nvSpPr>
        <p:spPr>
          <a:xfrm>
            <a:off x="3794760" y="2679192"/>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Autonomie numérique</a:t>
            </a:r>
            <a:endParaRPr lang="en-US" sz="850" dirty="0"/>
          </a:p>
        </p:txBody>
      </p:sp>
      <p:pic>
        <p:nvPicPr>
          <p:cNvPr id="30" name="Image 11" descr="preencoded.png">    </p:cNvPr>
          <p:cNvPicPr>
            <a:picLocks noChangeAspect="1"/>
          </p:cNvPicPr>
          <p:nvPr/>
        </p:nvPicPr>
        <p:blipFill>
          <a:blip r:embed="rId12"/>
          <a:stretch>
            <a:fillRect/>
          </a:stretch>
        </p:blipFill>
        <p:spPr>
          <a:xfrm>
            <a:off x="3520440" y="3008376"/>
            <a:ext cx="164592" cy="164592"/>
          </a:xfrm>
          <a:prstGeom prst="rect">
            <a:avLst/>
          </a:prstGeom>
        </p:spPr>
      </p:pic>
      <p:sp>
        <p:nvSpPr>
          <p:cNvPr id="31" name="Text 17"/>
          <p:cNvSpPr/>
          <p:nvPr/>
        </p:nvSpPr>
        <p:spPr>
          <a:xfrm>
            <a:off x="3794760" y="2980944"/>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Services intégrés (assurance, prêts)</a:t>
            </a:r>
            <a:endParaRPr lang="en-US" sz="850" dirty="0"/>
          </a:p>
        </p:txBody>
      </p:sp>
      <p:pic>
        <p:nvPicPr>
          <p:cNvPr id="32" name="Image 12" descr="preencoded.png">    </p:cNvPr>
          <p:cNvPicPr>
            <a:picLocks noChangeAspect="1"/>
          </p:cNvPicPr>
          <p:nvPr/>
        </p:nvPicPr>
        <p:blipFill>
          <a:blip r:embed="rId13"/>
          <a:stretch>
            <a:fillRect/>
          </a:stretch>
        </p:blipFill>
        <p:spPr>
          <a:xfrm>
            <a:off x="3520440" y="3310128"/>
            <a:ext cx="164592" cy="164592"/>
          </a:xfrm>
          <a:prstGeom prst="rect">
            <a:avLst/>
          </a:prstGeom>
        </p:spPr>
      </p:pic>
      <p:sp>
        <p:nvSpPr>
          <p:cNvPr id="33" name="Text 18"/>
          <p:cNvSpPr/>
          <p:nvPr/>
        </p:nvSpPr>
        <p:spPr>
          <a:xfrm>
            <a:off x="3794760" y="3282696"/>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Automatisations sur mesure</a:t>
            </a:r>
            <a:endParaRPr lang="en-US" sz="850" dirty="0"/>
          </a:p>
        </p:txBody>
      </p:sp>
      <p:pic>
        <p:nvPicPr>
          <p:cNvPr id="34" name="Image 13" descr="preencoded.png">    </p:cNvPr>
          <p:cNvPicPr>
            <a:picLocks noChangeAspect="1"/>
          </p:cNvPicPr>
          <p:nvPr/>
        </p:nvPicPr>
        <p:blipFill>
          <a:blip r:embed="rId14"/>
          <a:stretch>
            <a:fillRect/>
          </a:stretch>
        </p:blipFill>
        <p:spPr>
          <a:xfrm>
            <a:off x="3520440" y="3611880"/>
            <a:ext cx="164592" cy="164592"/>
          </a:xfrm>
          <a:prstGeom prst="rect">
            <a:avLst/>
          </a:prstGeom>
        </p:spPr>
      </p:pic>
      <p:sp>
        <p:nvSpPr>
          <p:cNvPr id="35" name="Text 19"/>
          <p:cNvSpPr/>
          <p:nvPr/>
        </p:nvSpPr>
        <p:spPr>
          <a:xfrm>
            <a:off x="3794760" y="3584448"/>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Fidélisation renforcée</a:t>
            </a:r>
            <a:endParaRPr lang="en-US" sz="850" dirty="0"/>
          </a:p>
        </p:txBody>
      </p:sp>
      <p:sp>
        <p:nvSpPr>
          <p:cNvPr id="36" name="Shape 20"/>
          <p:cNvSpPr/>
          <p:nvPr/>
        </p:nvSpPr>
        <p:spPr>
          <a:xfrm>
            <a:off x="6035040" y="1005840"/>
            <a:ext cx="2468880" cy="3200400"/>
          </a:xfrm>
          <a:prstGeom prst="rect">
            <a:avLst>
              <a:gd name="adj" fmla="val 2963"/>
            </a:avLst>
          </a:prstGeom>
          <a:solidFill>
            <a:srgbClr val="F7F9FC"/>
          </a:solidFill>
          <a:ln/>
          <a:effectLst>
            <a:outerShdw sx="100000" sy="100000" kx="0" ky="0" algn="bl" rotWithShape="0" blurRad="76200" dist="25400" dir="8100000">
              <a:srgbClr val="000000">
                <a:alpha val="6000"/>
              </a:srgbClr>
            </a:outerShdw>
          </a:effectLst>
        </p:spPr>
      </p:sp>
      <p:sp>
        <p:nvSpPr>
          <p:cNvPr id="37" name="Shape 21"/>
          <p:cNvSpPr/>
          <p:nvPr/>
        </p:nvSpPr>
        <p:spPr>
          <a:xfrm>
            <a:off x="6035040" y="1005840"/>
            <a:ext cx="2468880" cy="54864"/>
          </a:xfrm>
          <a:prstGeom prst="rect">
            <a:avLst/>
          </a:prstGeom>
          <a:solidFill>
            <a:srgbClr val="16A34A"/>
          </a:solidFill>
          <a:ln/>
        </p:spPr>
      </p:sp>
      <p:pic>
        <p:nvPicPr>
          <p:cNvPr id="38" name="Image 14" descr="preencoded.png">    </p:cNvPr>
          <p:cNvPicPr>
            <a:picLocks noChangeAspect="1"/>
          </p:cNvPicPr>
          <p:nvPr/>
        </p:nvPicPr>
        <p:blipFill>
          <a:blip r:embed="rId15"/>
          <a:stretch>
            <a:fillRect/>
          </a:stretch>
        </p:blipFill>
        <p:spPr>
          <a:xfrm>
            <a:off x="7063740" y="1188720"/>
            <a:ext cx="411480" cy="411480"/>
          </a:xfrm>
          <a:prstGeom prst="rect">
            <a:avLst/>
          </a:prstGeom>
        </p:spPr>
      </p:pic>
      <p:sp>
        <p:nvSpPr>
          <p:cNvPr id="39" name="Text 22"/>
          <p:cNvSpPr/>
          <p:nvPr/>
        </p:nvSpPr>
        <p:spPr>
          <a:xfrm>
            <a:off x="6035040" y="1691640"/>
            <a:ext cx="246888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Poppins" pitchFamily="34" charset="0"/>
                <a:ea typeface="Poppins" pitchFamily="34" charset="-122"/>
                <a:cs typeface="Poppins" pitchFamily="34" charset="-120"/>
              </a:rPr>
              <a:t>Nouveaux revenus</a:t>
            </a:r>
            <a:endParaRPr lang="en-US" sz="1300" dirty="0"/>
          </a:p>
        </p:txBody>
      </p:sp>
      <p:pic>
        <p:nvPicPr>
          <p:cNvPr id="40" name="Image 15" descr="preencoded.png">    </p:cNvPr>
          <p:cNvPicPr>
            <a:picLocks noChangeAspect="1"/>
          </p:cNvPicPr>
          <p:nvPr/>
        </p:nvPicPr>
        <p:blipFill>
          <a:blip r:embed="rId16"/>
          <a:stretch>
            <a:fillRect/>
          </a:stretch>
        </p:blipFill>
        <p:spPr>
          <a:xfrm>
            <a:off x="6217920" y="2103120"/>
            <a:ext cx="164592" cy="164592"/>
          </a:xfrm>
          <a:prstGeom prst="rect">
            <a:avLst/>
          </a:prstGeom>
        </p:spPr>
      </p:pic>
      <p:sp>
        <p:nvSpPr>
          <p:cNvPr id="41" name="Text 23"/>
          <p:cNvSpPr/>
          <p:nvPr/>
        </p:nvSpPr>
        <p:spPr>
          <a:xfrm>
            <a:off x="6492240" y="2075688"/>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Upsell services digitaux</a:t>
            </a:r>
            <a:endParaRPr lang="en-US" sz="850" dirty="0"/>
          </a:p>
        </p:txBody>
      </p:sp>
      <p:pic>
        <p:nvPicPr>
          <p:cNvPr id="42" name="Image 16" descr="preencoded.png">    </p:cNvPr>
          <p:cNvPicPr>
            <a:picLocks noChangeAspect="1"/>
          </p:cNvPicPr>
          <p:nvPr/>
        </p:nvPicPr>
        <p:blipFill>
          <a:blip r:embed="rId17"/>
          <a:stretch>
            <a:fillRect/>
          </a:stretch>
        </p:blipFill>
        <p:spPr>
          <a:xfrm>
            <a:off x="6217920" y="2404872"/>
            <a:ext cx="164592" cy="164592"/>
          </a:xfrm>
          <a:prstGeom prst="rect">
            <a:avLst/>
          </a:prstGeom>
        </p:spPr>
      </p:pic>
      <p:sp>
        <p:nvSpPr>
          <p:cNvPr id="43" name="Text 24"/>
          <p:cNvSpPr/>
          <p:nvPr/>
        </p:nvSpPr>
        <p:spPr>
          <a:xfrm>
            <a:off x="6492240" y="2377440"/>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Cross-sell assurance/financement</a:t>
            </a:r>
            <a:endParaRPr lang="en-US" sz="850" dirty="0"/>
          </a:p>
        </p:txBody>
      </p:sp>
      <p:pic>
        <p:nvPicPr>
          <p:cNvPr id="44" name="Image 17" descr="preencoded.png">    </p:cNvPr>
          <p:cNvPicPr>
            <a:picLocks noChangeAspect="1"/>
          </p:cNvPicPr>
          <p:nvPr/>
        </p:nvPicPr>
        <p:blipFill>
          <a:blip r:embed="rId18"/>
          <a:stretch>
            <a:fillRect/>
          </a:stretch>
        </p:blipFill>
        <p:spPr>
          <a:xfrm>
            <a:off x="6217920" y="2706624"/>
            <a:ext cx="164592" cy="164592"/>
          </a:xfrm>
          <a:prstGeom prst="rect">
            <a:avLst/>
          </a:prstGeom>
        </p:spPr>
      </p:pic>
      <p:sp>
        <p:nvSpPr>
          <p:cNvPr id="45" name="Text 25"/>
          <p:cNvSpPr/>
          <p:nvPr/>
        </p:nvSpPr>
        <p:spPr>
          <a:xfrm>
            <a:off x="6492240" y="2679192"/>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Abonnement plateforme</a:t>
            </a:r>
            <a:endParaRPr lang="en-US" sz="850" dirty="0"/>
          </a:p>
        </p:txBody>
      </p:sp>
      <p:pic>
        <p:nvPicPr>
          <p:cNvPr id="46" name="Image 18" descr="preencoded.png">    </p:cNvPr>
          <p:cNvPicPr>
            <a:picLocks noChangeAspect="1"/>
          </p:cNvPicPr>
          <p:nvPr/>
        </p:nvPicPr>
        <p:blipFill>
          <a:blip r:embed="rId19"/>
          <a:stretch>
            <a:fillRect/>
          </a:stretch>
        </p:blipFill>
        <p:spPr>
          <a:xfrm>
            <a:off x="6217920" y="3008376"/>
            <a:ext cx="164592" cy="164592"/>
          </a:xfrm>
          <a:prstGeom prst="rect">
            <a:avLst/>
          </a:prstGeom>
        </p:spPr>
      </p:pic>
      <p:sp>
        <p:nvSpPr>
          <p:cNvPr id="47" name="Text 26"/>
          <p:cNvSpPr/>
          <p:nvPr/>
        </p:nvSpPr>
        <p:spPr>
          <a:xfrm>
            <a:off x="6492240" y="2980944"/>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Templates métiers vendables</a:t>
            </a:r>
            <a:endParaRPr lang="en-US" sz="850" dirty="0"/>
          </a:p>
        </p:txBody>
      </p:sp>
      <p:pic>
        <p:nvPicPr>
          <p:cNvPr id="48" name="Image 19" descr="preencoded.png">    </p:cNvPr>
          <p:cNvPicPr>
            <a:picLocks noChangeAspect="1"/>
          </p:cNvPicPr>
          <p:nvPr/>
        </p:nvPicPr>
        <p:blipFill>
          <a:blip r:embed="rId20"/>
          <a:stretch>
            <a:fillRect/>
          </a:stretch>
        </p:blipFill>
        <p:spPr>
          <a:xfrm>
            <a:off x="6217920" y="3310128"/>
            <a:ext cx="164592" cy="164592"/>
          </a:xfrm>
          <a:prstGeom prst="rect">
            <a:avLst/>
          </a:prstGeom>
        </p:spPr>
      </p:pic>
      <p:sp>
        <p:nvSpPr>
          <p:cNvPr id="49" name="Text 27"/>
          <p:cNvSpPr/>
          <p:nvPr/>
        </p:nvSpPr>
        <p:spPr>
          <a:xfrm>
            <a:off x="6492240" y="3282696"/>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Marketplace de services</a:t>
            </a:r>
            <a:endParaRPr lang="en-US" sz="850" dirty="0"/>
          </a:p>
        </p:txBody>
      </p:sp>
      <p:pic>
        <p:nvPicPr>
          <p:cNvPr id="50" name="Image 20" descr="preencoded.png">    </p:cNvPr>
          <p:cNvPicPr>
            <a:picLocks noChangeAspect="1"/>
          </p:cNvPicPr>
          <p:nvPr/>
        </p:nvPicPr>
        <p:blipFill>
          <a:blip r:embed="rId21"/>
          <a:stretch>
            <a:fillRect/>
          </a:stretch>
        </p:blipFill>
        <p:spPr>
          <a:xfrm>
            <a:off x="6217920" y="3611880"/>
            <a:ext cx="164592" cy="164592"/>
          </a:xfrm>
          <a:prstGeom prst="rect">
            <a:avLst/>
          </a:prstGeom>
        </p:spPr>
      </p:pic>
      <p:sp>
        <p:nvSpPr>
          <p:cNvPr id="51" name="Text 28"/>
          <p:cNvSpPr/>
          <p:nvPr/>
        </p:nvSpPr>
        <p:spPr>
          <a:xfrm>
            <a:off x="6492240" y="3584448"/>
            <a:ext cx="1920240" cy="256032"/>
          </a:xfrm>
          <a:prstGeom prst="rect">
            <a:avLst/>
          </a:prstGeom>
          <a:noFill/>
          <a:ln/>
        </p:spPr>
        <p:txBody>
          <a:bodyPr wrap="square" lIns="0" tIns="0" rIns="0" bIns="0" rtlCol="0" anchor="ctr"/>
          <a:lstStyle/>
          <a:p>
            <a:pPr indent="0" marL="0">
              <a:buNone/>
            </a:pPr>
            <a:r>
              <a:rPr lang="en-US" sz="850" dirty="0">
                <a:solidFill>
                  <a:srgbClr val="374151"/>
                </a:solidFill>
                <a:latin typeface="Poppins" pitchFamily="34" charset="0"/>
                <a:ea typeface="Poppins" pitchFamily="34" charset="-122"/>
                <a:cs typeface="Poppins" pitchFamily="34" charset="-120"/>
              </a:rPr>
              <a:t>Scalabilité nationale</a:t>
            </a:r>
            <a:endParaRPr lang="en-US" sz="850" dirty="0"/>
          </a:p>
        </p:txBody>
      </p:sp>
      <p:sp>
        <p:nvSpPr>
          <p:cNvPr id="52" name="Shape 29"/>
          <p:cNvSpPr/>
          <p:nvPr/>
        </p:nvSpPr>
        <p:spPr>
          <a:xfrm>
            <a:off x="640080" y="4389120"/>
            <a:ext cx="7863840" cy="548640"/>
          </a:xfrm>
          <a:prstGeom prst="rect">
            <a:avLst>
              <a:gd name="adj" fmla="val 10000"/>
            </a:avLst>
          </a:prstGeom>
          <a:solidFill>
            <a:srgbClr val="EBF5FF"/>
          </a:solidFill>
          <a:ln/>
        </p:spPr>
      </p:sp>
      <p:sp>
        <p:nvSpPr>
          <p:cNvPr id="53" name="Text 30"/>
          <p:cNvSpPr/>
          <p:nvPr/>
        </p:nvSpPr>
        <p:spPr>
          <a:xfrm>
            <a:off x="640080" y="4389120"/>
            <a:ext cx="7863840" cy="548640"/>
          </a:xfrm>
          <a:prstGeom prst="rect">
            <a:avLst/>
          </a:prstGeom>
          <a:noFill/>
          <a:ln/>
        </p:spPr>
        <p:txBody>
          <a:bodyPr wrap="square" lIns="0" tIns="0" rIns="0" bIns="0" rtlCol="0" anchor="ctr"/>
          <a:lstStyle/>
          <a:p>
            <a:pPr algn="ctr" indent="0" marL="0">
              <a:buNone/>
            </a:pPr>
            <a:r>
              <a:rPr lang="en-US" sz="1100" b="1" dirty="0">
                <a:solidFill>
                  <a:srgbClr val="1677FF"/>
                </a:solidFill>
                <a:latin typeface="Poppins" pitchFamily="34" charset="0"/>
                <a:ea typeface="Poppins" pitchFamily="34" charset="-122"/>
                <a:cs typeface="Poppins" pitchFamily="34" charset="-120"/>
              </a:rPr>
              <a:t>9 000 entreprises × services intégrés = potentiel massif de croissance et fidélisation</a:t>
            </a:r>
            <a:endParaRPr lang="en-US" sz="1100" dirty="0"/>
          </a:p>
        </p:txBody>
      </p:sp>
      <p:sp>
        <p:nvSpPr>
          <p:cNvPr id="54" name="Text 31"/>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77FF"/>
          </a:solidFill>
          <a:ln/>
        </p:spPr>
      </p:sp>
      <p:pic>
        <p:nvPicPr>
          <p:cNvPr id="3" name="Image 0" descr="preencoded.png">    </p:cNvPr>
          <p:cNvPicPr>
            <a:picLocks noChangeAspect="1"/>
          </p:cNvPicPr>
          <p:nvPr/>
        </p:nvPicPr>
        <p:blipFill>
          <a:blip r:embed="rId1"/>
          <a:stretch>
            <a:fillRect/>
          </a:stretch>
        </p:blipFill>
        <p:spPr>
          <a:xfrm>
            <a:off x="2926080" y="914400"/>
            <a:ext cx="1097280" cy="685800"/>
          </a:xfrm>
          <a:prstGeom prst="rect">
            <a:avLst/>
          </a:prstGeom>
        </p:spPr>
      </p:pic>
      <p:sp>
        <p:nvSpPr>
          <p:cNvPr id="4" name="Text 1"/>
          <p:cNvSpPr/>
          <p:nvPr/>
        </p:nvSpPr>
        <p:spPr>
          <a:xfrm>
            <a:off x="4114800" y="914400"/>
            <a:ext cx="2286000" cy="685800"/>
          </a:xfrm>
          <a:prstGeom prst="rect">
            <a:avLst/>
          </a:prstGeom>
          <a:noFill/>
          <a:ln/>
        </p:spPr>
        <p:txBody>
          <a:bodyPr wrap="square" lIns="0" tIns="0" rIns="0" bIns="0" rtlCol="0" anchor="ctr"/>
          <a:lstStyle/>
          <a:p>
            <a:pPr indent="0" marL="0">
              <a:buNone/>
            </a:pPr>
            <a:r>
              <a:rPr lang="en-US" sz="3600" b="1" dirty="0">
                <a:solidFill>
                  <a:srgbClr val="0F172A"/>
                </a:solidFill>
                <a:latin typeface="Poppins" pitchFamily="34" charset="0"/>
                <a:ea typeface="Poppins" pitchFamily="34" charset="-122"/>
                <a:cs typeface="Poppins" pitchFamily="34" charset="-120"/>
              </a:rPr>
              <a:t>KINN</a:t>
            </a:r>
            <a:endParaRPr lang="en-US" sz="3600" dirty="0"/>
          </a:p>
        </p:txBody>
      </p:sp>
      <p:sp>
        <p:nvSpPr>
          <p:cNvPr id="5" name="Text 2"/>
          <p:cNvSpPr/>
          <p:nvPr/>
        </p:nvSpPr>
        <p:spPr>
          <a:xfrm>
            <a:off x="2286000" y="1691640"/>
            <a:ext cx="4572000" cy="411480"/>
          </a:xfrm>
          <a:prstGeom prst="rect">
            <a:avLst/>
          </a:prstGeom>
          <a:noFill/>
          <a:ln/>
        </p:spPr>
        <p:txBody>
          <a:bodyPr wrap="square" lIns="0" tIns="0" rIns="0" bIns="0" rtlCol="0" anchor="ctr"/>
          <a:lstStyle/>
          <a:p>
            <a:pPr algn="ctr" indent="0" marL="0">
              <a:buNone/>
            </a:pPr>
            <a:r>
              <a:rPr lang="en-US" sz="2000" b="1" dirty="0">
                <a:solidFill>
                  <a:srgbClr val="1B3A5C"/>
                </a:solidFill>
                <a:latin typeface="Poppins" pitchFamily="34" charset="0"/>
                <a:ea typeface="Poppins" pitchFamily="34" charset="-122"/>
                <a:cs typeface="Poppins" pitchFamily="34" charset="-120"/>
              </a:rPr>
              <a:t>×  Hans &amp; Associés</a:t>
            </a:r>
            <a:endParaRPr lang="en-US" sz="2000" dirty="0"/>
          </a:p>
        </p:txBody>
      </p:sp>
      <p:sp>
        <p:nvSpPr>
          <p:cNvPr id="6" name="Text 3"/>
          <p:cNvSpPr/>
          <p:nvPr/>
        </p:nvSpPr>
        <p:spPr>
          <a:xfrm>
            <a:off x="1371600" y="2286000"/>
            <a:ext cx="6400800" cy="640080"/>
          </a:xfrm>
          <a:prstGeom prst="rect">
            <a:avLst/>
          </a:prstGeom>
          <a:noFill/>
          <a:ln/>
        </p:spPr>
        <p:txBody>
          <a:bodyPr wrap="square" lIns="0" tIns="0" rIns="0" bIns="0" rtlCol="0" anchor="ctr"/>
          <a:lstStyle/>
          <a:p>
            <a:pPr algn="ctr" indent="0" marL="0">
              <a:lnSpc>
                <a:spcPct val="140000"/>
              </a:lnSpc>
              <a:buNone/>
            </a:pPr>
            <a:r>
              <a:rPr lang="en-US" sz="1400" b="1" dirty="0">
                <a:solidFill>
                  <a:srgbClr val="0F172A"/>
                </a:solidFill>
                <a:latin typeface="Poppins" pitchFamily="34" charset="0"/>
                <a:ea typeface="Poppins" pitchFamily="34" charset="-122"/>
                <a:cs typeface="Poppins" pitchFamily="34" charset="-120"/>
              </a:rPr>
              <a:t>La plateforme digitale pour piloter</a:t>
            </a:r>
            <a:endParaRPr lang="en-US" sz="1400" dirty="0"/>
          </a:p>
          <a:p>
            <a:pPr algn="ctr" indent="0" marL="0">
              <a:lnSpc>
                <a:spcPct val="140000"/>
              </a:lnSpc>
              <a:buNone/>
            </a:pPr>
            <a:r>
              <a:rPr lang="en-US" sz="1400" b="1" dirty="0">
                <a:solidFill>
                  <a:srgbClr val="0F172A"/>
                </a:solidFill>
                <a:latin typeface="Poppins" pitchFamily="34" charset="0"/>
                <a:ea typeface="Poppins" pitchFamily="34" charset="-122"/>
                <a:cs typeface="Poppins" pitchFamily="34" charset="-120"/>
              </a:rPr>
              <a:t>9 000 entreprises depuis une seule interface.</a:t>
            </a:r>
            <a:endParaRPr lang="en-US" sz="1400" dirty="0"/>
          </a:p>
        </p:txBody>
      </p:sp>
      <p:sp>
        <p:nvSpPr>
          <p:cNvPr id="7" name="Shape 4"/>
          <p:cNvSpPr/>
          <p:nvPr/>
        </p:nvSpPr>
        <p:spPr>
          <a:xfrm>
            <a:off x="1353312" y="3200400"/>
            <a:ext cx="320040" cy="320040"/>
          </a:xfrm>
          <a:prstGeom prst="ellipse">
            <a:avLst/>
          </a:prstGeom>
          <a:solidFill>
            <a:srgbClr val="1677FF"/>
          </a:solidFill>
          <a:ln/>
        </p:spPr>
      </p:sp>
      <p:pic>
        <p:nvPicPr>
          <p:cNvPr id="8" name="Image 1" descr="preencoded.png">    </p:cNvPr>
          <p:cNvPicPr>
            <a:picLocks noChangeAspect="1"/>
          </p:cNvPicPr>
          <p:nvPr/>
        </p:nvPicPr>
        <p:blipFill>
          <a:blip r:embed="rId2"/>
          <a:stretch>
            <a:fillRect/>
          </a:stretch>
        </p:blipFill>
        <p:spPr>
          <a:xfrm>
            <a:off x="1399032" y="3246120"/>
            <a:ext cx="228600" cy="228600"/>
          </a:xfrm>
          <a:prstGeom prst="rect">
            <a:avLst/>
          </a:prstGeom>
        </p:spPr>
      </p:pic>
      <p:sp>
        <p:nvSpPr>
          <p:cNvPr id="9" name="Text 5"/>
          <p:cNvSpPr/>
          <p:nvPr/>
        </p:nvSpPr>
        <p:spPr>
          <a:xfrm>
            <a:off x="640080" y="3566160"/>
            <a:ext cx="1828800" cy="274320"/>
          </a:xfrm>
          <a:prstGeom prst="rect">
            <a:avLst/>
          </a:prstGeom>
          <a:noFill/>
          <a:ln/>
        </p:spPr>
        <p:txBody>
          <a:bodyPr wrap="square" lIns="0" tIns="0" rIns="0" bIns="0" rtlCol="0" anchor="ctr"/>
          <a:lstStyle/>
          <a:p>
            <a:pPr algn="ctr" indent="0" marL="0">
              <a:buNone/>
            </a:pPr>
            <a:r>
              <a:rPr lang="en-US" sz="900" dirty="0">
                <a:solidFill>
                  <a:srgbClr val="374151"/>
                </a:solidFill>
                <a:latin typeface="Poppins" pitchFamily="34" charset="0"/>
                <a:ea typeface="Poppins" pitchFamily="34" charset="-122"/>
                <a:cs typeface="Poppins" pitchFamily="34" charset="-120"/>
              </a:rPr>
              <a:t>Un point d'entrée unique</a:t>
            </a:r>
            <a:endParaRPr lang="en-US" sz="900" dirty="0"/>
          </a:p>
        </p:txBody>
      </p:sp>
      <p:sp>
        <p:nvSpPr>
          <p:cNvPr id="10" name="Shape 6"/>
          <p:cNvSpPr/>
          <p:nvPr/>
        </p:nvSpPr>
        <p:spPr>
          <a:xfrm>
            <a:off x="3364992" y="3200400"/>
            <a:ext cx="320040" cy="320040"/>
          </a:xfrm>
          <a:prstGeom prst="ellipse">
            <a:avLst/>
          </a:prstGeom>
          <a:solidFill>
            <a:srgbClr val="1677FF"/>
          </a:solidFill>
          <a:ln/>
        </p:spPr>
      </p:sp>
      <p:pic>
        <p:nvPicPr>
          <p:cNvPr id="11" name="Image 2" descr="preencoded.png">    </p:cNvPr>
          <p:cNvPicPr>
            <a:picLocks noChangeAspect="1"/>
          </p:cNvPicPr>
          <p:nvPr/>
        </p:nvPicPr>
        <p:blipFill>
          <a:blip r:embed="rId3"/>
          <a:stretch>
            <a:fillRect/>
          </a:stretch>
        </p:blipFill>
        <p:spPr>
          <a:xfrm>
            <a:off x="3410712" y="3246120"/>
            <a:ext cx="228600" cy="228600"/>
          </a:xfrm>
          <a:prstGeom prst="rect">
            <a:avLst/>
          </a:prstGeom>
        </p:spPr>
      </p:pic>
      <p:sp>
        <p:nvSpPr>
          <p:cNvPr id="12" name="Text 7"/>
          <p:cNvSpPr/>
          <p:nvPr/>
        </p:nvSpPr>
        <p:spPr>
          <a:xfrm>
            <a:off x="2651760" y="3566160"/>
            <a:ext cx="1828800" cy="274320"/>
          </a:xfrm>
          <a:prstGeom prst="rect">
            <a:avLst/>
          </a:prstGeom>
          <a:noFill/>
          <a:ln/>
        </p:spPr>
        <p:txBody>
          <a:bodyPr wrap="square" lIns="0" tIns="0" rIns="0" bIns="0" rtlCol="0" anchor="ctr"/>
          <a:lstStyle/>
          <a:p>
            <a:pPr algn="ctr" indent="0" marL="0">
              <a:buNone/>
            </a:pPr>
            <a:r>
              <a:rPr lang="en-US" sz="900" dirty="0">
                <a:solidFill>
                  <a:srgbClr val="374151"/>
                </a:solidFill>
                <a:latin typeface="Poppins" pitchFamily="34" charset="0"/>
                <a:ea typeface="Poppins" pitchFamily="34" charset="-122"/>
                <a:cs typeface="Poppins" pitchFamily="34" charset="-120"/>
              </a:rPr>
              <a:t>Des services intégrés</a:t>
            </a:r>
            <a:endParaRPr lang="en-US" sz="900" dirty="0"/>
          </a:p>
        </p:txBody>
      </p:sp>
      <p:sp>
        <p:nvSpPr>
          <p:cNvPr id="13" name="Shape 8"/>
          <p:cNvSpPr/>
          <p:nvPr/>
        </p:nvSpPr>
        <p:spPr>
          <a:xfrm>
            <a:off x="5376672" y="3200400"/>
            <a:ext cx="320040" cy="320040"/>
          </a:xfrm>
          <a:prstGeom prst="ellipse">
            <a:avLst/>
          </a:prstGeom>
          <a:solidFill>
            <a:srgbClr val="1677FF"/>
          </a:solidFill>
          <a:ln/>
        </p:spPr>
      </p:sp>
      <p:pic>
        <p:nvPicPr>
          <p:cNvPr id="14" name="Image 3" descr="preencoded.png">    </p:cNvPr>
          <p:cNvPicPr>
            <a:picLocks noChangeAspect="1"/>
          </p:cNvPicPr>
          <p:nvPr/>
        </p:nvPicPr>
        <p:blipFill>
          <a:blip r:embed="rId4"/>
          <a:stretch>
            <a:fillRect/>
          </a:stretch>
        </p:blipFill>
        <p:spPr>
          <a:xfrm>
            <a:off x="5422392" y="3246120"/>
            <a:ext cx="228600" cy="228600"/>
          </a:xfrm>
          <a:prstGeom prst="rect">
            <a:avLst/>
          </a:prstGeom>
        </p:spPr>
      </p:pic>
      <p:sp>
        <p:nvSpPr>
          <p:cNvPr id="15" name="Text 9"/>
          <p:cNvSpPr/>
          <p:nvPr/>
        </p:nvSpPr>
        <p:spPr>
          <a:xfrm>
            <a:off x="4663440" y="3566160"/>
            <a:ext cx="1828800" cy="274320"/>
          </a:xfrm>
          <a:prstGeom prst="rect">
            <a:avLst/>
          </a:prstGeom>
          <a:noFill/>
          <a:ln/>
        </p:spPr>
        <p:txBody>
          <a:bodyPr wrap="square" lIns="0" tIns="0" rIns="0" bIns="0" rtlCol="0" anchor="ctr"/>
          <a:lstStyle/>
          <a:p>
            <a:pPr algn="ctr" indent="0" marL="0">
              <a:buNone/>
            </a:pPr>
            <a:r>
              <a:rPr lang="en-US" sz="900" dirty="0">
                <a:solidFill>
                  <a:srgbClr val="374151"/>
                </a:solidFill>
                <a:latin typeface="Poppins" pitchFamily="34" charset="0"/>
                <a:ea typeface="Poppins" pitchFamily="34" charset="-122"/>
                <a:cs typeface="Poppins" pitchFamily="34" charset="-120"/>
              </a:rPr>
              <a:t>L'IA au service du métier</a:t>
            </a:r>
            <a:endParaRPr lang="en-US" sz="900" dirty="0"/>
          </a:p>
        </p:txBody>
      </p:sp>
      <p:sp>
        <p:nvSpPr>
          <p:cNvPr id="16" name="Shape 10"/>
          <p:cNvSpPr/>
          <p:nvPr/>
        </p:nvSpPr>
        <p:spPr>
          <a:xfrm>
            <a:off x="7388352" y="3200400"/>
            <a:ext cx="320040" cy="320040"/>
          </a:xfrm>
          <a:prstGeom prst="ellipse">
            <a:avLst/>
          </a:prstGeom>
          <a:solidFill>
            <a:srgbClr val="1677FF"/>
          </a:solidFill>
          <a:ln/>
        </p:spPr>
      </p:sp>
      <p:pic>
        <p:nvPicPr>
          <p:cNvPr id="17" name="Image 4" descr="preencoded.png">    </p:cNvPr>
          <p:cNvPicPr>
            <a:picLocks noChangeAspect="1"/>
          </p:cNvPicPr>
          <p:nvPr/>
        </p:nvPicPr>
        <p:blipFill>
          <a:blip r:embed="rId5"/>
          <a:stretch>
            <a:fillRect/>
          </a:stretch>
        </p:blipFill>
        <p:spPr>
          <a:xfrm>
            <a:off x="7434072" y="3246120"/>
            <a:ext cx="228600" cy="228600"/>
          </a:xfrm>
          <a:prstGeom prst="rect">
            <a:avLst/>
          </a:prstGeom>
        </p:spPr>
      </p:pic>
      <p:sp>
        <p:nvSpPr>
          <p:cNvPr id="18" name="Text 11"/>
          <p:cNvSpPr/>
          <p:nvPr/>
        </p:nvSpPr>
        <p:spPr>
          <a:xfrm>
            <a:off x="6675120" y="3566160"/>
            <a:ext cx="1828800" cy="274320"/>
          </a:xfrm>
          <a:prstGeom prst="rect">
            <a:avLst/>
          </a:prstGeom>
          <a:noFill/>
          <a:ln/>
        </p:spPr>
        <p:txBody>
          <a:bodyPr wrap="square" lIns="0" tIns="0" rIns="0" bIns="0" rtlCol="0" anchor="ctr"/>
          <a:lstStyle/>
          <a:p>
            <a:pPr algn="ctr" indent="0" marL="0">
              <a:buNone/>
            </a:pPr>
            <a:r>
              <a:rPr lang="en-US" sz="900" dirty="0">
                <a:solidFill>
                  <a:srgbClr val="374151"/>
                </a:solidFill>
                <a:latin typeface="Poppins" pitchFamily="34" charset="0"/>
                <a:ea typeface="Poppins" pitchFamily="34" charset="-122"/>
                <a:cs typeface="Poppins" pitchFamily="34" charset="-120"/>
              </a:rPr>
              <a:t>Scalable nationalement</a:t>
            </a:r>
            <a:endParaRPr lang="en-US" sz="900" dirty="0"/>
          </a:p>
        </p:txBody>
      </p:sp>
      <p:sp>
        <p:nvSpPr>
          <p:cNvPr id="19" name="Text 12"/>
          <p:cNvSpPr/>
          <p:nvPr/>
        </p:nvSpPr>
        <p:spPr>
          <a:xfrm>
            <a:off x="914400" y="4023360"/>
            <a:ext cx="7315200" cy="502920"/>
          </a:xfrm>
          <a:prstGeom prst="rect">
            <a:avLst/>
          </a:prstGeom>
          <a:noFill/>
          <a:ln/>
        </p:spPr>
        <p:txBody>
          <a:bodyPr wrap="square" lIns="0" tIns="0" rIns="0" bIns="0" rtlCol="0" anchor="ctr"/>
          <a:lstStyle/>
          <a:p>
            <a:pPr algn="ctr" indent="0" marL="0">
              <a:lnSpc>
                <a:spcPct val="130000"/>
              </a:lnSpc>
              <a:buNone/>
            </a:pPr>
            <a:r>
              <a:rPr lang="en-US" sz="1000" i="1" dirty="0">
                <a:solidFill>
                  <a:srgbClr val="374151"/>
                </a:solidFill>
                <a:latin typeface="Poppins" pitchFamily="34" charset="0"/>
                <a:ea typeface="Poppins" pitchFamily="34" charset="-122"/>
                <a:cs typeface="Poppins" pitchFamily="34" charset="-120"/>
              </a:rPr>
              <a:t>«  Hans &amp; Associés ne sera plus un cabinet — ce sera une plateforme digitale</a:t>
            </a:r>
            <a:endParaRPr lang="en-US" sz="1000" dirty="0"/>
          </a:p>
          <a:p>
            <a:pPr algn="ctr" indent="0" marL="0">
              <a:lnSpc>
                <a:spcPct val="130000"/>
              </a:lnSpc>
              <a:buNone/>
            </a:pPr>
            <a:r>
              <a:rPr lang="en-US" sz="1000" i="1" dirty="0">
                <a:solidFill>
                  <a:srgbClr val="374151"/>
                </a:solidFill>
                <a:latin typeface="Poppins" pitchFamily="34" charset="0"/>
                <a:ea typeface="Poppins" pitchFamily="34" charset="-122"/>
                <a:cs typeface="Poppins" pitchFamily="34" charset="-120"/>
              </a:rPr>
              <a:t>qui connecte les dirigeants à tout un écosystème de services.  »</a:t>
            </a:r>
            <a:endParaRPr lang="en-US" sz="1000" dirty="0"/>
          </a:p>
        </p:txBody>
      </p:sp>
      <p:sp>
        <p:nvSpPr>
          <p:cNvPr id="20" name="Text 13"/>
          <p:cNvSpPr/>
          <p:nvPr/>
        </p:nvSpPr>
        <p:spPr>
          <a:xfrm>
            <a:off x="1828800" y="4709160"/>
            <a:ext cx="5486400" cy="274320"/>
          </a:xfrm>
          <a:prstGeom prst="rect">
            <a:avLst/>
          </a:prstGeom>
          <a:noFill/>
          <a:ln/>
        </p:spPr>
        <p:txBody>
          <a:bodyPr wrap="square" lIns="0" tIns="0" rIns="0" bIns="0" rtlCol="0" anchor="ctr"/>
          <a:lstStyle/>
          <a:p>
            <a:pPr algn="ctr" indent="0" marL="0">
              <a:buNone/>
            </a:pPr>
            <a:r>
              <a:rPr lang="en-US" sz="800" dirty="0">
                <a:solidFill>
                  <a:srgbClr val="9CA3AF"/>
                </a:solidFill>
                <a:latin typeface="Poppins" pitchFamily="34" charset="0"/>
                <a:ea typeface="Poppins" pitchFamily="34" charset="-122"/>
                <a:cs typeface="Poppins" pitchFamily="34" charset="-120"/>
              </a:rPr>
              <a:t>C4RBON Group  |  contact@c4rbon.group  |  2026</a:t>
            </a:r>
            <a:endParaRPr lang="en-US" sz="800" dirty="0"/>
          </a:p>
        </p:txBody>
      </p:sp>
      <p:sp>
        <p:nvSpPr>
          <p:cNvPr id="21" name="Text 14"/>
          <p:cNvSpPr/>
          <p:nvPr/>
        </p:nvSpPr>
        <p:spPr>
          <a:xfrm>
            <a:off x="8503920" y="4800600"/>
            <a:ext cx="457200" cy="274320"/>
          </a:xfrm>
          <a:prstGeom prst="rect">
            <a:avLst/>
          </a:prstGeom>
          <a:noFill/>
          <a:ln/>
        </p:spPr>
        <p:txBody>
          <a:bodyPr wrap="square" lIns="0" tIns="0" rIns="0" bIns="0" rtlCol="0" anchor="ctr"/>
          <a:lstStyle/>
          <a:p>
            <a:pPr algn="r" indent="0" marL="0">
              <a:buNone/>
            </a:pPr>
            <a:r>
              <a:rPr lang="en-US" sz="900" dirty="0">
                <a:solidFill>
                  <a:srgbClr val="9CA3AF"/>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KINN × Hans &amp; Associés — Plateforme digitale</dc:title>
  <dc:subject>PptxGenJS Presentation</dc:subject>
  <dc:creator>C4RBON Group</dc:creator>
  <cp:lastModifiedBy>C4RBON Group</cp:lastModifiedBy>
  <cp:revision>1</cp:revision>
  <dcterms:created xsi:type="dcterms:W3CDTF">2026-03-10T20:14:18Z</dcterms:created>
  <dcterms:modified xsi:type="dcterms:W3CDTF">2026-03-10T20:14:18Z</dcterms:modified>
</cp:coreProperties>
</file>