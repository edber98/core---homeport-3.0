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5" r:id="rId10"/>
    <p:sldId id="266" r:id="rId11"/>
    <p:sldId id="267"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7"/>
    <p:restoredTop sz="94610"/>
  </p:normalViewPr>
  <p:slideViewPr>
    <p:cSldViewPr snapToGrid="0" snapToObjects="1">
      <p:cViewPr varScale="1">
        <p:scale>
          <a:sx n="163" d="100"/>
          <a:sy n="163" d="100"/>
        </p:scale>
        <p:origin x="184" y="3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09128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couverture du projet d'intégration technique entre KINN et le système MHS (Maximo) utilisé par Stocklor pour la gestion d'entrepôt Garrett. L'objectif est de présenter les besoins API, les endpoints nécessaires et l'architecture d'intégration pour optimiser la préparation de commandes.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Contexte : Garrett est le donneur d'ordre (pièces automobiles turbo). Stocklor est le prestataire logistique qui gère l'entrepôt. MHS (Maximo) est le WMS actuel qui gère les slots, les alvéoles et les mouvements de stock. KINN vient s'interfacer avec MHS pour optimiser la préparation de commandes en regroupant intelligemment les missions par zone géographique plutôt que slot par slot.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Aujourd'hui, chaque slot de commande génère un déplacement complet dans l'entrepôt. Le cariste part du point de départ, va chercher les pièces d'un seul slot, revient, puis recommence pour le slot suivant. C'est très inefficace car souvent les slots contiennent des pièces dans les mêmes zones. L'approche KINN consiste à regrouper intelligemment plusieurs slots en une seule mission optimisée par zone géographique, réduisant considérablement les déplacements.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L'architecture repose sur 3 blocs principaux. MHS (Maximo) est la source de données : il fournit les slots, les alvéoles, les états des stockeurs et les références articles via API REST. KINN est le cerveau qui récupère ces données (GET), les optimise (regroupement, assignation), puis renvoie les actions à MHS (POST). Les interfaces terrain (tablette cariste, scanner préparateur, dashboard superviseur) sont connectées à KINN en temps réel via WebSocket.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Détail des 4 types de données à récupérer depuis MHS via API REST (GET). 1) L'historique des slots pour entraîner/calibrer le moteur d'optimisation. 2) Les slots temps réel pour le regroupement intelligent des missions. 3) Les états des stockeurs (disponibilité, file d'attente) pour prendre en compte les délais d'accès aux zones automatisées. 4) Le référentiel articles pour connaître les alvéoles de stockage et calculer les proximités. Questions clés pour MHS : format exact des réponses, pagination, filtres disponibles, fréquence de rafraîchissement.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3 actions principales que KINN doit pouvoir envoyer à MHS. 1) L'assignation d'un carton maman : quand une mission groupée démarre, il faut dire à MHS quel conteneur est utilisé. 2) La validation du picking ligne par ligne : à chaque scan d'article, KINN confirme auprès de MHS que la ligne est préparée. 3) La validation complète du slot : quand toutes les lignes sont pickées, le slot est clôturé dans MHS. Question importante : est-ce que MHS supporte ces écritures via API ou faut-il passer par un autre mécanisme (fichier, message queue)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flux complet en 5 étapes. Étape 1 : KINN récupère les slots en attente depuis MHS (GET). Étape 2 : le moteur analyse et regroupe les slots par zone de l'entrepôt. Étape 3 : la mission groupée est envoyée à la tablette du cariste, et un carton maman est assigné (POST vers MHS). Étape 4 : le préparateur scanne chaque article avec son scanner, KINN valide chaque ligne en temps réel (POST vers MHS). Étape 5 : quand toutes les lignes sont complètes, le slot est clôturé dans MHS (POST). En bas, les acteurs impliqués à chaque étape.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interfaces terrain sont prévues. La tablette cariste affiche les missions groupées avec le parcours optimisé et permet d'appeler les stockeurs automatiques. Le scanner préparateur permet le picking article par article avec validation instantanée et alerte en cas d'erreur de référence. Le dashboard superviseur donne une vue d'ensemble en temps réel avec des statistiques de productivité et des comparaisons avant/après optimisation. Ces interfaces sont des applications web responsives connectées à KINN via WebSocket pour le temps réel.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slide liste toutes les questions à poser à l'équipe MHS pendant la réunion. Les 4 catégories couvrent : 1) API et endpoints — est-ce que les endpoints qu'on a identifiés existent, documentation Swagger. 2) Données — profondeur de l'historique, accès aux états stockeurs. 3) Écriture — est-ce que MHS supporte les écritures REST ou s'il faut un autre mécanisme. 4) Infrastructure — environnement de test, authentification, interlocuteur technique. C'est la slide la plus importante de la réunion.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Planning proposé en 4 phases. Phase 1 (2 semaines) : découverte — obtenir l'accès à l'environnement de test MHS, récupérer la documentation API, faire les premiers appels GET, valider les formats de données. Phase 2 (4 semaines) : intégration — développer les connecteurs GET/POST, le moteur d'optimisation, les tests unitaires et les maquettes d'interfaces. Phase 3 (3 semaines) : pilote — déployer sur une zone de l'entrepôt, former les opérateurs, tester en conditions réelles et ajuster l'algorithme. Phase 4 (2 semaines) : déploiement complet sur tout l'entrepôt avec monitoring et support.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clôture. Résumer les 4 prochains livrables attendus de la part de MHS : 1) Documentation Swagger. 2) Environnement de test. 3) Mode d'authentification. 4) Date du kick-off technique. Remercier l'équipe MHS pour leur temps et proposer un suivi hebdomadaire pendant la Phase 1.</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9.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4.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2.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E3A5F"/>
          </a:solidFill>
          <a:ln/>
        </p:spPr>
      </p:sp>
      <p:pic>
        <p:nvPicPr>
          <p:cNvPr id="3" name="Image 0" descr="preencoded.png"/>
          <p:cNvPicPr>
            <a:picLocks noChangeAspect="1"/>
          </p:cNvPicPr>
          <p:nvPr/>
        </p:nvPicPr>
        <p:blipFill>
          <a:blip r:embed="rId3"/>
          <a:stretch>
            <a:fillRect/>
          </a:stretch>
        </p:blipFill>
        <p:spPr>
          <a:xfrm>
            <a:off x="2926080" y="914400"/>
            <a:ext cx="1097280" cy="685800"/>
          </a:xfrm>
          <a:prstGeom prst="rect">
            <a:avLst/>
          </a:prstGeom>
        </p:spPr>
      </p:pic>
      <p:sp>
        <p:nvSpPr>
          <p:cNvPr id="4" name="Text 1"/>
          <p:cNvSpPr/>
          <p:nvPr/>
        </p:nvSpPr>
        <p:spPr>
          <a:xfrm>
            <a:off x="4114800" y="914400"/>
            <a:ext cx="2286000" cy="685800"/>
          </a:xfrm>
          <a:prstGeom prst="rect">
            <a:avLst/>
          </a:prstGeom>
          <a:noFill/>
          <a:ln/>
        </p:spPr>
        <p:txBody>
          <a:bodyPr wrap="square" lIns="0" tIns="0" rIns="0" bIns="0" rtlCol="0" anchor="ctr"/>
          <a:lstStyle/>
          <a:p>
            <a:pPr marL="0" indent="0">
              <a:buNone/>
            </a:pPr>
            <a:r>
              <a:rPr lang="en-US" sz="3600" b="1" dirty="0">
                <a:solidFill>
                  <a:srgbClr val="0F172A"/>
                </a:solidFill>
                <a:latin typeface="Poppins" pitchFamily="34" charset="0"/>
                <a:ea typeface="Poppins" pitchFamily="34" charset="-122"/>
                <a:cs typeface="Poppins" pitchFamily="34" charset="-120"/>
              </a:rPr>
              <a:t>KINN</a:t>
            </a:r>
            <a:endParaRPr lang="en-US" sz="3600" dirty="0"/>
          </a:p>
        </p:txBody>
      </p:sp>
      <p:sp>
        <p:nvSpPr>
          <p:cNvPr id="5" name="Text 2"/>
          <p:cNvSpPr/>
          <p:nvPr/>
        </p:nvSpPr>
        <p:spPr>
          <a:xfrm>
            <a:off x="2286000" y="1737360"/>
            <a:ext cx="4572000" cy="457200"/>
          </a:xfrm>
          <a:prstGeom prst="rect">
            <a:avLst/>
          </a:prstGeom>
          <a:noFill/>
          <a:ln/>
        </p:spPr>
        <p:txBody>
          <a:bodyPr wrap="square" lIns="0" tIns="0" rIns="0" bIns="0" rtlCol="0" anchor="ctr"/>
          <a:lstStyle/>
          <a:p>
            <a:pPr marL="0" indent="0" algn="ctr">
              <a:buNone/>
            </a:pPr>
            <a:r>
              <a:rPr lang="en-US" sz="2200" b="1" dirty="0">
                <a:solidFill>
                  <a:srgbClr val="1E3A5F"/>
                </a:solidFill>
                <a:latin typeface="Poppins" pitchFamily="34" charset="0"/>
                <a:ea typeface="Poppins" pitchFamily="34" charset="-122"/>
                <a:cs typeface="Poppins" pitchFamily="34" charset="-120"/>
              </a:rPr>
              <a:t>×  Stocklor / Garrett</a:t>
            </a:r>
            <a:endParaRPr lang="en-US" sz="2200" dirty="0"/>
          </a:p>
        </p:txBody>
      </p:sp>
      <p:sp>
        <p:nvSpPr>
          <p:cNvPr id="6" name="Text 3"/>
          <p:cNvSpPr/>
          <p:nvPr/>
        </p:nvSpPr>
        <p:spPr>
          <a:xfrm>
            <a:off x="1097280" y="2377440"/>
            <a:ext cx="6949440" cy="731520"/>
          </a:xfrm>
          <a:prstGeom prst="rect">
            <a:avLst/>
          </a:prstGeom>
          <a:noFill/>
          <a:ln/>
        </p:spPr>
        <p:txBody>
          <a:bodyPr wrap="square" lIns="0" tIns="0" rIns="0" bIns="0" rtlCol="0" anchor="ctr"/>
          <a:lstStyle/>
          <a:p>
            <a:pPr marL="0" indent="0" algn="ctr">
              <a:lnSpc>
                <a:spcPct val="140000"/>
              </a:lnSpc>
              <a:buNone/>
            </a:pPr>
            <a:r>
              <a:rPr lang="en-US" sz="1300" dirty="0">
                <a:solidFill>
                  <a:srgbClr val="374151"/>
                </a:solidFill>
                <a:latin typeface="Poppins" pitchFamily="34" charset="0"/>
                <a:ea typeface="Poppins" pitchFamily="34" charset="-122"/>
                <a:cs typeface="Poppins" pitchFamily="34" charset="-120"/>
              </a:rPr>
              <a:t>Intégration technique MHS (Maximo)</a:t>
            </a:r>
            <a:endParaRPr lang="en-US" sz="1300" dirty="0"/>
          </a:p>
          <a:p>
            <a:pPr marL="0" indent="0" algn="ctr">
              <a:lnSpc>
                <a:spcPct val="140000"/>
              </a:lnSpc>
              <a:buNone/>
            </a:pPr>
            <a:r>
              <a:rPr lang="en-US" sz="1300" dirty="0">
                <a:solidFill>
                  <a:srgbClr val="374151"/>
                </a:solidFill>
                <a:latin typeface="Poppins" pitchFamily="34" charset="0"/>
                <a:ea typeface="Poppins" pitchFamily="34" charset="-122"/>
                <a:cs typeface="Poppins" pitchFamily="34" charset="-120"/>
              </a:rPr>
              <a:t>Optimisation de la préparation de commandes en entrepôt</a:t>
            </a:r>
            <a:endParaRPr lang="en-US" sz="1300" dirty="0"/>
          </a:p>
        </p:txBody>
      </p:sp>
      <p:sp>
        <p:nvSpPr>
          <p:cNvPr id="7" name="Shape 4"/>
          <p:cNvSpPr/>
          <p:nvPr/>
        </p:nvSpPr>
        <p:spPr>
          <a:xfrm>
            <a:off x="800100" y="3520440"/>
            <a:ext cx="1645920" cy="914400"/>
          </a:xfrm>
          <a:prstGeom prst="rect">
            <a:avLst/>
          </a:prstGeom>
          <a:solidFill>
            <a:srgbClr val="F7F9FC"/>
          </a:solidFill>
          <a:ln/>
          <a:effectLst>
            <a:outerShdw blurRad="76200" dist="25400" dir="8100000" algn="bl" rotWithShape="0">
              <a:srgbClr val="000000">
                <a:alpha val="6000"/>
              </a:srgbClr>
            </a:outerShdw>
          </a:effectLst>
        </p:spPr>
      </p:sp>
      <p:pic>
        <p:nvPicPr>
          <p:cNvPr id="8" name="Image 1" descr="preencoded.png"/>
          <p:cNvPicPr>
            <a:picLocks noChangeAspect="1"/>
          </p:cNvPicPr>
          <p:nvPr/>
        </p:nvPicPr>
        <p:blipFill>
          <a:blip r:embed="rId4"/>
          <a:stretch>
            <a:fillRect/>
          </a:stretch>
        </p:blipFill>
        <p:spPr>
          <a:xfrm>
            <a:off x="1440180" y="3584448"/>
            <a:ext cx="365760" cy="365760"/>
          </a:xfrm>
          <a:prstGeom prst="rect">
            <a:avLst/>
          </a:prstGeom>
        </p:spPr>
      </p:pic>
      <p:sp>
        <p:nvSpPr>
          <p:cNvPr id="9" name="Text 5"/>
          <p:cNvSpPr/>
          <p:nvPr/>
        </p:nvSpPr>
        <p:spPr>
          <a:xfrm>
            <a:off x="800100" y="3950208"/>
            <a:ext cx="1645920" cy="228600"/>
          </a:xfrm>
          <a:prstGeom prst="rect">
            <a:avLst/>
          </a:prstGeom>
          <a:noFill/>
          <a:ln/>
        </p:spPr>
        <p:txBody>
          <a:bodyPr wrap="square" lIns="0" tIns="0" rIns="0" bIns="0" rtlCol="0" anchor="ctr"/>
          <a:lstStyle/>
          <a:p>
            <a:pPr marL="0" indent="0" algn="ctr">
              <a:buNone/>
            </a:pPr>
            <a:r>
              <a:rPr lang="en-US" sz="1200" b="1" dirty="0">
                <a:solidFill>
                  <a:srgbClr val="0F172A"/>
                </a:solidFill>
                <a:latin typeface="Poppins" pitchFamily="34" charset="0"/>
                <a:ea typeface="Poppins" pitchFamily="34" charset="-122"/>
                <a:cs typeface="Poppins" pitchFamily="34" charset="-120"/>
              </a:rPr>
              <a:t>Entrepôt</a:t>
            </a:r>
            <a:endParaRPr lang="en-US" sz="1200" dirty="0"/>
          </a:p>
        </p:txBody>
      </p:sp>
      <p:sp>
        <p:nvSpPr>
          <p:cNvPr id="10" name="Text 6"/>
          <p:cNvSpPr/>
          <p:nvPr/>
        </p:nvSpPr>
        <p:spPr>
          <a:xfrm>
            <a:off x="800100" y="4160520"/>
            <a:ext cx="1645920" cy="228600"/>
          </a:xfrm>
          <a:prstGeom prst="rect">
            <a:avLst/>
          </a:prstGeom>
          <a:noFill/>
          <a:ln/>
        </p:spPr>
        <p:txBody>
          <a:bodyPr wrap="square" lIns="0" tIns="0" rIns="0" bIns="0" rtlCol="0" anchor="ctr"/>
          <a:lstStyle/>
          <a:p>
            <a:pPr marL="0" indent="0" algn="ctr">
              <a:buNone/>
            </a:pPr>
            <a:r>
              <a:rPr lang="en-US" sz="850" dirty="0">
                <a:solidFill>
                  <a:srgbClr val="374151"/>
                </a:solidFill>
                <a:latin typeface="Poppins" pitchFamily="34" charset="0"/>
                <a:ea typeface="Poppins" pitchFamily="34" charset="-122"/>
                <a:cs typeface="Poppins" pitchFamily="34" charset="-120"/>
              </a:rPr>
              <a:t>logistique Stocklor</a:t>
            </a:r>
            <a:endParaRPr lang="en-US" sz="850" dirty="0"/>
          </a:p>
        </p:txBody>
      </p:sp>
      <p:sp>
        <p:nvSpPr>
          <p:cNvPr id="11" name="Shape 7"/>
          <p:cNvSpPr/>
          <p:nvPr/>
        </p:nvSpPr>
        <p:spPr>
          <a:xfrm>
            <a:off x="2766060" y="3520440"/>
            <a:ext cx="1645920" cy="914400"/>
          </a:xfrm>
          <a:prstGeom prst="rect">
            <a:avLst/>
          </a:prstGeom>
          <a:solidFill>
            <a:srgbClr val="F7F9FC"/>
          </a:solidFill>
          <a:ln/>
          <a:effectLst>
            <a:outerShdw blurRad="76200" dist="25400" dir="8100000" algn="bl" rotWithShape="0">
              <a:srgbClr val="000000">
                <a:alpha val="6000"/>
              </a:srgbClr>
            </a:outerShdw>
          </a:effectLst>
        </p:spPr>
      </p:sp>
      <p:pic>
        <p:nvPicPr>
          <p:cNvPr id="12" name="Image 2" descr="preencoded.png"/>
          <p:cNvPicPr>
            <a:picLocks noChangeAspect="1"/>
          </p:cNvPicPr>
          <p:nvPr/>
        </p:nvPicPr>
        <p:blipFill>
          <a:blip r:embed="rId5"/>
          <a:stretch>
            <a:fillRect/>
          </a:stretch>
        </p:blipFill>
        <p:spPr>
          <a:xfrm>
            <a:off x="3406140" y="3584448"/>
            <a:ext cx="365760" cy="365760"/>
          </a:xfrm>
          <a:prstGeom prst="rect">
            <a:avLst/>
          </a:prstGeom>
        </p:spPr>
      </p:pic>
      <p:sp>
        <p:nvSpPr>
          <p:cNvPr id="13" name="Text 8"/>
          <p:cNvSpPr/>
          <p:nvPr/>
        </p:nvSpPr>
        <p:spPr>
          <a:xfrm>
            <a:off x="2766060" y="3950208"/>
            <a:ext cx="1645920" cy="228600"/>
          </a:xfrm>
          <a:prstGeom prst="rect">
            <a:avLst/>
          </a:prstGeom>
          <a:noFill/>
          <a:ln/>
        </p:spPr>
        <p:txBody>
          <a:bodyPr wrap="square" lIns="0" tIns="0" rIns="0" bIns="0" rtlCol="0" anchor="ctr"/>
          <a:lstStyle/>
          <a:p>
            <a:pPr marL="0" indent="0" algn="ctr">
              <a:buNone/>
            </a:pPr>
            <a:r>
              <a:rPr lang="en-US" sz="1200" b="1" dirty="0">
                <a:solidFill>
                  <a:srgbClr val="0F172A"/>
                </a:solidFill>
                <a:latin typeface="Poppins" pitchFamily="34" charset="0"/>
                <a:ea typeface="Poppins" pitchFamily="34" charset="-122"/>
                <a:cs typeface="Poppins" pitchFamily="34" charset="-120"/>
              </a:rPr>
              <a:t>MHS</a:t>
            </a:r>
            <a:endParaRPr lang="en-US" sz="1200" dirty="0"/>
          </a:p>
        </p:txBody>
      </p:sp>
      <p:sp>
        <p:nvSpPr>
          <p:cNvPr id="14" name="Text 9"/>
          <p:cNvSpPr/>
          <p:nvPr/>
        </p:nvSpPr>
        <p:spPr>
          <a:xfrm>
            <a:off x="2766060" y="4160520"/>
            <a:ext cx="1645920" cy="228600"/>
          </a:xfrm>
          <a:prstGeom prst="rect">
            <a:avLst/>
          </a:prstGeom>
          <a:noFill/>
          <a:ln/>
        </p:spPr>
        <p:txBody>
          <a:bodyPr wrap="square" lIns="0" tIns="0" rIns="0" bIns="0" rtlCol="0" anchor="ctr"/>
          <a:lstStyle/>
          <a:p>
            <a:pPr marL="0" indent="0" algn="ctr">
              <a:buNone/>
            </a:pPr>
            <a:r>
              <a:rPr lang="en-US" sz="850" dirty="0">
                <a:solidFill>
                  <a:srgbClr val="374151"/>
                </a:solidFill>
                <a:latin typeface="Poppins" pitchFamily="34" charset="0"/>
                <a:ea typeface="Poppins" pitchFamily="34" charset="-122"/>
                <a:cs typeface="Poppins" pitchFamily="34" charset="-120"/>
              </a:rPr>
              <a:t>Maximo WMS</a:t>
            </a:r>
            <a:endParaRPr lang="en-US" sz="850" dirty="0"/>
          </a:p>
        </p:txBody>
      </p:sp>
      <p:sp>
        <p:nvSpPr>
          <p:cNvPr id="15" name="Shape 10"/>
          <p:cNvSpPr/>
          <p:nvPr/>
        </p:nvSpPr>
        <p:spPr>
          <a:xfrm>
            <a:off x="4732020" y="3520440"/>
            <a:ext cx="1645920" cy="914400"/>
          </a:xfrm>
          <a:prstGeom prst="rect">
            <a:avLst/>
          </a:prstGeom>
          <a:solidFill>
            <a:srgbClr val="F7F9FC"/>
          </a:solidFill>
          <a:ln/>
          <a:effectLst>
            <a:outerShdw blurRad="76200" dist="25400" dir="8100000" algn="bl" rotWithShape="0">
              <a:srgbClr val="000000">
                <a:alpha val="6000"/>
              </a:srgbClr>
            </a:outerShdw>
          </a:effectLst>
        </p:spPr>
      </p:sp>
      <p:pic>
        <p:nvPicPr>
          <p:cNvPr id="16" name="Image 3" descr="preencoded.png"/>
          <p:cNvPicPr>
            <a:picLocks noChangeAspect="1"/>
          </p:cNvPicPr>
          <p:nvPr/>
        </p:nvPicPr>
        <p:blipFill>
          <a:blip r:embed="rId6"/>
          <a:stretch>
            <a:fillRect/>
          </a:stretch>
        </p:blipFill>
        <p:spPr>
          <a:xfrm>
            <a:off x="5372100" y="3584448"/>
            <a:ext cx="365760" cy="365760"/>
          </a:xfrm>
          <a:prstGeom prst="rect">
            <a:avLst/>
          </a:prstGeom>
        </p:spPr>
      </p:pic>
      <p:sp>
        <p:nvSpPr>
          <p:cNvPr id="17" name="Text 11"/>
          <p:cNvSpPr/>
          <p:nvPr/>
        </p:nvSpPr>
        <p:spPr>
          <a:xfrm>
            <a:off x="4732020" y="3950208"/>
            <a:ext cx="1645920" cy="228600"/>
          </a:xfrm>
          <a:prstGeom prst="rect">
            <a:avLst/>
          </a:prstGeom>
          <a:noFill/>
          <a:ln/>
        </p:spPr>
        <p:txBody>
          <a:bodyPr wrap="square" lIns="0" tIns="0" rIns="0" bIns="0" rtlCol="0" anchor="ctr"/>
          <a:lstStyle/>
          <a:p>
            <a:pPr marL="0" indent="0" algn="ctr">
              <a:buNone/>
            </a:pPr>
            <a:r>
              <a:rPr lang="en-US" sz="1200" b="1" dirty="0">
                <a:solidFill>
                  <a:srgbClr val="0F172A"/>
                </a:solidFill>
                <a:latin typeface="Poppins" pitchFamily="34" charset="0"/>
                <a:ea typeface="Poppins" pitchFamily="34" charset="-122"/>
                <a:cs typeface="Poppins" pitchFamily="34" charset="-120"/>
              </a:rPr>
              <a:t>API</a:t>
            </a:r>
            <a:endParaRPr lang="en-US" sz="1200" dirty="0"/>
          </a:p>
        </p:txBody>
      </p:sp>
      <p:sp>
        <p:nvSpPr>
          <p:cNvPr id="18" name="Text 12"/>
          <p:cNvSpPr/>
          <p:nvPr/>
        </p:nvSpPr>
        <p:spPr>
          <a:xfrm>
            <a:off x="4732020" y="4160520"/>
            <a:ext cx="1645920" cy="228600"/>
          </a:xfrm>
          <a:prstGeom prst="rect">
            <a:avLst/>
          </a:prstGeom>
          <a:noFill/>
          <a:ln/>
        </p:spPr>
        <p:txBody>
          <a:bodyPr wrap="square" lIns="0" tIns="0" rIns="0" bIns="0" rtlCol="0" anchor="ctr"/>
          <a:lstStyle/>
          <a:p>
            <a:pPr marL="0" indent="0" algn="ctr">
              <a:buNone/>
            </a:pPr>
            <a:r>
              <a:rPr lang="en-US" sz="850" dirty="0">
                <a:solidFill>
                  <a:srgbClr val="374151"/>
                </a:solidFill>
                <a:latin typeface="Poppins" pitchFamily="34" charset="0"/>
                <a:ea typeface="Poppins" pitchFamily="34" charset="-122"/>
                <a:cs typeface="Poppins" pitchFamily="34" charset="-120"/>
              </a:rPr>
              <a:t>intégration REST</a:t>
            </a:r>
            <a:endParaRPr lang="en-US" sz="850" dirty="0"/>
          </a:p>
        </p:txBody>
      </p:sp>
      <p:sp>
        <p:nvSpPr>
          <p:cNvPr id="19" name="Shape 13"/>
          <p:cNvSpPr/>
          <p:nvPr/>
        </p:nvSpPr>
        <p:spPr>
          <a:xfrm>
            <a:off x="6697980" y="3520440"/>
            <a:ext cx="1645920" cy="914400"/>
          </a:xfrm>
          <a:prstGeom prst="rect">
            <a:avLst/>
          </a:prstGeom>
          <a:solidFill>
            <a:srgbClr val="F7F9FC"/>
          </a:solidFill>
          <a:ln/>
          <a:effectLst>
            <a:outerShdw blurRad="76200" dist="25400" dir="8100000" algn="bl" rotWithShape="0">
              <a:srgbClr val="000000">
                <a:alpha val="6000"/>
              </a:srgbClr>
            </a:outerShdw>
          </a:effectLst>
        </p:spPr>
      </p:sp>
      <p:pic>
        <p:nvPicPr>
          <p:cNvPr id="20" name="Image 4" descr="preencoded.png"/>
          <p:cNvPicPr>
            <a:picLocks noChangeAspect="1"/>
          </p:cNvPicPr>
          <p:nvPr/>
        </p:nvPicPr>
        <p:blipFill>
          <a:blip r:embed="rId7"/>
          <a:stretch>
            <a:fillRect/>
          </a:stretch>
        </p:blipFill>
        <p:spPr>
          <a:xfrm>
            <a:off x="7338060" y="3584448"/>
            <a:ext cx="365760" cy="365760"/>
          </a:xfrm>
          <a:prstGeom prst="rect">
            <a:avLst/>
          </a:prstGeom>
        </p:spPr>
      </p:pic>
      <p:sp>
        <p:nvSpPr>
          <p:cNvPr id="21" name="Text 14"/>
          <p:cNvSpPr/>
          <p:nvPr/>
        </p:nvSpPr>
        <p:spPr>
          <a:xfrm>
            <a:off x="6697980" y="3950208"/>
            <a:ext cx="1645920" cy="228600"/>
          </a:xfrm>
          <a:prstGeom prst="rect">
            <a:avLst/>
          </a:prstGeom>
          <a:noFill/>
          <a:ln/>
        </p:spPr>
        <p:txBody>
          <a:bodyPr wrap="square" lIns="0" tIns="0" rIns="0" bIns="0" rtlCol="0" anchor="ctr"/>
          <a:lstStyle/>
          <a:p>
            <a:pPr marL="0" indent="0" algn="ctr">
              <a:buNone/>
            </a:pPr>
            <a:r>
              <a:rPr lang="en-US" sz="1200" b="1" dirty="0">
                <a:solidFill>
                  <a:srgbClr val="0F172A"/>
                </a:solidFill>
                <a:latin typeface="Poppins" pitchFamily="34" charset="0"/>
                <a:ea typeface="Poppins" pitchFamily="34" charset="-122"/>
                <a:cs typeface="Poppins" pitchFamily="34" charset="-120"/>
              </a:rPr>
              <a:t>Temps réel</a:t>
            </a:r>
            <a:endParaRPr lang="en-US" sz="1200" dirty="0"/>
          </a:p>
        </p:txBody>
      </p:sp>
      <p:sp>
        <p:nvSpPr>
          <p:cNvPr id="22" name="Text 15"/>
          <p:cNvSpPr/>
          <p:nvPr/>
        </p:nvSpPr>
        <p:spPr>
          <a:xfrm>
            <a:off x="6697980" y="4160520"/>
            <a:ext cx="1645920" cy="228600"/>
          </a:xfrm>
          <a:prstGeom prst="rect">
            <a:avLst/>
          </a:prstGeom>
          <a:noFill/>
          <a:ln/>
        </p:spPr>
        <p:txBody>
          <a:bodyPr wrap="square" lIns="0" tIns="0" rIns="0" bIns="0" rtlCol="0" anchor="ctr"/>
          <a:lstStyle/>
          <a:p>
            <a:pPr marL="0" indent="0" algn="ctr">
              <a:buNone/>
            </a:pPr>
            <a:r>
              <a:rPr lang="en-US" sz="850" dirty="0">
                <a:solidFill>
                  <a:srgbClr val="374151"/>
                </a:solidFill>
                <a:latin typeface="Poppins" pitchFamily="34" charset="0"/>
                <a:ea typeface="Poppins" pitchFamily="34" charset="-122"/>
                <a:cs typeface="Poppins" pitchFamily="34" charset="-120"/>
              </a:rPr>
              <a:t>synchronisation</a:t>
            </a:r>
            <a:endParaRPr lang="en-US" sz="850" dirty="0"/>
          </a:p>
        </p:txBody>
      </p:sp>
      <p:sp>
        <p:nvSpPr>
          <p:cNvPr id="23" name="Text 16"/>
          <p:cNvSpPr/>
          <p:nvPr/>
        </p:nvSpPr>
        <p:spPr>
          <a:xfrm>
            <a:off x="1828800" y="4754880"/>
            <a:ext cx="5486400" cy="274320"/>
          </a:xfrm>
          <a:prstGeom prst="rect">
            <a:avLst/>
          </a:prstGeom>
          <a:noFill/>
          <a:ln/>
        </p:spPr>
        <p:txBody>
          <a:bodyPr wrap="square" lIns="0" tIns="0" rIns="0" bIns="0" rtlCol="0" anchor="ctr"/>
          <a:lstStyle/>
          <a:p>
            <a:pPr marL="0" indent="0" algn="ctr">
              <a:buNone/>
            </a:pPr>
            <a:r>
              <a:rPr lang="en-US" sz="800" dirty="0">
                <a:solidFill>
                  <a:srgbClr val="9CA3AF"/>
                </a:solidFill>
                <a:latin typeface="Poppins" pitchFamily="34" charset="0"/>
                <a:ea typeface="Poppins" pitchFamily="34" charset="-122"/>
                <a:cs typeface="Poppins" pitchFamily="34" charset="-120"/>
              </a:rPr>
              <a:t>C4RBON Group  |  Projet confidentiel  |  2026</a:t>
            </a:r>
            <a:endParaRPr lang="en-US" sz="800" dirty="0"/>
          </a:p>
        </p:txBody>
      </p:sp>
      <p:sp>
        <p:nvSpPr>
          <p:cNvPr id="24" name="Text 17"/>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28600"/>
            <a:ext cx="8229600" cy="411480"/>
          </a:xfrm>
          <a:prstGeom prst="rect">
            <a:avLst/>
          </a:prstGeom>
          <a:noFill/>
          <a:ln/>
        </p:spPr>
        <p:txBody>
          <a:bodyPr wrap="square" lIns="0" tIns="0" rIns="0" bIns="0" rtlCol="0" anchor="ctr"/>
          <a:lstStyle/>
          <a:p>
            <a:pPr marL="0" indent="0">
              <a:buNone/>
            </a:pPr>
            <a:r>
              <a:rPr lang="en-US" sz="2800" b="1" dirty="0">
                <a:solidFill>
                  <a:srgbClr val="0F172A"/>
                </a:solidFill>
                <a:latin typeface="Poppins" pitchFamily="34" charset="0"/>
                <a:ea typeface="Poppins" pitchFamily="34" charset="-122"/>
                <a:cs typeface="Poppins" pitchFamily="34" charset="-120"/>
              </a:rPr>
              <a:t>Contexte du projet</a:t>
            </a:r>
            <a:endParaRPr lang="en-US" sz="2800" dirty="0"/>
          </a:p>
        </p:txBody>
      </p:sp>
      <p:sp>
        <p:nvSpPr>
          <p:cNvPr id="3" name="Text 1"/>
          <p:cNvSpPr/>
          <p:nvPr/>
        </p:nvSpPr>
        <p:spPr>
          <a:xfrm>
            <a:off x="640080" y="640080"/>
            <a:ext cx="7315200" cy="228600"/>
          </a:xfrm>
          <a:prstGeom prst="rect">
            <a:avLst/>
          </a:prstGeom>
          <a:noFill/>
          <a:ln/>
        </p:spPr>
        <p:txBody>
          <a:bodyPr wrap="square" lIns="0" tIns="0" rIns="0" bIns="0" rtlCol="0" anchor="ctr"/>
          <a:lstStyle/>
          <a:p>
            <a:pPr marL="0" indent="0">
              <a:buNone/>
            </a:pPr>
            <a:r>
              <a:rPr lang="en-US" sz="1100" dirty="0">
                <a:solidFill>
                  <a:srgbClr val="6B7280"/>
                </a:solidFill>
                <a:latin typeface="Poppins" pitchFamily="34" charset="0"/>
                <a:ea typeface="Poppins" pitchFamily="34" charset="-122"/>
                <a:cs typeface="Poppins" pitchFamily="34" charset="-120"/>
              </a:rPr>
              <a:t>Optimisation logistique de la préparation de commandes</a:t>
            </a:r>
            <a:endParaRPr lang="en-US" sz="1100" dirty="0"/>
          </a:p>
        </p:txBody>
      </p:sp>
      <p:sp>
        <p:nvSpPr>
          <p:cNvPr id="4" name="Shape 2"/>
          <p:cNvSpPr/>
          <p:nvPr/>
        </p:nvSpPr>
        <p:spPr>
          <a:xfrm>
            <a:off x="457200" y="1097280"/>
            <a:ext cx="3840480" cy="731520"/>
          </a:xfrm>
          <a:prstGeom prst="rect">
            <a:avLst/>
          </a:prstGeom>
          <a:solidFill>
            <a:srgbClr val="F7F9FC"/>
          </a:solidFill>
          <a:ln/>
          <a:effectLst>
            <a:outerShdw blurRad="76200" dist="25400" dir="8100000" algn="bl" rotWithShape="0">
              <a:srgbClr val="000000">
                <a:alpha val="6000"/>
              </a:srgbClr>
            </a:outerShdw>
          </a:effectLst>
        </p:spPr>
      </p:sp>
      <p:pic>
        <p:nvPicPr>
          <p:cNvPr id="5" name="Image 0" descr="preencoded.png"/>
          <p:cNvPicPr>
            <a:picLocks noChangeAspect="1"/>
          </p:cNvPicPr>
          <p:nvPr/>
        </p:nvPicPr>
        <p:blipFill>
          <a:blip r:embed="rId3"/>
          <a:stretch>
            <a:fillRect/>
          </a:stretch>
        </p:blipFill>
        <p:spPr>
          <a:xfrm>
            <a:off x="640080" y="1234440"/>
            <a:ext cx="457200" cy="457200"/>
          </a:xfrm>
          <a:prstGeom prst="rect">
            <a:avLst/>
          </a:prstGeom>
        </p:spPr>
      </p:pic>
      <p:sp>
        <p:nvSpPr>
          <p:cNvPr id="6" name="Text 3"/>
          <p:cNvSpPr/>
          <p:nvPr/>
        </p:nvSpPr>
        <p:spPr>
          <a:xfrm>
            <a:off x="1234440" y="1097280"/>
            <a:ext cx="2743200" cy="365760"/>
          </a:xfrm>
          <a:prstGeom prst="rect">
            <a:avLst/>
          </a:prstGeom>
          <a:noFill/>
          <a:ln/>
        </p:spPr>
        <p:txBody>
          <a:bodyPr wrap="square" lIns="0" tIns="0" rIns="0" bIns="0" rtlCol="0" anchor="b"/>
          <a:lstStyle/>
          <a:p>
            <a:pPr marL="0" indent="0">
              <a:buNone/>
            </a:pPr>
            <a:r>
              <a:rPr lang="en-US" sz="1300" b="1" dirty="0">
                <a:solidFill>
                  <a:srgbClr val="1E3A5F"/>
                </a:solidFill>
                <a:latin typeface="Poppins" pitchFamily="34" charset="0"/>
                <a:ea typeface="Poppins" pitchFamily="34" charset="-122"/>
                <a:cs typeface="Poppins" pitchFamily="34" charset="-120"/>
              </a:rPr>
              <a:t>Garrett</a:t>
            </a:r>
            <a:endParaRPr lang="en-US" sz="1300" dirty="0"/>
          </a:p>
        </p:txBody>
      </p:sp>
      <p:sp>
        <p:nvSpPr>
          <p:cNvPr id="7" name="Text 4"/>
          <p:cNvSpPr/>
          <p:nvPr/>
        </p:nvSpPr>
        <p:spPr>
          <a:xfrm>
            <a:off x="1234440" y="1463040"/>
            <a:ext cx="2743200" cy="320040"/>
          </a:xfrm>
          <a:prstGeom prst="rect">
            <a:avLst/>
          </a:prstGeom>
          <a:noFill/>
          <a:ln/>
        </p:spPr>
        <p:txBody>
          <a:bodyPr wrap="square" lIns="0" tIns="0" rIns="0" bIns="0" rtlCol="0" anchor="t"/>
          <a:lstStyle/>
          <a:p>
            <a:pPr marL="0" indent="0">
              <a:buNone/>
            </a:pPr>
            <a:r>
              <a:rPr lang="en-US" sz="900" dirty="0">
                <a:solidFill>
                  <a:srgbClr val="374151"/>
                </a:solidFill>
                <a:latin typeface="Poppins" pitchFamily="34" charset="0"/>
                <a:ea typeface="Poppins" pitchFamily="34" charset="-122"/>
                <a:cs typeface="Poppins" pitchFamily="34" charset="-120"/>
              </a:rPr>
              <a:t>Donneur d'ordre – pièces auto turbo</a:t>
            </a:r>
            <a:endParaRPr lang="en-US" sz="900" dirty="0"/>
          </a:p>
        </p:txBody>
      </p:sp>
      <p:sp>
        <p:nvSpPr>
          <p:cNvPr id="8" name="Text 5"/>
          <p:cNvSpPr/>
          <p:nvPr/>
        </p:nvSpPr>
        <p:spPr>
          <a:xfrm>
            <a:off x="2103120" y="1783080"/>
            <a:ext cx="457200" cy="228600"/>
          </a:xfrm>
          <a:prstGeom prst="rect">
            <a:avLst/>
          </a:prstGeom>
          <a:noFill/>
          <a:ln/>
        </p:spPr>
        <p:txBody>
          <a:bodyPr wrap="square" lIns="0" tIns="0" rIns="0" bIns="0" rtlCol="0" anchor="ctr"/>
          <a:lstStyle/>
          <a:p>
            <a:pPr marL="0" indent="0" algn="ctr">
              <a:buNone/>
            </a:pPr>
            <a:r>
              <a:rPr lang="en-US" sz="1000" dirty="0">
                <a:solidFill>
                  <a:srgbClr val="9CA3AF"/>
                </a:solidFill>
                <a:latin typeface="Poppins" pitchFamily="34" charset="0"/>
                <a:ea typeface="Poppins" pitchFamily="34" charset="-122"/>
                <a:cs typeface="Poppins" pitchFamily="34" charset="-120"/>
              </a:rPr>
              <a:t>▼</a:t>
            </a:r>
            <a:endParaRPr lang="en-US" sz="1000" dirty="0"/>
          </a:p>
        </p:txBody>
      </p:sp>
      <p:sp>
        <p:nvSpPr>
          <p:cNvPr id="9" name="Shape 6"/>
          <p:cNvSpPr/>
          <p:nvPr/>
        </p:nvSpPr>
        <p:spPr>
          <a:xfrm>
            <a:off x="457200" y="1965960"/>
            <a:ext cx="3840480" cy="731520"/>
          </a:xfrm>
          <a:prstGeom prst="rect">
            <a:avLst/>
          </a:prstGeom>
          <a:solidFill>
            <a:srgbClr val="F7F9FC"/>
          </a:solidFill>
          <a:ln/>
          <a:effectLst>
            <a:outerShdw blurRad="76200" dist="25400" dir="8100000" algn="bl" rotWithShape="0">
              <a:srgbClr val="000000">
                <a:alpha val="6000"/>
              </a:srgbClr>
            </a:outerShdw>
          </a:effectLst>
        </p:spPr>
      </p:sp>
      <p:pic>
        <p:nvPicPr>
          <p:cNvPr id="10" name="Image 1" descr="preencoded.png"/>
          <p:cNvPicPr>
            <a:picLocks noChangeAspect="1"/>
          </p:cNvPicPr>
          <p:nvPr/>
        </p:nvPicPr>
        <p:blipFill>
          <a:blip r:embed="rId4"/>
          <a:stretch>
            <a:fillRect/>
          </a:stretch>
        </p:blipFill>
        <p:spPr>
          <a:xfrm>
            <a:off x="640080" y="2103120"/>
            <a:ext cx="457200" cy="457200"/>
          </a:xfrm>
          <a:prstGeom prst="rect">
            <a:avLst/>
          </a:prstGeom>
        </p:spPr>
      </p:pic>
      <p:sp>
        <p:nvSpPr>
          <p:cNvPr id="11" name="Text 7"/>
          <p:cNvSpPr/>
          <p:nvPr/>
        </p:nvSpPr>
        <p:spPr>
          <a:xfrm>
            <a:off x="1234440" y="1965960"/>
            <a:ext cx="2743200" cy="365760"/>
          </a:xfrm>
          <a:prstGeom prst="rect">
            <a:avLst/>
          </a:prstGeom>
          <a:noFill/>
          <a:ln/>
        </p:spPr>
        <p:txBody>
          <a:bodyPr wrap="square" lIns="0" tIns="0" rIns="0" bIns="0" rtlCol="0" anchor="b"/>
          <a:lstStyle/>
          <a:p>
            <a:pPr marL="0" indent="0">
              <a:buNone/>
            </a:pPr>
            <a:r>
              <a:rPr lang="en-US" sz="1300" b="1" dirty="0">
                <a:solidFill>
                  <a:srgbClr val="1677FF"/>
                </a:solidFill>
                <a:latin typeface="Poppins" pitchFamily="34" charset="0"/>
                <a:ea typeface="Poppins" pitchFamily="34" charset="-122"/>
                <a:cs typeface="Poppins" pitchFamily="34" charset="-120"/>
              </a:rPr>
              <a:t>Stocklor</a:t>
            </a:r>
            <a:endParaRPr lang="en-US" sz="1300" dirty="0"/>
          </a:p>
        </p:txBody>
      </p:sp>
      <p:sp>
        <p:nvSpPr>
          <p:cNvPr id="12" name="Text 8"/>
          <p:cNvSpPr/>
          <p:nvPr/>
        </p:nvSpPr>
        <p:spPr>
          <a:xfrm>
            <a:off x="1234440" y="2331720"/>
            <a:ext cx="2743200" cy="320040"/>
          </a:xfrm>
          <a:prstGeom prst="rect">
            <a:avLst/>
          </a:prstGeom>
          <a:noFill/>
          <a:ln/>
        </p:spPr>
        <p:txBody>
          <a:bodyPr wrap="square" lIns="0" tIns="0" rIns="0" bIns="0" rtlCol="0" anchor="t"/>
          <a:lstStyle/>
          <a:p>
            <a:pPr marL="0" indent="0">
              <a:buNone/>
            </a:pPr>
            <a:r>
              <a:rPr lang="en-US" sz="900" dirty="0">
                <a:solidFill>
                  <a:srgbClr val="374151"/>
                </a:solidFill>
                <a:latin typeface="Poppins" pitchFamily="34" charset="0"/>
                <a:ea typeface="Poppins" pitchFamily="34" charset="-122"/>
                <a:cs typeface="Poppins" pitchFamily="34" charset="-120"/>
              </a:rPr>
              <a:t>Prestataire logistique – gestion entrepôt</a:t>
            </a:r>
            <a:endParaRPr lang="en-US" sz="900" dirty="0"/>
          </a:p>
        </p:txBody>
      </p:sp>
      <p:sp>
        <p:nvSpPr>
          <p:cNvPr id="13" name="Text 9"/>
          <p:cNvSpPr/>
          <p:nvPr/>
        </p:nvSpPr>
        <p:spPr>
          <a:xfrm>
            <a:off x="2103120" y="2651760"/>
            <a:ext cx="457200" cy="228600"/>
          </a:xfrm>
          <a:prstGeom prst="rect">
            <a:avLst/>
          </a:prstGeom>
          <a:noFill/>
          <a:ln/>
        </p:spPr>
        <p:txBody>
          <a:bodyPr wrap="square" lIns="0" tIns="0" rIns="0" bIns="0" rtlCol="0" anchor="ctr"/>
          <a:lstStyle/>
          <a:p>
            <a:pPr marL="0" indent="0" algn="ctr">
              <a:buNone/>
            </a:pPr>
            <a:r>
              <a:rPr lang="en-US" sz="1000" dirty="0">
                <a:solidFill>
                  <a:srgbClr val="9CA3AF"/>
                </a:solidFill>
                <a:latin typeface="Poppins" pitchFamily="34" charset="0"/>
                <a:ea typeface="Poppins" pitchFamily="34" charset="-122"/>
                <a:cs typeface="Poppins" pitchFamily="34" charset="-120"/>
              </a:rPr>
              <a:t>▼</a:t>
            </a:r>
            <a:endParaRPr lang="en-US" sz="1000" dirty="0"/>
          </a:p>
        </p:txBody>
      </p:sp>
      <p:sp>
        <p:nvSpPr>
          <p:cNvPr id="14" name="Shape 10"/>
          <p:cNvSpPr/>
          <p:nvPr/>
        </p:nvSpPr>
        <p:spPr>
          <a:xfrm>
            <a:off x="457200" y="2834640"/>
            <a:ext cx="3840480" cy="731520"/>
          </a:xfrm>
          <a:prstGeom prst="rect">
            <a:avLst/>
          </a:prstGeom>
          <a:solidFill>
            <a:srgbClr val="F7F9FC"/>
          </a:solidFill>
          <a:ln/>
          <a:effectLst>
            <a:outerShdw blurRad="76200" dist="25400" dir="8100000" algn="bl" rotWithShape="0">
              <a:srgbClr val="000000">
                <a:alpha val="6000"/>
              </a:srgbClr>
            </a:outerShdw>
          </a:effectLst>
        </p:spPr>
      </p:sp>
      <p:pic>
        <p:nvPicPr>
          <p:cNvPr id="15" name="Image 2" descr="preencoded.png"/>
          <p:cNvPicPr>
            <a:picLocks noChangeAspect="1"/>
          </p:cNvPicPr>
          <p:nvPr/>
        </p:nvPicPr>
        <p:blipFill>
          <a:blip r:embed="rId5"/>
          <a:stretch>
            <a:fillRect/>
          </a:stretch>
        </p:blipFill>
        <p:spPr>
          <a:xfrm>
            <a:off x="640080" y="2971800"/>
            <a:ext cx="457200" cy="457200"/>
          </a:xfrm>
          <a:prstGeom prst="rect">
            <a:avLst/>
          </a:prstGeom>
        </p:spPr>
      </p:pic>
      <p:sp>
        <p:nvSpPr>
          <p:cNvPr id="16" name="Text 11"/>
          <p:cNvSpPr/>
          <p:nvPr/>
        </p:nvSpPr>
        <p:spPr>
          <a:xfrm>
            <a:off x="1234440" y="2834640"/>
            <a:ext cx="2743200" cy="365760"/>
          </a:xfrm>
          <a:prstGeom prst="rect">
            <a:avLst/>
          </a:prstGeom>
          <a:noFill/>
          <a:ln/>
        </p:spPr>
        <p:txBody>
          <a:bodyPr wrap="square" lIns="0" tIns="0" rIns="0" bIns="0" rtlCol="0" anchor="b"/>
          <a:lstStyle/>
          <a:p>
            <a:pPr marL="0" indent="0">
              <a:buNone/>
            </a:pPr>
            <a:r>
              <a:rPr lang="en-US" sz="1300" b="1" dirty="0">
                <a:solidFill>
                  <a:srgbClr val="0891B2"/>
                </a:solidFill>
                <a:latin typeface="Poppins" pitchFamily="34" charset="0"/>
                <a:ea typeface="Poppins" pitchFamily="34" charset="-122"/>
                <a:cs typeface="Poppins" pitchFamily="34" charset="-120"/>
              </a:rPr>
              <a:t>MHS </a:t>
            </a:r>
            <a:endParaRPr lang="en-US" sz="1300" dirty="0"/>
          </a:p>
        </p:txBody>
      </p:sp>
      <p:sp>
        <p:nvSpPr>
          <p:cNvPr id="17" name="Text 12"/>
          <p:cNvSpPr/>
          <p:nvPr/>
        </p:nvSpPr>
        <p:spPr>
          <a:xfrm>
            <a:off x="1234440" y="3200400"/>
            <a:ext cx="2743200" cy="320040"/>
          </a:xfrm>
          <a:prstGeom prst="rect">
            <a:avLst/>
          </a:prstGeom>
          <a:noFill/>
          <a:ln/>
        </p:spPr>
        <p:txBody>
          <a:bodyPr wrap="square" lIns="0" tIns="0" rIns="0" bIns="0" rtlCol="0" anchor="t"/>
          <a:lstStyle/>
          <a:p>
            <a:pPr marL="0" indent="0">
              <a:buNone/>
            </a:pPr>
            <a:r>
              <a:rPr lang="en-US" sz="900" dirty="0">
                <a:solidFill>
                  <a:srgbClr val="374151"/>
                </a:solidFill>
                <a:latin typeface="Poppins" pitchFamily="34" charset="0"/>
                <a:ea typeface="Poppins" pitchFamily="34" charset="-122"/>
                <a:cs typeface="Poppins" pitchFamily="34" charset="-120"/>
              </a:rPr>
              <a:t>WMS – système de gestion d'entrepôt</a:t>
            </a:r>
            <a:endParaRPr lang="en-US" sz="900" dirty="0"/>
          </a:p>
        </p:txBody>
      </p:sp>
      <p:sp>
        <p:nvSpPr>
          <p:cNvPr id="18" name="Text 13"/>
          <p:cNvSpPr/>
          <p:nvPr/>
        </p:nvSpPr>
        <p:spPr>
          <a:xfrm>
            <a:off x="2103120" y="3520440"/>
            <a:ext cx="457200" cy="228600"/>
          </a:xfrm>
          <a:prstGeom prst="rect">
            <a:avLst/>
          </a:prstGeom>
          <a:noFill/>
          <a:ln/>
        </p:spPr>
        <p:txBody>
          <a:bodyPr wrap="square" lIns="0" tIns="0" rIns="0" bIns="0" rtlCol="0" anchor="ctr"/>
          <a:lstStyle/>
          <a:p>
            <a:pPr marL="0" indent="0" algn="ctr">
              <a:buNone/>
            </a:pPr>
            <a:r>
              <a:rPr lang="en-US" sz="1000" dirty="0">
                <a:solidFill>
                  <a:srgbClr val="9CA3AF"/>
                </a:solidFill>
                <a:latin typeface="Poppins" pitchFamily="34" charset="0"/>
                <a:ea typeface="Poppins" pitchFamily="34" charset="-122"/>
                <a:cs typeface="Poppins" pitchFamily="34" charset="-120"/>
              </a:rPr>
              <a:t>▼</a:t>
            </a:r>
            <a:endParaRPr lang="en-US" sz="1000" dirty="0"/>
          </a:p>
        </p:txBody>
      </p:sp>
      <p:sp>
        <p:nvSpPr>
          <p:cNvPr id="19" name="Shape 14"/>
          <p:cNvSpPr/>
          <p:nvPr/>
        </p:nvSpPr>
        <p:spPr>
          <a:xfrm>
            <a:off x="457200" y="3703320"/>
            <a:ext cx="3840480" cy="731520"/>
          </a:xfrm>
          <a:prstGeom prst="rect">
            <a:avLst/>
          </a:prstGeom>
          <a:solidFill>
            <a:srgbClr val="F7F9FC"/>
          </a:solidFill>
          <a:ln/>
          <a:effectLst>
            <a:outerShdw blurRad="76200" dist="25400" dir="8100000" algn="bl" rotWithShape="0">
              <a:srgbClr val="000000">
                <a:alpha val="6000"/>
              </a:srgbClr>
            </a:outerShdw>
          </a:effectLst>
        </p:spPr>
      </p:sp>
      <p:pic>
        <p:nvPicPr>
          <p:cNvPr id="20" name="Image 3" descr="preencoded.png"/>
          <p:cNvPicPr>
            <a:picLocks noChangeAspect="1"/>
          </p:cNvPicPr>
          <p:nvPr/>
        </p:nvPicPr>
        <p:blipFill>
          <a:blip r:embed="rId6"/>
          <a:stretch>
            <a:fillRect/>
          </a:stretch>
        </p:blipFill>
        <p:spPr>
          <a:xfrm>
            <a:off x="640080" y="3840480"/>
            <a:ext cx="457200" cy="457200"/>
          </a:xfrm>
          <a:prstGeom prst="rect">
            <a:avLst/>
          </a:prstGeom>
        </p:spPr>
      </p:pic>
      <p:sp>
        <p:nvSpPr>
          <p:cNvPr id="21" name="Text 15"/>
          <p:cNvSpPr/>
          <p:nvPr/>
        </p:nvSpPr>
        <p:spPr>
          <a:xfrm>
            <a:off x="1234440" y="3703320"/>
            <a:ext cx="2743200" cy="365760"/>
          </a:xfrm>
          <a:prstGeom prst="rect">
            <a:avLst/>
          </a:prstGeom>
          <a:noFill/>
          <a:ln/>
        </p:spPr>
        <p:txBody>
          <a:bodyPr wrap="square" lIns="0" tIns="0" rIns="0" bIns="0" rtlCol="0" anchor="b"/>
          <a:lstStyle/>
          <a:p>
            <a:pPr marL="0" indent="0">
              <a:buNone/>
            </a:pPr>
            <a:r>
              <a:rPr lang="en-US" sz="1300" b="1" dirty="0">
                <a:solidFill>
                  <a:srgbClr val="7C3AED"/>
                </a:solidFill>
                <a:latin typeface="Poppins" pitchFamily="34" charset="0"/>
                <a:ea typeface="Poppins" pitchFamily="34" charset="-122"/>
                <a:cs typeface="Poppins" pitchFamily="34" charset="-120"/>
              </a:rPr>
              <a:t>KINN</a:t>
            </a:r>
            <a:endParaRPr lang="en-US" sz="1300" dirty="0"/>
          </a:p>
        </p:txBody>
      </p:sp>
      <p:sp>
        <p:nvSpPr>
          <p:cNvPr id="22" name="Text 16"/>
          <p:cNvSpPr/>
          <p:nvPr/>
        </p:nvSpPr>
        <p:spPr>
          <a:xfrm>
            <a:off x="1234440" y="4069080"/>
            <a:ext cx="2743200" cy="320040"/>
          </a:xfrm>
          <a:prstGeom prst="rect">
            <a:avLst/>
          </a:prstGeom>
          <a:noFill/>
          <a:ln/>
        </p:spPr>
        <p:txBody>
          <a:bodyPr wrap="square" lIns="0" tIns="0" rIns="0" bIns="0" rtlCol="0" anchor="t"/>
          <a:lstStyle/>
          <a:p>
            <a:pPr marL="0" indent="0">
              <a:buNone/>
            </a:pPr>
            <a:r>
              <a:rPr lang="en-US" sz="900" dirty="0">
                <a:solidFill>
                  <a:srgbClr val="374151"/>
                </a:solidFill>
                <a:latin typeface="Poppins" pitchFamily="34" charset="0"/>
                <a:ea typeface="Poppins" pitchFamily="34" charset="-122"/>
                <a:cs typeface="Poppins" pitchFamily="34" charset="-120"/>
              </a:rPr>
              <a:t>Plateforme d'optimisation intelligente</a:t>
            </a:r>
            <a:endParaRPr lang="en-US" sz="900" dirty="0"/>
          </a:p>
        </p:txBody>
      </p:sp>
      <p:sp>
        <p:nvSpPr>
          <p:cNvPr id="23" name="Shape 17"/>
          <p:cNvSpPr/>
          <p:nvPr/>
        </p:nvSpPr>
        <p:spPr>
          <a:xfrm>
            <a:off x="4754880" y="1097280"/>
            <a:ext cx="3931920" cy="3291840"/>
          </a:xfrm>
          <a:prstGeom prst="rect">
            <a:avLst/>
          </a:prstGeom>
          <a:solidFill>
            <a:srgbClr val="EBF5FF"/>
          </a:solidFill>
          <a:ln/>
        </p:spPr>
      </p:sp>
      <p:sp>
        <p:nvSpPr>
          <p:cNvPr id="24" name="Text 18"/>
          <p:cNvSpPr/>
          <p:nvPr/>
        </p:nvSpPr>
        <p:spPr>
          <a:xfrm>
            <a:off x="4937760" y="1188720"/>
            <a:ext cx="3657600" cy="320040"/>
          </a:xfrm>
          <a:prstGeom prst="rect">
            <a:avLst/>
          </a:prstGeom>
          <a:noFill/>
          <a:ln/>
        </p:spPr>
        <p:txBody>
          <a:bodyPr wrap="square" lIns="0" tIns="0" rIns="0" bIns="0" rtlCol="0" anchor="ctr"/>
          <a:lstStyle/>
          <a:p>
            <a:pPr marL="0" indent="0">
              <a:buNone/>
            </a:pPr>
            <a:r>
              <a:rPr lang="en-US" sz="1600" b="1" dirty="0">
                <a:solidFill>
                  <a:srgbClr val="1677FF"/>
                </a:solidFill>
                <a:latin typeface="Poppins" pitchFamily="34" charset="0"/>
                <a:ea typeface="Poppins" pitchFamily="34" charset="-122"/>
                <a:cs typeface="Poppins" pitchFamily="34" charset="-120"/>
              </a:rPr>
              <a:t>Objectif</a:t>
            </a:r>
            <a:endParaRPr lang="en-US" sz="1600" dirty="0"/>
          </a:p>
        </p:txBody>
      </p:sp>
      <p:pic>
        <p:nvPicPr>
          <p:cNvPr id="25" name="Image 4" descr="preencoded.png"/>
          <p:cNvPicPr>
            <a:picLocks noChangeAspect="1"/>
          </p:cNvPicPr>
          <p:nvPr/>
        </p:nvPicPr>
        <p:blipFill>
          <a:blip r:embed="rId7"/>
          <a:stretch>
            <a:fillRect/>
          </a:stretch>
        </p:blipFill>
        <p:spPr>
          <a:xfrm>
            <a:off x="5029200" y="1645920"/>
            <a:ext cx="201168" cy="201168"/>
          </a:xfrm>
          <a:prstGeom prst="rect">
            <a:avLst/>
          </a:prstGeom>
        </p:spPr>
      </p:pic>
      <p:sp>
        <p:nvSpPr>
          <p:cNvPr id="26" name="Text 19"/>
          <p:cNvSpPr/>
          <p:nvPr/>
        </p:nvSpPr>
        <p:spPr>
          <a:xfrm>
            <a:off x="5349240" y="1627632"/>
            <a:ext cx="3154680" cy="457200"/>
          </a:xfrm>
          <a:prstGeom prst="rect">
            <a:avLst/>
          </a:prstGeom>
          <a:noFill/>
          <a:ln/>
        </p:spPr>
        <p:txBody>
          <a:bodyPr wrap="square" lIns="0" tIns="0" rIns="0" bIns="0" rtlCol="0" anchor="t"/>
          <a:lstStyle/>
          <a:p>
            <a:pPr marL="0" indent="0">
              <a:buNone/>
            </a:pPr>
            <a:r>
              <a:rPr lang="en-US" sz="900" dirty="0">
                <a:solidFill>
                  <a:srgbClr val="0F172A"/>
                </a:solidFill>
                <a:latin typeface="Poppins" pitchFamily="34" charset="0"/>
                <a:ea typeface="Poppins" pitchFamily="34" charset="-122"/>
                <a:cs typeface="Poppins" pitchFamily="34" charset="-120"/>
              </a:rPr>
              <a:t>Optimiser la préparation de commandes en regroupant intelligemment les missions</a:t>
            </a:r>
            <a:endParaRPr lang="en-US" sz="900" dirty="0"/>
          </a:p>
        </p:txBody>
      </p:sp>
      <p:pic>
        <p:nvPicPr>
          <p:cNvPr id="27" name="Image 5" descr="preencoded.png"/>
          <p:cNvPicPr>
            <a:picLocks noChangeAspect="1"/>
          </p:cNvPicPr>
          <p:nvPr/>
        </p:nvPicPr>
        <p:blipFill>
          <a:blip r:embed="rId7"/>
          <a:stretch>
            <a:fillRect/>
          </a:stretch>
        </p:blipFill>
        <p:spPr>
          <a:xfrm>
            <a:off x="5029200" y="2148840"/>
            <a:ext cx="201168" cy="201168"/>
          </a:xfrm>
          <a:prstGeom prst="rect">
            <a:avLst/>
          </a:prstGeom>
        </p:spPr>
      </p:pic>
      <p:sp>
        <p:nvSpPr>
          <p:cNvPr id="28" name="Text 20"/>
          <p:cNvSpPr/>
          <p:nvPr/>
        </p:nvSpPr>
        <p:spPr>
          <a:xfrm>
            <a:off x="5349240" y="2130552"/>
            <a:ext cx="3154680" cy="457200"/>
          </a:xfrm>
          <a:prstGeom prst="rect">
            <a:avLst/>
          </a:prstGeom>
          <a:noFill/>
          <a:ln/>
        </p:spPr>
        <p:txBody>
          <a:bodyPr wrap="square" lIns="0" tIns="0" rIns="0" bIns="0" rtlCol="0" anchor="t"/>
          <a:lstStyle/>
          <a:p>
            <a:pPr marL="0" indent="0">
              <a:buNone/>
            </a:pPr>
            <a:r>
              <a:rPr lang="en-US" sz="900" dirty="0">
                <a:solidFill>
                  <a:srgbClr val="0F172A"/>
                </a:solidFill>
                <a:latin typeface="Poppins" pitchFamily="34" charset="0"/>
                <a:ea typeface="Poppins" pitchFamily="34" charset="-122"/>
                <a:cs typeface="Poppins" pitchFamily="34" charset="-120"/>
              </a:rPr>
              <a:t>Réduire les déplacements des caristes et préparateurs dans l'entrepôt</a:t>
            </a:r>
            <a:endParaRPr lang="en-US" sz="900" dirty="0"/>
          </a:p>
        </p:txBody>
      </p:sp>
      <p:pic>
        <p:nvPicPr>
          <p:cNvPr id="29" name="Image 6" descr="preencoded.png"/>
          <p:cNvPicPr>
            <a:picLocks noChangeAspect="1"/>
          </p:cNvPicPr>
          <p:nvPr/>
        </p:nvPicPr>
        <p:blipFill>
          <a:blip r:embed="rId7"/>
          <a:stretch>
            <a:fillRect/>
          </a:stretch>
        </p:blipFill>
        <p:spPr>
          <a:xfrm>
            <a:off x="5029200" y="2651760"/>
            <a:ext cx="201168" cy="201168"/>
          </a:xfrm>
          <a:prstGeom prst="rect">
            <a:avLst/>
          </a:prstGeom>
        </p:spPr>
      </p:pic>
      <p:sp>
        <p:nvSpPr>
          <p:cNvPr id="30" name="Text 21"/>
          <p:cNvSpPr/>
          <p:nvPr/>
        </p:nvSpPr>
        <p:spPr>
          <a:xfrm>
            <a:off x="5349240" y="2633472"/>
            <a:ext cx="3154680" cy="457200"/>
          </a:xfrm>
          <a:prstGeom prst="rect">
            <a:avLst/>
          </a:prstGeom>
          <a:noFill/>
          <a:ln/>
        </p:spPr>
        <p:txBody>
          <a:bodyPr wrap="square" lIns="0" tIns="0" rIns="0" bIns="0" rtlCol="0" anchor="t"/>
          <a:lstStyle/>
          <a:p>
            <a:pPr marL="0" indent="0">
              <a:buNone/>
            </a:pPr>
            <a:r>
              <a:rPr lang="en-US" sz="900" dirty="0">
                <a:solidFill>
                  <a:srgbClr val="0F172A"/>
                </a:solidFill>
                <a:latin typeface="Poppins" pitchFamily="34" charset="0"/>
                <a:ea typeface="Poppins" pitchFamily="34" charset="-122"/>
                <a:cs typeface="Poppins" pitchFamily="34" charset="-120"/>
              </a:rPr>
              <a:t>Interfacer KINN avec MHS pour piloter les slots et alvéoles en temps réel</a:t>
            </a:r>
            <a:endParaRPr lang="en-US" sz="900" dirty="0"/>
          </a:p>
        </p:txBody>
      </p:sp>
      <p:pic>
        <p:nvPicPr>
          <p:cNvPr id="31" name="Image 7" descr="preencoded.png"/>
          <p:cNvPicPr>
            <a:picLocks noChangeAspect="1"/>
          </p:cNvPicPr>
          <p:nvPr/>
        </p:nvPicPr>
        <p:blipFill>
          <a:blip r:embed="rId7"/>
          <a:stretch>
            <a:fillRect/>
          </a:stretch>
        </p:blipFill>
        <p:spPr>
          <a:xfrm>
            <a:off x="5029200" y="3154680"/>
            <a:ext cx="201168" cy="201168"/>
          </a:xfrm>
          <a:prstGeom prst="rect">
            <a:avLst/>
          </a:prstGeom>
        </p:spPr>
      </p:pic>
      <p:sp>
        <p:nvSpPr>
          <p:cNvPr id="32" name="Text 22"/>
          <p:cNvSpPr/>
          <p:nvPr/>
        </p:nvSpPr>
        <p:spPr>
          <a:xfrm>
            <a:off x="5349240" y="3136392"/>
            <a:ext cx="3154680" cy="457200"/>
          </a:xfrm>
          <a:prstGeom prst="rect">
            <a:avLst/>
          </a:prstGeom>
          <a:noFill/>
          <a:ln/>
        </p:spPr>
        <p:txBody>
          <a:bodyPr wrap="square" lIns="0" tIns="0" rIns="0" bIns="0" rtlCol="0" anchor="t"/>
          <a:lstStyle/>
          <a:p>
            <a:pPr marL="0" indent="0">
              <a:buNone/>
            </a:pPr>
            <a:r>
              <a:rPr lang="en-US" sz="900" dirty="0">
                <a:solidFill>
                  <a:srgbClr val="0F172A"/>
                </a:solidFill>
                <a:latin typeface="Poppins" pitchFamily="34" charset="0"/>
                <a:ea typeface="Poppins" pitchFamily="34" charset="-122"/>
                <a:cs typeface="Poppins" pitchFamily="34" charset="-120"/>
              </a:rPr>
              <a:t>Fournir des interfaces tablette (cariste) et scanner (préparateur) connectées</a:t>
            </a:r>
            <a:endParaRPr lang="en-US" sz="900" dirty="0"/>
          </a:p>
        </p:txBody>
      </p:sp>
      <p:pic>
        <p:nvPicPr>
          <p:cNvPr id="33" name="Image 8" descr="preencoded.png"/>
          <p:cNvPicPr>
            <a:picLocks noChangeAspect="1"/>
          </p:cNvPicPr>
          <p:nvPr/>
        </p:nvPicPr>
        <p:blipFill>
          <a:blip r:embed="rId7"/>
          <a:stretch>
            <a:fillRect/>
          </a:stretch>
        </p:blipFill>
        <p:spPr>
          <a:xfrm>
            <a:off x="5029200" y="3657600"/>
            <a:ext cx="201168" cy="201168"/>
          </a:xfrm>
          <a:prstGeom prst="rect">
            <a:avLst/>
          </a:prstGeom>
        </p:spPr>
      </p:pic>
      <p:sp>
        <p:nvSpPr>
          <p:cNvPr id="34" name="Text 23"/>
          <p:cNvSpPr/>
          <p:nvPr/>
        </p:nvSpPr>
        <p:spPr>
          <a:xfrm>
            <a:off x="5349240" y="3639312"/>
            <a:ext cx="3154680" cy="457200"/>
          </a:xfrm>
          <a:prstGeom prst="rect">
            <a:avLst/>
          </a:prstGeom>
          <a:noFill/>
          <a:ln/>
        </p:spPr>
        <p:txBody>
          <a:bodyPr wrap="square" lIns="0" tIns="0" rIns="0" bIns="0" rtlCol="0" anchor="t"/>
          <a:lstStyle/>
          <a:p>
            <a:pPr marL="0" indent="0">
              <a:buNone/>
            </a:pPr>
            <a:r>
              <a:rPr lang="en-US" sz="900" dirty="0">
                <a:solidFill>
                  <a:srgbClr val="0F172A"/>
                </a:solidFill>
                <a:latin typeface="Poppins" pitchFamily="34" charset="0"/>
                <a:ea typeface="Poppins" pitchFamily="34" charset="-122"/>
                <a:cs typeface="Poppins" pitchFamily="34" charset="-120"/>
              </a:rPr>
              <a:t>Automatiser l'assignation des cartons maman et la validation du picking</a:t>
            </a:r>
            <a:endParaRPr lang="en-US" sz="900" dirty="0"/>
          </a:p>
        </p:txBody>
      </p:sp>
      <p:sp>
        <p:nvSpPr>
          <p:cNvPr id="35" name="Text 24"/>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28600"/>
            <a:ext cx="8229600" cy="411480"/>
          </a:xfrm>
          <a:prstGeom prst="rect">
            <a:avLst/>
          </a:prstGeom>
          <a:noFill/>
          <a:ln/>
        </p:spPr>
        <p:txBody>
          <a:bodyPr wrap="square" lIns="0" tIns="0" rIns="0" bIns="0" rtlCol="0" anchor="ctr"/>
          <a:lstStyle/>
          <a:p>
            <a:pPr marL="0" indent="0">
              <a:buNone/>
            </a:pPr>
            <a:r>
              <a:rPr lang="en-US" sz="2600" b="1" dirty="0">
                <a:solidFill>
                  <a:srgbClr val="0F172A"/>
                </a:solidFill>
                <a:latin typeface="Poppins" pitchFamily="34" charset="0"/>
                <a:ea typeface="Poppins" pitchFamily="34" charset="-122"/>
                <a:cs typeface="Poppins" pitchFamily="34" charset="-120"/>
              </a:rPr>
              <a:t>Processus actuel vs. processus cible</a:t>
            </a:r>
            <a:endParaRPr lang="en-US" sz="2600" dirty="0"/>
          </a:p>
        </p:txBody>
      </p:sp>
      <p:sp>
        <p:nvSpPr>
          <p:cNvPr id="3" name="Shape 1"/>
          <p:cNvSpPr/>
          <p:nvPr/>
        </p:nvSpPr>
        <p:spPr>
          <a:xfrm>
            <a:off x="365760" y="868680"/>
            <a:ext cx="4023360" cy="3840480"/>
          </a:xfrm>
          <a:prstGeom prst="rect">
            <a:avLst/>
          </a:prstGeom>
          <a:solidFill>
            <a:srgbClr val="FEF2F2"/>
          </a:solidFill>
          <a:ln/>
        </p:spPr>
      </p:sp>
      <p:sp>
        <p:nvSpPr>
          <p:cNvPr id="4" name="Shape 2"/>
          <p:cNvSpPr/>
          <p:nvPr/>
        </p:nvSpPr>
        <p:spPr>
          <a:xfrm>
            <a:off x="365760" y="868680"/>
            <a:ext cx="4023360" cy="457200"/>
          </a:xfrm>
          <a:prstGeom prst="rect">
            <a:avLst/>
          </a:prstGeom>
          <a:solidFill>
            <a:srgbClr val="EF4444"/>
          </a:solidFill>
          <a:ln/>
        </p:spPr>
      </p:sp>
      <p:sp>
        <p:nvSpPr>
          <p:cNvPr id="5" name="Shape 3"/>
          <p:cNvSpPr/>
          <p:nvPr/>
        </p:nvSpPr>
        <p:spPr>
          <a:xfrm>
            <a:off x="365760" y="1143000"/>
            <a:ext cx="4023360" cy="201168"/>
          </a:xfrm>
          <a:prstGeom prst="rect">
            <a:avLst/>
          </a:prstGeom>
          <a:solidFill>
            <a:srgbClr val="EF4444"/>
          </a:solidFill>
          <a:ln/>
        </p:spPr>
      </p:sp>
      <p:sp>
        <p:nvSpPr>
          <p:cNvPr id="6" name="Text 4"/>
          <p:cNvSpPr/>
          <p:nvPr/>
        </p:nvSpPr>
        <p:spPr>
          <a:xfrm>
            <a:off x="548640" y="886968"/>
            <a:ext cx="3657600" cy="411480"/>
          </a:xfrm>
          <a:prstGeom prst="rect">
            <a:avLst/>
          </a:prstGeom>
          <a:noFill/>
          <a:ln/>
        </p:spPr>
        <p:txBody>
          <a:bodyPr wrap="square" lIns="0" tIns="0" rIns="0" bIns="0" rtlCol="0" anchor="ctr"/>
          <a:lstStyle/>
          <a:p>
            <a:pPr marL="0" indent="0">
              <a:buNone/>
            </a:pPr>
            <a:r>
              <a:rPr lang="en-US" sz="1400" b="1" dirty="0">
                <a:solidFill>
                  <a:srgbClr val="FFFFFF"/>
                </a:solidFill>
                <a:latin typeface="Poppins" pitchFamily="34" charset="0"/>
                <a:ea typeface="Poppins" pitchFamily="34" charset="-122"/>
                <a:cs typeface="Poppins" pitchFamily="34" charset="-120"/>
              </a:rPr>
              <a:t>Aujourd'hui — Slot par slot</a:t>
            </a:r>
            <a:endParaRPr lang="en-US" sz="1400" dirty="0"/>
          </a:p>
        </p:txBody>
      </p:sp>
      <p:sp>
        <p:nvSpPr>
          <p:cNvPr id="7" name="Shape 5"/>
          <p:cNvSpPr/>
          <p:nvPr/>
        </p:nvSpPr>
        <p:spPr>
          <a:xfrm>
            <a:off x="594360" y="1554480"/>
            <a:ext cx="320040" cy="320040"/>
          </a:xfrm>
          <a:prstGeom prst="ellipse">
            <a:avLst/>
          </a:prstGeom>
          <a:solidFill>
            <a:srgbClr val="EF4444"/>
          </a:solidFill>
          <a:ln/>
        </p:spPr>
      </p:sp>
      <p:sp>
        <p:nvSpPr>
          <p:cNvPr id="8" name="Text 6"/>
          <p:cNvSpPr/>
          <p:nvPr/>
        </p:nvSpPr>
        <p:spPr>
          <a:xfrm>
            <a:off x="594360" y="1554480"/>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Poppins" pitchFamily="34" charset="0"/>
                <a:ea typeface="Poppins" pitchFamily="34" charset="-122"/>
                <a:cs typeface="Poppins" pitchFamily="34" charset="-120"/>
              </a:rPr>
              <a:t>1</a:t>
            </a:r>
            <a:endParaRPr lang="en-US" sz="1200" dirty="0"/>
          </a:p>
        </p:txBody>
      </p:sp>
      <p:sp>
        <p:nvSpPr>
          <p:cNvPr id="9" name="Text 7"/>
          <p:cNvSpPr/>
          <p:nvPr/>
        </p:nvSpPr>
        <p:spPr>
          <a:xfrm>
            <a:off x="1051560" y="1508760"/>
            <a:ext cx="3108960" cy="274320"/>
          </a:xfrm>
          <a:prstGeom prst="rect">
            <a:avLst/>
          </a:prstGeom>
          <a:noFill/>
          <a:ln/>
        </p:spPr>
        <p:txBody>
          <a:bodyPr wrap="square" lIns="0" tIns="0" rIns="0" bIns="0" rtlCol="0" anchor="b"/>
          <a:lstStyle/>
          <a:p>
            <a:pPr marL="0" indent="0">
              <a:buNone/>
            </a:pPr>
            <a:r>
              <a:rPr lang="en-US" sz="1050" b="1" dirty="0">
                <a:solidFill>
                  <a:srgbClr val="0F172A"/>
                </a:solidFill>
                <a:latin typeface="Poppins" pitchFamily="34" charset="0"/>
                <a:ea typeface="Poppins" pitchFamily="34" charset="-122"/>
                <a:cs typeface="Poppins" pitchFamily="34" charset="-120"/>
              </a:rPr>
              <a:t>MHS génère un slot de commande</a:t>
            </a:r>
            <a:endParaRPr lang="en-US" sz="1050" dirty="0"/>
          </a:p>
        </p:txBody>
      </p:sp>
      <p:sp>
        <p:nvSpPr>
          <p:cNvPr id="10" name="Text 8"/>
          <p:cNvSpPr/>
          <p:nvPr/>
        </p:nvSpPr>
        <p:spPr>
          <a:xfrm>
            <a:off x="1051560" y="1783080"/>
            <a:ext cx="3108960" cy="228600"/>
          </a:xfrm>
          <a:prstGeom prst="rect">
            <a:avLst/>
          </a:prstGeom>
          <a:noFill/>
          <a:ln/>
        </p:spPr>
        <p:txBody>
          <a:bodyPr wrap="square" lIns="0" tIns="0" rIns="0" bIns="0" rtlCol="0" anchor="t"/>
          <a:lstStyle/>
          <a:p>
            <a:pPr marL="0" indent="0">
              <a:buNone/>
            </a:pPr>
            <a:r>
              <a:rPr lang="en-US" sz="850" dirty="0">
                <a:solidFill>
                  <a:srgbClr val="374151"/>
                </a:solidFill>
                <a:latin typeface="Poppins" pitchFamily="34" charset="0"/>
                <a:ea typeface="Poppins" pitchFamily="34" charset="-122"/>
                <a:cs typeface="Poppins" pitchFamily="34" charset="-120"/>
              </a:rPr>
              <a:t>1 slot = 1 liste de pièces à préparer</a:t>
            </a:r>
            <a:endParaRPr lang="en-US" sz="850" dirty="0"/>
          </a:p>
        </p:txBody>
      </p:sp>
      <p:sp>
        <p:nvSpPr>
          <p:cNvPr id="11" name="Shape 9"/>
          <p:cNvSpPr/>
          <p:nvPr/>
        </p:nvSpPr>
        <p:spPr>
          <a:xfrm>
            <a:off x="594360" y="2267712"/>
            <a:ext cx="320040" cy="320040"/>
          </a:xfrm>
          <a:prstGeom prst="ellipse">
            <a:avLst/>
          </a:prstGeom>
          <a:solidFill>
            <a:srgbClr val="EF4444"/>
          </a:solidFill>
          <a:ln/>
        </p:spPr>
      </p:sp>
      <p:sp>
        <p:nvSpPr>
          <p:cNvPr id="12" name="Text 10"/>
          <p:cNvSpPr/>
          <p:nvPr/>
        </p:nvSpPr>
        <p:spPr>
          <a:xfrm>
            <a:off x="594360" y="2267712"/>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Poppins" pitchFamily="34" charset="0"/>
                <a:ea typeface="Poppins" pitchFamily="34" charset="-122"/>
                <a:cs typeface="Poppins" pitchFamily="34" charset="-120"/>
              </a:rPr>
              <a:t>2</a:t>
            </a:r>
            <a:endParaRPr lang="en-US" sz="1200" dirty="0"/>
          </a:p>
        </p:txBody>
      </p:sp>
      <p:sp>
        <p:nvSpPr>
          <p:cNvPr id="13" name="Text 11"/>
          <p:cNvSpPr/>
          <p:nvPr/>
        </p:nvSpPr>
        <p:spPr>
          <a:xfrm>
            <a:off x="1051560" y="2221992"/>
            <a:ext cx="3108960" cy="274320"/>
          </a:xfrm>
          <a:prstGeom prst="rect">
            <a:avLst/>
          </a:prstGeom>
          <a:noFill/>
          <a:ln/>
        </p:spPr>
        <p:txBody>
          <a:bodyPr wrap="square" lIns="0" tIns="0" rIns="0" bIns="0" rtlCol="0" anchor="b"/>
          <a:lstStyle/>
          <a:p>
            <a:pPr marL="0" indent="0">
              <a:buNone/>
            </a:pPr>
            <a:r>
              <a:rPr lang="en-US" sz="1050" b="1" dirty="0">
                <a:solidFill>
                  <a:srgbClr val="0F172A"/>
                </a:solidFill>
                <a:latin typeface="Poppins" pitchFamily="34" charset="0"/>
                <a:ea typeface="Poppins" pitchFamily="34" charset="-122"/>
                <a:cs typeface="Poppins" pitchFamily="34" charset="-120"/>
              </a:rPr>
              <a:t>Le cariste reçoit le slot</a:t>
            </a:r>
            <a:endParaRPr lang="en-US" sz="1050" dirty="0"/>
          </a:p>
        </p:txBody>
      </p:sp>
      <p:sp>
        <p:nvSpPr>
          <p:cNvPr id="14" name="Text 12"/>
          <p:cNvSpPr/>
          <p:nvPr/>
        </p:nvSpPr>
        <p:spPr>
          <a:xfrm>
            <a:off x="1051560" y="2496312"/>
            <a:ext cx="3108960" cy="228600"/>
          </a:xfrm>
          <a:prstGeom prst="rect">
            <a:avLst/>
          </a:prstGeom>
          <a:noFill/>
          <a:ln/>
        </p:spPr>
        <p:txBody>
          <a:bodyPr wrap="square" lIns="0" tIns="0" rIns="0" bIns="0" rtlCol="0" anchor="t"/>
          <a:lstStyle/>
          <a:p>
            <a:pPr marL="0" indent="0">
              <a:buNone/>
            </a:pPr>
            <a:r>
              <a:rPr lang="en-US" sz="850" dirty="0">
                <a:solidFill>
                  <a:srgbClr val="374151"/>
                </a:solidFill>
                <a:latin typeface="Poppins" pitchFamily="34" charset="0"/>
                <a:ea typeface="Poppins" pitchFamily="34" charset="-122"/>
                <a:cs typeface="Poppins" pitchFamily="34" charset="-120"/>
              </a:rPr>
              <a:t>Déplacement vers la zone de picking</a:t>
            </a:r>
            <a:endParaRPr lang="en-US" sz="850" dirty="0"/>
          </a:p>
        </p:txBody>
      </p:sp>
      <p:sp>
        <p:nvSpPr>
          <p:cNvPr id="15" name="Shape 13"/>
          <p:cNvSpPr/>
          <p:nvPr/>
        </p:nvSpPr>
        <p:spPr>
          <a:xfrm>
            <a:off x="594360" y="2980944"/>
            <a:ext cx="320040" cy="320040"/>
          </a:xfrm>
          <a:prstGeom prst="ellipse">
            <a:avLst/>
          </a:prstGeom>
          <a:solidFill>
            <a:srgbClr val="EF4444"/>
          </a:solidFill>
          <a:ln/>
        </p:spPr>
      </p:sp>
      <p:sp>
        <p:nvSpPr>
          <p:cNvPr id="16" name="Text 14"/>
          <p:cNvSpPr/>
          <p:nvPr/>
        </p:nvSpPr>
        <p:spPr>
          <a:xfrm>
            <a:off x="594360" y="2980944"/>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Poppins" pitchFamily="34" charset="0"/>
                <a:ea typeface="Poppins" pitchFamily="34" charset="-122"/>
                <a:cs typeface="Poppins" pitchFamily="34" charset="-120"/>
              </a:rPr>
              <a:t>3</a:t>
            </a:r>
            <a:endParaRPr lang="en-US" sz="1200" dirty="0"/>
          </a:p>
        </p:txBody>
      </p:sp>
      <p:sp>
        <p:nvSpPr>
          <p:cNvPr id="17" name="Text 15"/>
          <p:cNvSpPr/>
          <p:nvPr/>
        </p:nvSpPr>
        <p:spPr>
          <a:xfrm>
            <a:off x="1051560" y="2935224"/>
            <a:ext cx="3108960" cy="274320"/>
          </a:xfrm>
          <a:prstGeom prst="rect">
            <a:avLst/>
          </a:prstGeom>
          <a:noFill/>
          <a:ln/>
        </p:spPr>
        <p:txBody>
          <a:bodyPr wrap="square" lIns="0" tIns="0" rIns="0" bIns="0" rtlCol="0" anchor="b"/>
          <a:lstStyle/>
          <a:p>
            <a:pPr marL="0" indent="0">
              <a:buNone/>
            </a:pPr>
            <a:r>
              <a:rPr lang="en-US" sz="1050" b="1" dirty="0">
                <a:solidFill>
                  <a:srgbClr val="0F172A"/>
                </a:solidFill>
                <a:latin typeface="Poppins" pitchFamily="34" charset="0"/>
                <a:ea typeface="Poppins" pitchFamily="34" charset="-122"/>
                <a:cs typeface="Poppins" pitchFamily="34" charset="-120"/>
              </a:rPr>
              <a:t>Picking pièce par pièce</a:t>
            </a:r>
            <a:endParaRPr lang="en-US" sz="1050" dirty="0"/>
          </a:p>
        </p:txBody>
      </p:sp>
      <p:sp>
        <p:nvSpPr>
          <p:cNvPr id="18" name="Text 16"/>
          <p:cNvSpPr/>
          <p:nvPr/>
        </p:nvSpPr>
        <p:spPr>
          <a:xfrm>
            <a:off x="1051560" y="3209544"/>
            <a:ext cx="3108960" cy="228600"/>
          </a:xfrm>
          <a:prstGeom prst="rect">
            <a:avLst/>
          </a:prstGeom>
          <a:noFill/>
          <a:ln/>
        </p:spPr>
        <p:txBody>
          <a:bodyPr wrap="square" lIns="0" tIns="0" rIns="0" bIns="0" rtlCol="0" anchor="t"/>
          <a:lstStyle/>
          <a:p>
            <a:pPr marL="0" indent="0">
              <a:buNone/>
            </a:pPr>
            <a:r>
              <a:rPr lang="en-US" sz="850" dirty="0">
                <a:solidFill>
                  <a:srgbClr val="374151"/>
                </a:solidFill>
                <a:latin typeface="Poppins" pitchFamily="34" charset="0"/>
                <a:ea typeface="Poppins" pitchFamily="34" charset="-122"/>
                <a:cs typeface="Poppins" pitchFamily="34" charset="-120"/>
              </a:rPr>
              <a:t>Scanner chaque article individuellement</a:t>
            </a:r>
            <a:endParaRPr lang="en-US" sz="850" dirty="0"/>
          </a:p>
        </p:txBody>
      </p:sp>
      <p:sp>
        <p:nvSpPr>
          <p:cNvPr id="19" name="Shape 17"/>
          <p:cNvSpPr/>
          <p:nvPr/>
        </p:nvSpPr>
        <p:spPr>
          <a:xfrm>
            <a:off x="594360" y="3694176"/>
            <a:ext cx="320040" cy="320040"/>
          </a:xfrm>
          <a:prstGeom prst="ellipse">
            <a:avLst/>
          </a:prstGeom>
          <a:solidFill>
            <a:srgbClr val="EF4444"/>
          </a:solidFill>
          <a:ln/>
        </p:spPr>
      </p:sp>
      <p:sp>
        <p:nvSpPr>
          <p:cNvPr id="20" name="Text 18"/>
          <p:cNvSpPr/>
          <p:nvPr/>
        </p:nvSpPr>
        <p:spPr>
          <a:xfrm>
            <a:off x="594360" y="3694176"/>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Poppins" pitchFamily="34" charset="0"/>
                <a:ea typeface="Poppins" pitchFamily="34" charset="-122"/>
                <a:cs typeface="Poppins" pitchFamily="34" charset="-120"/>
              </a:rPr>
              <a:t>4</a:t>
            </a:r>
            <a:endParaRPr lang="en-US" sz="1200" dirty="0"/>
          </a:p>
        </p:txBody>
      </p:sp>
      <p:sp>
        <p:nvSpPr>
          <p:cNvPr id="21" name="Text 19"/>
          <p:cNvSpPr/>
          <p:nvPr/>
        </p:nvSpPr>
        <p:spPr>
          <a:xfrm>
            <a:off x="1051560" y="3648456"/>
            <a:ext cx="3108960" cy="274320"/>
          </a:xfrm>
          <a:prstGeom prst="rect">
            <a:avLst/>
          </a:prstGeom>
          <a:noFill/>
          <a:ln/>
        </p:spPr>
        <p:txBody>
          <a:bodyPr wrap="square" lIns="0" tIns="0" rIns="0" bIns="0" rtlCol="0" anchor="b"/>
          <a:lstStyle/>
          <a:p>
            <a:pPr marL="0" indent="0">
              <a:buNone/>
            </a:pPr>
            <a:r>
              <a:rPr lang="en-US" sz="1050" b="1" dirty="0">
                <a:solidFill>
                  <a:srgbClr val="0F172A"/>
                </a:solidFill>
                <a:latin typeface="Poppins" pitchFamily="34" charset="0"/>
                <a:ea typeface="Poppins" pitchFamily="34" charset="-122"/>
                <a:cs typeface="Poppins" pitchFamily="34" charset="-120"/>
              </a:rPr>
              <a:t>Retour au point de départ</a:t>
            </a:r>
            <a:endParaRPr lang="en-US" sz="1050" dirty="0"/>
          </a:p>
        </p:txBody>
      </p:sp>
      <p:sp>
        <p:nvSpPr>
          <p:cNvPr id="22" name="Text 20"/>
          <p:cNvSpPr/>
          <p:nvPr/>
        </p:nvSpPr>
        <p:spPr>
          <a:xfrm>
            <a:off x="1051560" y="3922776"/>
            <a:ext cx="3108960" cy="228600"/>
          </a:xfrm>
          <a:prstGeom prst="rect">
            <a:avLst/>
          </a:prstGeom>
          <a:noFill/>
          <a:ln/>
        </p:spPr>
        <p:txBody>
          <a:bodyPr wrap="square" lIns="0" tIns="0" rIns="0" bIns="0" rtlCol="0" anchor="t"/>
          <a:lstStyle/>
          <a:p>
            <a:pPr marL="0" indent="0">
              <a:buNone/>
            </a:pPr>
            <a:r>
              <a:rPr lang="en-US" sz="850" dirty="0">
                <a:solidFill>
                  <a:srgbClr val="374151"/>
                </a:solidFill>
                <a:latin typeface="Poppins" pitchFamily="34" charset="0"/>
                <a:ea typeface="Poppins" pitchFamily="34" charset="-122"/>
                <a:cs typeface="Poppins" pitchFamily="34" charset="-120"/>
              </a:rPr>
              <a:t>Nouveau slot → nouveau déplacement</a:t>
            </a:r>
            <a:endParaRPr lang="en-US" sz="850" dirty="0"/>
          </a:p>
        </p:txBody>
      </p:sp>
      <p:sp>
        <p:nvSpPr>
          <p:cNvPr id="23" name="Shape 21"/>
          <p:cNvSpPr/>
          <p:nvPr/>
        </p:nvSpPr>
        <p:spPr>
          <a:xfrm>
            <a:off x="548640" y="4160520"/>
            <a:ext cx="3657600" cy="411480"/>
          </a:xfrm>
          <a:prstGeom prst="rect">
            <a:avLst/>
          </a:prstGeom>
          <a:solidFill>
            <a:srgbClr val="EF4444"/>
          </a:solidFill>
          <a:ln/>
        </p:spPr>
      </p:sp>
      <p:sp>
        <p:nvSpPr>
          <p:cNvPr id="24" name="Text 22"/>
          <p:cNvSpPr/>
          <p:nvPr/>
        </p:nvSpPr>
        <p:spPr>
          <a:xfrm>
            <a:off x="640080" y="4160520"/>
            <a:ext cx="3474720" cy="411480"/>
          </a:xfrm>
          <a:prstGeom prst="rect">
            <a:avLst/>
          </a:prstGeom>
          <a:noFill/>
          <a:ln/>
        </p:spPr>
        <p:txBody>
          <a:bodyPr wrap="square" lIns="0" tIns="0" rIns="0" bIns="0" rtlCol="0" anchor="ctr"/>
          <a:lstStyle/>
          <a:p>
            <a:pPr marL="0" indent="0" algn="ctr">
              <a:buNone/>
            </a:pPr>
            <a:r>
              <a:rPr lang="en-US" sz="900" b="1" dirty="0">
                <a:solidFill>
                  <a:srgbClr val="FFFFFF"/>
                </a:solidFill>
                <a:latin typeface="Poppins" pitchFamily="34" charset="0"/>
                <a:ea typeface="Poppins" pitchFamily="34" charset="-122"/>
                <a:cs typeface="Poppins" pitchFamily="34" charset="-120"/>
              </a:rPr>
              <a:t>Déplacements redondants, temps perdu, fatigue opérateur</a:t>
            </a:r>
            <a:endParaRPr lang="en-US" sz="900" dirty="0"/>
          </a:p>
        </p:txBody>
      </p:sp>
      <p:sp>
        <p:nvSpPr>
          <p:cNvPr id="25" name="Shape 23"/>
          <p:cNvSpPr/>
          <p:nvPr/>
        </p:nvSpPr>
        <p:spPr>
          <a:xfrm>
            <a:off x="4754880" y="868680"/>
            <a:ext cx="4023360" cy="3840480"/>
          </a:xfrm>
          <a:prstGeom prst="rect">
            <a:avLst/>
          </a:prstGeom>
          <a:solidFill>
            <a:srgbClr val="F0FDF4"/>
          </a:solidFill>
          <a:ln/>
        </p:spPr>
      </p:sp>
      <p:sp>
        <p:nvSpPr>
          <p:cNvPr id="26" name="Shape 24"/>
          <p:cNvSpPr/>
          <p:nvPr/>
        </p:nvSpPr>
        <p:spPr>
          <a:xfrm>
            <a:off x="4754880" y="868680"/>
            <a:ext cx="4023360" cy="457200"/>
          </a:xfrm>
          <a:prstGeom prst="rect">
            <a:avLst/>
          </a:prstGeom>
          <a:solidFill>
            <a:srgbClr val="16A34A"/>
          </a:solidFill>
          <a:ln/>
        </p:spPr>
      </p:sp>
      <p:sp>
        <p:nvSpPr>
          <p:cNvPr id="27" name="Shape 25"/>
          <p:cNvSpPr/>
          <p:nvPr/>
        </p:nvSpPr>
        <p:spPr>
          <a:xfrm>
            <a:off x="4754880" y="1143000"/>
            <a:ext cx="4023360" cy="201168"/>
          </a:xfrm>
          <a:prstGeom prst="rect">
            <a:avLst/>
          </a:prstGeom>
          <a:solidFill>
            <a:srgbClr val="16A34A"/>
          </a:solidFill>
          <a:ln/>
        </p:spPr>
      </p:sp>
      <p:sp>
        <p:nvSpPr>
          <p:cNvPr id="28" name="Text 26"/>
          <p:cNvSpPr/>
          <p:nvPr/>
        </p:nvSpPr>
        <p:spPr>
          <a:xfrm>
            <a:off x="4937760" y="886968"/>
            <a:ext cx="3657600" cy="411480"/>
          </a:xfrm>
          <a:prstGeom prst="rect">
            <a:avLst/>
          </a:prstGeom>
          <a:noFill/>
          <a:ln/>
        </p:spPr>
        <p:txBody>
          <a:bodyPr wrap="square" lIns="0" tIns="0" rIns="0" bIns="0" rtlCol="0" anchor="ctr"/>
          <a:lstStyle/>
          <a:p>
            <a:pPr marL="0" indent="0">
              <a:buNone/>
            </a:pPr>
            <a:r>
              <a:rPr lang="en-US" sz="1400" b="1" dirty="0">
                <a:solidFill>
                  <a:srgbClr val="FFFFFF"/>
                </a:solidFill>
                <a:latin typeface="Poppins" pitchFamily="34" charset="0"/>
                <a:ea typeface="Poppins" pitchFamily="34" charset="-122"/>
                <a:cs typeface="Poppins" pitchFamily="34" charset="-120"/>
              </a:rPr>
              <a:t>Demain — Regroupement intelligent</a:t>
            </a:r>
            <a:endParaRPr lang="en-US" sz="1400" dirty="0"/>
          </a:p>
        </p:txBody>
      </p:sp>
      <p:sp>
        <p:nvSpPr>
          <p:cNvPr id="29" name="Shape 27"/>
          <p:cNvSpPr/>
          <p:nvPr/>
        </p:nvSpPr>
        <p:spPr>
          <a:xfrm>
            <a:off x="4983480" y="1554480"/>
            <a:ext cx="320040" cy="320040"/>
          </a:xfrm>
          <a:prstGeom prst="ellipse">
            <a:avLst/>
          </a:prstGeom>
          <a:solidFill>
            <a:srgbClr val="16A34A"/>
          </a:solidFill>
          <a:ln/>
        </p:spPr>
      </p:sp>
      <p:sp>
        <p:nvSpPr>
          <p:cNvPr id="30" name="Text 28"/>
          <p:cNvSpPr/>
          <p:nvPr/>
        </p:nvSpPr>
        <p:spPr>
          <a:xfrm>
            <a:off x="4983480" y="1554480"/>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Poppins" pitchFamily="34" charset="0"/>
                <a:ea typeface="Poppins" pitchFamily="34" charset="-122"/>
                <a:cs typeface="Poppins" pitchFamily="34" charset="-120"/>
              </a:rPr>
              <a:t>1</a:t>
            </a:r>
            <a:endParaRPr lang="en-US" sz="1200" dirty="0"/>
          </a:p>
        </p:txBody>
      </p:sp>
      <p:sp>
        <p:nvSpPr>
          <p:cNvPr id="31" name="Text 29"/>
          <p:cNvSpPr/>
          <p:nvPr/>
        </p:nvSpPr>
        <p:spPr>
          <a:xfrm>
            <a:off x="5440680" y="1508760"/>
            <a:ext cx="3108960" cy="274320"/>
          </a:xfrm>
          <a:prstGeom prst="rect">
            <a:avLst/>
          </a:prstGeom>
          <a:noFill/>
          <a:ln/>
        </p:spPr>
        <p:txBody>
          <a:bodyPr wrap="square" lIns="0" tIns="0" rIns="0" bIns="0" rtlCol="0" anchor="b"/>
          <a:lstStyle/>
          <a:p>
            <a:pPr marL="0" indent="0">
              <a:buNone/>
            </a:pPr>
            <a:r>
              <a:rPr lang="en-US" sz="1050" b="1" dirty="0">
                <a:solidFill>
                  <a:srgbClr val="0F172A"/>
                </a:solidFill>
                <a:latin typeface="Poppins" pitchFamily="34" charset="0"/>
                <a:ea typeface="Poppins" pitchFamily="34" charset="-122"/>
                <a:cs typeface="Poppins" pitchFamily="34" charset="-120"/>
              </a:rPr>
              <a:t>KINN récupère N slots en attente</a:t>
            </a:r>
            <a:endParaRPr lang="en-US" sz="1050" dirty="0"/>
          </a:p>
        </p:txBody>
      </p:sp>
      <p:sp>
        <p:nvSpPr>
          <p:cNvPr id="32" name="Text 30"/>
          <p:cNvSpPr/>
          <p:nvPr/>
        </p:nvSpPr>
        <p:spPr>
          <a:xfrm>
            <a:off x="5440680" y="1783080"/>
            <a:ext cx="3108960" cy="228600"/>
          </a:xfrm>
          <a:prstGeom prst="rect">
            <a:avLst/>
          </a:prstGeom>
          <a:noFill/>
          <a:ln/>
        </p:spPr>
        <p:txBody>
          <a:bodyPr wrap="square" lIns="0" tIns="0" rIns="0" bIns="0" rtlCol="0" anchor="t"/>
          <a:lstStyle/>
          <a:p>
            <a:pPr marL="0" indent="0">
              <a:buNone/>
            </a:pPr>
            <a:r>
              <a:rPr lang="en-US" sz="850" dirty="0">
                <a:solidFill>
                  <a:srgbClr val="374151"/>
                </a:solidFill>
                <a:latin typeface="Poppins" pitchFamily="34" charset="0"/>
                <a:ea typeface="Poppins" pitchFamily="34" charset="-122"/>
                <a:cs typeface="Poppins" pitchFamily="34" charset="-120"/>
              </a:rPr>
              <a:t>Analyse des zones et alvéoles concernées</a:t>
            </a:r>
            <a:endParaRPr lang="en-US" sz="850" dirty="0"/>
          </a:p>
        </p:txBody>
      </p:sp>
      <p:sp>
        <p:nvSpPr>
          <p:cNvPr id="33" name="Shape 31"/>
          <p:cNvSpPr/>
          <p:nvPr/>
        </p:nvSpPr>
        <p:spPr>
          <a:xfrm>
            <a:off x="4983480" y="2267712"/>
            <a:ext cx="320040" cy="320040"/>
          </a:xfrm>
          <a:prstGeom prst="ellipse">
            <a:avLst/>
          </a:prstGeom>
          <a:solidFill>
            <a:srgbClr val="16A34A"/>
          </a:solidFill>
          <a:ln/>
        </p:spPr>
      </p:sp>
      <p:sp>
        <p:nvSpPr>
          <p:cNvPr id="34" name="Text 32"/>
          <p:cNvSpPr/>
          <p:nvPr/>
        </p:nvSpPr>
        <p:spPr>
          <a:xfrm>
            <a:off x="4983480" y="2267712"/>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Poppins" pitchFamily="34" charset="0"/>
                <a:ea typeface="Poppins" pitchFamily="34" charset="-122"/>
                <a:cs typeface="Poppins" pitchFamily="34" charset="-120"/>
              </a:rPr>
              <a:t>2</a:t>
            </a:r>
            <a:endParaRPr lang="en-US" sz="1200" dirty="0"/>
          </a:p>
        </p:txBody>
      </p:sp>
      <p:sp>
        <p:nvSpPr>
          <p:cNvPr id="35" name="Text 33"/>
          <p:cNvSpPr/>
          <p:nvPr/>
        </p:nvSpPr>
        <p:spPr>
          <a:xfrm>
            <a:off x="5440680" y="2221992"/>
            <a:ext cx="3108960" cy="274320"/>
          </a:xfrm>
          <a:prstGeom prst="rect">
            <a:avLst/>
          </a:prstGeom>
          <a:noFill/>
          <a:ln/>
        </p:spPr>
        <p:txBody>
          <a:bodyPr wrap="square" lIns="0" tIns="0" rIns="0" bIns="0" rtlCol="0" anchor="b"/>
          <a:lstStyle/>
          <a:p>
            <a:pPr marL="0" indent="0">
              <a:buNone/>
            </a:pPr>
            <a:r>
              <a:rPr lang="en-US" sz="1050" b="1" dirty="0">
                <a:solidFill>
                  <a:srgbClr val="0F172A"/>
                </a:solidFill>
                <a:latin typeface="Poppins" pitchFamily="34" charset="0"/>
                <a:ea typeface="Poppins" pitchFamily="34" charset="-122"/>
                <a:cs typeface="Poppins" pitchFamily="34" charset="-120"/>
              </a:rPr>
              <a:t>Regroupement par proximité</a:t>
            </a:r>
            <a:endParaRPr lang="en-US" sz="1050" dirty="0"/>
          </a:p>
        </p:txBody>
      </p:sp>
      <p:sp>
        <p:nvSpPr>
          <p:cNvPr id="36" name="Text 34"/>
          <p:cNvSpPr/>
          <p:nvPr/>
        </p:nvSpPr>
        <p:spPr>
          <a:xfrm>
            <a:off x="5440680" y="2496312"/>
            <a:ext cx="3108960" cy="228600"/>
          </a:xfrm>
          <a:prstGeom prst="rect">
            <a:avLst/>
          </a:prstGeom>
          <a:noFill/>
          <a:ln/>
        </p:spPr>
        <p:txBody>
          <a:bodyPr wrap="square" lIns="0" tIns="0" rIns="0" bIns="0" rtlCol="0" anchor="t"/>
          <a:lstStyle/>
          <a:p>
            <a:pPr marL="0" indent="0">
              <a:buNone/>
            </a:pPr>
            <a:r>
              <a:rPr lang="en-US" sz="850" dirty="0">
                <a:solidFill>
                  <a:srgbClr val="374151"/>
                </a:solidFill>
                <a:latin typeface="Poppins" pitchFamily="34" charset="0"/>
                <a:ea typeface="Poppins" pitchFamily="34" charset="-122"/>
                <a:cs typeface="Poppins" pitchFamily="34" charset="-120"/>
              </a:rPr>
              <a:t>Algorithme d'optimisation géographique</a:t>
            </a:r>
            <a:endParaRPr lang="en-US" sz="850" dirty="0"/>
          </a:p>
        </p:txBody>
      </p:sp>
      <p:sp>
        <p:nvSpPr>
          <p:cNvPr id="37" name="Shape 35"/>
          <p:cNvSpPr/>
          <p:nvPr/>
        </p:nvSpPr>
        <p:spPr>
          <a:xfrm>
            <a:off x="4983480" y="2980944"/>
            <a:ext cx="320040" cy="320040"/>
          </a:xfrm>
          <a:prstGeom prst="ellipse">
            <a:avLst/>
          </a:prstGeom>
          <a:solidFill>
            <a:srgbClr val="16A34A"/>
          </a:solidFill>
          <a:ln/>
        </p:spPr>
      </p:sp>
      <p:sp>
        <p:nvSpPr>
          <p:cNvPr id="38" name="Text 36"/>
          <p:cNvSpPr/>
          <p:nvPr/>
        </p:nvSpPr>
        <p:spPr>
          <a:xfrm>
            <a:off x="4983480" y="2980944"/>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Poppins" pitchFamily="34" charset="0"/>
                <a:ea typeface="Poppins" pitchFamily="34" charset="-122"/>
                <a:cs typeface="Poppins" pitchFamily="34" charset="-120"/>
              </a:rPr>
              <a:t>3</a:t>
            </a:r>
            <a:endParaRPr lang="en-US" sz="1200" dirty="0"/>
          </a:p>
        </p:txBody>
      </p:sp>
      <p:sp>
        <p:nvSpPr>
          <p:cNvPr id="39" name="Text 37"/>
          <p:cNvSpPr/>
          <p:nvPr/>
        </p:nvSpPr>
        <p:spPr>
          <a:xfrm>
            <a:off x="5440680" y="2935224"/>
            <a:ext cx="3108960" cy="274320"/>
          </a:xfrm>
          <a:prstGeom prst="rect">
            <a:avLst/>
          </a:prstGeom>
          <a:noFill/>
          <a:ln/>
        </p:spPr>
        <p:txBody>
          <a:bodyPr wrap="square" lIns="0" tIns="0" rIns="0" bIns="0" rtlCol="0" anchor="b"/>
          <a:lstStyle/>
          <a:p>
            <a:pPr marL="0" indent="0">
              <a:buNone/>
            </a:pPr>
            <a:r>
              <a:rPr lang="en-US" sz="1050" b="1" dirty="0">
                <a:solidFill>
                  <a:srgbClr val="0F172A"/>
                </a:solidFill>
                <a:latin typeface="Poppins" pitchFamily="34" charset="0"/>
                <a:ea typeface="Poppins" pitchFamily="34" charset="-122"/>
                <a:cs typeface="Poppins" pitchFamily="34" charset="-120"/>
              </a:rPr>
              <a:t>Mission groupée au cariste</a:t>
            </a:r>
            <a:endParaRPr lang="en-US" sz="1050" dirty="0"/>
          </a:p>
        </p:txBody>
      </p:sp>
      <p:sp>
        <p:nvSpPr>
          <p:cNvPr id="40" name="Text 38"/>
          <p:cNvSpPr/>
          <p:nvPr/>
        </p:nvSpPr>
        <p:spPr>
          <a:xfrm>
            <a:off x="5440680" y="3209544"/>
            <a:ext cx="3108960" cy="228600"/>
          </a:xfrm>
          <a:prstGeom prst="rect">
            <a:avLst/>
          </a:prstGeom>
          <a:noFill/>
          <a:ln/>
        </p:spPr>
        <p:txBody>
          <a:bodyPr wrap="square" lIns="0" tIns="0" rIns="0" bIns="0" rtlCol="0" anchor="t"/>
          <a:lstStyle/>
          <a:p>
            <a:pPr marL="0" indent="0">
              <a:buNone/>
            </a:pPr>
            <a:r>
              <a:rPr lang="en-US" sz="850" dirty="0">
                <a:solidFill>
                  <a:srgbClr val="374151"/>
                </a:solidFill>
                <a:latin typeface="Poppins" pitchFamily="34" charset="0"/>
                <a:ea typeface="Poppins" pitchFamily="34" charset="-122"/>
                <a:cs typeface="Poppins" pitchFamily="34" charset="-120"/>
              </a:rPr>
              <a:t>1 déplacement = plusieurs commandes</a:t>
            </a:r>
            <a:endParaRPr lang="en-US" sz="850" dirty="0"/>
          </a:p>
        </p:txBody>
      </p:sp>
      <p:sp>
        <p:nvSpPr>
          <p:cNvPr id="41" name="Shape 39"/>
          <p:cNvSpPr/>
          <p:nvPr/>
        </p:nvSpPr>
        <p:spPr>
          <a:xfrm>
            <a:off x="4983480" y="3694176"/>
            <a:ext cx="320040" cy="320040"/>
          </a:xfrm>
          <a:prstGeom prst="ellipse">
            <a:avLst/>
          </a:prstGeom>
          <a:solidFill>
            <a:srgbClr val="16A34A"/>
          </a:solidFill>
          <a:ln/>
        </p:spPr>
      </p:sp>
      <p:sp>
        <p:nvSpPr>
          <p:cNvPr id="42" name="Text 40"/>
          <p:cNvSpPr/>
          <p:nvPr/>
        </p:nvSpPr>
        <p:spPr>
          <a:xfrm>
            <a:off x="4983480" y="3694176"/>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Poppins" pitchFamily="34" charset="0"/>
                <a:ea typeface="Poppins" pitchFamily="34" charset="-122"/>
                <a:cs typeface="Poppins" pitchFamily="34" charset="-120"/>
              </a:rPr>
              <a:t>4</a:t>
            </a:r>
            <a:endParaRPr lang="en-US" sz="1200" dirty="0"/>
          </a:p>
        </p:txBody>
      </p:sp>
      <p:sp>
        <p:nvSpPr>
          <p:cNvPr id="43" name="Text 41"/>
          <p:cNvSpPr/>
          <p:nvPr/>
        </p:nvSpPr>
        <p:spPr>
          <a:xfrm>
            <a:off x="5440680" y="3648456"/>
            <a:ext cx="3108960" cy="274320"/>
          </a:xfrm>
          <a:prstGeom prst="rect">
            <a:avLst/>
          </a:prstGeom>
          <a:noFill/>
          <a:ln/>
        </p:spPr>
        <p:txBody>
          <a:bodyPr wrap="square" lIns="0" tIns="0" rIns="0" bIns="0" rtlCol="0" anchor="b"/>
          <a:lstStyle/>
          <a:p>
            <a:pPr marL="0" indent="0">
              <a:buNone/>
            </a:pPr>
            <a:r>
              <a:rPr lang="en-US" sz="1050" b="1" dirty="0">
                <a:solidFill>
                  <a:srgbClr val="0F172A"/>
                </a:solidFill>
                <a:latin typeface="Poppins" pitchFamily="34" charset="0"/>
                <a:ea typeface="Poppins" pitchFamily="34" charset="-122"/>
                <a:cs typeface="Poppins" pitchFamily="34" charset="-120"/>
              </a:rPr>
              <a:t>Validation consolidée</a:t>
            </a:r>
            <a:endParaRPr lang="en-US" sz="1050" dirty="0"/>
          </a:p>
        </p:txBody>
      </p:sp>
      <p:sp>
        <p:nvSpPr>
          <p:cNvPr id="44" name="Text 42"/>
          <p:cNvSpPr/>
          <p:nvPr/>
        </p:nvSpPr>
        <p:spPr>
          <a:xfrm>
            <a:off x="5440680" y="3922776"/>
            <a:ext cx="3108960" cy="228600"/>
          </a:xfrm>
          <a:prstGeom prst="rect">
            <a:avLst/>
          </a:prstGeom>
          <a:noFill/>
          <a:ln/>
        </p:spPr>
        <p:txBody>
          <a:bodyPr wrap="square" lIns="0" tIns="0" rIns="0" bIns="0" rtlCol="0" anchor="t"/>
          <a:lstStyle/>
          <a:p>
            <a:pPr marL="0" indent="0">
              <a:buNone/>
            </a:pPr>
            <a:r>
              <a:rPr lang="en-US" sz="850" dirty="0">
                <a:solidFill>
                  <a:srgbClr val="374151"/>
                </a:solidFill>
                <a:latin typeface="Poppins" pitchFamily="34" charset="0"/>
                <a:ea typeface="Poppins" pitchFamily="34" charset="-122"/>
                <a:cs typeface="Poppins" pitchFamily="34" charset="-120"/>
              </a:rPr>
              <a:t>Picking optimisé + assignation carton maman</a:t>
            </a:r>
            <a:endParaRPr lang="en-US" sz="850" dirty="0"/>
          </a:p>
        </p:txBody>
      </p:sp>
      <p:sp>
        <p:nvSpPr>
          <p:cNvPr id="45" name="Shape 43"/>
          <p:cNvSpPr/>
          <p:nvPr/>
        </p:nvSpPr>
        <p:spPr>
          <a:xfrm>
            <a:off x="4937760" y="4160520"/>
            <a:ext cx="3657600" cy="411480"/>
          </a:xfrm>
          <a:prstGeom prst="rect">
            <a:avLst/>
          </a:prstGeom>
          <a:solidFill>
            <a:srgbClr val="16A34A"/>
          </a:solidFill>
          <a:ln/>
        </p:spPr>
      </p:sp>
      <p:sp>
        <p:nvSpPr>
          <p:cNvPr id="46" name="Text 44"/>
          <p:cNvSpPr/>
          <p:nvPr/>
        </p:nvSpPr>
        <p:spPr>
          <a:xfrm>
            <a:off x="5029200" y="4160520"/>
            <a:ext cx="3474720" cy="411480"/>
          </a:xfrm>
          <a:prstGeom prst="rect">
            <a:avLst/>
          </a:prstGeom>
          <a:noFill/>
          <a:ln/>
        </p:spPr>
        <p:txBody>
          <a:bodyPr wrap="square" lIns="0" tIns="0" rIns="0" bIns="0" rtlCol="0" anchor="ctr"/>
          <a:lstStyle/>
          <a:p>
            <a:pPr marL="0" indent="0" algn="ctr">
              <a:buNone/>
            </a:pPr>
            <a:r>
              <a:rPr lang="en-US" sz="900" b="1" dirty="0">
                <a:solidFill>
                  <a:srgbClr val="FFFFFF"/>
                </a:solidFill>
                <a:latin typeface="Poppins" pitchFamily="34" charset="0"/>
                <a:ea typeface="Poppins" pitchFamily="34" charset="-122"/>
                <a:cs typeface="Poppins" pitchFamily="34" charset="-120"/>
              </a:rPr>
              <a:t>Moins de trajets, plus de commandes/h, efficacité ×2-3</a:t>
            </a:r>
            <a:endParaRPr lang="en-US" sz="900" dirty="0"/>
          </a:p>
        </p:txBody>
      </p:sp>
      <p:sp>
        <p:nvSpPr>
          <p:cNvPr id="47" name="Text 45"/>
          <p:cNvSpPr/>
          <p:nvPr/>
        </p:nvSpPr>
        <p:spPr>
          <a:xfrm>
            <a:off x="4206240" y="2468880"/>
            <a:ext cx="731520" cy="457200"/>
          </a:xfrm>
          <a:prstGeom prst="rect">
            <a:avLst/>
          </a:prstGeom>
          <a:noFill/>
          <a:ln/>
        </p:spPr>
        <p:txBody>
          <a:bodyPr wrap="square" lIns="0" tIns="0" rIns="0" bIns="0" rtlCol="0" anchor="ctr"/>
          <a:lstStyle/>
          <a:p>
            <a:pPr marL="0" indent="0" algn="ctr">
              <a:buNone/>
            </a:pPr>
            <a:r>
              <a:rPr lang="en-US" sz="2800" b="1" dirty="0">
                <a:solidFill>
                  <a:srgbClr val="1677FF"/>
                </a:solidFill>
                <a:latin typeface="Poppins" pitchFamily="34" charset="0"/>
                <a:ea typeface="Poppins" pitchFamily="34" charset="-122"/>
                <a:cs typeface="Poppins" pitchFamily="34" charset="-120"/>
              </a:rPr>
              <a:t>→</a:t>
            </a:r>
            <a:endParaRPr lang="en-US" sz="2800" dirty="0"/>
          </a:p>
        </p:txBody>
      </p:sp>
      <p:sp>
        <p:nvSpPr>
          <p:cNvPr id="48" name="Text 46"/>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28600"/>
            <a:ext cx="8229600" cy="411480"/>
          </a:xfrm>
          <a:prstGeom prst="rect">
            <a:avLst/>
          </a:prstGeom>
          <a:noFill/>
          <a:ln/>
        </p:spPr>
        <p:txBody>
          <a:bodyPr wrap="square" lIns="0" tIns="0" rIns="0" bIns="0" rtlCol="0" anchor="ctr"/>
          <a:lstStyle/>
          <a:p>
            <a:pPr marL="0" indent="0">
              <a:buNone/>
            </a:pPr>
            <a:r>
              <a:rPr lang="en-US" sz="2800" b="1" dirty="0">
                <a:solidFill>
                  <a:srgbClr val="0F172A"/>
                </a:solidFill>
                <a:latin typeface="Poppins" pitchFamily="34" charset="0"/>
                <a:ea typeface="Poppins" pitchFamily="34" charset="-122"/>
                <a:cs typeface="Poppins" pitchFamily="34" charset="-120"/>
              </a:rPr>
              <a:t>Architecture d'intégration</a:t>
            </a:r>
            <a:endParaRPr lang="en-US" sz="2800" dirty="0"/>
          </a:p>
        </p:txBody>
      </p:sp>
      <p:sp>
        <p:nvSpPr>
          <p:cNvPr id="3" name="Text 1"/>
          <p:cNvSpPr/>
          <p:nvPr/>
        </p:nvSpPr>
        <p:spPr>
          <a:xfrm>
            <a:off x="640080" y="640080"/>
            <a:ext cx="7315200" cy="228600"/>
          </a:xfrm>
          <a:prstGeom prst="rect">
            <a:avLst/>
          </a:prstGeom>
          <a:noFill/>
          <a:ln/>
        </p:spPr>
        <p:txBody>
          <a:bodyPr wrap="square" lIns="0" tIns="0" rIns="0" bIns="0" rtlCol="0" anchor="ctr"/>
          <a:lstStyle/>
          <a:p>
            <a:pPr marL="0" indent="0">
              <a:buNone/>
            </a:pPr>
            <a:r>
              <a:rPr lang="en-US" sz="1100" dirty="0">
                <a:solidFill>
                  <a:srgbClr val="6B7280"/>
                </a:solidFill>
                <a:latin typeface="Poppins" pitchFamily="34" charset="0"/>
                <a:ea typeface="Poppins" pitchFamily="34" charset="-122"/>
                <a:cs typeface="Poppins" pitchFamily="34" charset="-120"/>
              </a:rPr>
              <a:t>Vue d'ensemble des flux de données entre les systèmes</a:t>
            </a:r>
            <a:endParaRPr lang="en-US" sz="1100" dirty="0"/>
          </a:p>
        </p:txBody>
      </p:sp>
      <p:sp>
        <p:nvSpPr>
          <p:cNvPr id="4" name="Shape 2"/>
          <p:cNvSpPr/>
          <p:nvPr/>
        </p:nvSpPr>
        <p:spPr>
          <a:xfrm>
            <a:off x="365760" y="1188720"/>
            <a:ext cx="2377440" cy="3291840"/>
          </a:xfrm>
          <a:prstGeom prst="rect">
            <a:avLst/>
          </a:prstGeom>
          <a:solidFill>
            <a:srgbClr val="E8EFF7"/>
          </a:solidFill>
          <a:ln w="19050">
            <a:solidFill>
              <a:srgbClr val="1E3A5F"/>
            </a:solidFill>
            <a:prstDash val="solid"/>
          </a:ln>
        </p:spPr>
      </p:sp>
      <p:pic>
        <p:nvPicPr>
          <p:cNvPr id="5" name="Image 0" descr="preencoded.png"/>
          <p:cNvPicPr>
            <a:picLocks noChangeAspect="1"/>
          </p:cNvPicPr>
          <p:nvPr/>
        </p:nvPicPr>
        <p:blipFill>
          <a:blip r:embed="rId3"/>
          <a:stretch>
            <a:fillRect/>
          </a:stretch>
        </p:blipFill>
        <p:spPr>
          <a:xfrm>
            <a:off x="1280160" y="1325880"/>
            <a:ext cx="365760" cy="365760"/>
          </a:xfrm>
          <a:prstGeom prst="rect">
            <a:avLst/>
          </a:prstGeom>
        </p:spPr>
      </p:pic>
      <p:sp>
        <p:nvSpPr>
          <p:cNvPr id="6" name="Text 3"/>
          <p:cNvSpPr/>
          <p:nvPr/>
        </p:nvSpPr>
        <p:spPr>
          <a:xfrm>
            <a:off x="457200" y="1737360"/>
            <a:ext cx="2194560" cy="320040"/>
          </a:xfrm>
          <a:prstGeom prst="rect">
            <a:avLst/>
          </a:prstGeom>
          <a:noFill/>
          <a:ln/>
        </p:spPr>
        <p:txBody>
          <a:bodyPr wrap="square" lIns="0" tIns="0" rIns="0" bIns="0" rtlCol="0" anchor="ctr"/>
          <a:lstStyle/>
          <a:p>
            <a:pPr marL="0" indent="0" algn="ctr">
              <a:buNone/>
            </a:pPr>
            <a:r>
              <a:rPr lang="en-US" sz="1400" b="1" dirty="0">
                <a:solidFill>
                  <a:srgbClr val="1E3A5F"/>
                </a:solidFill>
                <a:latin typeface="Poppins" pitchFamily="34" charset="0"/>
                <a:ea typeface="Poppins" pitchFamily="34" charset="-122"/>
                <a:cs typeface="Poppins" pitchFamily="34" charset="-120"/>
              </a:rPr>
              <a:t>MHS </a:t>
            </a:r>
            <a:endParaRPr lang="en-US" sz="1400" dirty="0"/>
          </a:p>
        </p:txBody>
      </p:sp>
      <p:sp>
        <p:nvSpPr>
          <p:cNvPr id="7" name="Shape 4"/>
          <p:cNvSpPr/>
          <p:nvPr/>
        </p:nvSpPr>
        <p:spPr>
          <a:xfrm>
            <a:off x="548640" y="2240280"/>
            <a:ext cx="2011680" cy="365760"/>
          </a:xfrm>
          <a:prstGeom prst="rect">
            <a:avLst/>
          </a:prstGeom>
          <a:solidFill>
            <a:srgbClr val="FFFFFF"/>
          </a:solidFill>
          <a:ln/>
        </p:spPr>
      </p:sp>
      <p:sp>
        <p:nvSpPr>
          <p:cNvPr id="8" name="Text 5"/>
          <p:cNvSpPr/>
          <p:nvPr/>
        </p:nvSpPr>
        <p:spPr>
          <a:xfrm>
            <a:off x="548640" y="2240280"/>
            <a:ext cx="2011680" cy="365760"/>
          </a:xfrm>
          <a:prstGeom prst="rect">
            <a:avLst/>
          </a:prstGeom>
          <a:noFill/>
          <a:ln/>
        </p:spPr>
        <p:txBody>
          <a:bodyPr wrap="square" lIns="0" tIns="0" rIns="0" bIns="0" rtlCol="0" anchor="ctr"/>
          <a:lstStyle/>
          <a:p>
            <a:pPr marL="0" indent="0" algn="ctr">
              <a:buNone/>
            </a:pPr>
            <a:r>
              <a:rPr lang="en-US" sz="900" dirty="0">
                <a:solidFill>
                  <a:srgbClr val="0F172A"/>
                </a:solidFill>
                <a:latin typeface="Poppins" pitchFamily="34" charset="0"/>
                <a:ea typeface="Poppins" pitchFamily="34" charset="-122"/>
                <a:cs typeface="Poppins" pitchFamily="34" charset="-120"/>
              </a:rPr>
              <a:t>Slots de commande</a:t>
            </a:r>
            <a:endParaRPr lang="en-US" sz="900" dirty="0"/>
          </a:p>
        </p:txBody>
      </p:sp>
      <p:sp>
        <p:nvSpPr>
          <p:cNvPr id="9" name="Shape 6"/>
          <p:cNvSpPr/>
          <p:nvPr/>
        </p:nvSpPr>
        <p:spPr>
          <a:xfrm>
            <a:off x="548640" y="2715768"/>
            <a:ext cx="2011680" cy="365760"/>
          </a:xfrm>
          <a:prstGeom prst="rect">
            <a:avLst/>
          </a:prstGeom>
          <a:solidFill>
            <a:srgbClr val="FFFFFF"/>
          </a:solidFill>
          <a:ln/>
        </p:spPr>
      </p:sp>
      <p:sp>
        <p:nvSpPr>
          <p:cNvPr id="10" name="Text 7"/>
          <p:cNvSpPr/>
          <p:nvPr/>
        </p:nvSpPr>
        <p:spPr>
          <a:xfrm>
            <a:off x="548640" y="2715768"/>
            <a:ext cx="2011680" cy="365760"/>
          </a:xfrm>
          <a:prstGeom prst="rect">
            <a:avLst/>
          </a:prstGeom>
          <a:noFill/>
          <a:ln/>
        </p:spPr>
        <p:txBody>
          <a:bodyPr wrap="square" lIns="0" tIns="0" rIns="0" bIns="0" rtlCol="0" anchor="ctr"/>
          <a:lstStyle/>
          <a:p>
            <a:pPr marL="0" indent="0" algn="ctr">
              <a:buNone/>
            </a:pPr>
            <a:r>
              <a:rPr lang="en-US" sz="900" dirty="0">
                <a:solidFill>
                  <a:srgbClr val="0F172A"/>
                </a:solidFill>
                <a:latin typeface="Poppins" pitchFamily="34" charset="0"/>
                <a:ea typeface="Poppins" pitchFamily="34" charset="-122"/>
                <a:cs typeface="Poppins" pitchFamily="34" charset="-120"/>
              </a:rPr>
              <a:t>Alvéoles &amp; stockeurs</a:t>
            </a:r>
            <a:endParaRPr lang="en-US" sz="900" dirty="0"/>
          </a:p>
        </p:txBody>
      </p:sp>
      <p:sp>
        <p:nvSpPr>
          <p:cNvPr id="11" name="Shape 8"/>
          <p:cNvSpPr/>
          <p:nvPr/>
        </p:nvSpPr>
        <p:spPr>
          <a:xfrm>
            <a:off x="548640" y="3191256"/>
            <a:ext cx="2011680" cy="365760"/>
          </a:xfrm>
          <a:prstGeom prst="rect">
            <a:avLst/>
          </a:prstGeom>
          <a:solidFill>
            <a:srgbClr val="FFFFFF"/>
          </a:solidFill>
          <a:ln/>
        </p:spPr>
      </p:sp>
      <p:sp>
        <p:nvSpPr>
          <p:cNvPr id="12" name="Text 9"/>
          <p:cNvSpPr/>
          <p:nvPr/>
        </p:nvSpPr>
        <p:spPr>
          <a:xfrm>
            <a:off x="548640" y="3191256"/>
            <a:ext cx="2011680" cy="365760"/>
          </a:xfrm>
          <a:prstGeom prst="rect">
            <a:avLst/>
          </a:prstGeom>
          <a:noFill/>
          <a:ln/>
        </p:spPr>
        <p:txBody>
          <a:bodyPr wrap="square" lIns="0" tIns="0" rIns="0" bIns="0" rtlCol="0" anchor="ctr"/>
          <a:lstStyle/>
          <a:p>
            <a:pPr marL="0" indent="0" algn="ctr">
              <a:buNone/>
            </a:pPr>
            <a:r>
              <a:rPr lang="en-US" sz="900" dirty="0">
                <a:solidFill>
                  <a:srgbClr val="0F172A"/>
                </a:solidFill>
                <a:latin typeface="Poppins" pitchFamily="34" charset="0"/>
                <a:ea typeface="Poppins" pitchFamily="34" charset="-122"/>
                <a:cs typeface="Poppins" pitchFamily="34" charset="-120"/>
              </a:rPr>
              <a:t>Références articles</a:t>
            </a:r>
            <a:endParaRPr lang="en-US" sz="900" dirty="0"/>
          </a:p>
        </p:txBody>
      </p:sp>
      <p:sp>
        <p:nvSpPr>
          <p:cNvPr id="13" name="Shape 10"/>
          <p:cNvSpPr/>
          <p:nvPr/>
        </p:nvSpPr>
        <p:spPr>
          <a:xfrm>
            <a:off x="548640" y="3666744"/>
            <a:ext cx="2011680" cy="365760"/>
          </a:xfrm>
          <a:prstGeom prst="rect">
            <a:avLst/>
          </a:prstGeom>
          <a:solidFill>
            <a:srgbClr val="FFFFFF"/>
          </a:solidFill>
          <a:ln/>
        </p:spPr>
      </p:sp>
      <p:sp>
        <p:nvSpPr>
          <p:cNvPr id="14" name="Text 11"/>
          <p:cNvSpPr/>
          <p:nvPr/>
        </p:nvSpPr>
        <p:spPr>
          <a:xfrm>
            <a:off x="548640" y="3666744"/>
            <a:ext cx="2011680" cy="365760"/>
          </a:xfrm>
          <a:prstGeom prst="rect">
            <a:avLst/>
          </a:prstGeom>
          <a:noFill/>
          <a:ln/>
        </p:spPr>
        <p:txBody>
          <a:bodyPr wrap="square" lIns="0" tIns="0" rIns="0" bIns="0" rtlCol="0" anchor="ctr"/>
          <a:lstStyle/>
          <a:p>
            <a:pPr marL="0" indent="0" algn="ctr">
              <a:buNone/>
            </a:pPr>
            <a:r>
              <a:rPr lang="en-US" sz="900" dirty="0">
                <a:solidFill>
                  <a:srgbClr val="0F172A"/>
                </a:solidFill>
                <a:latin typeface="Poppins" pitchFamily="34" charset="0"/>
                <a:ea typeface="Poppins" pitchFamily="34" charset="-122"/>
                <a:cs typeface="Poppins" pitchFamily="34" charset="-120"/>
              </a:rPr>
              <a:t>États temps réel</a:t>
            </a:r>
            <a:endParaRPr lang="en-US" sz="900" dirty="0"/>
          </a:p>
        </p:txBody>
      </p:sp>
      <p:sp>
        <p:nvSpPr>
          <p:cNvPr id="15" name="Shape 12"/>
          <p:cNvSpPr/>
          <p:nvPr/>
        </p:nvSpPr>
        <p:spPr>
          <a:xfrm>
            <a:off x="3291840" y="1188720"/>
            <a:ext cx="2560320" cy="3291840"/>
          </a:xfrm>
          <a:prstGeom prst="rect">
            <a:avLst/>
          </a:prstGeom>
          <a:solidFill>
            <a:srgbClr val="EBF5FF"/>
          </a:solidFill>
          <a:ln w="19050">
            <a:solidFill>
              <a:srgbClr val="1677FF"/>
            </a:solidFill>
            <a:prstDash val="solid"/>
          </a:ln>
        </p:spPr>
      </p:sp>
      <p:pic>
        <p:nvPicPr>
          <p:cNvPr id="16" name="Image 1" descr="preencoded.png"/>
          <p:cNvPicPr>
            <a:picLocks noChangeAspect="1"/>
          </p:cNvPicPr>
          <p:nvPr/>
        </p:nvPicPr>
        <p:blipFill>
          <a:blip r:embed="rId4"/>
          <a:stretch>
            <a:fillRect/>
          </a:stretch>
        </p:blipFill>
        <p:spPr>
          <a:xfrm>
            <a:off x="4297680" y="1325880"/>
            <a:ext cx="365760" cy="365760"/>
          </a:xfrm>
          <a:prstGeom prst="rect">
            <a:avLst/>
          </a:prstGeom>
        </p:spPr>
      </p:pic>
      <p:sp>
        <p:nvSpPr>
          <p:cNvPr id="17" name="Text 13"/>
          <p:cNvSpPr/>
          <p:nvPr/>
        </p:nvSpPr>
        <p:spPr>
          <a:xfrm>
            <a:off x="3383280" y="1737360"/>
            <a:ext cx="2377440" cy="320040"/>
          </a:xfrm>
          <a:prstGeom prst="rect">
            <a:avLst/>
          </a:prstGeom>
          <a:noFill/>
          <a:ln/>
        </p:spPr>
        <p:txBody>
          <a:bodyPr wrap="square" lIns="0" tIns="0" rIns="0" bIns="0" rtlCol="0" anchor="ctr"/>
          <a:lstStyle/>
          <a:p>
            <a:pPr marL="0" indent="0" algn="ctr">
              <a:buNone/>
            </a:pPr>
            <a:r>
              <a:rPr lang="en-US" sz="1400" b="1" dirty="0">
                <a:solidFill>
                  <a:srgbClr val="1677FF"/>
                </a:solidFill>
                <a:latin typeface="Poppins" pitchFamily="34" charset="0"/>
                <a:ea typeface="Poppins" pitchFamily="34" charset="-122"/>
                <a:cs typeface="Poppins" pitchFamily="34" charset="-120"/>
              </a:rPr>
              <a:t>KINN</a:t>
            </a:r>
            <a:endParaRPr lang="en-US" sz="1400" dirty="0"/>
          </a:p>
        </p:txBody>
      </p:sp>
      <p:sp>
        <p:nvSpPr>
          <p:cNvPr id="18" name="Shape 14"/>
          <p:cNvSpPr/>
          <p:nvPr/>
        </p:nvSpPr>
        <p:spPr>
          <a:xfrm>
            <a:off x="3474720" y="2240280"/>
            <a:ext cx="2194560" cy="365760"/>
          </a:xfrm>
          <a:prstGeom prst="rect">
            <a:avLst/>
          </a:prstGeom>
          <a:solidFill>
            <a:srgbClr val="FFFFFF"/>
          </a:solidFill>
          <a:ln/>
        </p:spPr>
      </p:sp>
      <p:sp>
        <p:nvSpPr>
          <p:cNvPr id="19" name="Text 15"/>
          <p:cNvSpPr/>
          <p:nvPr/>
        </p:nvSpPr>
        <p:spPr>
          <a:xfrm>
            <a:off x="3474720" y="2240280"/>
            <a:ext cx="2194560" cy="365760"/>
          </a:xfrm>
          <a:prstGeom prst="rect">
            <a:avLst/>
          </a:prstGeom>
          <a:noFill/>
          <a:ln/>
        </p:spPr>
        <p:txBody>
          <a:bodyPr wrap="square" lIns="0" tIns="0" rIns="0" bIns="0" rtlCol="0" anchor="ctr"/>
          <a:lstStyle/>
          <a:p>
            <a:pPr marL="0" indent="0" algn="ctr">
              <a:buNone/>
            </a:pPr>
            <a:r>
              <a:rPr lang="en-US" sz="900" dirty="0">
                <a:solidFill>
                  <a:srgbClr val="0F172A"/>
                </a:solidFill>
                <a:latin typeface="Poppins" pitchFamily="34" charset="0"/>
                <a:ea typeface="Poppins" pitchFamily="34" charset="-122"/>
                <a:cs typeface="Poppins" pitchFamily="34" charset="-120"/>
              </a:rPr>
              <a:t>Moteur d'optimisation</a:t>
            </a:r>
            <a:endParaRPr lang="en-US" sz="900" dirty="0"/>
          </a:p>
        </p:txBody>
      </p:sp>
      <p:sp>
        <p:nvSpPr>
          <p:cNvPr id="20" name="Shape 16"/>
          <p:cNvSpPr/>
          <p:nvPr/>
        </p:nvSpPr>
        <p:spPr>
          <a:xfrm>
            <a:off x="3474720" y="2715768"/>
            <a:ext cx="2194560" cy="365760"/>
          </a:xfrm>
          <a:prstGeom prst="rect">
            <a:avLst/>
          </a:prstGeom>
          <a:solidFill>
            <a:srgbClr val="FFFFFF"/>
          </a:solidFill>
          <a:ln/>
        </p:spPr>
      </p:sp>
      <p:sp>
        <p:nvSpPr>
          <p:cNvPr id="21" name="Text 17"/>
          <p:cNvSpPr/>
          <p:nvPr/>
        </p:nvSpPr>
        <p:spPr>
          <a:xfrm>
            <a:off x="3474720" y="2715768"/>
            <a:ext cx="2194560" cy="365760"/>
          </a:xfrm>
          <a:prstGeom prst="rect">
            <a:avLst/>
          </a:prstGeom>
          <a:noFill/>
          <a:ln/>
        </p:spPr>
        <p:txBody>
          <a:bodyPr wrap="square" lIns="0" tIns="0" rIns="0" bIns="0" rtlCol="0" anchor="ctr"/>
          <a:lstStyle/>
          <a:p>
            <a:pPr marL="0" indent="0" algn="ctr">
              <a:buNone/>
            </a:pPr>
            <a:r>
              <a:rPr lang="en-US" sz="900" dirty="0">
                <a:solidFill>
                  <a:srgbClr val="0F172A"/>
                </a:solidFill>
                <a:latin typeface="Poppins" pitchFamily="34" charset="0"/>
                <a:ea typeface="Poppins" pitchFamily="34" charset="-122"/>
                <a:cs typeface="Poppins" pitchFamily="34" charset="-120"/>
              </a:rPr>
              <a:t>Regroupement missions</a:t>
            </a:r>
            <a:endParaRPr lang="en-US" sz="900" dirty="0"/>
          </a:p>
        </p:txBody>
      </p:sp>
      <p:sp>
        <p:nvSpPr>
          <p:cNvPr id="22" name="Shape 18"/>
          <p:cNvSpPr/>
          <p:nvPr/>
        </p:nvSpPr>
        <p:spPr>
          <a:xfrm>
            <a:off x="3474720" y="3191256"/>
            <a:ext cx="2194560" cy="365760"/>
          </a:xfrm>
          <a:prstGeom prst="rect">
            <a:avLst/>
          </a:prstGeom>
          <a:solidFill>
            <a:srgbClr val="FFFFFF"/>
          </a:solidFill>
          <a:ln/>
        </p:spPr>
      </p:sp>
      <p:sp>
        <p:nvSpPr>
          <p:cNvPr id="23" name="Text 19"/>
          <p:cNvSpPr/>
          <p:nvPr/>
        </p:nvSpPr>
        <p:spPr>
          <a:xfrm>
            <a:off x="3474720" y="3191256"/>
            <a:ext cx="2194560" cy="365760"/>
          </a:xfrm>
          <a:prstGeom prst="rect">
            <a:avLst/>
          </a:prstGeom>
          <a:noFill/>
          <a:ln/>
        </p:spPr>
        <p:txBody>
          <a:bodyPr wrap="square" lIns="0" tIns="0" rIns="0" bIns="0" rtlCol="0" anchor="ctr"/>
          <a:lstStyle/>
          <a:p>
            <a:pPr marL="0" indent="0" algn="ctr">
              <a:buNone/>
            </a:pPr>
            <a:r>
              <a:rPr lang="en-US" sz="900" dirty="0">
                <a:solidFill>
                  <a:srgbClr val="0F172A"/>
                </a:solidFill>
                <a:latin typeface="Poppins" pitchFamily="34" charset="0"/>
                <a:ea typeface="Poppins" pitchFamily="34" charset="-122"/>
                <a:cs typeface="Poppins" pitchFamily="34" charset="-120"/>
              </a:rPr>
              <a:t>Assignation cartons</a:t>
            </a:r>
            <a:endParaRPr lang="en-US" sz="900" dirty="0"/>
          </a:p>
        </p:txBody>
      </p:sp>
      <p:sp>
        <p:nvSpPr>
          <p:cNvPr id="24" name="Shape 20"/>
          <p:cNvSpPr/>
          <p:nvPr/>
        </p:nvSpPr>
        <p:spPr>
          <a:xfrm>
            <a:off x="3474720" y="3666744"/>
            <a:ext cx="2194560" cy="365760"/>
          </a:xfrm>
          <a:prstGeom prst="rect">
            <a:avLst/>
          </a:prstGeom>
          <a:solidFill>
            <a:srgbClr val="FFFFFF"/>
          </a:solidFill>
          <a:ln/>
        </p:spPr>
      </p:sp>
      <p:sp>
        <p:nvSpPr>
          <p:cNvPr id="25" name="Text 21"/>
          <p:cNvSpPr/>
          <p:nvPr/>
        </p:nvSpPr>
        <p:spPr>
          <a:xfrm>
            <a:off x="3474720" y="3666744"/>
            <a:ext cx="2194560" cy="365760"/>
          </a:xfrm>
          <a:prstGeom prst="rect">
            <a:avLst/>
          </a:prstGeom>
          <a:noFill/>
          <a:ln/>
        </p:spPr>
        <p:txBody>
          <a:bodyPr wrap="square" lIns="0" tIns="0" rIns="0" bIns="0" rtlCol="0" anchor="ctr"/>
          <a:lstStyle/>
          <a:p>
            <a:pPr marL="0" indent="0" algn="ctr">
              <a:buNone/>
            </a:pPr>
            <a:r>
              <a:rPr lang="en-US" sz="900" dirty="0">
                <a:solidFill>
                  <a:srgbClr val="0F172A"/>
                </a:solidFill>
                <a:latin typeface="Poppins" pitchFamily="34" charset="0"/>
                <a:ea typeface="Poppins" pitchFamily="34" charset="-122"/>
                <a:cs typeface="Poppins" pitchFamily="34" charset="-120"/>
              </a:rPr>
              <a:t>Validation &amp; suivi</a:t>
            </a:r>
            <a:endParaRPr lang="en-US" sz="900" dirty="0"/>
          </a:p>
        </p:txBody>
      </p:sp>
      <p:sp>
        <p:nvSpPr>
          <p:cNvPr id="26" name="Shape 22"/>
          <p:cNvSpPr/>
          <p:nvPr/>
        </p:nvSpPr>
        <p:spPr>
          <a:xfrm>
            <a:off x="6400800" y="1188720"/>
            <a:ext cx="2377440" cy="3291840"/>
          </a:xfrm>
          <a:prstGeom prst="rect">
            <a:avLst/>
          </a:prstGeom>
          <a:solidFill>
            <a:srgbClr val="F0FDF4"/>
          </a:solidFill>
          <a:ln w="19050">
            <a:solidFill>
              <a:srgbClr val="16A34A"/>
            </a:solidFill>
            <a:prstDash val="solid"/>
          </a:ln>
        </p:spPr>
      </p:sp>
      <p:pic>
        <p:nvPicPr>
          <p:cNvPr id="27" name="Image 2" descr="preencoded.png"/>
          <p:cNvPicPr>
            <a:picLocks noChangeAspect="1"/>
          </p:cNvPicPr>
          <p:nvPr/>
        </p:nvPicPr>
        <p:blipFill>
          <a:blip r:embed="rId5"/>
          <a:stretch>
            <a:fillRect/>
          </a:stretch>
        </p:blipFill>
        <p:spPr>
          <a:xfrm>
            <a:off x="7315200" y="1325880"/>
            <a:ext cx="365760" cy="365760"/>
          </a:xfrm>
          <a:prstGeom prst="rect">
            <a:avLst/>
          </a:prstGeom>
        </p:spPr>
      </p:pic>
      <p:sp>
        <p:nvSpPr>
          <p:cNvPr id="28" name="Text 23"/>
          <p:cNvSpPr/>
          <p:nvPr/>
        </p:nvSpPr>
        <p:spPr>
          <a:xfrm>
            <a:off x="6492240" y="1737360"/>
            <a:ext cx="2194560" cy="320040"/>
          </a:xfrm>
          <a:prstGeom prst="rect">
            <a:avLst/>
          </a:prstGeom>
          <a:noFill/>
          <a:ln/>
        </p:spPr>
        <p:txBody>
          <a:bodyPr wrap="square" lIns="0" tIns="0" rIns="0" bIns="0" rtlCol="0" anchor="ctr"/>
          <a:lstStyle/>
          <a:p>
            <a:pPr marL="0" indent="0" algn="ctr">
              <a:buNone/>
            </a:pPr>
            <a:r>
              <a:rPr lang="en-US" sz="1400" b="1" dirty="0">
                <a:solidFill>
                  <a:srgbClr val="16A34A"/>
                </a:solidFill>
                <a:latin typeface="Poppins" pitchFamily="34" charset="0"/>
                <a:ea typeface="Poppins" pitchFamily="34" charset="-122"/>
                <a:cs typeface="Poppins" pitchFamily="34" charset="-120"/>
              </a:rPr>
              <a:t>Interfaces terrain</a:t>
            </a:r>
            <a:endParaRPr lang="en-US" sz="1400" dirty="0"/>
          </a:p>
        </p:txBody>
      </p:sp>
      <p:sp>
        <p:nvSpPr>
          <p:cNvPr id="29" name="Shape 24"/>
          <p:cNvSpPr/>
          <p:nvPr/>
        </p:nvSpPr>
        <p:spPr>
          <a:xfrm>
            <a:off x="6583680" y="2240280"/>
            <a:ext cx="2011680" cy="365760"/>
          </a:xfrm>
          <a:prstGeom prst="rect">
            <a:avLst/>
          </a:prstGeom>
          <a:solidFill>
            <a:srgbClr val="FFFFFF"/>
          </a:solidFill>
          <a:ln/>
        </p:spPr>
      </p:sp>
      <p:sp>
        <p:nvSpPr>
          <p:cNvPr id="30" name="Text 25"/>
          <p:cNvSpPr/>
          <p:nvPr/>
        </p:nvSpPr>
        <p:spPr>
          <a:xfrm>
            <a:off x="6583680" y="2240280"/>
            <a:ext cx="2011680" cy="365760"/>
          </a:xfrm>
          <a:prstGeom prst="rect">
            <a:avLst/>
          </a:prstGeom>
          <a:noFill/>
          <a:ln/>
        </p:spPr>
        <p:txBody>
          <a:bodyPr wrap="square" lIns="0" tIns="0" rIns="0" bIns="0" rtlCol="0" anchor="ctr"/>
          <a:lstStyle/>
          <a:p>
            <a:pPr marL="0" indent="0" algn="ctr">
              <a:buNone/>
            </a:pPr>
            <a:r>
              <a:rPr lang="en-US" sz="900" dirty="0">
                <a:solidFill>
                  <a:srgbClr val="0F172A"/>
                </a:solidFill>
                <a:latin typeface="Poppins" pitchFamily="34" charset="0"/>
                <a:ea typeface="Poppins" pitchFamily="34" charset="-122"/>
                <a:cs typeface="Poppins" pitchFamily="34" charset="-120"/>
              </a:rPr>
              <a:t>Tablette cariste</a:t>
            </a:r>
            <a:endParaRPr lang="en-US" sz="900" dirty="0"/>
          </a:p>
        </p:txBody>
      </p:sp>
      <p:sp>
        <p:nvSpPr>
          <p:cNvPr id="31" name="Shape 26"/>
          <p:cNvSpPr/>
          <p:nvPr/>
        </p:nvSpPr>
        <p:spPr>
          <a:xfrm>
            <a:off x="6583680" y="2715768"/>
            <a:ext cx="2011680" cy="365760"/>
          </a:xfrm>
          <a:prstGeom prst="rect">
            <a:avLst/>
          </a:prstGeom>
          <a:solidFill>
            <a:srgbClr val="FFFFFF"/>
          </a:solidFill>
          <a:ln/>
        </p:spPr>
      </p:sp>
      <p:sp>
        <p:nvSpPr>
          <p:cNvPr id="32" name="Text 27"/>
          <p:cNvSpPr/>
          <p:nvPr/>
        </p:nvSpPr>
        <p:spPr>
          <a:xfrm>
            <a:off x="6583680" y="2715768"/>
            <a:ext cx="2011680" cy="365760"/>
          </a:xfrm>
          <a:prstGeom prst="rect">
            <a:avLst/>
          </a:prstGeom>
          <a:noFill/>
          <a:ln/>
        </p:spPr>
        <p:txBody>
          <a:bodyPr wrap="square" lIns="0" tIns="0" rIns="0" bIns="0" rtlCol="0" anchor="ctr"/>
          <a:lstStyle/>
          <a:p>
            <a:pPr marL="0" indent="0" algn="ctr">
              <a:buNone/>
            </a:pPr>
            <a:r>
              <a:rPr lang="en-US" sz="900" dirty="0">
                <a:solidFill>
                  <a:srgbClr val="0F172A"/>
                </a:solidFill>
                <a:latin typeface="Poppins" pitchFamily="34" charset="0"/>
                <a:ea typeface="Poppins" pitchFamily="34" charset="-122"/>
                <a:cs typeface="Poppins" pitchFamily="34" charset="-120"/>
              </a:rPr>
              <a:t>Scanner préparateur</a:t>
            </a:r>
            <a:endParaRPr lang="en-US" sz="900" dirty="0"/>
          </a:p>
        </p:txBody>
      </p:sp>
      <p:sp>
        <p:nvSpPr>
          <p:cNvPr id="33" name="Shape 28"/>
          <p:cNvSpPr/>
          <p:nvPr/>
        </p:nvSpPr>
        <p:spPr>
          <a:xfrm>
            <a:off x="6583680" y="3191256"/>
            <a:ext cx="2011680" cy="365760"/>
          </a:xfrm>
          <a:prstGeom prst="rect">
            <a:avLst/>
          </a:prstGeom>
          <a:solidFill>
            <a:srgbClr val="FFFFFF"/>
          </a:solidFill>
          <a:ln/>
        </p:spPr>
      </p:sp>
      <p:sp>
        <p:nvSpPr>
          <p:cNvPr id="34" name="Text 29"/>
          <p:cNvSpPr/>
          <p:nvPr/>
        </p:nvSpPr>
        <p:spPr>
          <a:xfrm>
            <a:off x="6583680" y="3191256"/>
            <a:ext cx="2011680" cy="365760"/>
          </a:xfrm>
          <a:prstGeom prst="rect">
            <a:avLst/>
          </a:prstGeom>
          <a:noFill/>
          <a:ln/>
        </p:spPr>
        <p:txBody>
          <a:bodyPr wrap="square" lIns="0" tIns="0" rIns="0" bIns="0" rtlCol="0" anchor="ctr"/>
          <a:lstStyle/>
          <a:p>
            <a:pPr marL="0" indent="0" algn="ctr">
              <a:buNone/>
            </a:pPr>
            <a:r>
              <a:rPr lang="en-US" sz="900" dirty="0">
                <a:solidFill>
                  <a:srgbClr val="0F172A"/>
                </a:solidFill>
                <a:latin typeface="Poppins" pitchFamily="34" charset="0"/>
                <a:ea typeface="Poppins" pitchFamily="34" charset="-122"/>
                <a:cs typeface="Poppins" pitchFamily="34" charset="-120"/>
              </a:rPr>
              <a:t>Dashboard superviseur</a:t>
            </a:r>
            <a:endParaRPr lang="en-US" sz="900" dirty="0"/>
          </a:p>
        </p:txBody>
      </p:sp>
      <p:sp>
        <p:nvSpPr>
          <p:cNvPr id="35" name="Shape 30"/>
          <p:cNvSpPr/>
          <p:nvPr/>
        </p:nvSpPr>
        <p:spPr>
          <a:xfrm>
            <a:off x="6583680" y="3666744"/>
            <a:ext cx="2011680" cy="365760"/>
          </a:xfrm>
          <a:prstGeom prst="rect">
            <a:avLst/>
          </a:prstGeom>
          <a:solidFill>
            <a:srgbClr val="FFFFFF"/>
          </a:solidFill>
          <a:ln/>
        </p:spPr>
      </p:sp>
      <p:sp>
        <p:nvSpPr>
          <p:cNvPr id="36" name="Text 31"/>
          <p:cNvSpPr/>
          <p:nvPr/>
        </p:nvSpPr>
        <p:spPr>
          <a:xfrm>
            <a:off x="6583680" y="3666744"/>
            <a:ext cx="2011680" cy="365760"/>
          </a:xfrm>
          <a:prstGeom prst="rect">
            <a:avLst/>
          </a:prstGeom>
          <a:noFill/>
          <a:ln/>
        </p:spPr>
        <p:txBody>
          <a:bodyPr wrap="square" lIns="0" tIns="0" rIns="0" bIns="0" rtlCol="0" anchor="ctr"/>
          <a:lstStyle/>
          <a:p>
            <a:pPr marL="0" indent="0" algn="ctr">
              <a:buNone/>
            </a:pPr>
            <a:r>
              <a:rPr lang="en-US" sz="900" dirty="0">
                <a:solidFill>
                  <a:srgbClr val="0F172A"/>
                </a:solidFill>
                <a:latin typeface="Poppins" pitchFamily="34" charset="0"/>
                <a:ea typeface="Poppins" pitchFamily="34" charset="-122"/>
                <a:cs typeface="Poppins" pitchFamily="34" charset="-120"/>
              </a:rPr>
              <a:t>Alertes temps réel</a:t>
            </a:r>
            <a:endParaRPr lang="en-US" sz="900" dirty="0"/>
          </a:p>
        </p:txBody>
      </p:sp>
      <p:sp>
        <p:nvSpPr>
          <p:cNvPr id="37" name="Text 32"/>
          <p:cNvSpPr/>
          <p:nvPr/>
        </p:nvSpPr>
        <p:spPr>
          <a:xfrm>
            <a:off x="2651760" y="2011680"/>
            <a:ext cx="731520" cy="228600"/>
          </a:xfrm>
          <a:prstGeom prst="rect">
            <a:avLst/>
          </a:prstGeom>
          <a:noFill/>
          <a:ln/>
        </p:spPr>
        <p:txBody>
          <a:bodyPr wrap="square" lIns="0" tIns="0" rIns="0" bIns="0" rtlCol="0" anchor="ctr"/>
          <a:lstStyle/>
          <a:p>
            <a:pPr marL="0" indent="0" algn="ctr">
              <a:buNone/>
            </a:pPr>
            <a:r>
              <a:rPr lang="en-US" sz="700" b="1" dirty="0">
                <a:solidFill>
                  <a:srgbClr val="1677FF"/>
                </a:solidFill>
                <a:latin typeface="Poppins" pitchFamily="34" charset="0"/>
                <a:ea typeface="Poppins" pitchFamily="34" charset="-122"/>
                <a:cs typeface="Poppins" pitchFamily="34" charset="-120"/>
              </a:rPr>
              <a:t>API REST</a:t>
            </a:r>
            <a:endParaRPr lang="en-US" sz="700" dirty="0"/>
          </a:p>
        </p:txBody>
      </p:sp>
      <p:sp>
        <p:nvSpPr>
          <p:cNvPr id="38" name="Shape 33"/>
          <p:cNvSpPr/>
          <p:nvPr/>
        </p:nvSpPr>
        <p:spPr>
          <a:xfrm>
            <a:off x="2788920" y="2651760"/>
            <a:ext cx="457200" cy="0"/>
          </a:xfrm>
          <a:prstGeom prst="line">
            <a:avLst/>
          </a:prstGeom>
          <a:noFill/>
          <a:ln w="25400">
            <a:solidFill>
              <a:srgbClr val="1677FF"/>
            </a:solidFill>
            <a:prstDash val="dash"/>
            <a:tailEnd type="triangle"/>
          </a:ln>
        </p:spPr>
      </p:sp>
      <p:sp>
        <p:nvSpPr>
          <p:cNvPr id="39" name="Shape 34"/>
          <p:cNvSpPr/>
          <p:nvPr/>
        </p:nvSpPr>
        <p:spPr>
          <a:xfrm>
            <a:off x="2788920" y="3108960"/>
            <a:ext cx="457200" cy="0"/>
          </a:xfrm>
          <a:prstGeom prst="line">
            <a:avLst/>
          </a:prstGeom>
          <a:noFill/>
          <a:ln w="25400">
            <a:solidFill>
              <a:srgbClr val="EA580C"/>
            </a:solidFill>
            <a:prstDash val="solid"/>
            <a:tailEnd type="triangle"/>
          </a:ln>
        </p:spPr>
      </p:sp>
      <p:sp>
        <p:nvSpPr>
          <p:cNvPr id="40" name="Text 35"/>
          <p:cNvSpPr/>
          <p:nvPr/>
        </p:nvSpPr>
        <p:spPr>
          <a:xfrm>
            <a:off x="2697480" y="2423160"/>
            <a:ext cx="640080" cy="182880"/>
          </a:xfrm>
          <a:prstGeom prst="rect">
            <a:avLst/>
          </a:prstGeom>
          <a:noFill/>
          <a:ln/>
        </p:spPr>
        <p:txBody>
          <a:bodyPr wrap="square" lIns="0" tIns="0" rIns="0" bIns="0" rtlCol="0" anchor="ctr"/>
          <a:lstStyle/>
          <a:p>
            <a:pPr marL="0" indent="0" algn="ctr">
              <a:buNone/>
            </a:pPr>
            <a:r>
              <a:rPr lang="en-US" sz="650" dirty="0">
                <a:solidFill>
                  <a:srgbClr val="1677FF"/>
                </a:solidFill>
                <a:latin typeface="Poppins" pitchFamily="34" charset="0"/>
                <a:ea typeface="Poppins" pitchFamily="34" charset="-122"/>
                <a:cs typeface="Poppins" pitchFamily="34" charset="-120"/>
              </a:rPr>
              <a:t>GET</a:t>
            </a:r>
            <a:endParaRPr lang="en-US" sz="650" dirty="0"/>
          </a:p>
        </p:txBody>
      </p:sp>
      <p:sp>
        <p:nvSpPr>
          <p:cNvPr id="41" name="Text 36"/>
          <p:cNvSpPr/>
          <p:nvPr/>
        </p:nvSpPr>
        <p:spPr>
          <a:xfrm>
            <a:off x="2697480" y="3154680"/>
            <a:ext cx="640080" cy="182880"/>
          </a:xfrm>
          <a:prstGeom prst="rect">
            <a:avLst/>
          </a:prstGeom>
          <a:noFill/>
          <a:ln/>
        </p:spPr>
        <p:txBody>
          <a:bodyPr wrap="square" lIns="0" tIns="0" rIns="0" bIns="0" rtlCol="0" anchor="ctr"/>
          <a:lstStyle/>
          <a:p>
            <a:pPr marL="0" indent="0" algn="ctr">
              <a:buNone/>
            </a:pPr>
            <a:r>
              <a:rPr lang="en-US" sz="650" dirty="0">
                <a:solidFill>
                  <a:srgbClr val="EA580C"/>
                </a:solidFill>
                <a:latin typeface="Poppins" pitchFamily="34" charset="0"/>
                <a:ea typeface="Poppins" pitchFamily="34" charset="-122"/>
                <a:cs typeface="Poppins" pitchFamily="34" charset="-120"/>
              </a:rPr>
              <a:t>POST</a:t>
            </a:r>
            <a:endParaRPr lang="en-US" sz="650" dirty="0"/>
          </a:p>
        </p:txBody>
      </p:sp>
      <p:sp>
        <p:nvSpPr>
          <p:cNvPr id="42" name="Shape 37"/>
          <p:cNvSpPr/>
          <p:nvPr/>
        </p:nvSpPr>
        <p:spPr>
          <a:xfrm>
            <a:off x="5897880" y="2834640"/>
            <a:ext cx="457200" cy="0"/>
          </a:xfrm>
          <a:prstGeom prst="line">
            <a:avLst/>
          </a:prstGeom>
          <a:noFill/>
          <a:ln w="25400">
            <a:solidFill>
              <a:srgbClr val="16A34A"/>
            </a:solidFill>
            <a:prstDash val="solid"/>
            <a:tailEnd type="triangle"/>
          </a:ln>
        </p:spPr>
      </p:sp>
      <p:sp>
        <p:nvSpPr>
          <p:cNvPr id="43" name="Text 38"/>
          <p:cNvSpPr/>
          <p:nvPr/>
        </p:nvSpPr>
        <p:spPr>
          <a:xfrm>
            <a:off x="5760720" y="2606040"/>
            <a:ext cx="731520" cy="182880"/>
          </a:xfrm>
          <a:prstGeom prst="rect">
            <a:avLst/>
          </a:prstGeom>
          <a:noFill/>
          <a:ln/>
        </p:spPr>
        <p:txBody>
          <a:bodyPr wrap="square" lIns="0" tIns="0" rIns="0" bIns="0" rtlCol="0" anchor="ctr"/>
          <a:lstStyle/>
          <a:p>
            <a:pPr marL="0" indent="0" algn="ctr">
              <a:buNone/>
            </a:pPr>
            <a:r>
              <a:rPr lang="en-US" sz="650" dirty="0">
                <a:solidFill>
                  <a:srgbClr val="16A34A"/>
                </a:solidFill>
                <a:latin typeface="Poppins" pitchFamily="34" charset="0"/>
                <a:ea typeface="Poppins" pitchFamily="34" charset="-122"/>
                <a:cs typeface="Poppins" pitchFamily="34" charset="-120"/>
              </a:rPr>
              <a:t>WebSocket</a:t>
            </a:r>
            <a:endParaRPr lang="en-US" sz="650" dirty="0"/>
          </a:p>
        </p:txBody>
      </p:sp>
      <p:sp>
        <p:nvSpPr>
          <p:cNvPr id="44" name="Text 39"/>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28600"/>
            <a:ext cx="8229600" cy="411480"/>
          </a:xfrm>
          <a:prstGeom prst="rect">
            <a:avLst/>
          </a:prstGeom>
          <a:noFill/>
          <a:ln/>
        </p:spPr>
        <p:txBody>
          <a:bodyPr wrap="square" lIns="0" tIns="0" rIns="0" bIns="0" rtlCol="0" anchor="ctr"/>
          <a:lstStyle/>
          <a:p>
            <a:pPr marL="0" indent="0">
              <a:buNone/>
            </a:pPr>
            <a:r>
              <a:rPr lang="en-US" sz="2600" b="1" dirty="0">
                <a:solidFill>
                  <a:srgbClr val="0F172A"/>
                </a:solidFill>
                <a:latin typeface="Poppins" pitchFamily="34" charset="0"/>
                <a:ea typeface="Poppins" pitchFamily="34" charset="-122"/>
                <a:cs typeface="Poppins" pitchFamily="34" charset="-120"/>
              </a:rPr>
              <a:t>Données à récupérer depuis MHS</a:t>
            </a:r>
            <a:endParaRPr lang="en-US" sz="2600" dirty="0"/>
          </a:p>
        </p:txBody>
      </p:sp>
      <p:sp>
        <p:nvSpPr>
          <p:cNvPr id="3" name="Text 1"/>
          <p:cNvSpPr/>
          <p:nvPr/>
        </p:nvSpPr>
        <p:spPr>
          <a:xfrm>
            <a:off x="640080" y="640080"/>
            <a:ext cx="7315200" cy="228600"/>
          </a:xfrm>
          <a:prstGeom prst="rect">
            <a:avLst/>
          </a:prstGeom>
          <a:noFill/>
          <a:ln/>
        </p:spPr>
        <p:txBody>
          <a:bodyPr wrap="square" lIns="0" tIns="0" rIns="0" bIns="0" rtlCol="0" anchor="ctr"/>
          <a:lstStyle/>
          <a:p>
            <a:pPr marL="0" indent="0">
              <a:buNone/>
            </a:pPr>
            <a:r>
              <a:rPr lang="en-US" sz="1100" dirty="0">
                <a:solidFill>
                  <a:srgbClr val="6B7280"/>
                </a:solidFill>
                <a:latin typeface="Poppins" pitchFamily="34" charset="0"/>
                <a:ea typeface="Poppins" pitchFamily="34" charset="-122"/>
                <a:cs typeface="Poppins" pitchFamily="34" charset="-120"/>
              </a:rPr>
              <a:t>Endpoints GET — Données nécessaires au moteur d'optimisation</a:t>
            </a:r>
            <a:endParaRPr lang="en-US" sz="1100" dirty="0"/>
          </a:p>
        </p:txBody>
      </p:sp>
      <p:sp>
        <p:nvSpPr>
          <p:cNvPr id="4" name="Shape 2"/>
          <p:cNvSpPr/>
          <p:nvPr/>
        </p:nvSpPr>
        <p:spPr>
          <a:xfrm>
            <a:off x="594360" y="1051560"/>
            <a:ext cx="3840480" cy="1783080"/>
          </a:xfrm>
          <a:prstGeom prst="rect">
            <a:avLst/>
          </a:prstGeom>
          <a:solidFill>
            <a:srgbClr val="F7F9FC"/>
          </a:solidFill>
          <a:ln/>
          <a:effectLst>
            <a:outerShdw blurRad="76200" dist="25400" dir="8100000" algn="bl" rotWithShape="0">
              <a:srgbClr val="000000">
                <a:alpha val="6000"/>
              </a:srgbClr>
            </a:outerShdw>
          </a:effectLst>
        </p:spPr>
      </p:sp>
      <p:pic>
        <p:nvPicPr>
          <p:cNvPr id="5" name="Image 0" descr="preencoded.png"/>
          <p:cNvPicPr>
            <a:picLocks noChangeAspect="1"/>
          </p:cNvPicPr>
          <p:nvPr/>
        </p:nvPicPr>
        <p:blipFill>
          <a:blip r:embed="rId3"/>
          <a:stretch>
            <a:fillRect/>
          </a:stretch>
        </p:blipFill>
        <p:spPr>
          <a:xfrm>
            <a:off x="704088" y="1143000"/>
            <a:ext cx="274320" cy="274320"/>
          </a:xfrm>
          <a:prstGeom prst="rect">
            <a:avLst/>
          </a:prstGeom>
        </p:spPr>
      </p:pic>
      <p:sp>
        <p:nvSpPr>
          <p:cNvPr id="6" name="Text 3"/>
          <p:cNvSpPr/>
          <p:nvPr/>
        </p:nvSpPr>
        <p:spPr>
          <a:xfrm>
            <a:off x="1051560" y="1124712"/>
            <a:ext cx="2377440" cy="320040"/>
          </a:xfrm>
          <a:prstGeom prst="rect">
            <a:avLst/>
          </a:prstGeom>
          <a:noFill/>
          <a:ln/>
        </p:spPr>
        <p:txBody>
          <a:bodyPr wrap="square" lIns="0" tIns="0" rIns="0" bIns="0" rtlCol="0" anchor="ctr"/>
          <a:lstStyle/>
          <a:p>
            <a:pPr marL="0" indent="0">
              <a:buNone/>
            </a:pPr>
            <a:r>
              <a:rPr lang="en-US" sz="1200" b="1" dirty="0">
                <a:solidFill>
                  <a:srgbClr val="0F172A"/>
                </a:solidFill>
                <a:latin typeface="Poppins" pitchFamily="34" charset="0"/>
                <a:ea typeface="Poppins" pitchFamily="34" charset="-122"/>
                <a:cs typeface="Poppins" pitchFamily="34" charset="-120"/>
              </a:rPr>
              <a:t>Historique des slots</a:t>
            </a:r>
            <a:endParaRPr lang="en-US" sz="1200" dirty="0"/>
          </a:p>
        </p:txBody>
      </p:sp>
      <p:sp>
        <p:nvSpPr>
          <p:cNvPr id="7" name="Shape 4"/>
          <p:cNvSpPr/>
          <p:nvPr/>
        </p:nvSpPr>
        <p:spPr>
          <a:xfrm>
            <a:off x="3703320" y="1161288"/>
            <a:ext cx="548640" cy="228600"/>
          </a:xfrm>
          <a:prstGeom prst="rect">
            <a:avLst/>
          </a:prstGeom>
          <a:solidFill>
            <a:srgbClr val="16A34A"/>
          </a:solidFill>
          <a:ln/>
        </p:spPr>
      </p:sp>
      <p:sp>
        <p:nvSpPr>
          <p:cNvPr id="8" name="Text 5"/>
          <p:cNvSpPr/>
          <p:nvPr/>
        </p:nvSpPr>
        <p:spPr>
          <a:xfrm>
            <a:off x="3703320" y="1161288"/>
            <a:ext cx="5486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Poppins" pitchFamily="34" charset="0"/>
                <a:ea typeface="Poppins" pitchFamily="34" charset="-122"/>
                <a:cs typeface="Poppins" pitchFamily="34" charset="-120"/>
              </a:rPr>
              <a:t>GET</a:t>
            </a:r>
            <a:endParaRPr lang="en-US" sz="800" dirty="0"/>
          </a:p>
        </p:txBody>
      </p:sp>
      <p:sp>
        <p:nvSpPr>
          <p:cNvPr id="9" name="Shape 6"/>
          <p:cNvSpPr/>
          <p:nvPr/>
        </p:nvSpPr>
        <p:spPr>
          <a:xfrm>
            <a:off x="704088" y="1490472"/>
            <a:ext cx="3621024" cy="228600"/>
          </a:xfrm>
          <a:prstGeom prst="rect">
            <a:avLst/>
          </a:prstGeom>
          <a:solidFill>
            <a:srgbClr val="F0F2F5"/>
          </a:solidFill>
          <a:ln/>
        </p:spPr>
      </p:sp>
      <p:sp>
        <p:nvSpPr>
          <p:cNvPr id="10" name="Text 7"/>
          <p:cNvSpPr/>
          <p:nvPr/>
        </p:nvSpPr>
        <p:spPr>
          <a:xfrm>
            <a:off x="777240" y="1490472"/>
            <a:ext cx="3474720" cy="228600"/>
          </a:xfrm>
          <a:prstGeom prst="rect">
            <a:avLst/>
          </a:prstGeom>
          <a:noFill/>
          <a:ln/>
        </p:spPr>
        <p:txBody>
          <a:bodyPr wrap="square" lIns="0" tIns="0" rIns="0" bIns="0" rtlCol="0" anchor="ctr"/>
          <a:lstStyle/>
          <a:p>
            <a:pPr marL="0" indent="0">
              <a:buNone/>
            </a:pPr>
            <a:r>
              <a:rPr lang="en-US" sz="750" dirty="0">
                <a:solidFill>
                  <a:srgbClr val="374151"/>
                </a:solidFill>
                <a:latin typeface="Courier New" pitchFamily="34" charset="0"/>
                <a:ea typeface="Courier New" pitchFamily="34" charset="-122"/>
                <a:cs typeface="Courier New" pitchFamily="34" charset="-120"/>
              </a:rPr>
              <a:t>/api/slots?status=history&amp;from=YYYY-MM-DD</a:t>
            </a:r>
            <a:endParaRPr lang="en-US" sz="750" dirty="0"/>
          </a:p>
        </p:txBody>
      </p:sp>
      <p:sp>
        <p:nvSpPr>
          <p:cNvPr id="11" name="Text 8"/>
          <p:cNvSpPr/>
          <p:nvPr/>
        </p:nvSpPr>
        <p:spPr>
          <a:xfrm>
            <a:off x="777240" y="1801368"/>
            <a:ext cx="3474720" cy="182880"/>
          </a:xfrm>
          <a:prstGeom prst="rect">
            <a:avLst/>
          </a:prstGeom>
          <a:noFill/>
          <a:ln/>
        </p:spPr>
        <p:txBody>
          <a:bodyPr wrap="square" lIns="0" tIns="0" rIns="0" bIns="0" rtlCol="0" anchor="ctr"/>
          <a:lstStyle/>
          <a:p>
            <a:pPr marL="0" indent="0">
              <a:buNone/>
            </a:pPr>
            <a:r>
              <a:rPr lang="en-US" sz="800" dirty="0">
                <a:solidFill>
                  <a:srgbClr val="0F172A"/>
                </a:solidFill>
                <a:latin typeface="Poppins" pitchFamily="34" charset="0"/>
                <a:ea typeface="Poppins" pitchFamily="34" charset="-122"/>
                <a:cs typeface="Poppins" pitchFamily="34" charset="-120"/>
              </a:rPr>
              <a:t>•  ID slot, date, statut (terminé/annulé)</a:t>
            </a:r>
            <a:endParaRPr lang="en-US" sz="800" dirty="0"/>
          </a:p>
        </p:txBody>
      </p:sp>
      <p:sp>
        <p:nvSpPr>
          <p:cNvPr id="12" name="Text 9"/>
          <p:cNvSpPr/>
          <p:nvPr/>
        </p:nvSpPr>
        <p:spPr>
          <a:xfrm>
            <a:off x="777240" y="1984248"/>
            <a:ext cx="3474720" cy="182880"/>
          </a:xfrm>
          <a:prstGeom prst="rect">
            <a:avLst/>
          </a:prstGeom>
          <a:noFill/>
          <a:ln/>
        </p:spPr>
        <p:txBody>
          <a:bodyPr wrap="square" lIns="0" tIns="0" rIns="0" bIns="0" rtlCol="0" anchor="ctr"/>
          <a:lstStyle/>
          <a:p>
            <a:pPr marL="0" indent="0">
              <a:buNone/>
            </a:pPr>
            <a:r>
              <a:rPr lang="en-US" sz="800" dirty="0">
                <a:solidFill>
                  <a:srgbClr val="0F172A"/>
                </a:solidFill>
                <a:latin typeface="Poppins" pitchFamily="34" charset="0"/>
                <a:ea typeface="Poppins" pitchFamily="34" charset="-122"/>
                <a:cs typeface="Poppins" pitchFamily="34" charset="-120"/>
              </a:rPr>
              <a:t>•  Liste des lignes : référence, quantité, alvéole</a:t>
            </a:r>
            <a:endParaRPr lang="en-US" sz="800" dirty="0"/>
          </a:p>
        </p:txBody>
      </p:sp>
      <p:sp>
        <p:nvSpPr>
          <p:cNvPr id="13" name="Text 10"/>
          <p:cNvSpPr/>
          <p:nvPr/>
        </p:nvSpPr>
        <p:spPr>
          <a:xfrm>
            <a:off x="777240" y="2167128"/>
            <a:ext cx="3474720" cy="182880"/>
          </a:xfrm>
          <a:prstGeom prst="rect">
            <a:avLst/>
          </a:prstGeom>
          <a:noFill/>
          <a:ln/>
        </p:spPr>
        <p:txBody>
          <a:bodyPr wrap="square" lIns="0" tIns="0" rIns="0" bIns="0" rtlCol="0" anchor="ctr"/>
          <a:lstStyle/>
          <a:p>
            <a:pPr marL="0" indent="0">
              <a:buNone/>
            </a:pPr>
            <a:r>
              <a:rPr lang="en-US" sz="800" dirty="0">
                <a:solidFill>
                  <a:srgbClr val="0F172A"/>
                </a:solidFill>
                <a:latin typeface="Poppins" pitchFamily="34" charset="0"/>
                <a:ea typeface="Poppins" pitchFamily="34" charset="-122"/>
                <a:cs typeface="Poppins" pitchFamily="34" charset="-120"/>
              </a:rPr>
              <a:t>•  Temps de traitement, opérateur assigné</a:t>
            </a:r>
            <a:endParaRPr lang="en-US" sz="800" dirty="0"/>
          </a:p>
        </p:txBody>
      </p:sp>
      <p:sp>
        <p:nvSpPr>
          <p:cNvPr id="14" name="Text 11"/>
          <p:cNvSpPr/>
          <p:nvPr/>
        </p:nvSpPr>
        <p:spPr>
          <a:xfrm>
            <a:off x="777240" y="2350008"/>
            <a:ext cx="3474720" cy="182880"/>
          </a:xfrm>
          <a:prstGeom prst="rect">
            <a:avLst/>
          </a:prstGeom>
          <a:noFill/>
          <a:ln/>
        </p:spPr>
        <p:txBody>
          <a:bodyPr wrap="square" lIns="0" tIns="0" rIns="0" bIns="0" rtlCol="0" anchor="ctr"/>
          <a:lstStyle/>
          <a:p>
            <a:pPr marL="0" indent="0">
              <a:buNone/>
            </a:pPr>
            <a:r>
              <a:rPr lang="en-US" sz="800" dirty="0">
                <a:solidFill>
                  <a:srgbClr val="0F172A"/>
                </a:solidFill>
                <a:latin typeface="Poppins" pitchFamily="34" charset="0"/>
                <a:ea typeface="Poppins" pitchFamily="34" charset="-122"/>
                <a:cs typeface="Poppins" pitchFamily="34" charset="-120"/>
              </a:rPr>
              <a:t>•  Zone de picking, poids/volume</a:t>
            </a:r>
            <a:endParaRPr lang="en-US" sz="800" dirty="0"/>
          </a:p>
        </p:txBody>
      </p:sp>
      <p:sp>
        <p:nvSpPr>
          <p:cNvPr id="15" name="Text 12"/>
          <p:cNvSpPr/>
          <p:nvPr/>
        </p:nvSpPr>
        <p:spPr>
          <a:xfrm>
            <a:off x="731520" y="2560320"/>
            <a:ext cx="3566160" cy="201168"/>
          </a:xfrm>
          <a:prstGeom prst="rect">
            <a:avLst/>
          </a:prstGeom>
          <a:noFill/>
          <a:ln/>
        </p:spPr>
        <p:txBody>
          <a:bodyPr wrap="square" lIns="0" tIns="0" rIns="0" bIns="0" rtlCol="0" anchor="ctr"/>
          <a:lstStyle/>
          <a:p>
            <a:pPr marL="0" indent="0">
              <a:buNone/>
            </a:pPr>
            <a:r>
              <a:rPr lang="en-US" sz="750" b="1" i="1" dirty="0">
                <a:solidFill>
                  <a:srgbClr val="1677FF"/>
                </a:solidFill>
                <a:latin typeface="Poppins" pitchFamily="34" charset="0"/>
                <a:ea typeface="Poppins" pitchFamily="34" charset="-122"/>
                <a:cs typeface="Poppins" pitchFamily="34" charset="-120"/>
              </a:rPr>
              <a:t>→ Entraînement du moteur d'optimisation</a:t>
            </a:r>
            <a:endParaRPr lang="en-US" sz="750" dirty="0"/>
          </a:p>
        </p:txBody>
      </p:sp>
      <p:sp>
        <p:nvSpPr>
          <p:cNvPr id="16" name="Shape 13"/>
          <p:cNvSpPr/>
          <p:nvPr/>
        </p:nvSpPr>
        <p:spPr>
          <a:xfrm>
            <a:off x="4709160" y="1051560"/>
            <a:ext cx="3840480" cy="1783080"/>
          </a:xfrm>
          <a:prstGeom prst="rect">
            <a:avLst/>
          </a:prstGeom>
          <a:solidFill>
            <a:srgbClr val="F7F9FC"/>
          </a:solidFill>
          <a:ln/>
          <a:effectLst>
            <a:outerShdw blurRad="76200" dist="25400" dir="8100000" algn="bl" rotWithShape="0">
              <a:srgbClr val="000000">
                <a:alpha val="6000"/>
              </a:srgbClr>
            </a:outerShdw>
          </a:effectLst>
        </p:spPr>
      </p:sp>
      <p:pic>
        <p:nvPicPr>
          <p:cNvPr id="17" name="Image 1" descr="preencoded.png"/>
          <p:cNvPicPr>
            <a:picLocks noChangeAspect="1"/>
          </p:cNvPicPr>
          <p:nvPr/>
        </p:nvPicPr>
        <p:blipFill>
          <a:blip r:embed="rId4"/>
          <a:stretch>
            <a:fillRect/>
          </a:stretch>
        </p:blipFill>
        <p:spPr>
          <a:xfrm>
            <a:off x="4818888" y="1143000"/>
            <a:ext cx="274320" cy="274320"/>
          </a:xfrm>
          <a:prstGeom prst="rect">
            <a:avLst/>
          </a:prstGeom>
        </p:spPr>
      </p:pic>
      <p:sp>
        <p:nvSpPr>
          <p:cNvPr id="18" name="Text 14"/>
          <p:cNvSpPr/>
          <p:nvPr/>
        </p:nvSpPr>
        <p:spPr>
          <a:xfrm>
            <a:off x="5166360" y="1124712"/>
            <a:ext cx="2377440" cy="320040"/>
          </a:xfrm>
          <a:prstGeom prst="rect">
            <a:avLst/>
          </a:prstGeom>
          <a:noFill/>
          <a:ln/>
        </p:spPr>
        <p:txBody>
          <a:bodyPr wrap="square" lIns="0" tIns="0" rIns="0" bIns="0" rtlCol="0" anchor="ctr"/>
          <a:lstStyle/>
          <a:p>
            <a:pPr marL="0" indent="0">
              <a:buNone/>
            </a:pPr>
            <a:r>
              <a:rPr lang="en-US" sz="1200" b="1" dirty="0">
                <a:solidFill>
                  <a:srgbClr val="0F172A"/>
                </a:solidFill>
                <a:latin typeface="Poppins" pitchFamily="34" charset="0"/>
                <a:ea typeface="Poppins" pitchFamily="34" charset="-122"/>
                <a:cs typeface="Poppins" pitchFamily="34" charset="-120"/>
              </a:rPr>
              <a:t>Slots en temps réel</a:t>
            </a:r>
            <a:endParaRPr lang="en-US" sz="1200" dirty="0"/>
          </a:p>
        </p:txBody>
      </p:sp>
      <p:sp>
        <p:nvSpPr>
          <p:cNvPr id="19" name="Shape 15"/>
          <p:cNvSpPr/>
          <p:nvPr/>
        </p:nvSpPr>
        <p:spPr>
          <a:xfrm>
            <a:off x="7818120" y="1161288"/>
            <a:ext cx="548640" cy="228600"/>
          </a:xfrm>
          <a:prstGeom prst="rect">
            <a:avLst/>
          </a:prstGeom>
          <a:solidFill>
            <a:srgbClr val="16A34A"/>
          </a:solidFill>
          <a:ln/>
        </p:spPr>
      </p:sp>
      <p:sp>
        <p:nvSpPr>
          <p:cNvPr id="20" name="Text 16"/>
          <p:cNvSpPr/>
          <p:nvPr/>
        </p:nvSpPr>
        <p:spPr>
          <a:xfrm>
            <a:off x="7818120" y="1161288"/>
            <a:ext cx="5486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Poppins" pitchFamily="34" charset="0"/>
                <a:ea typeface="Poppins" pitchFamily="34" charset="-122"/>
                <a:cs typeface="Poppins" pitchFamily="34" charset="-120"/>
              </a:rPr>
              <a:t>GET</a:t>
            </a:r>
            <a:endParaRPr lang="en-US" sz="800" dirty="0"/>
          </a:p>
        </p:txBody>
      </p:sp>
      <p:sp>
        <p:nvSpPr>
          <p:cNvPr id="21" name="Shape 17"/>
          <p:cNvSpPr/>
          <p:nvPr/>
        </p:nvSpPr>
        <p:spPr>
          <a:xfrm>
            <a:off x="4818888" y="1490472"/>
            <a:ext cx="3621024" cy="228600"/>
          </a:xfrm>
          <a:prstGeom prst="rect">
            <a:avLst/>
          </a:prstGeom>
          <a:solidFill>
            <a:srgbClr val="F0F2F5"/>
          </a:solidFill>
          <a:ln/>
        </p:spPr>
      </p:sp>
      <p:sp>
        <p:nvSpPr>
          <p:cNvPr id="22" name="Text 18"/>
          <p:cNvSpPr/>
          <p:nvPr/>
        </p:nvSpPr>
        <p:spPr>
          <a:xfrm>
            <a:off x="4892040" y="1490472"/>
            <a:ext cx="3474720" cy="228600"/>
          </a:xfrm>
          <a:prstGeom prst="rect">
            <a:avLst/>
          </a:prstGeom>
          <a:noFill/>
          <a:ln/>
        </p:spPr>
        <p:txBody>
          <a:bodyPr wrap="square" lIns="0" tIns="0" rIns="0" bIns="0" rtlCol="0" anchor="ctr"/>
          <a:lstStyle/>
          <a:p>
            <a:pPr marL="0" indent="0">
              <a:buNone/>
            </a:pPr>
            <a:r>
              <a:rPr lang="en-US" sz="750" dirty="0">
                <a:solidFill>
                  <a:srgbClr val="374151"/>
                </a:solidFill>
                <a:latin typeface="Courier New" pitchFamily="34" charset="0"/>
                <a:ea typeface="Courier New" pitchFamily="34" charset="-122"/>
                <a:cs typeface="Courier New" pitchFamily="34" charset="-120"/>
              </a:rPr>
              <a:t>/api/slots?status=pending|in_progress</a:t>
            </a:r>
            <a:endParaRPr lang="en-US" sz="750" dirty="0"/>
          </a:p>
        </p:txBody>
      </p:sp>
      <p:sp>
        <p:nvSpPr>
          <p:cNvPr id="23" name="Text 19"/>
          <p:cNvSpPr/>
          <p:nvPr/>
        </p:nvSpPr>
        <p:spPr>
          <a:xfrm>
            <a:off x="4892040" y="1801368"/>
            <a:ext cx="3474720" cy="182880"/>
          </a:xfrm>
          <a:prstGeom prst="rect">
            <a:avLst/>
          </a:prstGeom>
          <a:noFill/>
          <a:ln/>
        </p:spPr>
        <p:txBody>
          <a:bodyPr wrap="square" lIns="0" tIns="0" rIns="0" bIns="0" rtlCol="0" anchor="ctr"/>
          <a:lstStyle/>
          <a:p>
            <a:pPr marL="0" indent="0">
              <a:buNone/>
            </a:pPr>
            <a:r>
              <a:rPr lang="en-US" sz="800" dirty="0">
                <a:solidFill>
                  <a:srgbClr val="0F172A"/>
                </a:solidFill>
                <a:latin typeface="Poppins" pitchFamily="34" charset="0"/>
                <a:ea typeface="Poppins" pitchFamily="34" charset="-122"/>
                <a:cs typeface="Poppins" pitchFamily="34" charset="-120"/>
              </a:rPr>
              <a:t>•  Slots en attente de préparation</a:t>
            </a:r>
            <a:endParaRPr lang="en-US" sz="800" dirty="0"/>
          </a:p>
        </p:txBody>
      </p:sp>
      <p:sp>
        <p:nvSpPr>
          <p:cNvPr id="24" name="Text 20"/>
          <p:cNvSpPr/>
          <p:nvPr/>
        </p:nvSpPr>
        <p:spPr>
          <a:xfrm>
            <a:off x="4892040" y="1984248"/>
            <a:ext cx="3474720" cy="182880"/>
          </a:xfrm>
          <a:prstGeom prst="rect">
            <a:avLst/>
          </a:prstGeom>
          <a:noFill/>
          <a:ln/>
        </p:spPr>
        <p:txBody>
          <a:bodyPr wrap="square" lIns="0" tIns="0" rIns="0" bIns="0" rtlCol="0" anchor="ctr"/>
          <a:lstStyle/>
          <a:p>
            <a:pPr marL="0" indent="0">
              <a:buNone/>
            </a:pPr>
            <a:r>
              <a:rPr lang="en-US" sz="800" dirty="0">
                <a:solidFill>
                  <a:srgbClr val="0F172A"/>
                </a:solidFill>
                <a:latin typeface="Poppins" pitchFamily="34" charset="0"/>
                <a:ea typeface="Poppins" pitchFamily="34" charset="-122"/>
                <a:cs typeface="Poppins" pitchFamily="34" charset="-120"/>
              </a:rPr>
              <a:t>•  Slots en cours (opérateur, avancement)</a:t>
            </a:r>
            <a:endParaRPr lang="en-US" sz="800" dirty="0"/>
          </a:p>
        </p:txBody>
      </p:sp>
      <p:sp>
        <p:nvSpPr>
          <p:cNvPr id="25" name="Text 21"/>
          <p:cNvSpPr/>
          <p:nvPr/>
        </p:nvSpPr>
        <p:spPr>
          <a:xfrm>
            <a:off x="4892040" y="2167128"/>
            <a:ext cx="3474720" cy="182880"/>
          </a:xfrm>
          <a:prstGeom prst="rect">
            <a:avLst/>
          </a:prstGeom>
          <a:noFill/>
          <a:ln/>
        </p:spPr>
        <p:txBody>
          <a:bodyPr wrap="square" lIns="0" tIns="0" rIns="0" bIns="0" rtlCol="0" anchor="ctr"/>
          <a:lstStyle/>
          <a:p>
            <a:pPr marL="0" indent="0">
              <a:buNone/>
            </a:pPr>
            <a:r>
              <a:rPr lang="en-US" sz="800" dirty="0">
                <a:solidFill>
                  <a:srgbClr val="0F172A"/>
                </a:solidFill>
                <a:latin typeface="Poppins" pitchFamily="34" charset="0"/>
                <a:ea typeface="Poppins" pitchFamily="34" charset="-122"/>
                <a:cs typeface="Poppins" pitchFamily="34" charset="-120"/>
              </a:rPr>
              <a:t>•  Priorité, deadline, client final</a:t>
            </a:r>
            <a:endParaRPr lang="en-US" sz="800" dirty="0"/>
          </a:p>
        </p:txBody>
      </p:sp>
      <p:sp>
        <p:nvSpPr>
          <p:cNvPr id="26" name="Text 22"/>
          <p:cNvSpPr/>
          <p:nvPr/>
        </p:nvSpPr>
        <p:spPr>
          <a:xfrm>
            <a:off x="4892040" y="2350008"/>
            <a:ext cx="3474720" cy="182880"/>
          </a:xfrm>
          <a:prstGeom prst="rect">
            <a:avLst/>
          </a:prstGeom>
          <a:noFill/>
          <a:ln/>
        </p:spPr>
        <p:txBody>
          <a:bodyPr wrap="square" lIns="0" tIns="0" rIns="0" bIns="0" rtlCol="0" anchor="ctr"/>
          <a:lstStyle/>
          <a:p>
            <a:pPr marL="0" indent="0">
              <a:buNone/>
            </a:pPr>
            <a:r>
              <a:rPr lang="en-US" sz="800" dirty="0">
                <a:solidFill>
                  <a:srgbClr val="0F172A"/>
                </a:solidFill>
                <a:latin typeface="Poppins" pitchFamily="34" charset="0"/>
                <a:ea typeface="Poppins" pitchFamily="34" charset="-122"/>
                <a:cs typeface="Poppins" pitchFamily="34" charset="-120"/>
              </a:rPr>
              <a:t>•  Lignes avec quantités restantes</a:t>
            </a:r>
            <a:endParaRPr lang="en-US" sz="800" dirty="0"/>
          </a:p>
        </p:txBody>
      </p:sp>
      <p:sp>
        <p:nvSpPr>
          <p:cNvPr id="27" name="Text 23"/>
          <p:cNvSpPr/>
          <p:nvPr/>
        </p:nvSpPr>
        <p:spPr>
          <a:xfrm>
            <a:off x="4846320" y="2560320"/>
            <a:ext cx="3566160" cy="201168"/>
          </a:xfrm>
          <a:prstGeom prst="rect">
            <a:avLst/>
          </a:prstGeom>
          <a:noFill/>
          <a:ln/>
        </p:spPr>
        <p:txBody>
          <a:bodyPr wrap="square" lIns="0" tIns="0" rIns="0" bIns="0" rtlCol="0" anchor="ctr"/>
          <a:lstStyle/>
          <a:p>
            <a:pPr marL="0" indent="0">
              <a:buNone/>
            </a:pPr>
            <a:r>
              <a:rPr lang="en-US" sz="750" b="1" i="1" dirty="0">
                <a:solidFill>
                  <a:srgbClr val="1677FF"/>
                </a:solidFill>
                <a:latin typeface="Poppins" pitchFamily="34" charset="0"/>
                <a:ea typeface="Poppins" pitchFamily="34" charset="-122"/>
                <a:cs typeface="Poppins" pitchFamily="34" charset="-120"/>
              </a:rPr>
              <a:t>→ Regroupement et assignation des missions</a:t>
            </a:r>
            <a:endParaRPr lang="en-US" sz="750" dirty="0"/>
          </a:p>
        </p:txBody>
      </p:sp>
      <p:sp>
        <p:nvSpPr>
          <p:cNvPr id="28" name="Shape 24"/>
          <p:cNvSpPr/>
          <p:nvPr/>
        </p:nvSpPr>
        <p:spPr>
          <a:xfrm>
            <a:off x="594360" y="2971800"/>
            <a:ext cx="3840480" cy="1783080"/>
          </a:xfrm>
          <a:prstGeom prst="rect">
            <a:avLst/>
          </a:prstGeom>
          <a:solidFill>
            <a:srgbClr val="F7F9FC"/>
          </a:solidFill>
          <a:ln/>
          <a:effectLst>
            <a:outerShdw blurRad="76200" dist="25400" dir="8100000" algn="bl" rotWithShape="0">
              <a:srgbClr val="000000">
                <a:alpha val="6000"/>
              </a:srgbClr>
            </a:outerShdw>
          </a:effectLst>
        </p:spPr>
      </p:sp>
      <p:pic>
        <p:nvPicPr>
          <p:cNvPr id="29" name="Image 2" descr="preencoded.png"/>
          <p:cNvPicPr>
            <a:picLocks noChangeAspect="1"/>
          </p:cNvPicPr>
          <p:nvPr/>
        </p:nvPicPr>
        <p:blipFill>
          <a:blip r:embed="rId5"/>
          <a:stretch>
            <a:fillRect/>
          </a:stretch>
        </p:blipFill>
        <p:spPr>
          <a:xfrm>
            <a:off x="704088" y="3063240"/>
            <a:ext cx="274320" cy="274320"/>
          </a:xfrm>
          <a:prstGeom prst="rect">
            <a:avLst/>
          </a:prstGeom>
        </p:spPr>
      </p:pic>
      <p:sp>
        <p:nvSpPr>
          <p:cNvPr id="30" name="Text 25"/>
          <p:cNvSpPr/>
          <p:nvPr/>
        </p:nvSpPr>
        <p:spPr>
          <a:xfrm>
            <a:off x="1051560" y="3044952"/>
            <a:ext cx="2377440" cy="320040"/>
          </a:xfrm>
          <a:prstGeom prst="rect">
            <a:avLst/>
          </a:prstGeom>
          <a:noFill/>
          <a:ln/>
        </p:spPr>
        <p:txBody>
          <a:bodyPr wrap="square" lIns="0" tIns="0" rIns="0" bIns="0" rtlCol="0" anchor="ctr"/>
          <a:lstStyle/>
          <a:p>
            <a:pPr marL="0" indent="0">
              <a:buNone/>
            </a:pPr>
            <a:r>
              <a:rPr lang="en-US" sz="1200" b="1" dirty="0">
                <a:solidFill>
                  <a:srgbClr val="0F172A"/>
                </a:solidFill>
                <a:latin typeface="Poppins" pitchFamily="34" charset="0"/>
                <a:ea typeface="Poppins" pitchFamily="34" charset="-122"/>
                <a:cs typeface="Poppins" pitchFamily="34" charset="-120"/>
              </a:rPr>
              <a:t>États des stockeurs</a:t>
            </a:r>
            <a:endParaRPr lang="en-US" sz="1200" dirty="0"/>
          </a:p>
        </p:txBody>
      </p:sp>
      <p:sp>
        <p:nvSpPr>
          <p:cNvPr id="31" name="Shape 26"/>
          <p:cNvSpPr/>
          <p:nvPr/>
        </p:nvSpPr>
        <p:spPr>
          <a:xfrm>
            <a:off x="3703320" y="3081528"/>
            <a:ext cx="548640" cy="228600"/>
          </a:xfrm>
          <a:prstGeom prst="rect">
            <a:avLst/>
          </a:prstGeom>
          <a:solidFill>
            <a:srgbClr val="16A34A"/>
          </a:solidFill>
          <a:ln/>
        </p:spPr>
      </p:sp>
      <p:sp>
        <p:nvSpPr>
          <p:cNvPr id="32" name="Text 27"/>
          <p:cNvSpPr/>
          <p:nvPr/>
        </p:nvSpPr>
        <p:spPr>
          <a:xfrm>
            <a:off x="3703320" y="3081528"/>
            <a:ext cx="5486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Poppins" pitchFamily="34" charset="0"/>
                <a:ea typeface="Poppins" pitchFamily="34" charset="-122"/>
                <a:cs typeface="Poppins" pitchFamily="34" charset="-120"/>
              </a:rPr>
              <a:t>GET</a:t>
            </a:r>
            <a:endParaRPr lang="en-US" sz="800" dirty="0"/>
          </a:p>
        </p:txBody>
      </p:sp>
      <p:sp>
        <p:nvSpPr>
          <p:cNvPr id="33" name="Shape 28"/>
          <p:cNvSpPr/>
          <p:nvPr/>
        </p:nvSpPr>
        <p:spPr>
          <a:xfrm>
            <a:off x="704088" y="3410712"/>
            <a:ext cx="3621024" cy="228600"/>
          </a:xfrm>
          <a:prstGeom prst="rect">
            <a:avLst/>
          </a:prstGeom>
          <a:solidFill>
            <a:srgbClr val="F0F2F5"/>
          </a:solidFill>
          <a:ln/>
        </p:spPr>
      </p:sp>
      <p:sp>
        <p:nvSpPr>
          <p:cNvPr id="34" name="Text 29"/>
          <p:cNvSpPr/>
          <p:nvPr/>
        </p:nvSpPr>
        <p:spPr>
          <a:xfrm>
            <a:off x="777240" y="3410712"/>
            <a:ext cx="3474720" cy="228600"/>
          </a:xfrm>
          <a:prstGeom prst="rect">
            <a:avLst/>
          </a:prstGeom>
          <a:noFill/>
          <a:ln/>
        </p:spPr>
        <p:txBody>
          <a:bodyPr wrap="square" lIns="0" tIns="0" rIns="0" bIns="0" rtlCol="0" anchor="ctr"/>
          <a:lstStyle/>
          <a:p>
            <a:pPr marL="0" indent="0">
              <a:buNone/>
            </a:pPr>
            <a:r>
              <a:rPr lang="en-US" sz="750" dirty="0">
                <a:solidFill>
                  <a:srgbClr val="374151"/>
                </a:solidFill>
                <a:latin typeface="Courier New" pitchFamily="34" charset="0"/>
                <a:ea typeface="Courier New" pitchFamily="34" charset="-122"/>
                <a:cs typeface="Courier New" pitchFamily="34" charset="-120"/>
              </a:rPr>
              <a:t>/api/stockeurs</a:t>
            </a:r>
            <a:endParaRPr lang="en-US" sz="750" dirty="0"/>
          </a:p>
        </p:txBody>
      </p:sp>
      <p:sp>
        <p:nvSpPr>
          <p:cNvPr id="35" name="Text 30"/>
          <p:cNvSpPr/>
          <p:nvPr/>
        </p:nvSpPr>
        <p:spPr>
          <a:xfrm>
            <a:off x="777240" y="3721608"/>
            <a:ext cx="3474720" cy="182880"/>
          </a:xfrm>
          <a:prstGeom prst="rect">
            <a:avLst/>
          </a:prstGeom>
          <a:noFill/>
          <a:ln/>
        </p:spPr>
        <p:txBody>
          <a:bodyPr wrap="square" lIns="0" tIns="0" rIns="0" bIns="0" rtlCol="0" anchor="ctr"/>
          <a:lstStyle/>
          <a:p>
            <a:pPr marL="0" indent="0">
              <a:buNone/>
            </a:pPr>
            <a:r>
              <a:rPr lang="en-US" sz="800" dirty="0">
                <a:solidFill>
                  <a:srgbClr val="0F172A"/>
                </a:solidFill>
                <a:latin typeface="Poppins" pitchFamily="34" charset="0"/>
                <a:ea typeface="Poppins" pitchFamily="34" charset="-122"/>
                <a:cs typeface="Poppins" pitchFamily="34" charset="-120"/>
              </a:rPr>
              <a:t>•  ID stockeur, nom, type (automatique/manuel)</a:t>
            </a:r>
            <a:endParaRPr lang="en-US" sz="800" dirty="0"/>
          </a:p>
        </p:txBody>
      </p:sp>
      <p:sp>
        <p:nvSpPr>
          <p:cNvPr id="36" name="Text 31"/>
          <p:cNvSpPr/>
          <p:nvPr/>
        </p:nvSpPr>
        <p:spPr>
          <a:xfrm>
            <a:off x="777240" y="3904488"/>
            <a:ext cx="3474720" cy="182880"/>
          </a:xfrm>
          <a:prstGeom prst="rect">
            <a:avLst/>
          </a:prstGeom>
          <a:noFill/>
          <a:ln/>
        </p:spPr>
        <p:txBody>
          <a:bodyPr wrap="square" lIns="0" tIns="0" rIns="0" bIns="0" rtlCol="0" anchor="ctr"/>
          <a:lstStyle/>
          <a:p>
            <a:pPr marL="0" indent="0">
              <a:buNone/>
            </a:pPr>
            <a:r>
              <a:rPr lang="en-US" sz="800" dirty="0">
                <a:solidFill>
                  <a:srgbClr val="0F172A"/>
                </a:solidFill>
                <a:latin typeface="Poppins" pitchFamily="34" charset="0"/>
                <a:ea typeface="Poppins" pitchFamily="34" charset="-122"/>
                <a:cs typeface="Poppins" pitchFamily="34" charset="-120"/>
              </a:rPr>
              <a:t>•  État actuel (disponible/occupé/maintenance)</a:t>
            </a:r>
            <a:endParaRPr lang="en-US" sz="800" dirty="0"/>
          </a:p>
        </p:txBody>
      </p:sp>
      <p:sp>
        <p:nvSpPr>
          <p:cNvPr id="37" name="Text 32"/>
          <p:cNvSpPr/>
          <p:nvPr/>
        </p:nvSpPr>
        <p:spPr>
          <a:xfrm>
            <a:off x="777240" y="4087368"/>
            <a:ext cx="3474720" cy="182880"/>
          </a:xfrm>
          <a:prstGeom prst="rect">
            <a:avLst/>
          </a:prstGeom>
          <a:noFill/>
          <a:ln/>
        </p:spPr>
        <p:txBody>
          <a:bodyPr wrap="square" lIns="0" tIns="0" rIns="0" bIns="0" rtlCol="0" anchor="ctr"/>
          <a:lstStyle/>
          <a:p>
            <a:pPr marL="0" indent="0">
              <a:buNone/>
            </a:pPr>
            <a:r>
              <a:rPr lang="en-US" sz="800" dirty="0">
                <a:solidFill>
                  <a:srgbClr val="0F172A"/>
                </a:solidFill>
                <a:latin typeface="Poppins" pitchFamily="34" charset="0"/>
                <a:ea typeface="Poppins" pitchFamily="34" charset="-122"/>
                <a:cs typeface="Poppins" pitchFamily="34" charset="-120"/>
              </a:rPr>
              <a:t>•  File d'attente (nombre d'appels en cours)</a:t>
            </a:r>
            <a:endParaRPr lang="en-US" sz="800" dirty="0"/>
          </a:p>
        </p:txBody>
      </p:sp>
      <p:sp>
        <p:nvSpPr>
          <p:cNvPr id="38" name="Text 33"/>
          <p:cNvSpPr/>
          <p:nvPr/>
        </p:nvSpPr>
        <p:spPr>
          <a:xfrm>
            <a:off x="777240" y="4270248"/>
            <a:ext cx="3474720" cy="182880"/>
          </a:xfrm>
          <a:prstGeom prst="rect">
            <a:avLst/>
          </a:prstGeom>
          <a:noFill/>
          <a:ln/>
        </p:spPr>
        <p:txBody>
          <a:bodyPr wrap="square" lIns="0" tIns="0" rIns="0" bIns="0" rtlCol="0" anchor="ctr"/>
          <a:lstStyle/>
          <a:p>
            <a:pPr marL="0" indent="0">
              <a:buNone/>
            </a:pPr>
            <a:r>
              <a:rPr lang="en-US" sz="800" dirty="0">
                <a:solidFill>
                  <a:srgbClr val="0F172A"/>
                </a:solidFill>
                <a:latin typeface="Poppins" pitchFamily="34" charset="0"/>
                <a:ea typeface="Poppins" pitchFamily="34" charset="-122"/>
                <a:cs typeface="Poppins" pitchFamily="34" charset="-120"/>
              </a:rPr>
              <a:t>•  Position, zone, capacité</a:t>
            </a:r>
            <a:endParaRPr lang="en-US" sz="800" dirty="0"/>
          </a:p>
        </p:txBody>
      </p:sp>
      <p:sp>
        <p:nvSpPr>
          <p:cNvPr id="39" name="Text 34"/>
          <p:cNvSpPr/>
          <p:nvPr/>
        </p:nvSpPr>
        <p:spPr>
          <a:xfrm>
            <a:off x="731520" y="4480560"/>
            <a:ext cx="3566160" cy="201168"/>
          </a:xfrm>
          <a:prstGeom prst="rect">
            <a:avLst/>
          </a:prstGeom>
          <a:noFill/>
          <a:ln/>
        </p:spPr>
        <p:txBody>
          <a:bodyPr wrap="square" lIns="0" tIns="0" rIns="0" bIns="0" rtlCol="0" anchor="ctr"/>
          <a:lstStyle/>
          <a:p>
            <a:pPr marL="0" indent="0">
              <a:buNone/>
            </a:pPr>
            <a:r>
              <a:rPr lang="en-US" sz="750" b="1" i="1" dirty="0">
                <a:solidFill>
                  <a:srgbClr val="1677FF"/>
                </a:solidFill>
                <a:latin typeface="Poppins" pitchFamily="34" charset="0"/>
                <a:ea typeface="Poppins" pitchFamily="34" charset="-122"/>
                <a:cs typeface="Poppins" pitchFamily="34" charset="-120"/>
              </a:rPr>
              <a:t>→ Prise en compte des délais d'accès</a:t>
            </a:r>
            <a:endParaRPr lang="en-US" sz="750" dirty="0"/>
          </a:p>
        </p:txBody>
      </p:sp>
      <p:sp>
        <p:nvSpPr>
          <p:cNvPr id="40" name="Shape 35"/>
          <p:cNvSpPr/>
          <p:nvPr/>
        </p:nvSpPr>
        <p:spPr>
          <a:xfrm>
            <a:off x="4709160" y="2971800"/>
            <a:ext cx="3840480" cy="1783080"/>
          </a:xfrm>
          <a:prstGeom prst="rect">
            <a:avLst/>
          </a:prstGeom>
          <a:solidFill>
            <a:srgbClr val="F7F9FC"/>
          </a:solidFill>
          <a:ln/>
          <a:effectLst>
            <a:outerShdw blurRad="76200" dist="25400" dir="8100000" algn="bl" rotWithShape="0">
              <a:srgbClr val="000000">
                <a:alpha val="6000"/>
              </a:srgbClr>
            </a:outerShdw>
          </a:effectLst>
        </p:spPr>
      </p:sp>
      <p:pic>
        <p:nvPicPr>
          <p:cNvPr id="41" name="Image 3" descr="preencoded.png"/>
          <p:cNvPicPr>
            <a:picLocks noChangeAspect="1"/>
          </p:cNvPicPr>
          <p:nvPr/>
        </p:nvPicPr>
        <p:blipFill>
          <a:blip r:embed="rId6"/>
          <a:stretch>
            <a:fillRect/>
          </a:stretch>
        </p:blipFill>
        <p:spPr>
          <a:xfrm>
            <a:off x="4818888" y="3063240"/>
            <a:ext cx="274320" cy="274320"/>
          </a:xfrm>
          <a:prstGeom prst="rect">
            <a:avLst/>
          </a:prstGeom>
        </p:spPr>
      </p:pic>
      <p:sp>
        <p:nvSpPr>
          <p:cNvPr id="42" name="Text 36"/>
          <p:cNvSpPr/>
          <p:nvPr/>
        </p:nvSpPr>
        <p:spPr>
          <a:xfrm>
            <a:off x="5166360" y="3044952"/>
            <a:ext cx="2377440" cy="320040"/>
          </a:xfrm>
          <a:prstGeom prst="rect">
            <a:avLst/>
          </a:prstGeom>
          <a:noFill/>
          <a:ln/>
        </p:spPr>
        <p:txBody>
          <a:bodyPr wrap="square" lIns="0" tIns="0" rIns="0" bIns="0" rtlCol="0" anchor="ctr"/>
          <a:lstStyle/>
          <a:p>
            <a:pPr marL="0" indent="0">
              <a:buNone/>
            </a:pPr>
            <a:r>
              <a:rPr lang="en-US" sz="1200" b="1" dirty="0">
                <a:solidFill>
                  <a:srgbClr val="0F172A"/>
                </a:solidFill>
                <a:latin typeface="Poppins" pitchFamily="34" charset="0"/>
                <a:ea typeface="Poppins" pitchFamily="34" charset="-122"/>
                <a:cs typeface="Poppins" pitchFamily="34" charset="-120"/>
              </a:rPr>
              <a:t>Référentiel articles</a:t>
            </a:r>
            <a:endParaRPr lang="en-US" sz="1200" dirty="0"/>
          </a:p>
        </p:txBody>
      </p:sp>
      <p:sp>
        <p:nvSpPr>
          <p:cNvPr id="43" name="Shape 37"/>
          <p:cNvSpPr/>
          <p:nvPr/>
        </p:nvSpPr>
        <p:spPr>
          <a:xfrm>
            <a:off x="7818120" y="3081528"/>
            <a:ext cx="548640" cy="228600"/>
          </a:xfrm>
          <a:prstGeom prst="rect">
            <a:avLst/>
          </a:prstGeom>
          <a:solidFill>
            <a:srgbClr val="16A34A"/>
          </a:solidFill>
          <a:ln/>
        </p:spPr>
      </p:sp>
      <p:sp>
        <p:nvSpPr>
          <p:cNvPr id="44" name="Text 38"/>
          <p:cNvSpPr/>
          <p:nvPr/>
        </p:nvSpPr>
        <p:spPr>
          <a:xfrm>
            <a:off x="7818120" y="3081528"/>
            <a:ext cx="5486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Poppins" pitchFamily="34" charset="0"/>
                <a:ea typeface="Poppins" pitchFamily="34" charset="-122"/>
                <a:cs typeface="Poppins" pitchFamily="34" charset="-120"/>
              </a:rPr>
              <a:t>GET</a:t>
            </a:r>
            <a:endParaRPr lang="en-US" sz="800" dirty="0"/>
          </a:p>
        </p:txBody>
      </p:sp>
      <p:sp>
        <p:nvSpPr>
          <p:cNvPr id="45" name="Shape 39"/>
          <p:cNvSpPr/>
          <p:nvPr/>
        </p:nvSpPr>
        <p:spPr>
          <a:xfrm>
            <a:off x="4818888" y="3410712"/>
            <a:ext cx="3621024" cy="228600"/>
          </a:xfrm>
          <a:prstGeom prst="rect">
            <a:avLst/>
          </a:prstGeom>
          <a:solidFill>
            <a:srgbClr val="F0F2F5"/>
          </a:solidFill>
          <a:ln/>
        </p:spPr>
      </p:sp>
      <p:sp>
        <p:nvSpPr>
          <p:cNvPr id="46" name="Text 40"/>
          <p:cNvSpPr/>
          <p:nvPr/>
        </p:nvSpPr>
        <p:spPr>
          <a:xfrm>
            <a:off x="4892040" y="3410712"/>
            <a:ext cx="3474720" cy="228600"/>
          </a:xfrm>
          <a:prstGeom prst="rect">
            <a:avLst/>
          </a:prstGeom>
          <a:noFill/>
          <a:ln/>
        </p:spPr>
        <p:txBody>
          <a:bodyPr wrap="square" lIns="0" tIns="0" rIns="0" bIns="0" rtlCol="0" anchor="ctr"/>
          <a:lstStyle/>
          <a:p>
            <a:pPr marL="0" indent="0">
              <a:buNone/>
            </a:pPr>
            <a:r>
              <a:rPr lang="en-US" sz="750" dirty="0">
                <a:solidFill>
                  <a:srgbClr val="374151"/>
                </a:solidFill>
                <a:latin typeface="Courier New" pitchFamily="34" charset="0"/>
                <a:ea typeface="Courier New" pitchFamily="34" charset="-122"/>
                <a:cs typeface="Courier New" pitchFamily="34" charset="-120"/>
              </a:rPr>
              <a:t>/api/references</a:t>
            </a:r>
            <a:endParaRPr lang="en-US" sz="750" dirty="0"/>
          </a:p>
        </p:txBody>
      </p:sp>
      <p:sp>
        <p:nvSpPr>
          <p:cNvPr id="47" name="Text 41"/>
          <p:cNvSpPr/>
          <p:nvPr/>
        </p:nvSpPr>
        <p:spPr>
          <a:xfrm>
            <a:off x="4892040" y="3721608"/>
            <a:ext cx="3474720" cy="182880"/>
          </a:xfrm>
          <a:prstGeom prst="rect">
            <a:avLst/>
          </a:prstGeom>
          <a:noFill/>
          <a:ln/>
        </p:spPr>
        <p:txBody>
          <a:bodyPr wrap="square" lIns="0" tIns="0" rIns="0" bIns="0" rtlCol="0" anchor="ctr"/>
          <a:lstStyle/>
          <a:p>
            <a:pPr marL="0" indent="0">
              <a:buNone/>
            </a:pPr>
            <a:r>
              <a:rPr lang="en-US" sz="800" dirty="0">
                <a:solidFill>
                  <a:srgbClr val="0F172A"/>
                </a:solidFill>
                <a:latin typeface="Poppins" pitchFamily="34" charset="0"/>
                <a:ea typeface="Poppins" pitchFamily="34" charset="-122"/>
                <a:cs typeface="Poppins" pitchFamily="34" charset="-120"/>
              </a:rPr>
              <a:t>•  Code article, désignation, famille</a:t>
            </a:r>
            <a:endParaRPr lang="en-US" sz="800" dirty="0"/>
          </a:p>
        </p:txBody>
      </p:sp>
      <p:sp>
        <p:nvSpPr>
          <p:cNvPr id="48" name="Text 42"/>
          <p:cNvSpPr/>
          <p:nvPr/>
        </p:nvSpPr>
        <p:spPr>
          <a:xfrm>
            <a:off x="4892040" y="3904488"/>
            <a:ext cx="3474720" cy="182880"/>
          </a:xfrm>
          <a:prstGeom prst="rect">
            <a:avLst/>
          </a:prstGeom>
          <a:noFill/>
          <a:ln/>
        </p:spPr>
        <p:txBody>
          <a:bodyPr wrap="square" lIns="0" tIns="0" rIns="0" bIns="0" rtlCol="0" anchor="ctr"/>
          <a:lstStyle/>
          <a:p>
            <a:pPr marL="0" indent="0">
              <a:buNone/>
            </a:pPr>
            <a:r>
              <a:rPr lang="en-US" sz="800" dirty="0">
                <a:solidFill>
                  <a:srgbClr val="0F172A"/>
                </a:solidFill>
                <a:latin typeface="Poppins" pitchFamily="34" charset="0"/>
                <a:ea typeface="Poppins" pitchFamily="34" charset="-122"/>
                <a:cs typeface="Poppins" pitchFamily="34" charset="-120"/>
              </a:rPr>
              <a:t>•  Alvéole(s) de stockage associée(s)</a:t>
            </a:r>
            <a:endParaRPr lang="en-US" sz="800" dirty="0"/>
          </a:p>
        </p:txBody>
      </p:sp>
      <p:sp>
        <p:nvSpPr>
          <p:cNvPr id="49" name="Text 43"/>
          <p:cNvSpPr/>
          <p:nvPr/>
        </p:nvSpPr>
        <p:spPr>
          <a:xfrm>
            <a:off x="4892040" y="4087368"/>
            <a:ext cx="3474720" cy="182880"/>
          </a:xfrm>
          <a:prstGeom prst="rect">
            <a:avLst/>
          </a:prstGeom>
          <a:noFill/>
          <a:ln/>
        </p:spPr>
        <p:txBody>
          <a:bodyPr wrap="square" lIns="0" tIns="0" rIns="0" bIns="0" rtlCol="0" anchor="ctr"/>
          <a:lstStyle/>
          <a:p>
            <a:pPr marL="0" indent="0">
              <a:buNone/>
            </a:pPr>
            <a:r>
              <a:rPr lang="en-US" sz="800" dirty="0">
                <a:solidFill>
                  <a:srgbClr val="0F172A"/>
                </a:solidFill>
                <a:latin typeface="Poppins" pitchFamily="34" charset="0"/>
                <a:ea typeface="Poppins" pitchFamily="34" charset="-122"/>
                <a:cs typeface="Poppins" pitchFamily="34" charset="-120"/>
              </a:rPr>
              <a:t>•  Poids unitaire, dimensions, conditionnement</a:t>
            </a:r>
            <a:endParaRPr lang="en-US" sz="800" dirty="0"/>
          </a:p>
        </p:txBody>
      </p:sp>
      <p:sp>
        <p:nvSpPr>
          <p:cNvPr id="50" name="Text 44"/>
          <p:cNvSpPr/>
          <p:nvPr/>
        </p:nvSpPr>
        <p:spPr>
          <a:xfrm>
            <a:off x="4892040" y="4270248"/>
            <a:ext cx="3474720" cy="182880"/>
          </a:xfrm>
          <a:prstGeom prst="rect">
            <a:avLst/>
          </a:prstGeom>
          <a:noFill/>
          <a:ln/>
        </p:spPr>
        <p:txBody>
          <a:bodyPr wrap="square" lIns="0" tIns="0" rIns="0" bIns="0" rtlCol="0" anchor="ctr"/>
          <a:lstStyle/>
          <a:p>
            <a:pPr marL="0" indent="0">
              <a:buNone/>
            </a:pPr>
            <a:r>
              <a:rPr lang="en-US" sz="800" dirty="0">
                <a:solidFill>
                  <a:srgbClr val="0F172A"/>
                </a:solidFill>
                <a:latin typeface="Poppins" pitchFamily="34" charset="0"/>
                <a:ea typeface="Poppins" pitchFamily="34" charset="-122"/>
                <a:cs typeface="Poppins" pitchFamily="34" charset="-120"/>
              </a:rPr>
              <a:t>•  Stock disponible, seuil de réappro</a:t>
            </a:r>
            <a:endParaRPr lang="en-US" sz="800" dirty="0"/>
          </a:p>
        </p:txBody>
      </p:sp>
      <p:sp>
        <p:nvSpPr>
          <p:cNvPr id="51" name="Text 45"/>
          <p:cNvSpPr/>
          <p:nvPr/>
        </p:nvSpPr>
        <p:spPr>
          <a:xfrm>
            <a:off x="4846320" y="4480560"/>
            <a:ext cx="3566160" cy="201168"/>
          </a:xfrm>
          <a:prstGeom prst="rect">
            <a:avLst/>
          </a:prstGeom>
          <a:noFill/>
          <a:ln/>
        </p:spPr>
        <p:txBody>
          <a:bodyPr wrap="square" lIns="0" tIns="0" rIns="0" bIns="0" rtlCol="0" anchor="ctr"/>
          <a:lstStyle/>
          <a:p>
            <a:pPr marL="0" indent="0">
              <a:buNone/>
            </a:pPr>
            <a:r>
              <a:rPr lang="en-US" sz="750" b="1" i="1" dirty="0">
                <a:solidFill>
                  <a:srgbClr val="1677FF"/>
                </a:solidFill>
                <a:latin typeface="Poppins" pitchFamily="34" charset="0"/>
                <a:ea typeface="Poppins" pitchFamily="34" charset="-122"/>
                <a:cs typeface="Poppins" pitchFamily="34" charset="-120"/>
              </a:rPr>
              <a:t>→ Calcul de proximité et regroupement</a:t>
            </a:r>
            <a:endParaRPr lang="en-US" sz="750" dirty="0"/>
          </a:p>
        </p:txBody>
      </p:sp>
      <p:sp>
        <p:nvSpPr>
          <p:cNvPr id="52" name="Text 46"/>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28600"/>
            <a:ext cx="8229600" cy="411480"/>
          </a:xfrm>
          <a:prstGeom prst="rect">
            <a:avLst/>
          </a:prstGeom>
          <a:noFill/>
          <a:ln/>
        </p:spPr>
        <p:txBody>
          <a:bodyPr wrap="square" lIns="0" tIns="0" rIns="0" bIns="0" rtlCol="0" anchor="ctr"/>
          <a:lstStyle/>
          <a:p>
            <a:pPr marL="0" indent="0">
              <a:buNone/>
            </a:pPr>
            <a:r>
              <a:rPr lang="en-US" sz="2600" b="1" dirty="0">
                <a:solidFill>
                  <a:srgbClr val="0F172A"/>
                </a:solidFill>
                <a:latin typeface="Poppins" pitchFamily="34" charset="0"/>
                <a:ea typeface="Poppins" pitchFamily="34" charset="-122"/>
                <a:cs typeface="Poppins" pitchFamily="34" charset="-120"/>
              </a:rPr>
              <a:t>Actions à transmettre vers MHS</a:t>
            </a:r>
            <a:endParaRPr lang="en-US" sz="2600" dirty="0"/>
          </a:p>
        </p:txBody>
      </p:sp>
      <p:sp>
        <p:nvSpPr>
          <p:cNvPr id="3" name="Text 1"/>
          <p:cNvSpPr/>
          <p:nvPr/>
        </p:nvSpPr>
        <p:spPr>
          <a:xfrm>
            <a:off x="640080" y="640080"/>
            <a:ext cx="7315200" cy="228600"/>
          </a:xfrm>
          <a:prstGeom prst="rect">
            <a:avLst/>
          </a:prstGeom>
          <a:noFill/>
          <a:ln/>
        </p:spPr>
        <p:txBody>
          <a:bodyPr wrap="square" lIns="0" tIns="0" rIns="0" bIns="0" rtlCol="0" anchor="ctr"/>
          <a:lstStyle/>
          <a:p>
            <a:pPr marL="0" indent="0">
              <a:buNone/>
            </a:pPr>
            <a:r>
              <a:rPr lang="en-US" sz="1100" dirty="0">
                <a:solidFill>
                  <a:srgbClr val="6B7280"/>
                </a:solidFill>
                <a:latin typeface="Poppins" pitchFamily="34" charset="0"/>
                <a:ea typeface="Poppins" pitchFamily="34" charset="-122"/>
                <a:cs typeface="Poppins" pitchFamily="34" charset="-120"/>
              </a:rPr>
              <a:t>Endpoints POST — Écritures et validations depuis KINN</a:t>
            </a:r>
            <a:endParaRPr lang="en-US" sz="1100" dirty="0"/>
          </a:p>
        </p:txBody>
      </p:sp>
      <p:sp>
        <p:nvSpPr>
          <p:cNvPr id="4" name="Shape 2"/>
          <p:cNvSpPr/>
          <p:nvPr/>
        </p:nvSpPr>
        <p:spPr>
          <a:xfrm>
            <a:off x="502920" y="1005840"/>
            <a:ext cx="2560320" cy="3657600"/>
          </a:xfrm>
          <a:prstGeom prst="rect">
            <a:avLst/>
          </a:prstGeom>
          <a:solidFill>
            <a:srgbClr val="F7F9FC"/>
          </a:solidFill>
          <a:ln/>
          <a:effectLst>
            <a:outerShdw blurRad="76200" dist="25400" dir="8100000" algn="bl" rotWithShape="0">
              <a:srgbClr val="000000">
                <a:alpha val="6000"/>
              </a:srgbClr>
            </a:outerShdw>
          </a:effectLst>
        </p:spPr>
      </p:sp>
      <p:sp>
        <p:nvSpPr>
          <p:cNvPr id="5" name="Shape 3"/>
          <p:cNvSpPr/>
          <p:nvPr/>
        </p:nvSpPr>
        <p:spPr>
          <a:xfrm>
            <a:off x="1508760" y="1143000"/>
            <a:ext cx="548640" cy="548640"/>
          </a:xfrm>
          <a:prstGeom prst="ellipse">
            <a:avLst/>
          </a:prstGeom>
          <a:solidFill>
            <a:srgbClr val="EBF5FF"/>
          </a:solidFill>
          <a:ln/>
        </p:spPr>
      </p:sp>
      <p:pic>
        <p:nvPicPr>
          <p:cNvPr id="6" name="Image 0" descr="preencoded.png"/>
          <p:cNvPicPr>
            <a:picLocks noChangeAspect="1"/>
          </p:cNvPicPr>
          <p:nvPr/>
        </p:nvPicPr>
        <p:blipFill>
          <a:blip r:embed="rId3"/>
          <a:stretch>
            <a:fillRect/>
          </a:stretch>
        </p:blipFill>
        <p:spPr>
          <a:xfrm>
            <a:off x="1600200" y="1234440"/>
            <a:ext cx="365760" cy="365760"/>
          </a:xfrm>
          <a:prstGeom prst="rect">
            <a:avLst/>
          </a:prstGeom>
        </p:spPr>
      </p:pic>
      <p:sp>
        <p:nvSpPr>
          <p:cNvPr id="7" name="Text 4"/>
          <p:cNvSpPr/>
          <p:nvPr/>
        </p:nvSpPr>
        <p:spPr>
          <a:xfrm>
            <a:off x="594360" y="1783080"/>
            <a:ext cx="2377440" cy="320040"/>
          </a:xfrm>
          <a:prstGeom prst="rect">
            <a:avLst/>
          </a:prstGeom>
          <a:noFill/>
          <a:ln/>
        </p:spPr>
        <p:txBody>
          <a:bodyPr wrap="square" lIns="0" tIns="0" rIns="0" bIns="0" rtlCol="0" anchor="ctr"/>
          <a:lstStyle/>
          <a:p>
            <a:pPr marL="0" indent="0" algn="ctr">
              <a:buNone/>
            </a:pPr>
            <a:r>
              <a:rPr lang="en-US" sz="1200" b="1" dirty="0">
                <a:solidFill>
                  <a:srgbClr val="0F172A"/>
                </a:solidFill>
                <a:latin typeface="Poppins" pitchFamily="34" charset="0"/>
                <a:ea typeface="Poppins" pitchFamily="34" charset="-122"/>
                <a:cs typeface="Poppins" pitchFamily="34" charset="-120"/>
              </a:rPr>
              <a:t>Assignation carton maman</a:t>
            </a:r>
            <a:endParaRPr lang="en-US" sz="1200" dirty="0"/>
          </a:p>
        </p:txBody>
      </p:sp>
      <p:sp>
        <p:nvSpPr>
          <p:cNvPr id="8" name="Shape 5"/>
          <p:cNvSpPr/>
          <p:nvPr/>
        </p:nvSpPr>
        <p:spPr>
          <a:xfrm>
            <a:off x="640080" y="2148840"/>
            <a:ext cx="2286000" cy="256032"/>
          </a:xfrm>
          <a:prstGeom prst="rect">
            <a:avLst/>
          </a:prstGeom>
          <a:solidFill>
            <a:srgbClr val="EA580C"/>
          </a:solidFill>
          <a:ln/>
        </p:spPr>
      </p:sp>
      <p:sp>
        <p:nvSpPr>
          <p:cNvPr id="9" name="Text 6"/>
          <p:cNvSpPr/>
          <p:nvPr/>
        </p:nvSpPr>
        <p:spPr>
          <a:xfrm>
            <a:off x="685800" y="2148840"/>
            <a:ext cx="2194560" cy="256032"/>
          </a:xfrm>
          <a:prstGeom prst="rect">
            <a:avLst/>
          </a:prstGeom>
          <a:noFill/>
          <a:ln/>
        </p:spPr>
        <p:txBody>
          <a:bodyPr wrap="square" lIns="0" tIns="0" rIns="0" bIns="0" rtlCol="0" anchor="ctr"/>
          <a:lstStyle/>
          <a:p>
            <a:pPr marL="0" indent="0" algn="ctr">
              <a:buNone/>
            </a:pPr>
            <a:r>
              <a:rPr lang="en-US" sz="700" b="1" dirty="0">
                <a:solidFill>
                  <a:srgbClr val="FFFFFF"/>
                </a:solidFill>
                <a:latin typeface="Courier New" pitchFamily="34" charset="0"/>
                <a:ea typeface="Courier New" pitchFamily="34" charset="-122"/>
                <a:cs typeface="Courier New" pitchFamily="34" charset="-120"/>
              </a:rPr>
              <a:t>/api/slots/{slotId}/carton-maman</a:t>
            </a:r>
            <a:endParaRPr lang="en-US" sz="700" dirty="0"/>
          </a:p>
        </p:txBody>
      </p:sp>
      <p:sp>
        <p:nvSpPr>
          <p:cNvPr id="10" name="Shape 7"/>
          <p:cNvSpPr/>
          <p:nvPr/>
        </p:nvSpPr>
        <p:spPr>
          <a:xfrm>
            <a:off x="640080" y="2450592"/>
            <a:ext cx="457200" cy="182880"/>
          </a:xfrm>
          <a:prstGeom prst="rect">
            <a:avLst/>
          </a:prstGeom>
          <a:solidFill>
            <a:srgbClr val="EA580C"/>
          </a:solidFill>
          <a:ln/>
        </p:spPr>
      </p:sp>
      <p:sp>
        <p:nvSpPr>
          <p:cNvPr id="11" name="Text 8"/>
          <p:cNvSpPr/>
          <p:nvPr/>
        </p:nvSpPr>
        <p:spPr>
          <a:xfrm>
            <a:off x="640080" y="2450592"/>
            <a:ext cx="457200"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Poppins" pitchFamily="34" charset="0"/>
                <a:ea typeface="Poppins" pitchFamily="34" charset="-122"/>
                <a:cs typeface="Poppins" pitchFamily="34" charset="-120"/>
              </a:rPr>
              <a:t>POST</a:t>
            </a:r>
            <a:endParaRPr lang="en-US" sz="700" dirty="0"/>
          </a:p>
        </p:txBody>
      </p:sp>
      <p:sp>
        <p:nvSpPr>
          <p:cNvPr id="12" name="Text 9"/>
          <p:cNvSpPr/>
          <p:nvPr/>
        </p:nvSpPr>
        <p:spPr>
          <a:xfrm>
            <a:off x="640080" y="2743200"/>
            <a:ext cx="2286000" cy="594360"/>
          </a:xfrm>
          <a:prstGeom prst="rect">
            <a:avLst/>
          </a:prstGeom>
          <a:noFill/>
          <a:ln/>
        </p:spPr>
        <p:txBody>
          <a:bodyPr wrap="square" lIns="0" tIns="0" rIns="0" bIns="0" rtlCol="0" anchor="ctr"/>
          <a:lstStyle/>
          <a:p>
            <a:pPr marL="0" indent="0">
              <a:lnSpc>
                <a:spcPct val="130000"/>
              </a:lnSpc>
              <a:buNone/>
            </a:pPr>
            <a:r>
              <a:rPr lang="en-US" sz="850" dirty="0">
                <a:solidFill>
                  <a:srgbClr val="374151"/>
                </a:solidFill>
                <a:latin typeface="Poppins" pitchFamily="34" charset="0"/>
                <a:ea typeface="Poppins" pitchFamily="34" charset="-122"/>
                <a:cs typeface="Poppins" pitchFamily="34" charset="-120"/>
              </a:rPr>
              <a:t>Lorsque le préparateur commence une mission, KINN assigne un carton maman (conteneur de regroupement) au slot.</a:t>
            </a:r>
            <a:endParaRPr lang="en-US" sz="850" dirty="0"/>
          </a:p>
        </p:txBody>
      </p:sp>
      <p:sp>
        <p:nvSpPr>
          <p:cNvPr id="13" name="Text 10"/>
          <p:cNvSpPr/>
          <p:nvPr/>
        </p:nvSpPr>
        <p:spPr>
          <a:xfrm>
            <a:off x="640080" y="3383280"/>
            <a:ext cx="914400" cy="182880"/>
          </a:xfrm>
          <a:prstGeom prst="rect">
            <a:avLst/>
          </a:prstGeom>
          <a:noFill/>
          <a:ln/>
        </p:spPr>
        <p:txBody>
          <a:bodyPr wrap="square" lIns="0" tIns="0" rIns="0" bIns="0" rtlCol="0" anchor="ctr"/>
          <a:lstStyle/>
          <a:p>
            <a:pPr marL="0" indent="0">
              <a:buNone/>
            </a:pPr>
            <a:r>
              <a:rPr lang="en-US" sz="700" b="1" dirty="0">
                <a:solidFill>
                  <a:srgbClr val="6B7280"/>
                </a:solidFill>
                <a:latin typeface="Poppins" pitchFamily="34" charset="0"/>
                <a:ea typeface="Poppins" pitchFamily="34" charset="-122"/>
                <a:cs typeface="Poppins" pitchFamily="34" charset="-120"/>
              </a:rPr>
              <a:t>Payload</a:t>
            </a:r>
            <a:endParaRPr lang="en-US" sz="700" dirty="0"/>
          </a:p>
        </p:txBody>
      </p:sp>
      <p:sp>
        <p:nvSpPr>
          <p:cNvPr id="14" name="Shape 11"/>
          <p:cNvSpPr/>
          <p:nvPr/>
        </p:nvSpPr>
        <p:spPr>
          <a:xfrm>
            <a:off x="640080" y="3566160"/>
            <a:ext cx="2286000" cy="502920"/>
          </a:xfrm>
          <a:prstGeom prst="rect">
            <a:avLst/>
          </a:prstGeom>
          <a:solidFill>
            <a:srgbClr val="F0F2F5"/>
          </a:solidFill>
          <a:ln/>
        </p:spPr>
      </p:sp>
      <p:sp>
        <p:nvSpPr>
          <p:cNvPr id="15" name="Text 12"/>
          <p:cNvSpPr/>
          <p:nvPr/>
        </p:nvSpPr>
        <p:spPr>
          <a:xfrm>
            <a:off x="685800" y="3584448"/>
            <a:ext cx="2194560" cy="457200"/>
          </a:xfrm>
          <a:prstGeom prst="rect">
            <a:avLst/>
          </a:prstGeom>
          <a:noFill/>
          <a:ln/>
        </p:spPr>
        <p:txBody>
          <a:bodyPr wrap="square" lIns="0" tIns="0" rIns="0" bIns="0" rtlCol="0" anchor="ctr"/>
          <a:lstStyle/>
          <a:p>
            <a:pPr marL="0" indent="0">
              <a:lnSpc>
                <a:spcPct val="120000"/>
              </a:lnSpc>
              <a:buNone/>
            </a:pPr>
            <a:r>
              <a:rPr lang="en-US" sz="650" dirty="0">
                <a:solidFill>
                  <a:srgbClr val="0F172A"/>
                </a:solidFill>
                <a:latin typeface="Courier New" pitchFamily="34" charset="0"/>
                <a:ea typeface="Courier New" pitchFamily="34" charset="-122"/>
                <a:cs typeface="Courier New" pitchFamily="34" charset="-120"/>
              </a:rPr>
              <a:t>{ "slotId": "...", "cartonId": "CM-XXX", "operatorId": "..." }</a:t>
            </a:r>
            <a:endParaRPr lang="en-US" sz="650" dirty="0"/>
          </a:p>
        </p:txBody>
      </p:sp>
      <p:sp>
        <p:nvSpPr>
          <p:cNvPr id="16" name="Shape 13"/>
          <p:cNvSpPr/>
          <p:nvPr/>
        </p:nvSpPr>
        <p:spPr>
          <a:xfrm>
            <a:off x="640080" y="4251960"/>
            <a:ext cx="2286000" cy="274320"/>
          </a:xfrm>
          <a:prstGeom prst="rect">
            <a:avLst/>
          </a:prstGeom>
          <a:solidFill>
            <a:srgbClr val="EBF5FF"/>
          </a:solidFill>
          <a:ln/>
        </p:spPr>
      </p:sp>
      <p:sp>
        <p:nvSpPr>
          <p:cNvPr id="17" name="Text 14"/>
          <p:cNvSpPr/>
          <p:nvPr/>
        </p:nvSpPr>
        <p:spPr>
          <a:xfrm>
            <a:off x="685800" y="4251960"/>
            <a:ext cx="2194560" cy="274320"/>
          </a:xfrm>
          <a:prstGeom prst="rect">
            <a:avLst/>
          </a:prstGeom>
          <a:noFill/>
          <a:ln/>
        </p:spPr>
        <p:txBody>
          <a:bodyPr wrap="square" lIns="0" tIns="0" rIns="0" bIns="0" rtlCol="0" anchor="ctr"/>
          <a:lstStyle/>
          <a:p>
            <a:pPr marL="0" indent="0" algn="ctr">
              <a:buNone/>
            </a:pPr>
            <a:r>
              <a:rPr lang="en-US" sz="800" b="1" dirty="0">
                <a:solidFill>
                  <a:srgbClr val="1677FF"/>
                </a:solidFill>
                <a:latin typeface="Poppins" pitchFamily="34" charset="0"/>
                <a:ea typeface="Poppins" pitchFamily="34" charset="-122"/>
                <a:cs typeface="Poppins" pitchFamily="34" charset="-120"/>
              </a:rPr>
              <a:t>⚡ Début de mission groupée</a:t>
            </a:r>
            <a:endParaRPr lang="en-US" sz="800" dirty="0"/>
          </a:p>
        </p:txBody>
      </p:sp>
      <p:sp>
        <p:nvSpPr>
          <p:cNvPr id="18" name="Shape 15"/>
          <p:cNvSpPr/>
          <p:nvPr/>
        </p:nvSpPr>
        <p:spPr>
          <a:xfrm>
            <a:off x="3291840" y="1005840"/>
            <a:ext cx="2560320" cy="3657600"/>
          </a:xfrm>
          <a:prstGeom prst="rect">
            <a:avLst/>
          </a:prstGeom>
          <a:solidFill>
            <a:srgbClr val="F7F9FC"/>
          </a:solidFill>
          <a:ln/>
          <a:effectLst>
            <a:outerShdw blurRad="76200" dist="25400" dir="8100000" algn="bl" rotWithShape="0">
              <a:srgbClr val="000000">
                <a:alpha val="6000"/>
              </a:srgbClr>
            </a:outerShdw>
          </a:effectLst>
        </p:spPr>
      </p:sp>
      <p:sp>
        <p:nvSpPr>
          <p:cNvPr id="19" name="Shape 16"/>
          <p:cNvSpPr/>
          <p:nvPr/>
        </p:nvSpPr>
        <p:spPr>
          <a:xfrm>
            <a:off x="4297680" y="1143000"/>
            <a:ext cx="548640" cy="548640"/>
          </a:xfrm>
          <a:prstGeom prst="ellipse">
            <a:avLst/>
          </a:prstGeom>
          <a:solidFill>
            <a:srgbClr val="EBF5FF"/>
          </a:solidFill>
          <a:ln/>
        </p:spPr>
      </p:sp>
      <p:pic>
        <p:nvPicPr>
          <p:cNvPr id="20" name="Image 1" descr="preencoded.png"/>
          <p:cNvPicPr>
            <a:picLocks noChangeAspect="1"/>
          </p:cNvPicPr>
          <p:nvPr/>
        </p:nvPicPr>
        <p:blipFill>
          <a:blip r:embed="rId4"/>
          <a:stretch>
            <a:fillRect/>
          </a:stretch>
        </p:blipFill>
        <p:spPr>
          <a:xfrm>
            <a:off x="4389120" y="1234440"/>
            <a:ext cx="365760" cy="365760"/>
          </a:xfrm>
          <a:prstGeom prst="rect">
            <a:avLst/>
          </a:prstGeom>
        </p:spPr>
      </p:pic>
      <p:sp>
        <p:nvSpPr>
          <p:cNvPr id="21" name="Text 17"/>
          <p:cNvSpPr/>
          <p:nvPr/>
        </p:nvSpPr>
        <p:spPr>
          <a:xfrm>
            <a:off x="3383280" y="1783080"/>
            <a:ext cx="2377440" cy="320040"/>
          </a:xfrm>
          <a:prstGeom prst="rect">
            <a:avLst/>
          </a:prstGeom>
          <a:noFill/>
          <a:ln/>
        </p:spPr>
        <p:txBody>
          <a:bodyPr wrap="square" lIns="0" tIns="0" rIns="0" bIns="0" rtlCol="0" anchor="ctr"/>
          <a:lstStyle/>
          <a:p>
            <a:pPr marL="0" indent="0" algn="ctr">
              <a:buNone/>
            </a:pPr>
            <a:r>
              <a:rPr lang="en-US" sz="1200" b="1" dirty="0">
                <a:solidFill>
                  <a:srgbClr val="0F172A"/>
                </a:solidFill>
                <a:latin typeface="Poppins" pitchFamily="34" charset="0"/>
                <a:ea typeface="Poppins" pitchFamily="34" charset="-122"/>
                <a:cs typeface="Poppins" pitchFamily="34" charset="-120"/>
              </a:rPr>
              <a:t>Validation du picking (ligne)</a:t>
            </a:r>
            <a:endParaRPr lang="en-US" sz="1200" dirty="0"/>
          </a:p>
        </p:txBody>
      </p:sp>
      <p:sp>
        <p:nvSpPr>
          <p:cNvPr id="22" name="Shape 18"/>
          <p:cNvSpPr/>
          <p:nvPr/>
        </p:nvSpPr>
        <p:spPr>
          <a:xfrm>
            <a:off x="3429000" y="2148840"/>
            <a:ext cx="2286000" cy="256032"/>
          </a:xfrm>
          <a:prstGeom prst="rect">
            <a:avLst/>
          </a:prstGeom>
          <a:solidFill>
            <a:srgbClr val="EA580C"/>
          </a:solidFill>
          <a:ln/>
        </p:spPr>
      </p:sp>
      <p:sp>
        <p:nvSpPr>
          <p:cNvPr id="23" name="Text 19"/>
          <p:cNvSpPr/>
          <p:nvPr/>
        </p:nvSpPr>
        <p:spPr>
          <a:xfrm>
            <a:off x="3474720" y="2148840"/>
            <a:ext cx="2194560" cy="256032"/>
          </a:xfrm>
          <a:prstGeom prst="rect">
            <a:avLst/>
          </a:prstGeom>
          <a:noFill/>
          <a:ln/>
        </p:spPr>
        <p:txBody>
          <a:bodyPr wrap="square" lIns="0" tIns="0" rIns="0" bIns="0" rtlCol="0" anchor="ctr"/>
          <a:lstStyle/>
          <a:p>
            <a:pPr marL="0" indent="0" algn="ctr">
              <a:buNone/>
            </a:pPr>
            <a:r>
              <a:rPr lang="en-US" sz="700" b="1" dirty="0">
                <a:solidFill>
                  <a:srgbClr val="FFFFFF"/>
                </a:solidFill>
                <a:latin typeface="Courier New" pitchFamily="34" charset="0"/>
                <a:ea typeface="Courier New" pitchFamily="34" charset="-122"/>
                <a:cs typeface="Courier New" pitchFamily="34" charset="-120"/>
              </a:rPr>
              <a:t>/api/slots/{slotId}/lines/{lineId}/pick</a:t>
            </a:r>
            <a:endParaRPr lang="en-US" sz="700" dirty="0"/>
          </a:p>
        </p:txBody>
      </p:sp>
      <p:sp>
        <p:nvSpPr>
          <p:cNvPr id="24" name="Shape 20"/>
          <p:cNvSpPr/>
          <p:nvPr/>
        </p:nvSpPr>
        <p:spPr>
          <a:xfrm>
            <a:off x="3429000" y="2450592"/>
            <a:ext cx="457200" cy="182880"/>
          </a:xfrm>
          <a:prstGeom prst="rect">
            <a:avLst/>
          </a:prstGeom>
          <a:solidFill>
            <a:srgbClr val="EA580C"/>
          </a:solidFill>
          <a:ln/>
        </p:spPr>
      </p:sp>
      <p:sp>
        <p:nvSpPr>
          <p:cNvPr id="25" name="Text 21"/>
          <p:cNvSpPr/>
          <p:nvPr/>
        </p:nvSpPr>
        <p:spPr>
          <a:xfrm>
            <a:off x="3429000" y="2450592"/>
            <a:ext cx="457200"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Poppins" pitchFamily="34" charset="0"/>
                <a:ea typeface="Poppins" pitchFamily="34" charset="-122"/>
                <a:cs typeface="Poppins" pitchFamily="34" charset="-120"/>
              </a:rPr>
              <a:t>POST</a:t>
            </a:r>
            <a:endParaRPr lang="en-US" sz="700" dirty="0"/>
          </a:p>
        </p:txBody>
      </p:sp>
      <p:sp>
        <p:nvSpPr>
          <p:cNvPr id="26" name="Text 22"/>
          <p:cNvSpPr/>
          <p:nvPr/>
        </p:nvSpPr>
        <p:spPr>
          <a:xfrm>
            <a:off x="3429000" y="2743200"/>
            <a:ext cx="2286000" cy="594360"/>
          </a:xfrm>
          <a:prstGeom prst="rect">
            <a:avLst/>
          </a:prstGeom>
          <a:noFill/>
          <a:ln/>
        </p:spPr>
        <p:txBody>
          <a:bodyPr wrap="square" lIns="0" tIns="0" rIns="0" bIns="0" rtlCol="0" anchor="ctr"/>
          <a:lstStyle/>
          <a:p>
            <a:pPr marL="0" indent="0">
              <a:lnSpc>
                <a:spcPct val="130000"/>
              </a:lnSpc>
              <a:buNone/>
            </a:pPr>
            <a:r>
              <a:rPr lang="en-US" sz="850" dirty="0">
                <a:solidFill>
                  <a:srgbClr val="374151"/>
                </a:solidFill>
                <a:latin typeface="Poppins" pitchFamily="34" charset="0"/>
                <a:ea typeface="Poppins" pitchFamily="34" charset="-122"/>
                <a:cs typeface="Poppins" pitchFamily="34" charset="-120"/>
              </a:rPr>
              <a:t>Après scan d'un article par le préparateur, KINN valide la ligne de picking auprès de MHS.</a:t>
            </a:r>
            <a:endParaRPr lang="en-US" sz="850" dirty="0"/>
          </a:p>
        </p:txBody>
      </p:sp>
      <p:sp>
        <p:nvSpPr>
          <p:cNvPr id="27" name="Text 23"/>
          <p:cNvSpPr/>
          <p:nvPr/>
        </p:nvSpPr>
        <p:spPr>
          <a:xfrm>
            <a:off x="3429000" y="3383280"/>
            <a:ext cx="914400" cy="182880"/>
          </a:xfrm>
          <a:prstGeom prst="rect">
            <a:avLst/>
          </a:prstGeom>
          <a:noFill/>
          <a:ln/>
        </p:spPr>
        <p:txBody>
          <a:bodyPr wrap="square" lIns="0" tIns="0" rIns="0" bIns="0" rtlCol="0" anchor="ctr"/>
          <a:lstStyle/>
          <a:p>
            <a:pPr marL="0" indent="0">
              <a:buNone/>
            </a:pPr>
            <a:r>
              <a:rPr lang="en-US" sz="700" b="1" dirty="0">
                <a:solidFill>
                  <a:srgbClr val="6B7280"/>
                </a:solidFill>
                <a:latin typeface="Poppins" pitchFamily="34" charset="0"/>
                <a:ea typeface="Poppins" pitchFamily="34" charset="-122"/>
                <a:cs typeface="Poppins" pitchFamily="34" charset="-120"/>
              </a:rPr>
              <a:t>Payload</a:t>
            </a:r>
            <a:endParaRPr lang="en-US" sz="700" dirty="0"/>
          </a:p>
        </p:txBody>
      </p:sp>
      <p:sp>
        <p:nvSpPr>
          <p:cNvPr id="28" name="Shape 24"/>
          <p:cNvSpPr/>
          <p:nvPr/>
        </p:nvSpPr>
        <p:spPr>
          <a:xfrm>
            <a:off x="3429000" y="3566160"/>
            <a:ext cx="2286000" cy="502920"/>
          </a:xfrm>
          <a:prstGeom prst="rect">
            <a:avLst/>
          </a:prstGeom>
          <a:solidFill>
            <a:srgbClr val="F0F2F5"/>
          </a:solidFill>
          <a:ln/>
        </p:spPr>
      </p:sp>
      <p:sp>
        <p:nvSpPr>
          <p:cNvPr id="29" name="Text 25"/>
          <p:cNvSpPr/>
          <p:nvPr/>
        </p:nvSpPr>
        <p:spPr>
          <a:xfrm>
            <a:off x="3474720" y="3584448"/>
            <a:ext cx="2194560" cy="457200"/>
          </a:xfrm>
          <a:prstGeom prst="rect">
            <a:avLst/>
          </a:prstGeom>
          <a:noFill/>
          <a:ln/>
        </p:spPr>
        <p:txBody>
          <a:bodyPr wrap="square" lIns="0" tIns="0" rIns="0" bIns="0" rtlCol="0" anchor="ctr"/>
          <a:lstStyle/>
          <a:p>
            <a:pPr marL="0" indent="0">
              <a:lnSpc>
                <a:spcPct val="120000"/>
              </a:lnSpc>
              <a:buNone/>
            </a:pPr>
            <a:r>
              <a:rPr lang="en-US" sz="650" dirty="0">
                <a:solidFill>
                  <a:srgbClr val="0F172A"/>
                </a:solidFill>
                <a:latin typeface="Courier New" pitchFamily="34" charset="0"/>
                <a:ea typeface="Courier New" pitchFamily="34" charset="-122"/>
                <a:cs typeface="Courier New" pitchFamily="34" charset="-120"/>
              </a:rPr>
              <a:t>{ "lineId": "...", "qty": 5, "scannedRef": "...", "timestamp": "..." }</a:t>
            </a:r>
            <a:endParaRPr lang="en-US" sz="650" dirty="0"/>
          </a:p>
        </p:txBody>
      </p:sp>
      <p:sp>
        <p:nvSpPr>
          <p:cNvPr id="30" name="Shape 26"/>
          <p:cNvSpPr/>
          <p:nvPr/>
        </p:nvSpPr>
        <p:spPr>
          <a:xfrm>
            <a:off x="3429000" y="4251960"/>
            <a:ext cx="2286000" cy="274320"/>
          </a:xfrm>
          <a:prstGeom prst="rect">
            <a:avLst/>
          </a:prstGeom>
          <a:solidFill>
            <a:srgbClr val="EBF5FF"/>
          </a:solidFill>
          <a:ln/>
        </p:spPr>
      </p:sp>
      <p:sp>
        <p:nvSpPr>
          <p:cNvPr id="31" name="Text 27"/>
          <p:cNvSpPr/>
          <p:nvPr/>
        </p:nvSpPr>
        <p:spPr>
          <a:xfrm>
            <a:off x="3474720" y="4251960"/>
            <a:ext cx="2194560" cy="274320"/>
          </a:xfrm>
          <a:prstGeom prst="rect">
            <a:avLst/>
          </a:prstGeom>
          <a:noFill/>
          <a:ln/>
        </p:spPr>
        <p:txBody>
          <a:bodyPr wrap="square" lIns="0" tIns="0" rIns="0" bIns="0" rtlCol="0" anchor="ctr"/>
          <a:lstStyle/>
          <a:p>
            <a:pPr marL="0" indent="0" algn="ctr">
              <a:buNone/>
            </a:pPr>
            <a:r>
              <a:rPr lang="en-US" sz="800" b="1" dirty="0">
                <a:solidFill>
                  <a:srgbClr val="1677FF"/>
                </a:solidFill>
                <a:latin typeface="Poppins" pitchFamily="34" charset="0"/>
                <a:ea typeface="Poppins" pitchFamily="34" charset="-122"/>
                <a:cs typeface="Poppins" pitchFamily="34" charset="-120"/>
              </a:rPr>
              <a:t>⚡ Scan article par préparateur</a:t>
            </a:r>
            <a:endParaRPr lang="en-US" sz="800" dirty="0"/>
          </a:p>
        </p:txBody>
      </p:sp>
      <p:sp>
        <p:nvSpPr>
          <p:cNvPr id="32" name="Shape 28"/>
          <p:cNvSpPr/>
          <p:nvPr/>
        </p:nvSpPr>
        <p:spPr>
          <a:xfrm>
            <a:off x="6080760" y="1005840"/>
            <a:ext cx="2560320" cy="3657600"/>
          </a:xfrm>
          <a:prstGeom prst="rect">
            <a:avLst/>
          </a:prstGeom>
          <a:solidFill>
            <a:srgbClr val="F7F9FC"/>
          </a:solidFill>
          <a:ln/>
          <a:effectLst>
            <a:outerShdw blurRad="76200" dist="25400" dir="8100000" algn="bl" rotWithShape="0">
              <a:srgbClr val="000000">
                <a:alpha val="6000"/>
              </a:srgbClr>
            </a:outerShdw>
          </a:effectLst>
        </p:spPr>
      </p:sp>
      <p:sp>
        <p:nvSpPr>
          <p:cNvPr id="33" name="Shape 29"/>
          <p:cNvSpPr/>
          <p:nvPr/>
        </p:nvSpPr>
        <p:spPr>
          <a:xfrm>
            <a:off x="7086600" y="1143000"/>
            <a:ext cx="548640" cy="548640"/>
          </a:xfrm>
          <a:prstGeom prst="ellipse">
            <a:avLst/>
          </a:prstGeom>
          <a:solidFill>
            <a:srgbClr val="EBF5FF"/>
          </a:solidFill>
          <a:ln/>
        </p:spPr>
      </p:sp>
      <p:pic>
        <p:nvPicPr>
          <p:cNvPr id="34" name="Image 2" descr="preencoded.png"/>
          <p:cNvPicPr>
            <a:picLocks noChangeAspect="1"/>
          </p:cNvPicPr>
          <p:nvPr/>
        </p:nvPicPr>
        <p:blipFill>
          <a:blip r:embed="rId5"/>
          <a:stretch>
            <a:fillRect/>
          </a:stretch>
        </p:blipFill>
        <p:spPr>
          <a:xfrm>
            <a:off x="7178040" y="1234440"/>
            <a:ext cx="365760" cy="365760"/>
          </a:xfrm>
          <a:prstGeom prst="rect">
            <a:avLst/>
          </a:prstGeom>
        </p:spPr>
      </p:pic>
      <p:sp>
        <p:nvSpPr>
          <p:cNvPr id="35" name="Text 30"/>
          <p:cNvSpPr/>
          <p:nvPr/>
        </p:nvSpPr>
        <p:spPr>
          <a:xfrm>
            <a:off x="6172200" y="1783080"/>
            <a:ext cx="2377440" cy="320040"/>
          </a:xfrm>
          <a:prstGeom prst="rect">
            <a:avLst/>
          </a:prstGeom>
          <a:noFill/>
          <a:ln/>
        </p:spPr>
        <p:txBody>
          <a:bodyPr wrap="square" lIns="0" tIns="0" rIns="0" bIns="0" rtlCol="0" anchor="ctr"/>
          <a:lstStyle/>
          <a:p>
            <a:pPr marL="0" indent="0" algn="ctr">
              <a:buNone/>
            </a:pPr>
            <a:r>
              <a:rPr lang="en-US" sz="1200" b="1" dirty="0">
                <a:solidFill>
                  <a:srgbClr val="0F172A"/>
                </a:solidFill>
                <a:latin typeface="Poppins" pitchFamily="34" charset="0"/>
                <a:ea typeface="Poppins" pitchFamily="34" charset="-122"/>
                <a:cs typeface="Poppins" pitchFamily="34" charset="-120"/>
              </a:rPr>
              <a:t>Validation préparation (slot complet)</a:t>
            </a:r>
            <a:endParaRPr lang="en-US" sz="1200" dirty="0"/>
          </a:p>
        </p:txBody>
      </p:sp>
      <p:sp>
        <p:nvSpPr>
          <p:cNvPr id="36" name="Shape 31"/>
          <p:cNvSpPr/>
          <p:nvPr/>
        </p:nvSpPr>
        <p:spPr>
          <a:xfrm>
            <a:off x="6217920" y="2148840"/>
            <a:ext cx="2286000" cy="256032"/>
          </a:xfrm>
          <a:prstGeom prst="rect">
            <a:avLst/>
          </a:prstGeom>
          <a:solidFill>
            <a:srgbClr val="EA580C"/>
          </a:solidFill>
          <a:ln/>
        </p:spPr>
      </p:sp>
      <p:sp>
        <p:nvSpPr>
          <p:cNvPr id="37" name="Text 32"/>
          <p:cNvSpPr/>
          <p:nvPr/>
        </p:nvSpPr>
        <p:spPr>
          <a:xfrm>
            <a:off x="6263640" y="2148840"/>
            <a:ext cx="2194560" cy="256032"/>
          </a:xfrm>
          <a:prstGeom prst="rect">
            <a:avLst/>
          </a:prstGeom>
          <a:noFill/>
          <a:ln/>
        </p:spPr>
        <p:txBody>
          <a:bodyPr wrap="square" lIns="0" tIns="0" rIns="0" bIns="0" rtlCol="0" anchor="ctr"/>
          <a:lstStyle/>
          <a:p>
            <a:pPr marL="0" indent="0" algn="ctr">
              <a:buNone/>
            </a:pPr>
            <a:r>
              <a:rPr lang="en-US" sz="700" b="1" dirty="0">
                <a:solidFill>
                  <a:srgbClr val="FFFFFF"/>
                </a:solidFill>
                <a:latin typeface="Courier New" pitchFamily="34" charset="0"/>
                <a:ea typeface="Courier New" pitchFamily="34" charset="-122"/>
                <a:cs typeface="Courier New" pitchFamily="34" charset="-120"/>
              </a:rPr>
              <a:t>/api/slots/{slotId}/complete</a:t>
            </a:r>
            <a:endParaRPr lang="en-US" sz="700" dirty="0"/>
          </a:p>
        </p:txBody>
      </p:sp>
      <p:sp>
        <p:nvSpPr>
          <p:cNvPr id="38" name="Shape 33"/>
          <p:cNvSpPr/>
          <p:nvPr/>
        </p:nvSpPr>
        <p:spPr>
          <a:xfrm>
            <a:off x="6217920" y="2450592"/>
            <a:ext cx="457200" cy="182880"/>
          </a:xfrm>
          <a:prstGeom prst="rect">
            <a:avLst/>
          </a:prstGeom>
          <a:solidFill>
            <a:srgbClr val="EA580C"/>
          </a:solidFill>
          <a:ln/>
        </p:spPr>
      </p:sp>
      <p:sp>
        <p:nvSpPr>
          <p:cNvPr id="39" name="Text 34"/>
          <p:cNvSpPr/>
          <p:nvPr/>
        </p:nvSpPr>
        <p:spPr>
          <a:xfrm>
            <a:off x="6217920" y="2450592"/>
            <a:ext cx="457200"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Poppins" pitchFamily="34" charset="0"/>
                <a:ea typeface="Poppins" pitchFamily="34" charset="-122"/>
                <a:cs typeface="Poppins" pitchFamily="34" charset="-120"/>
              </a:rPr>
              <a:t>POST</a:t>
            </a:r>
            <a:endParaRPr lang="en-US" sz="700" dirty="0"/>
          </a:p>
        </p:txBody>
      </p:sp>
      <p:sp>
        <p:nvSpPr>
          <p:cNvPr id="40" name="Text 35"/>
          <p:cNvSpPr/>
          <p:nvPr/>
        </p:nvSpPr>
        <p:spPr>
          <a:xfrm>
            <a:off x="6217920" y="2743200"/>
            <a:ext cx="2286000" cy="594360"/>
          </a:xfrm>
          <a:prstGeom prst="rect">
            <a:avLst/>
          </a:prstGeom>
          <a:noFill/>
          <a:ln/>
        </p:spPr>
        <p:txBody>
          <a:bodyPr wrap="square" lIns="0" tIns="0" rIns="0" bIns="0" rtlCol="0" anchor="ctr"/>
          <a:lstStyle/>
          <a:p>
            <a:pPr marL="0" indent="0">
              <a:lnSpc>
                <a:spcPct val="130000"/>
              </a:lnSpc>
              <a:buNone/>
            </a:pPr>
            <a:r>
              <a:rPr lang="en-US" sz="850" dirty="0">
                <a:solidFill>
                  <a:srgbClr val="374151"/>
                </a:solidFill>
                <a:latin typeface="Poppins" pitchFamily="34" charset="0"/>
                <a:ea typeface="Poppins" pitchFamily="34" charset="-122"/>
                <a:cs typeface="Poppins" pitchFamily="34" charset="-120"/>
              </a:rPr>
              <a:t>Quand toutes les lignes d'un slot sont pickées, KINN envoie la validation complète à MHS pour clôture.</a:t>
            </a:r>
            <a:endParaRPr lang="en-US" sz="850" dirty="0"/>
          </a:p>
        </p:txBody>
      </p:sp>
      <p:sp>
        <p:nvSpPr>
          <p:cNvPr id="41" name="Text 36"/>
          <p:cNvSpPr/>
          <p:nvPr/>
        </p:nvSpPr>
        <p:spPr>
          <a:xfrm>
            <a:off x="6217920" y="3383280"/>
            <a:ext cx="914400" cy="182880"/>
          </a:xfrm>
          <a:prstGeom prst="rect">
            <a:avLst/>
          </a:prstGeom>
          <a:noFill/>
          <a:ln/>
        </p:spPr>
        <p:txBody>
          <a:bodyPr wrap="square" lIns="0" tIns="0" rIns="0" bIns="0" rtlCol="0" anchor="ctr"/>
          <a:lstStyle/>
          <a:p>
            <a:pPr marL="0" indent="0">
              <a:buNone/>
            </a:pPr>
            <a:r>
              <a:rPr lang="en-US" sz="700" b="1" dirty="0">
                <a:solidFill>
                  <a:srgbClr val="6B7280"/>
                </a:solidFill>
                <a:latin typeface="Poppins" pitchFamily="34" charset="0"/>
                <a:ea typeface="Poppins" pitchFamily="34" charset="-122"/>
                <a:cs typeface="Poppins" pitchFamily="34" charset="-120"/>
              </a:rPr>
              <a:t>Payload</a:t>
            </a:r>
            <a:endParaRPr lang="en-US" sz="700" dirty="0"/>
          </a:p>
        </p:txBody>
      </p:sp>
      <p:sp>
        <p:nvSpPr>
          <p:cNvPr id="42" name="Shape 37"/>
          <p:cNvSpPr/>
          <p:nvPr/>
        </p:nvSpPr>
        <p:spPr>
          <a:xfrm>
            <a:off x="6217920" y="3566160"/>
            <a:ext cx="2286000" cy="502920"/>
          </a:xfrm>
          <a:prstGeom prst="rect">
            <a:avLst/>
          </a:prstGeom>
          <a:solidFill>
            <a:srgbClr val="F0F2F5"/>
          </a:solidFill>
          <a:ln/>
        </p:spPr>
      </p:sp>
      <p:sp>
        <p:nvSpPr>
          <p:cNvPr id="43" name="Text 38"/>
          <p:cNvSpPr/>
          <p:nvPr/>
        </p:nvSpPr>
        <p:spPr>
          <a:xfrm>
            <a:off x="6263640" y="3584448"/>
            <a:ext cx="2194560" cy="457200"/>
          </a:xfrm>
          <a:prstGeom prst="rect">
            <a:avLst/>
          </a:prstGeom>
          <a:noFill/>
          <a:ln/>
        </p:spPr>
        <p:txBody>
          <a:bodyPr wrap="square" lIns="0" tIns="0" rIns="0" bIns="0" rtlCol="0" anchor="ctr"/>
          <a:lstStyle/>
          <a:p>
            <a:pPr marL="0" indent="0">
              <a:lnSpc>
                <a:spcPct val="120000"/>
              </a:lnSpc>
              <a:buNone/>
            </a:pPr>
            <a:r>
              <a:rPr lang="en-US" sz="650" dirty="0">
                <a:solidFill>
                  <a:srgbClr val="0F172A"/>
                </a:solidFill>
                <a:latin typeface="Courier New" pitchFamily="34" charset="0"/>
                <a:ea typeface="Courier New" pitchFamily="34" charset="-122"/>
                <a:cs typeface="Courier New" pitchFamily="34" charset="-120"/>
              </a:rPr>
              <a:t>{ "slotId": "...", "cartonId": "...", "completedAt": "...", "operator": "..." }</a:t>
            </a:r>
            <a:endParaRPr lang="en-US" sz="650" dirty="0"/>
          </a:p>
        </p:txBody>
      </p:sp>
      <p:sp>
        <p:nvSpPr>
          <p:cNvPr id="44" name="Shape 39"/>
          <p:cNvSpPr/>
          <p:nvPr/>
        </p:nvSpPr>
        <p:spPr>
          <a:xfrm>
            <a:off x="6217920" y="4251960"/>
            <a:ext cx="2286000" cy="274320"/>
          </a:xfrm>
          <a:prstGeom prst="rect">
            <a:avLst/>
          </a:prstGeom>
          <a:solidFill>
            <a:srgbClr val="EBF5FF"/>
          </a:solidFill>
          <a:ln/>
        </p:spPr>
      </p:sp>
      <p:sp>
        <p:nvSpPr>
          <p:cNvPr id="45" name="Text 40"/>
          <p:cNvSpPr/>
          <p:nvPr/>
        </p:nvSpPr>
        <p:spPr>
          <a:xfrm>
            <a:off x="6263640" y="4251960"/>
            <a:ext cx="2194560" cy="274320"/>
          </a:xfrm>
          <a:prstGeom prst="rect">
            <a:avLst/>
          </a:prstGeom>
          <a:noFill/>
          <a:ln/>
        </p:spPr>
        <p:txBody>
          <a:bodyPr wrap="square" lIns="0" tIns="0" rIns="0" bIns="0" rtlCol="0" anchor="ctr"/>
          <a:lstStyle/>
          <a:p>
            <a:pPr marL="0" indent="0" algn="ctr">
              <a:buNone/>
            </a:pPr>
            <a:r>
              <a:rPr lang="en-US" sz="800" b="1" dirty="0">
                <a:solidFill>
                  <a:srgbClr val="1677FF"/>
                </a:solidFill>
                <a:latin typeface="Poppins" pitchFamily="34" charset="0"/>
                <a:ea typeface="Poppins" pitchFamily="34" charset="-122"/>
                <a:cs typeface="Poppins" pitchFamily="34" charset="-120"/>
              </a:rPr>
              <a:t>⚡ Toutes les lignes du slot pickées</a:t>
            </a:r>
            <a:endParaRPr lang="en-US" sz="800" dirty="0"/>
          </a:p>
        </p:txBody>
      </p:sp>
      <p:sp>
        <p:nvSpPr>
          <p:cNvPr id="46" name="Text 41"/>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28600"/>
            <a:ext cx="8229600" cy="411480"/>
          </a:xfrm>
          <a:prstGeom prst="rect">
            <a:avLst/>
          </a:prstGeom>
          <a:noFill/>
          <a:ln/>
        </p:spPr>
        <p:txBody>
          <a:bodyPr wrap="square" lIns="0" tIns="0" rIns="0" bIns="0" rtlCol="0" anchor="ctr"/>
          <a:lstStyle/>
          <a:p>
            <a:pPr marL="0" indent="0">
              <a:buNone/>
            </a:pPr>
            <a:r>
              <a:rPr lang="en-US" sz="2600" b="1" dirty="0">
                <a:solidFill>
                  <a:srgbClr val="0F172A"/>
                </a:solidFill>
                <a:latin typeface="Poppins" pitchFamily="34" charset="0"/>
                <a:ea typeface="Poppins" pitchFamily="34" charset="-122"/>
                <a:cs typeface="Poppins" pitchFamily="34" charset="-120"/>
              </a:rPr>
              <a:t>Flux opérationnel détaillé</a:t>
            </a:r>
            <a:endParaRPr lang="en-US" sz="2600" dirty="0"/>
          </a:p>
        </p:txBody>
      </p:sp>
      <p:sp>
        <p:nvSpPr>
          <p:cNvPr id="3" name="Text 1"/>
          <p:cNvSpPr/>
          <p:nvPr/>
        </p:nvSpPr>
        <p:spPr>
          <a:xfrm>
            <a:off x="640080" y="640080"/>
            <a:ext cx="7315200" cy="228600"/>
          </a:xfrm>
          <a:prstGeom prst="rect">
            <a:avLst/>
          </a:prstGeom>
          <a:noFill/>
          <a:ln/>
        </p:spPr>
        <p:txBody>
          <a:bodyPr wrap="square" lIns="0" tIns="0" rIns="0" bIns="0" rtlCol="0" anchor="ctr"/>
          <a:lstStyle/>
          <a:p>
            <a:pPr marL="0" indent="0">
              <a:buNone/>
            </a:pPr>
            <a:r>
              <a:rPr lang="en-US" sz="1100" dirty="0">
                <a:solidFill>
                  <a:srgbClr val="6B7280"/>
                </a:solidFill>
                <a:latin typeface="Poppins" pitchFamily="34" charset="0"/>
                <a:ea typeface="Poppins" pitchFamily="34" charset="-122"/>
                <a:cs typeface="Poppins" pitchFamily="34" charset="-120"/>
              </a:rPr>
              <a:t>Parcours complet d'une mission de préparation optimisée</a:t>
            </a:r>
            <a:endParaRPr lang="en-US" sz="1100" dirty="0"/>
          </a:p>
        </p:txBody>
      </p:sp>
      <p:sp>
        <p:nvSpPr>
          <p:cNvPr id="4" name="Shape 2"/>
          <p:cNvSpPr/>
          <p:nvPr/>
        </p:nvSpPr>
        <p:spPr>
          <a:xfrm>
            <a:off x="1165860" y="1097280"/>
            <a:ext cx="411480" cy="411480"/>
          </a:xfrm>
          <a:prstGeom prst="ellipse">
            <a:avLst/>
          </a:prstGeom>
          <a:solidFill>
            <a:srgbClr val="1E3A5F"/>
          </a:solidFill>
          <a:ln/>
        </p:spPr>
      </p:sp>
      <p:sp>
        <p:nvSpPr>
          <p:cNvPr id="5" name="Text 3"/>
          <p:cNvSpPr/>
          <p:nvPr/>
        </p:nvSpPr>
        <p:spPr>
          <a:xfrm>
            <a:off x="1165860" y="10972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Poppins" pitchFamily="34" charset="0"/>
                <a:ea typeface="Poppins" pitchFamily="34" charset="-122"/>
                <a:cs typeface="Poppins" pitchFamily="34" charset="-120"/>
              </a:rPr>
              <a:t>1</a:t>
            </a:r>
            <a:endParaRPr lang="en-US" sz="1600" dirty="0"/>
          </a:p>
        </p:txBody>
      </p:sp>
      <p:sp>
        <p:nvSpPr>
          <p:cNvPr id="6" name="Shape 4"/>
          <p:cNvSpPr/>
          <p:nvPr/>
        </p:nvSpPr>
        <p:spPr>
          <a:xfrm>
            <a:off x="662940" y="1645920"/>
            <a:ext cx="1417320" cy="1645920"/>
          </a:xfrm>
          <a:prstGeom prst="rect">
            <a:avLst/>
          </a:prstGeom>
          <a:solidFill>
            <a:srgbClr val="F7F9FC"/>
          </a:solidFill>
          <a:ln/>
          <a:effectLst>
            <a:outerShdw blurRad="76200" dist="25400" dir="8100000" algn="bl" rotWithShape="0">
              <a:srgbClr val="000000">
                <a:alpha val="6000"/>
              </a:srgbClr>
            </a:outerShdw>
          </a:effectLst>
        </p:spPr>
      </p:sp>
      <p:pic>
        <p:nvPicPr>
          <p:cNvPr id="7" name="Image 0" descr="preencoded.png"/>
          <p:cNvPicPr>
            <a:picLocks noChangeAspect="1"/>
          </p:cNvPicPr>
          <p:nvPr/>
        </p:nvPicPr>
        <p:blipFill>
          <a:blip r:embed="rId3"/>
          <a:stretch>
            <a:fillRect/>
          </a:stretch>
        </p:blipFill>
        <p:spPr>
          <a:xfrm>
            <a:off x="1165860" y="1755648"/>
            <a:ext cx="365760" cy="365760"/>
          </a:xfrm>
          <a:prstGeom prst="rect">
            <a:avLst/>
          </a:prstGeom>
        </p:spPr>
      </p:pic>
      <p:sp>
        <p:nvSpPr>
          <p:cNvPr id="8" name="Text 5"/>
          <p:cNvSpPr/>
          <p:nvPr/>
        </p:nvSpPr>
        <p:spPr>
          <a:xfrm>
            <a:off x="662940" y="2148840"/>
            <a:ext cx="1417320" cy="274320"/>
          </a:xfrm>
          <a:prstGeom prst="rect">
            <a:avLst/>
          </a:prstGeom>
          <a:noFill/>
          <a:ln/>
        </p:spPr>
        <p:txBody>
          <a:bodyPr wrap="square" lIns="0" tIns="0" rIns="0" bIns="0" rtlCol="0" anchor="ctr"/>
          <a:lstStyle/>
          <a:p>
            <a:pPr marL="0" indent="0" algn="ctr">
              <a:buNone/>
            </a:pPr>
            <a:r>
              <a:rPr lang="en-US" sz="1100" b="1" dirty="0">
                <a:solidFill>
                  <a:srgbClr val="1E3A5F"/>
                </a:solidFill>
                <a:latin typeface="Poppins" pitchFamily="34" charset="0"/>
                <a:ea typeface="Poppins" pitchFamily="34" charset="-122"/>
                <a:cs typeface="Poppins" pitchFamily="34" charset="-120"/>
              </a:rPr>
              <a:t>Récupération</a:t>
            </a:r>
            <a:endParaRPr lang="en-US" sz="1100" dirty="0"/>
          </a:p>
        </p:txBody>
      </p:sp>
      <p:sp>
        <p:nvSpPr>
          <p:cNvPr id="9" name="Text 6"/>
          <p:cNvSpPr/>
          <p:nvPr/>
        </p:nvSpPr>
        <p:spPr>
          <a:xfrm>
            <a:off x="708660" y="2423160"/>
            <a:ext cx="1325880" cy="777240"/>
          </a:xfrm>
          <a:prstGeom prst="rect">
            <a:avLst/>
          </a:prstGeom>
          <a:noFill/>
          <a:ln/>
        </p:spPr>
        <p:txBody>
          <a:bodyPr wrap="square" lIns="0" tIns="0" rIns="0" bIns="0" rtlCol="0" anchor="ctr"/>
          <a:lstStyle/>
          <a:p>
            <a:pPr marL="0" indent="0" algn="ctr">
              <a:lnSpc>
                <a:spcPct val="130000"/>
              </a:lnSpc>
              <a:buNone/>
            </a:pPr>
            <a:r>
              <a:rPr lang="en-US" sz="800" dirty="0">
                <a:solidFill>
                  <a:srgbClr val="374151"/>
                </a:solidFill>
                <a:latin typeface="Poppins" pitchFamily="34" charset="0"/>
                <a:ea typeface="Poppins" pitchFamily="34" charset="-122"/>
                <a:cs typeface="Poppins" pitchFamily="34" charset="-120"/>
              </a:rPr>
              <a:t>KINN interroge MHS</a:t>
            </a:r>
            <a:endParaRPr lang="en-US" sz="800" dirty="0"/>
          </a:p>
          <a:p>
            <a:pPr marL="0" indent="0" algn="ctr">
              <a:lnSpc>
                <a:spcPct val="130000"/>
              </a:lnSpc>
              <a:buNone/>
            </a:pPr>
            <a:r>
              <a:rPr lang="en-US" sz="800" dirty="0">
                <a:solidFill>
                  <a:srgbClr val="374151"/>
                </a:solidFill>
                <a:latin typeface="Poppins" pitchFamily="34" charset="0"/>
                <a:ea typeface="Poppins" pitchFamily="34" charset="-122"/>
                <a:cs typeface="Poppins" pitchFamily="34" charset="-120"/>
              </a:rPr>
              <a:t>pour obtenir les slots</a:t>
            </a:r>
            <a:endParaRPr lang="en-US" sz="800" dirty="0"/>
          </a:p>
          <a:p>
            <a:pPr marL="0" indent="0" algn="ctr">
              <a:lnSpc>
                <a:spcPct val="130000"/>
              </a:lnSpc>
              <a:buNone/>
            </a:pPr>
            <a:r>
              <a:rPr lang="en-US" sz="800" dirty="0">
                <a:solidFill>
                  <a:srgbClr val="374151"/>
                </a:solidFill>
                <a:latin typeface="Poppins" pitchFamily="34" charset="0"/>
                <a:ea typeface="Poppins" pitchFamily="34" charset="-122"/>
                <a:cs typeface="Poppins" pitchFamily="34" charset="-120"/>
              </a:rPr>
              <a:t>en attente</a:t>
            </a:r>
            <a:endParaRPr lang="en-US" sz="800" dirty="0"/>
          </a:p>
        </p:txBody>
      </p:sp>
      <p:sp>
        <p:nvSpPr>
          <p:cNvPr id="10" name="Text 7"/>
          <p:cNvSpPr/>
          <p:nvPr/>
        </p:nvSpPr>
        <p:spPr>
          <a:xfrm>
            <a:off x="2080260" y="2240280"/>
            <a:ext cx="182880" cy="274320"/>
          </a:xfrm>
          <a:prstGeom prst="rect">
            <a:avLst/>
          </a:prstGeom>
          <a:noFill/>
          <a:ln/>
        </p:spPr>
        <p:txBody>
          <a:bodyPr wrap="square" lIns="0" tIns="0" rIns="0" bIns="0" rtlCol="0" anchor="ctr"/>
          <a:lstStyle/>
          <a:p>
            <a:pPr marL="0" indent="0" algn="ctr">
              <a:buNone/>
            </a:pPr>
            <a:r>
              <a:rPr lang="en-US" sz="1200" dirty="0">
                <a:solidFill>
                  <a:srgbClr val="9CA3AF"/>
                </a:solidFill>
                <a:latin typeface="Poppins" pitchFamily="34" charset="0"/>
                <a:ea typeface="Poppins" pitchFamily="34" charset="-122"/>
                <a:cs typeface="Poppins" pitchFamily="34" charset="-120"/>
              </a:rPr>
              <a:t>►</a:t>
            </a:r>
            <a:endParaRPr lang="en-US" sz="1200" dirty="0"/>
          </a:p>
        </p:txBody>
      </p:sp>
      <p:sp>
        <p:nvSpPr>
          <p:cNvPr id="11" name="Shape 8"/>
          <p:cNvSpPr/>
          <p:nvPr/>
        </p:nvSpPr>
        <p:spPr>
          <a:xfrm>
            <a:off x="2766060" y="1097280"/>
            <a:ext cx="411480" cy="411480"/>
          </a:xfrm>
          <a:prstGeom prst="ellipse">
            <a:avLst/>
          </a:prstGeom>
          <a:solidFill>
            <a:srgbClr val="1677FF"/>
          </a:solidFill>
          <a:ln/>
        </p:spPr>
      </p:sp>
      <p:sp>
        <p:nvSpPr>
          <p:cNvPr id="12" name="Text 9"/>
          <p:cNvSpPr/>
          <p:nvPr/>
        </p:nvSpPr>
        <p:spPr>
          <a:xfrm>
            <a:off x="2766060" y="10972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Poppins" pitchFamily="34" charset="0"/>
                <a:ea typeface="Poppins" pitchFamily="34" charset="-122"/>
                <a:cs typeface="Poppins" pitchFamily="34" charset="-120"/>
              </a:rPr>
              <a:t>2</a:t>
            </a:r>
            <a:endParaRPr lang="en-US" sz="1600" dirty="0"/>
          </a:p>
        </p:txBody>
      </p:sp>
      <p:sp>
        <p:nvSpPr>
          <p:cNvPr id="13" name="Shape 10"/>
          <p:cNvSpPr/>
          <p:nvPr/>
        </p:nvSpPr>
        <p:spPr>
          <a:xfrm>
            <a:off x="2263140" y="1645920"/>
            <a:ext cx="1417320" cy="1645920"/>
          </a:xfrm>
          <a:prstGeom prst="rect">
            <a:avLst/>
          </a:prstGeom>
          <a:solidFill>
            <a:srgbClr val="F7F9FC"/>
          </a:solidFill>
          <a:ln/>
          <a:effectLst>
            <a:outerShdw blurRad="76200" dist="25400" dir="8100000" algn="bl" rotWithShape="0">
              <a:srgbClr val="000000">
                <a:alpha val="6000"/>
              </a:srgbClr>
            </a:outerShdw>
          </a:effectLst>
        </p:spPr>
      </p:sp>
      <p:pic>
        <p:nvPicPr>
          <p:cNvPr id="14" name="Image 1" descr="preencoded.png"/>
          <p:cNvPicPr>
            <a:picLocks noChangeAspect="1"/>
          </p:cNvPicPr>
          <p:nvPr/>
        </p:nvPicPr>
        <p:blipFill>
          <a:blip r:embed="rId4"/>
          <a:stretch>
            <a:fillRect/>
          </a:stretch>
        </p:blipFill>
        <p:spPr>
          <a:xfrm>
            <a:off x="2766060" y="1755648"/>
            <a:ext cx="365760" cy="365760"/>
          </a:xfrm>
          <a:prstGeom prst="rect">
            <a:avLst/>
          </a:prstGeom>
        </p:spPr>
      </p:pic>
      <p:sp>
        <p:nvSpPr>
          <p:cNvPr id="15" name="Text 11"/>
          <p:cNvSpPr/>
          <p:nvPr/>
        </p:nvSpPr>
        <p:spPr>
          <a:xfrm>
            <a:off x="2263140" y="2148840"/>
            <a:ext cx="1417320" cy="274320"/>
          </a:xfrm>
          <a:prstGeom prst="rect">
            <a:avLst/>
          </a:prstGeom>
          <a:noFill/>
          <a:ln/>
        </p:spPr>
        <p:txBody>
          <a:bodyPr wrap="square" lIns="0" tIns="0" rIns="0" bIns="0" rtlCol="0" anchor="ctr"/>
          <a:lstStyle/>
          <a:p>
            <a:pPr marL="0" indent="0" algn="ctr">
              <a:buNone/>
            </a:pPr>
            <a:r>
              <a:rPr lang="en-US" sz="1100" b="1" dirty="0">
                <a:solidFill>
                  <a:srgbClr val="1677FF"/>
                </a:solidFill>
                <a:latin typeface="Poppins" pitchFamily="34" charset="0"/>
                <a:ea typeface="Poppins" pitchFamily="34" charset="-122"/>
                <a:cs typeface="Poppins" pitchFamily="34" charset="-120"/>
              </a:rPr>
              <a:t>Analyse</a:t>
            </a:r>
            <a:endParaRPr lang="en-US" sz="1100" dirty="0"/>
          </a:p>
        </p:txBody>
      </p:sp>
      <p:sp>
        <p:nvSpPr>
          <p:cNvPr id="16" name="Text 12"/>
          <p:cNvSpPr/>
          <p:nvPr/>
        </p:nvSpPr>
        <p:spPr>
          <a:xfrm>
            <a:off x="2308860" y="2423160"/>
            <a:ext cx="1325880" cy="777240"/>
          </a:xfrm>
          <a:prstGeom prst="rect">
            <a:avLst/>
          </a:prstGeom>
          <a:noFill/>
          <a:ln/>
        </p:spPr>
        <p:txBody>
          <a:bodyPr wrap="square" lIns="0" tIns="0" rIns="0" bIns="0" rtlCol="0" anchor="ctr"/>
          <a:lstStyle/>
          <a:p>
            <a:pPr marL="0" indent="0" algn="ctr">
              <a:lnSpc>
                <a:spcPct val="130000"/>
              </a:lnSpc>
              <a:buNone/>
            </a:pPr>
            <a:r>
              <a:rPr lang="en-US" sz="800" dirty="0">
                <a:solidFill>
                  <a:srgbClr val="374151"/>
                </a:solidFill>
                <a:latin typeface="Poppins" pitchFamily="34" charset="0"/>
                <a:ea typeface="Poppins" pitchFamily="34" charset="-122"/>
                <a:cs typeface="Poppins" pitchFamily="34" charset="-120"/>
              </a:rPr>
              <a:t>Regroupement des</a:t>
            </a:r>
            <a:endParaRPr lang="en-US" sz="800" dirty="0"/>
          </a:p>
          <a:p>
            <a:pPr marL="0" indent="0" algn="ctr">
              <a:lnSpc>
                <a:spcPct val="130000"/>
              </a:lnSpc>
              <a:buNone/>
            </a:pPr>
            <a:r>
              <a:rPr lang="en-US" sz="800" dirty="0">
                <a:solidFill>
                  <a:srgbClr val="374151"/>
                </a:solidFill>
                <a:latin typeface="Poppins" pitchFamily="34" charset="0"/>
                <a:ea typeface="Poppins" pitchFamily="34" charset="-122"/>
                <a:cs typeface="Poppins" pitchFamily="34" charset="-120"/>
              </a:rPr>
              <a:t>slots par zone</a:t>
            </a:r>
            <a:endParaRPr lang="en-US" sz="800" dirty="0"/>
          </a:p>
          <a:p>
            <a:pPr marL="0" indent="0" algn="ctr">
              <a:lnSpc>
                <a:spcPct val="130000"/>
              </a:lnSpc>
              <a:buNone/>
            </a:pPr>
            <a:r>
              <a:rPr lang="en-US" sz="800" dirty="0">
                <a:solidFill>
                  <a:srgbClr val="374151"/>
                </a:solidFill>
                <a:latin typeface="Poppins" pitchFamily="34" charset="0"/>
                <a:ea typeface="Poppins" pitchFamily="34" charset="-122"/>
                <a:cs typeface="Poppins" pitchFamily="34" charset="-120"/>
              </a:rPr>
              <a:t>géographique</a:t>
            </a:r>
            <a:endParaRPr lang="en-US" sz="800" dirty="0"/>
          </a:p>
        </p:txBody>
      </p:sp>
      <p:sp>
        <p:nvSpPr>
          <p:cNvPr id="17" name="Text 13"/>
          <p:cNvSpPr/>
          <p:nvPr/>
        </p:nvSpPr>
        <p:spPr>
          <a:xfrm>
            <a:off x="3680460" y="2240280"/>
            <a:ext cx="182880" cy="274320"/>
          </a:xfrm>
          <a:prstGeom prst="rect">
            <a:avLst/>
          </a:prstGeom>
          <a:noFill/>
          <a:ln/>
        </p:spPr>
        <p:txBody>
          <a:bodyPr wrap="square" lIns="0" tIns="0" rIns="0" bIns="0" rtlCol="0" anchor="ctr"/>
          <a:lstStyle/>
          <a:p>
            <a:pPr marL="0" indent="0" algn="ctr">
              <a:buNone/>
            </a:pPr>
            <a:r>
              <a:rPr lang="en-US" sz="1200" dirty="0">
                <a:solidFill>
                  <a:srgbClr val="9CA3AF"/>
                </a:solidFill>
                <a:latin typeface="Poppins" pitchFamily="34" charset="0"/>
                <a:ea typeface="Poppins" pitchFamily="34" charset="-122"/>
                <a:cs typeface="Poppins" pitchFamily="34" charset="-120"/>
              </a:rPr>
              <a:t>►</a:t>
            </a:r>
            <a:endParaRPr lang="en-US" sz="1200" dirty="0"/>
          </a:p>
        </p:txBody>
      </p:sp>
      <p:sp>
        <p:nvSpPr>
          <p:cNvPr id="18" name="Shape 14"/>
          <p:cNvSpPr/>
          <p:nvPr/>
        </p:nvSpPr>
        <p:spPr>
          <a:xfrm>
            <a:off x="4366260" y="1097280"/>
            <a:ext cx="411480" cy="411480"/>
          </a:xfrm>
          <a:prstGeom prst="ellipse">
            <a:avLst/>
          </a:prstGeom>
          <a:solidFill>
            <a:srgbClr val="7C3AED"/>
          </a:solidFill>
          <a:ln/>
        </p:spPr>
      </p:sp>
      <p:sp>
        <p:nvSpPr>
          <p:cNvPr id="19" name="Text 15"/>
          <p:cNvSpPr/>
          <p:nvPr/>
        </p:nvSpPr>
        <p:spPr>
          <a:xfrm>
            <a:off x="4366260" y="10972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Poppins" pitchFamily="34" charset="0"/>
                <a:ea typeface="Poppins" pitchFamily="34" charset="-122"/>
                <a:cs typeface="Poppins" pitchFamily="34" charset="-120"/>
              </a:rPr>
              <a:t>3</a:t>
            </a:r>
            <a:endParaRPr lang="en-US" sz="1600" dirty="0"/>
          </a:p>
        </p:txBody>
      </p:sp>
      <p:sp>
        <p:nvSpPr>
          <p:cNvPr id="20" name="Shape 16"/>
          <p:cNvSpPr/>
          <p:nvPr/>
        </p:nvSpPr>
        <p:spPr>
          <a:xfrm>
            <a:off x="3863340" y="1645920"/>
            <a:ext cx="1417320" cy="1645920"/>
          </a:xfrm>
          <a:prstGeom prst="rect">
            <a:avLst/>
          </a:prstGeom>
          <a:solidFill>
            <a:srgbClr val="F7F9FC"/>
          </a:solidFill>
          <a:ln/>
          <a:effectLst>
            <a:outerShdw blurRad="76200" dist="25400" dir="8100000" algn="bl" rotWithShape="0">
              <a:srgbClr val="000000">
                <a:alpha val="6000"/>
              </a:srgbClr>
            </a:outerShdw>
          </a:effectLst>
        </p:spPr>
      </p:sp>
      <p:pic>
        <p:nvPicPr>
          <p:cNvPr id="21" name="Image 2" descr="preencoded.png"/>
          <p:cNvPicPr>
            <a:picLocks noChangeAspect="1"/>
          </p:cNvPicPr>
          <p:nvPr/>
        </p:nvPicPr>
        <p:blipFill>
          <a:blip r:embed="rId5"/>
          <a:stretch>
            <a:fillRect/>
          </a:stretch>
        </p:blipFill>
        <p:spPr>
          <a:xfrm>
            <a:off x="4366260" y="1755648"/>
            <a:ext cx="365760" cy="365760"/>
          </a:xfrm>
          <a:prstGeom prst="rect">
            <a:avLst/>
          </a:prstGeom>
        </p:spPr>
      </p:pic>
      <p:sp>
        <p:nvSpPr>
          <p:cNvPr id="22" name="Text 17"/>
          <p:cNvSpPr/>
          <p:nvPr/>
        </p:nvSpPr>
        <p:spPr>
          <a:xfrm>
            <a:off x="3863340" y="2148840"/>
            <a:ext cx="1417320" cy="274320"/>
          </a:xfrm>
          <a:prstGeom prst="rect">
            <a:avLst/>
          </a:prstGeom>
          <a:noFill/>
          <a:ln/>
        </p:spPr>
        <p:txBody>
          <a:bodyPr wrap="square" lIns="0" tIns="0" rIns="0" bIns="0" rtlCol="0" anchor="ctr"/>
          <a:lstStyle/>
          <a:p>
            <a:pPr marL="0" indent="0" algn="ctr">
              <a:buNone/>
            </a:pPr>
            <a:r>
              <a:rPr lang="en-US" sz="1100" b="1" dirty="0">
                <a:solidFill>
                  <a:srgbClr val="7C3AED"/>
                </a:solidFill>
                <a:latin typeface="Poppins" pitchFamily="34" charset="0"/>
                <a:ea typeface="Poppins" pitchFamily="34" charset="-122"/>
                <a:cs typeface="Poppins" pitchFamily="34" charset="-120"/>
              </a:rPr>
              <a:t>Assignation</a:t>
            </a:r>
            <a:endParaRPr lang="en-US" sz="1100" dirty="0"/>
          </a:p>
        </p:txBody>
      </p:sp>
      <p:sp>
        <p:nvSpPr>
          <p:cNvPr id="23" name="Text 18"/>
          <p:cNvSpPr/>
          <p:nvPr/>
        </p:nvSpPr>
        <p:spPr>
          <a:xfrm>
            <a:off x="3909060" y="2423160"/>
            <a:ext cx="1325880" cy="777240"/>
          </a:xfrm>
          <a:prstGeom prst="rect">
            <a:avLst/>
          </a:prstGeom>
          <a:noFill/>
          <a:ln/>
        </p:spPr>
        <p:txBody>
          <a:bodyPr wrap="square" lIns="0" tIns="0" rIns="0" bIns="0" rtlCol="0" anchor="ctr"/>
          <a:lstStyle/>
          <a:p>
            <a:pPr marL="0" indent="0" algn="ctr">
              <a:lnSpc>
                <a:spcPct val="130000"/>
              </a:lnSpc>
              <a:buNone/>
            </a:pPr>
            <a:r>
              <a:rPr lang="en-US" sz="800" dirty="0">
                <a:solidFill>
                  <a:srgbClr val="374151"/>
                </a:solidFill>
                <a:latin typeface="Poppins" pitchFamily="34" charset="0"/>
                <a:ea typeface="Poppins" pitchFamily="34" charset="-122"/>
                <a:cs typeface="Poppins" pitchFamily="34" charset="-120"/>
              </a:rPr>
              <a:t>Mission envoyée</a:t>
            </a:r>
            <a:endParaRPr lang="en-US" sz="800" dirty="0"/>
          </a:p>
          <a:p>
            <a:pPr marL="0" indent="0" algn="ctr">
              <a:lnSpc>
                <a:spcPct val="130000"/>
              </a:lnSpc>
              <a:buNone/>
            </a:pPr>
            <a:r>
              <a:rPr lang="en-US" sz="800" dirty="0">
                <a:solidFill>
                  <a:srgbClr val="374151"/>
                </a:solidFill>
                <a:latin typeface="Poppins" pitchFamily="34" charset="0"/>
                <a:ea typeface="Poppins" pitchFamily="34" charset="-122"/>
                <a:cs typeface="Poppins" pitchFamily="34" charset="-120"/>
              </a:rPr>
              <a:t>au cariste + carton</a:t>
            </a:r>
            <a:endParaRPr lang="en-US" sz="800" dirty="0"/>
          </a:p>
          <a:p>
            <a:pPr marL="0" indent="0" algn="ctr">
              <a:lnSpc>
                <a:spcPct val="130000"/>
              </a:lnSpc>
              <a:buNone/>
            </a:pPr>
            <a:r>
              <a:rPr lang="en-US" sz="800" dirty="0">
                <a:solidFill>
                  <a:srgbClr val="374151"/>
                </a:solidFill>
                <a:latin typeface="Poppins" pitchFamily="34" charset="0"/>
                <a:ea typeface="Poppins" pitchFamily="34" charset="-122"/>
                <a:cs typeface="Poppins" pitchFamily="34" charset="-120"/>
              </a:rPr>
              <a:t>maman assigné</a:t>
            </a:r>
            <a:endParaRPr lang="en-US" sz="800" dirty="0"/>
          </a:p>
        </p:txBody>
      </p:sp>
      <p:sp>
        <p:nvSpPr>
          <p:cNvPr id="24" name="Text 19"/>
          <p:cNvSpPr/>
          <p:nvPr/>
        </p:nvSpPr>
        <p:spPr>
          <a:xfrm>
            <a:off x="5280660" y="2240280"/>
            <a:ext cx="182880" cy="274320"/>
          </a:xfrm>
          <a:prstGeom prst="rect">
            <a:avLst/>
          </a:prstGeom>
          <a:noFill/>
          <a:ln/>
        </p:spPr>
        <p:txBody>
          <a:bodyPr wrap="square" lIns="0" tIns="0" rIns="0" bIns="0" rtlCol="0" anchor="ctr"/>
          <a:lstStyle/>
          <a:p>
            <a:pPr marL="0" indent="0" algn="ctr">
              <a:buNone/>
            </a:pPr>
            <a:r>
              <a:rPr lang="en-US" sz="1200" dirty="0">
                <a:solidFill>
                  <a:srgbClr val="9CA3AF"/>
                </a:solidFill>
                <a:latin typeface="Poppins" pitchFamily="34" charset="0"/>
                <a:ea typeface="Poppins" pitchFamily="34" charset="-122"/>
                <a:cs typeface="Poppins" pitchFamily="34" charset="-120"/>
              </a:rPr>
              <a:t>►</a:t>
            </a:r>
            <a:endParaRPr lang="en-US" sz="1200" dirty="0"/>
          </a:p>
        </p:txBody>
      </p:sp>
      <p:sp>
        <p:nvSpPr>
          <p:cNvPr id="25" name="Shape 20"/>
          <p:cNvSpPr/>
          <p:nvPr/>
        </p:nvSpPr>
        <p:spPr>
          <a:xfrm>
            <a:off x="5966460" y="1097280"/>
            <a:ext cx="411480" cy="411480"/>
          </a:xfrm>
          <a:prstGeom prst="ellipse">
            <a:avLst/>
          </a:prstGeom>
          <a:solidFill>
            <a:srgbClr val="F59E0B"/>
          </a:solidFill>
          <a:ln/>
        </p:spPr>
      </p:sp>
      <p:sp>
        <p:nvSpPr>
          <p:cNvPr id="26" name="Text 21"/>
          <p:cNvSpPr/>
          <p:nvPr/>
        </p:nvSpPr>
        <p:spPr>
          <a:xfrm>
            <a:off x="5966460" y="10972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Poppins" pitchFamily="34" charset="0"/>
                <a:ea typeface="Poppins" pitchFamily="34" charset="-122"/>
                <a:cs typeface="Poppins" pitchFamily="34" charset="-120"/>
              </a:rPr>
              <a:t>4</a:t>
            </a:r>
            <a:endParaRPr lang="en-US" sz="1600" dirty="0"/>
          </a:p>
        </p:txBody>
      </p:sp>
      <p:sp>
        <p:nvSpPr>
          <p:cNvPr id="27" name="Shape 22"/>
          <p:cNvSpPr/>
          <p:nvPr/>
        </p:nvSpPr>
        <p:spPr>
          <a:xfrm>
            <a:off x="5463540" y="1645920"/>
            <a:ext cx="1417320" cy="1645920"/>
          </a:xfrm>
          <a:prstGeom prst="rect">
            <a:avLst/>
          </a:prstGeom>
          <a:solidFill>
            <a:srgbClr val="F7F9FC"/>
          </a:solidFill>
          <a:ln/>
          <a:effectLst>
            <a:outerShdw blurRad="76200" dist="25400" dir="8100000" algn="bl" rotWithShape="0">
              <a:srgbClr val="000000">
                <a:alpha val="6000"/>
              </a:srgbClr>
            </a:outerShdw>
          </a:effectLst>
        </p:spPr>
      </p:sp>
      <p:pic>
        <p:nvPicPr>
          <p:cNvPr id="28" name="Image 3" descr="preencoded.png"/>
          <p:cNvPicPr>
            <a:picLocks noChangeAspect="1"/>
          </p:cNvPicPr>
          <p:nvPr/>
        </p:nvPicPr>
        <p:blipFill>
          <a:blip r:embed="rId6"/>
          <a:stretch>
            <a:fillRect/>
          </a:stretch>
        </p:blipFill>
        <p:spPr>
          <a:xfrm>
            <a:off x="5966460" y="1755648"/>
            <a:ext cx="365760" cy="365760"/>
          </a:xfrm>
          <a:prstGeom prst="rect">
            <a:avLst/>
          </a:prstGeom>
        </p:spPr>
      </p:pic>
      <p:sp>
        <p:nvSpPr>
          <p:cNvPr id="29" name="Text 23"/>
          <p:cNvSpPr/>
          <p:nvPr/>
        </p:nvSpPr>
        <p:spPr>
          <a:xfrm>
            <a:off x="5463540" y="2148840"/>
            <a:ext cx="1417320" cy="274320"/>
          </a:xfrm>
          <a:prstGeom prst="rect">
            <a:avLst/>
          </a:prstGeom>
          <a:noFill/>
          <a:ln/>
        </p:spPr>
        <p:txBody>
          <a:bodyPr wrap="square" lIns="0" tIns="0" rIns="0" bIns="0" rtlCol="0" anchor="ctr"/>
          <a:lstStyle/>
          <a:p>
            <a:pPr marL="0" indent="0" algn="ctr">
              <a:buNone/>
            </a:pPr>
            <a:r>
              <a:rPr lang="en-US" sz="1100" b="1" dirty="0">
                <a:solidFill>
                  <a:srgbClr val="F59E0B"/>
                </a:solidFill>
                <a:latin typeface="Poppins" pitchFamily="34" charset="0"/>
                <a:ea typeface="Poppins" pitchFamily="34" charset="-122"/>
                <a:cs typeface="Poppins" pitchFamily="34" charset="-120"/>
              </a:rPr>
              <a:t>Picking</a:t>
            </a:r>
            <a:endParaRPr lang="en-US" sz="1100" dirty="0"/>
          </a:p>
        </p:txBody>
      </p:sp>
      <p:sp>
        <p:nvSpPr>
          <p:cNvPr id="30" name="Text 24"/>
          <p:cNvSpPr/>
          <p:nvPr/>
        </p:nvSpPr>
        <p:spPr>
          <a:xfrm>
            <a:off x="5509260" y="2423160"/>
            <a:ext cx="1325880" cy="777240"/>
          </a:xfrm>
          <a:prstGeom prst="rect">
            <a:avLst/>
          </a:prstGeom>
          <a:noFill/>
          <a:ln/>
        </p:spPr>
        <p:txBody>
          <a:bodyPr wrap="square" lIns="0" tIns="0" rIns="0" bIns="0" rtlCol="0" anchor="ctr"/>
          <a:lstStyle/>
          <a:p>
            <a:pPr marL="0" indent="0" algn="ctr">
              <a:lnSpc>
                <a:spcPct val="130000"/>
              </a:lnSpc>
              <a:buNone/>
            </a:pPr>
            <a:r>
              <a:rPr lang="en-US" sz="800" dirty="0">
                <a:solidFill>
                  <a:srgbClr val="374151"/>
                </a:solidFill>
                <a:latin typeface="Poppins" pitchFamily="34" charset="0"/>
                <a:ea typeface="Poppins" pitchFamily="34" charset="-122"/>
                <a:cs typeface="Poppins" pitchFamily="34" charset="-120"/>
              </a:rPr>
              <a:t>Préparateur scanne</a:t>
            </a:r>
            <a:endParaRPr lang="en-US" sz="800" dirty="0"/>
          </a:p>
          <a:p>
            <a:pPr marL="0" indent="0" algn="ctr">
              <a:lnSpc>
                <a:spcPct val="130000"/>
              </a:lnSpc>
              <a:buNone/>
            </a:pPr>
            <a:r>
              <a:rPr lang="en-US" sz="800" dirty="0">
                <a:solidFill>
                  <a:srgbClr val="374151"/>
                </a:solidFill>
                <a:latin typeface="Poppins" pitchFamily="34" charset="0"/>
                <a:ea typeface="Poppins" pitchFamily="34" charset="-122"/>
                <a:cs typeface="Poppins" pitchFamily="34" charset="-120"/>
              </a:rPr>
              <a:t>chaque article →</a:t>
            </a:r>
            <a:endParaRPr lang="en-US" sz="800" dirty="0"/>
          </a:p>
          <a:p>
            <a:pPr marL="0" indent="0" algn="ctr">
              <a:lnSpc>
                <a:spcPct val="130000"/>
              </a:lnSpc>
              <a:buNone/>
            </a:pPr>
            <a:r>
              <a:rPr lang="en-US" sz="800" dirty="0">
                <a:solidFill>
                  <a:srgbClr val="374151"/>
                </a:solidFill>
                <a:latin typeface="Poppins" pitchFamily="34" charset="0"/>
                <a:ea typeface="Poppins" pitchFamily="34" charset="-122"/>
                <a:cs typeface="Poppins" pitchFamily="34" charset="-120"/>
              </a:rPr>
              <a:t>validation temps réel</a:t>
            </a:r>
            <a:endParaRPr lang="en-US" sz="800" dirty="0"/>
          </a:p>
        </p:txBody>
      </p:sp>
      <p:sp>
        <p:nvSpPr>
          <p:cNvPr id="31" name="Text 25"/>
          <p:cNvSpPr/>
          <p:nvPr/>
        </p:nvSpPr>
        <p:spPr>
          <a:xfrm>
            <a:off x="6880860" y="2240280"/>
            <a:ext cx="182880" cy="274320"/>
          </a:xfrm>
          <a:prstGeom prst="rect">
            <a:avLst/>
          </a:prstGeom>
          <a:noFill/>
          <a:ln/>
        </p:spPr>
        <p:txBody>
          <a:bodyPr wrap="square" lIns="0" tIns="0" rIns="0" bIns="0" rtlCol="0" anchor="ctr"/>
          <a:lstStyle/>
          <a:p>
            <a:pPr marL="0" indent="0" algn="ctr">
              <a:buNone/>
            </a:pPr>
            <a:r>
              <a:rPr lang="en-US" sz="1200" dirty="0">
                <a:solidFill>
                  <a:srgbClr val="9CA3AF"/>
                </a:solidFill>
                <a:latin typeface="Poppins" pitchFamily="34" charset="0"/>
                <a:ea typeface="Poppins" pitchFamily="34" charset="-122"/>
                <a:cs typeface="Poppins" pitchFamily="34" charset="-120"/>
              </a:rPr>
              <a:t>►</a:t>
            </a:r>
            <a:endParaRPr lang="en-US" sz="1200" dirty="0"/>
          </a:p>
        </p:txBody>
      </p:sp>
      <p:sp>
        <p:nvSpPr>
          <p:cNvPr id="32" name="Shape 26"/>
          <p:cNvSpPr/>
          <p:nvPr/>
        </p:nvSpPr>
        <p:spPr>
          <a:xfrm>
            <a:off x="7566660" y="1097280"/>
            <a:ext cx="411480" cy="411480"/>
          </a:xfrm>
          <a:prstGeom prst="ellipse">
            <a:avLst/>
          </a:prstGeom>
          <a:solidFill>
            <a:srgbClr val="16A34A"/>
          </a:solidFill>
          <a:ln/>
        </p:spPr>
      </p:sp>
      <p:sp>
        <p:nvSpPr>
          <p:cNvPr id="33" name="Text 27"/>
          <p:cNvSpPr/>
          <p:nvPr/>
        </p:nvSpPr>
        <p:spPr>
          <a:xfrm>
            <a:off x="7566660" y="10972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Poppins" pitchFamily="34" charset="0"/>
                <a:ea typeface="Poppins" pitchFamily="34" charset="-122"/>
                <a:cs typeface="Poppins" pitchFamily="34" charset="-120"/>
              </a:rPr>
              <a:t>5</a:t>
            </a:r>
            <a:endParaRPr lang="en-US" sz="1600" dirty="0"/>
          </a:p>
        </p:txBody>
      </p:sp>
      <p:sp>
        <p:nvSpPr>
          <p:cNvPr id="34" name="Shape 28"/>
          <p:cNvSpPr/>
          <p:nvPr/>
        </p:nvSpPr>
        <p:spPr>
          <a:xfrm>
            <a:off x="7063740" y="1645920"/>
            <a:ext cx="1417320" cy="1645920"/>
          </a:xfrm>
          <a:prstGeom prst="rect">
            <a:avLst/>
          </a:prstGeom>
          <a:solidFill>
            <a:srgbClr val="F7F9FC"/>
          </a:solidFill>
          <a:ln/>
          <a:effectLst>
            <a:outerShdw blurRad="76200" dist="25400" dir="8100000" algn="bl" rotWithShape="0">
              <a:srgbClr val="000000">
                <a:alpha val="6000"/>
              </a:srgbClr>
            </a:outerShdw>
          </a:effectLst>
        </p:spPr>
      </p:sp>
      <p:pic>
        <p:nvPicPr>
          <p:cNvPr id="35" name="Image 4" descr="preencoded.png"/>
          <p:cNvPicPr>
            <a:picLocks noChangeAspect="1"/>
          </p:cNvPicPr>
          <p:nvPr/>
        </p:nvPicPr>
        <p:blipFill>
          <a:blip r:embed="rId7"/>
          <a:stretch>
            <a:fillRect/>
          </a:stretch>
        </p:blipFill>
        <p:spPr>
          <a:xfrm>
            <a:off x="7566660" y="1755648"/>
            <a:ext cx="365760" cy="365760"/>
          </a:xfrm>
          <a:prstGeom prst="rect">
            <a:avLst/>
          </a:prstGeom>
        </p:spPr>
      </p:pic>
      <p:sp>
        <p:nvSpPr>
          <p:cNvPr id="36" name="Text 29"/>
          <p:cNvSpPr/>
          <p:nvPr/>
        </p:nvSpPr>
        <p:spPr>
          <a:xfrm>
            <a:off x="7063740" y="2148840"/>
            <a:ext cx="1417320" cy="274320"/>
          </a:xfrm>
          <a:prstGeom prst="rect">
            <a:avLst/>
          </a:prstGeom>
          <a:noFill/>
          <a:ln/>
        </p:spPr>
        <p:txBody>
          <a:bodyPr wrap="square" lIns="0" tIns="0" rIns="0" bIns="0" rtlCol="0" anchor="ctr"/>
          <a:lstStyle/>
          <a:p>
            <a:pPr marL="0" indent="0" algn="ctr">
              <a:buNone/>
            </a:pPr>
            <a:r>
              <a:rPr lang="en-US" sz="1100" b="1" dirty="0">
                <a:solidFill>
                  <a:srgbClr val="16A34A"/>
                </a:solidFill>
                <a:latin typeface="Poppins" pitchFamily="34" charset="0"/>
                <a:ea typeface="Poppins" pitchFamily="34" charset="-122"/>
                <a:cs typeface="Poppins" pitchFamily="34" charset="-120"/>
              </a:rPr>
              <a:t>Clôture</a:t>
            </a:r>
            <a:endParaRPr lang="en-US" sz="1100" dirty="0"/>
          </a:p>
        </p:txBody>
      </p:sp>
      <p:sp>
        <p:nvSpPr>
          <p:cNvPr id="37" name="Text 30"/>
          <p:cNvSpPr/>
          <p:nvPr/>
        </p:nvSpPr>
        <p:spPr>
          <a:xfrm>
            <a:off x="7109460" y="2423160"/>
            <a:ext cx="1325880" cy="777240"/>
          </a:xfrm>
          <a:prstGeom prst="rect">
            <a:avLst/>
          </a:prstGeom>
          <a:noFill/>
          <a:ln/>
        </p:spPr>
        <p:txBody>
          <a:bodyPr wrap="square" lIns="0" tIns="0" rIns="0" bIns="0" rtlCol="0" anchor="ctr"/>
          <a:lstStyle/>
          <a:p>
            <a:pPr marL="0" indent="0" algn="ctr">
              <a:lnSpc>
                <a:spcPct val="130000"/>
              </a:lnSpc>
              <a:buNone/>
            </a:pPr>
            <a:r>
              <a:rPr lang="en-US" sz="800" dirty="0">
                <a:solidFill>
                  <a:srgbClr val="374151"/>
                </a:solidFill>
                <a:latin typeface="Poppins" pitchFamily="34" charset="0"/>
                <a:ea typeface="Poppins" pitchFamily="34" charset="-122"/>
                <a:cs typeface="Poppins" pitchFamily="34" charset="-120"/>
              </a:rPr>
              <a:t>Slot validé dans</a:t>
            </a:r>
            <a:endParaRPr lang="en-US" sz="800" dirty="0"/>
          </a:p>
          <a:p>
            <a:pPr marL="0" indent="0" algn="ctr">
              <a:lnSpc>
                <a:spcPct val="130000"/>
              </a:lnSpc>
              <a:buNone/>
            </a:pPr>
            <a:r>
              <a:rPr lang="en-US" sz="800" dirty="0">
                <a:solidFill>
                  <a:srgbClr val="374151"/>
                </a:solidFill>
                <a:latin typeface="Poppins" pitchFamily="34" charset="0"/>
                <a:ea typeface="Poppins" pitchFamily="34" charset="-122"/>
                <a:cs typeface="Poppins" pitchFamily="34" charset="-120"/>
              </a:rPr>
              <a:t>MHS, statistiques</a:t>
            </a:r>
            <a:endParaRPr lang="en-US" sz="800" dirty="0"/>
          </a:p>
          <a:p>
            <a:pPr marL="0" indent="0" algn="ctr">
              <a:lnSpc>
                <a:spcPct val="130000"/>
              </a:lnSpc>
              <a:buNone/>
            </a:pPr>
            <a:r>
              <a:rPr lang="en-US" sz="800" dirty="0">
                <a:solidFill>
                  <a:srgbClr val="374151"/>
                </a:solidFill>
                <a:latin typeface="Poppins" pitchFamily="34" charset="0"/>
                <a:ea typeface="Poppins" pitchFamily="34" charset="-122"/>
                <a:cs typeface="Poppins" pitchFamily="34" charset="-120"/>
              </a:rPr>
              <a:t>mises à jour</a:t>
            </a:r>
            <a:endParaRPr lang="en-US" sz="800" dirty="0"/>
          </a:p>
        </p:txBody>
      </p:sp>
      <p:sp>
        <p:nvSpPr>
          <p:cNvPr id="38" name="Shape 31"/>
          <p:cNvSpPr/>
          <p:nvPr/>
        </p:nvSpPr>
        <p:spPr>
          <a:xfrm>
            <a:off x="365760" y="3566160"/>
            <a:ext cx="8412480" cy="54864"/>
          </a:xfrm>
          <a:prstGeom prst="rect">
            <a:avLst/>
          </a:prstGeom>
          <a:solidFill>
            <a:srgbClr val="E5E7EB"/>
          </a:solidFill>
          <a:ln/>
        </p:spPr>
      </p:sp>
      <p:sp>
        <p:nvSpPr>
          <p:cNvPr id="39" name="Shape 32"/>
          <p:cNvSpPr/>
          <p:nvPr/>
        </p:nvSpPr>
        <p:spPr>
          <a:xfrm>
            <a:off x="571500" y="3749040"/>
            <a:ext cx="1828800" cy="594360"/>
          </a:xfrm>
          <a:prstGeom prst="rect">
            <a:avLst/>
          </a:prstGeom>
          <a:solidFill>
            <a:srgbClr val="FFFFFF"/>
          </a:solidFill>
          <a:ln w="12700">
            <a:solidFill>
              <a:srgbClr val="1E3A5F"/>
            </a:solidFill>
            <a:prstDash val="solid"/>
          </a:ln>
        </p:spPr>
      </p:sp>
      <p:sp>
        <p:nvSpPr>
          <p:cNvPr id="40" name="Text 33"/>
          <p:cNvSpPr/>
          <p:nvPr/>
        </p:nvSpPr>
        <p:spPr>
          <a:xfrm>
            <a:off x="571500" y="3749040"/>
            <a:ext cx="1828800" cy="274320"/>
          </a:xfrm>
          <a:prstGeom prst="rect">
            <a:avLst/>
          </a:prstGeom>
          <a:noFill/>
          <a:ln/>
        </p:spPr>
        <p:txBody>
          <a:bodyPr wrap="square" lIns="0" tIns="0" rIns="0" bIns="0" rtlCol="0" anchor="ctr"/>
          <a:lstStyle/>
          <a:p>
            <a:pPr marL="0" indent="0" algn="ctr">
              <a:buNone/>
            </a:pPr>
            <a:r>
              <a:rPr lang="en-US" sz="1000" b="1" dirty="0">
                <a:solidFill>
                  <a:srgbClr val="1E3A5F"/>
                </a:solidFill>
                <a:latin typeface="Poppins" pitchFamily="34" charset="0"/>
                <a:ea typeface="Poppins" pitchFamily="34" charset="-122"/>
                <a:cs typeface="Poppins" pitchFamily="34" charset="-120"/>
              </a:rPr>
              <a:t>MHS</a:t>
            </a:r>
            <a:endParaRPr lang="en-US" sz="1000" dirty="0"/>
          </a:p>
        </p:txBody>
      </p:sp>
      <p:sp>
        <p:nvSpPr>
          <p:cNvPr id="41" name="Text 34"/>
          <p:cNvSpPr/>
          <p:nvPr/>
        </p:nvSpPr>
        <p:spPr>
          <a:xfrm>
            <a:off x="571500" y="4005072"/>
            <a:ext cx="1828800" cy="274320"/>
          </a:xfrm>
          <a:prstGeom prst="rect">
            <a:avLst/>
          </a:prstGeom>
          <a:noFill/>
          <a:ln/>
        </p:spPr>
        <p:txBody>
          <a:bodyPr wrap="square" lIns="0" tIns="0" rIns="0" bIns="0" rtlCol="0" anchor="ctr"/>
          <a:lstStyle/>
          <a:p>
            <a:pPr marL="0" indent="0" algn="ctr">
              <a:buNone/>
            </a:pPr>
            <a:r>
              <a:rPr lang="en-US" sz="800" dirty="0">
                <a:solidFill>
                  <a:srgbClr val="6B7280"/>
                </a:solidFill>
                <a:latin typeface="Poppins" pitchFamily="34" charset="0"/>
                <a:ea typeface="Poppins" pitchFamily="34" charset="-122"/>
                <a:cs typeface="Poppins" pitchFamily="34" charset="-120"/>
              </a:rPr>
              <a:t>Étapes 1, 5</a:t>
            </a:r>
            <a:endParaRPr lang="en-US" sz="800" dirty="0"/>
          </a:p>
        </p:txBody>
      </p:sp>
      <p:sp>
        <p:nvSpPr>
          <p:cNvPr id="42" name="Shape 35"/>
          <p:cNvSpPr/>
          <p:nvPr/>
        </p:nvSpPr>
        <p:spPr>
          <a:xfrm>
            <a:off x="2628900" y="3749040"/>
            <a:ext cx="1828800" cy="594360"/>
          </a:xfrm>
          <a:prstGeom prst="rect">
            <a:avLst/>
          </a:prstGeom>
          <a:solidFill>
            <a:srgbClr val="FFFFFF"/>
          </a:solidFill>
          <a:ln w="12700">
            <a:solidFill>
              <a:srgbClr val="1677FF"/>
            </a:solidFill>
            <a:prstDash val="solid"/>
          </a:ln>
        </p:spPr>
      </p:sp>
      <p:sp>
        <p:nvSpPr>
          <p:cNvPr id="43" name="Text 36"/>
          <p:cNvSpPr/>
          <p:nvPr/>
        </p:nvSpPr>
        <p:spPr>
          <a:xfrm>
            <a:off x="2628900" y="3749040"/>
            <a:ext cx="1828800" cy="274320"/>
          </a:xfrm>
          <a:prstGeom prst="rect">
            <a:avLst/>
          </a:prstGeom>
          <a:noFill/>
          <a:ln/>
        </p:spPr>
        <p:txBody>
          <a:bodyPr wrap="square" lIns="0" tIns="0" rIns="0" bIns="0" rtlCol="0" anchor="ctr"/>
          <a:lstStyle/>
          <a:p>
            <a:pPr marL="0" indent="0" algn="ctr">
              <a:buNone/>
            </a:pPr>
            <a:r>
              <a:rPr lang="en-US" sz="1000" b="1" dirty="0">
                <a:solidFill>
                  <a:srgbClr val="1677FF"/>
                </a:solidFill>
                <a:latin typeface="Poppins" pitchFamily="34" charset="0"/>
                <a:ea typeface="Poppins" pitchFamily="34" charset="-122"/>
                <a:cs typeface="Poppins" pitchFamily="34" charset="-120"/>
              </a:rPr>
              <a:t>KINN</a:t>
            </a:r>
            <a:endParaRPr lang="en-US" sz="1000" dirty="0"/>
          </a:p>
        </p:txBody>
      </p:sp>
      <p:sp>
        <p:nvSpPr>
          <p:cNvPr id="44" name="Text 37"/>
          <p:cNvSpPr/>
          <p:nvPr/>
        </p:nvSpPr>
        <p:spPr>
          <a:xfrm>
            <a:off x="2628900" y="4005072"/>
            <a:ext cx="1828800" cy="274320"/>
          </a:xfrm>
          <a:prstGeom prst="rect">
            <a:avLst/>
          </a:prstGeom>
          <a:noFill/>
          <a:ln/>
        </p:spPr>
        <p:txBody>
          <a:bodyPr wrap="square" lIns="0" tIns="0" rIns="0" bIns="0" rtlCol="0" anchor="ctr"/>
          <a:lstStyle/>
          <a:p>
            <a:pPr marL="0" indent="0" algn="ctr">
              <a:buNone/>
            </a:pPr>
            <a:r>
              <a:rPr lang="en-US" sz="800" dirty="0">
                <a:solidFill>
                  <a:srgbClr val="6B7280"/>
                </a:solidFill>
                <a:latin typeface="Poppins" pitchFamily="34" charset="0"/>
                <a:ea typeface="Poppins" pitchFamily="34" charset="-122"/>
                <a:cs typeface="Poppins" pitchFamily="34" charset="-120"/>
              </a:rPr>
              <a:t>Étapes 1, 2, 3, 4, 5</a:t>
            </a:r>
            <a:endParaRPr lang="en-US" sz="800" dirty="0"/>
          </a:p>
        </p:txBody>
      </p:sp>
      <p:sp>
        <p:nvSpPr>
          <p:cNvPr id="45" name="Shape 38"/>
          <p:cNvSpPr/>
          <p:nvPr/>
        </p:nvSpPr>
        <p:spPr>
          <a:xfrm>
            <a:off x="4686300" y="3749040"/>
            <a:ext cx="1828800" cy="594360"/>
          </a:xfrm>
          <a:prstGeom prst="rect">
            <a:avLst/>
          </a:prstGeom>
          <a:solidFill>
            <a:srgbClr val="FFFFFF"/>
          </a:solidFill>
          <a:ln w="12700">
            <a:solidFill>
              <a:srgbClr val="7C3AED"/>
            </a:solidFill>
            <a:prstDash val="solid"/>
          </a:ln>
        </p:spPr>
      </p:sp>
      <p:sp>
        <p:nvSpPr>
          <p:cNvPr id="46" name="Text 39"/>
          <p:cNvSpPr/>
          <p:nvPr/>
        </p:nvSpPr>
        <p:spPr>
          <a:xfrm>
            <a:off x="4686300" y="3749040"/>
            <a:ext cx="1828800" cy="274320"/>
          </a:xfrm>
          <a:prstGeom prst="rect">
            <a:avLst/>
          </a:prstGeom>
          <a:noFill/>
          <a:ln/>
        </p:spPr>
        <p:txBody>
          <a:bodyPr wrap="square" lIns="0" tIns="0" rIns="0" bIns="0" rtlCol="0" anchor="ctr"/>
          <a:lstStyle/>
          <a:p>
            <a:pPr marL="0" indent="0" algn="ctr">
              <a:buNone/>
            </a:pPr>
            <a:r>
              <a:rPr lang="en-US" sz="1000" b="1" dirty="0">
                <a:solidFill>
                  <a:srgbClr val="7C3AED"/>
                </a:solidFill>
                <a:latin typeface="Poppins" pitchFamily="34" charset="0"/>
                <a:ea typeface="Poppins" pitchFamily="34" charset="-122"/>
                <a:cs typeface="Poppins" pitchFamily="34" charset="-120"/>
              </a:rPr>
              <a:t>Cariste</a:t>
            </a:r>
            <a:endParaRPr lang="en-US" sz="1000" dirty="0"/>
          </a:p>
        </p:txBody>
      </p:sp>
      <p:sp>
        <p:nvSpPr>
          <p:cNvPr id="47" name="Text 40"/>
          <p:cNvSpPr/>
          <p:nvPr/>
        </p:nvSpPr>
        <p:spPr>
          <a:xfrm>
            <a:off x="4686300" y="4005072"/>
            <a:ext cx="1828800" cy="274320"/>
          </a:xfrm>
          <a:prstGeom prst="rect">
            <a:avLst/>
          </a:prstGeom>
          <a:noFill/>
          <a:ln/>
        </p:spPr>
        <p:txBody>
          <a:bodyPr wrap="square" lIns="0" tIns="0" rIns="0" bIns="0" rtlCol="0" anchor="ctr"/>
          <a:lstStyle/>
          <a:p>
            <a:pPr marL="0" indent="0" algn="ctr">
              <a:buNone/>
            </a:pPr>
            <a:r>
              <a:rPr lang="en-US" sz="800" dirty="0">
                <a:solidFill>
                  <a:srgbClr val="6B7280"/>
                </a:solidFill>
                <a:latin typeface="Poppins" pitchFamily="34" charset="0"/>
                <a:ea typeface="Poppins" pitchFamily="34" charset="-122"/>
                <a:cs typeface="Poppins" pitchFamily="34" charset="-120"/>
              </a:rPr>
              <a:t>Étapes 3</a:t>
            </a:r>
            <a:endParaRPr lang="en-US" sz="800" dirty="0"/>
          </a:p>
        </p:txBody>
      </p:sp>
      <p:sp>
        <p:nvSpPr>
          <p:cNvPr id="48" name="Shape 41"/>
          <p:cNvSpPr/>
          <p:nvPr/>
        </p:nvSpPr>
        <p:spPr>
          <a:xfrm>
            <a:off x="6743700" y="3749040"/>
            <a:ext cx="1828800" cy="594360"/>
          </a:xfrm>
          <a:prstGeom prst="rect">
            <a:avLst/>
          </a:prstGeom>
          <a:solidFill>
            <a:srgbClr val="FFFFFF"/>
          </a:solidFill>
          <a:ln w="12700">
            <a:solidFill>
              <a:srgbClr val="F59E0B"/>
            </a:solidFill>
            <a:prstDash val="solid"/>
          </a:ln>
        </p:spPr>
      </p:sp>
      <p:sp>
        <p:nvSpPr>
          <p:cNvPr id="49" name="Text 42"/>
          <p:cNvSpPr/>
          <p:nvPr/>
        </p:nvSpPr>
        <p:spPr>
          <a:xfrm>
            <a:off x="6743700" y="3749040"/>
            <a:ext cx="1828800" cy="274320"/>
          </a:xfrm>
          <a:prstGeom prst="rect">
            <a:avLst/>
          </a:prstGeom>
          <a:noFill/>
          <a:ln/>
        </p:spPr>
        <p:txBody>
          <a:bodyPr wrap="square" lIns="0" tIns="0" rIns="0" bIns="0" rtlCol="0" anchor="ctr"/>
          <a:lstStyle/>
          <a:p>
            <a:pPr marL="0" indent="0" algn="ctr">
              <a:buNone/>
            </a:pPr>
            <a:r>
              <a:rPr lang="en-US" sz="1000" b="1" dirty="0">
                <a:solidFill>
                  <a:srgbClr val="F59E0B"/>
                </a:solidFill>
                <a:latin typeface="Poppins" pitchFamily="34" charset="0"/>
                <a:ea typeface="Poppins" pitchFamily="34" charset="-122"/>
                <a:cs typeface="Poppins" pitchFamily="34" charset="-120"/>
              </a:rPr>
              <a:t>Préparateur</a:t>
            </a:r>
            <a:endParaRPr lang="en-US" sz="1000" dirty="0"/>
          </a:p>
        </p:txBody>
      </p:sp>
      <p:sp>
        <p:nvSpPr>
          <p:cNvPr id="50" name="Text 43"/>
          <p:cNvSpPr/>
          <p:nvPr/>
        </p:nvSpPr>
        <p:spPr>
          <a:xfrm>
            <a:off x="6743700" y="4005072"/>
            <a:ext cx="1828800" cy="274320"/>
          </a:xfrm>
          <a:prstGeom prst="rect">
            <a:avLst/>
          </a:prstGeom>
          <a:noFill/>
          <a:ln/>
        </p:spPr>
        <p:txBody>
          <a:bodyPr wrap="square" lIns="0" tIns="0" rIns="0" bIns="0" rtlCol="0" anchor="ctr"/>
          <a:lstStyle/>
          <a:p>
            <a:pPr marL="0" indent="0" algn="ctr">
              <a:buNone/>
            </a:pPr>
            <a:r>
              <a:rPr lang="en-US" sz="800" dirty="0">
                <a:solidFill>
                  <a:srgbClr val="6B7280"/>
                </a:solidFill>
                <a:latin typeface="Poppins" pitchFamily="34" charset="0"/>
                <a:ea typeface="Poppins" pitchFamily="34" charset="-122"/>
                <a:cs typeface="Poppins" pitchFamily="34" charset="-120"/>
              </a:rPr>
              <a:t>Étapes 4</a:t>
            </a:r>
            <a:endParaRPr lang="en-US" sz="800" dirty="0"/>
          </a:p>
        </p:txBody>
      </p:sp>
      <p:sp>
        <p:nvSpPr>
          <p:cNvPr id="51" name="Text 44"/>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28600"/>
            <a:ext cx="8229600" cy="411480"/>
          </a:xfrm>
          <a:prstGeom prst="rect">
            <a:avLst/>
          </a:prstGeom>
          <a:noFill/>
          <a:ln/>
        </p:spPr>
        <p:txBody>
          <a:bodyPr wrap="square" lIns="0" tIns="0" rIns="0" bIns="0" rtlCol="0" anchor="ctr"/>
          <a:lstStyle/>
          <a:p>
            <a:pPr marL="0" indent="0">
              <a:buNone/>
            </a:pPr>
            <a:r>
              <a:rPr lang="en-US" sz="2800" b="1" dirty="0">
                <a:solidFill>
                  <a:srgbClr val="0F172A"/>
                </a:solidFill>
                <a:latin typeface="Poppins" pitchFamily="34" charset="0"/>
                <a:ea typeface="Poppins" pitchFamily="34" charset="-122"/>
                <a:cs typeface="Poppins" pitchFamily="34" charset="-120"/>
              </a:rPr>
              <a:t>Interfaces terrain</a:t>
            </a:r>
            <a:endParaRPr lang="en-US" sz="2800" dirty="0"/>
          </a:p>
        </p:txBody>
      </p:sp>
      <p:sp>
        <p:nvSpPr>
          <p:cNvPr id="3" name="Text 1"/>
          <p:cNvSpPr/>
          <p:nvPr/>
        </p:nvSpPr>
        <p:spPr>
          <a:xfrm>
            <a:off x="640080" y="640080"/>
            <a:ext cx="7315200" cy="228600"/>
          </a:xfrm>
          <a:prstGeom prst="rect">
            <a:avLst/>
          </a:prstGeom>
          <a:noFill/>
          <a:ln/>
        </p:spPr>
        <p:txBody>
          <a:bodyPr wrap="square" lIns="0" tIns="0" rIns="0" bIns="0" rtlCol="0" anchor="ctr"/>
          <a:lstStyle/>
          <a:p>
            <a:pPr marL="0" indent="0">
              <a:buNone/>
            </a:pPr>
            <a:r>
              <a:rPr lang="en-US" sz="1100" dirty="0">
                <a:solidFill>
                  <a:srgbClr val="6B7280"/>
                </a:solidFill>
                <a:latin typeface="Poppins" pitchFamily="34" charset="0"/>
                <a:ea typeface="Poppins" pitchFamily="34" charset="-122"/>
                <a:cs typeface="Poppins" pitchFamily="34" charset="-120"/>
              </a:rPr>
              <a:t>Applications connectées pour les opérateurs en entrepôt</a:t>
            </a:r>
            <a:endParaRPr lang="en-US" sz="1100" dirty="0"/>
          </a:p>
        </p:txBody>
      </p:sp>
      <p:sp>
        <p:nvSpPr>
          <p:cNvPr id="4" name="Shape 2"/>
          <p:cNvSpPr/>
          <p:nvPr/>
        </p:nvSpPr>
        <p:spPr>
          <a:xfrm>
            <a:off x="457200" y="1005840"/>
            <a:ext cx="2560320" cy="3657600"/>
          </a:xfrm>
          <a:prstGeom prst="rect">
            <a:avLst/>
          </a:prstGeom>
          <a:solidFill>
            <a:srgbClr val="F7F9FC"/>
          </a:solidFill>
          <a:ln/>
          <a:effectLst>
            <a:outerShdw blurRad="76200" dist="25400" dir="8100000" algn="bl" rotWithShape="0">
              <a:srgbClr val="000000">
                <a:alpha val="6000"/>
              </a:srgbClr>
            </a:outerShdw>
          </a:effectLst>
        </p:spPr>
      </p:sp>
      <p:sp>
        <p:nvSpPr>
          <p:cNvPr id="5" name="Shape 3"/>
          <p:cNvSpPr/>
          <p:nvPr/>
        </p:nvSpPr>
        <p:spPr>
          <a:xfrm>
            <a:off x="457200" y="1005840"/>
            <a:ext cx="2560320" cy="54864"/>
          </a:xfrm>
          <a:prstGeom prst="rect">
            <a:avLst/>
          </a:prstGeom>
          <a:solidFill>
            <a:srgbClr val="1677FF"/>
          </a:solidFill>
          <a:ln/>
        </p:spPr>
      </p:sp>
      <p:sp>
        <p:nvSpPr>
          <p:cNvPr id="6" name="Shape 4"/>
          <p:cNvSpPr/>
          <p:nvPr/>
        </p:nvSpPr>
        <p:spPr>
          <a:xfrm>
            <a:off x="1417320" y="1234440"/>
            <a:ext cx="640080" cy="640080"/>
          </a:xfrm>
          <a:prstGeom prst="ellipse">
            <a:avLst/>
          </a:prstGeom>
          <a:solidFill>
            <a:srgbClr val="EBF5FF"/>
          </a:solidFill>
          <a:ln/>
        </p:spPr>
      </p:sp>
      <p:pic>
        <p:nvPicPr>
          <p:cNvPr id="7" name="Image 0" descr="preencoded.png"/>
          <p:cNvPicPr>
            <a:picLocks noChangeAspect="1"/>
          </p:cNvPicPr>
          <p:nvPr/>
        </p:nvPicPr>
        <p:blipFill>
          <a:blip r:embed="rId3"/>
          <a:stretch>
            <a:fillRect/>
          </a:stretch>
        </p:blipFill>
        <p:spPr>
          <a:xfrm>
            <a:off x="1554480" y="1371600"/>
            <a:ext cx="365760" cy="365760"/>
          </a:xfrm>
          <a:prstGeom prst="rect">
            <a:avLst/>
          </a:prstGeom>
        </p:spPr>
      </p:pic>
      <p:sp>
        <p:nvSpPr>
          <p:cNvPr id="8" name="Text 5"/>
          <p:cNvSpPr/>
          <p:nvPr/>
        </p:nvSpPr>
        <p:spPr>
          <a:xfrm>
            <a:off x="457200" y="1965960"/>
            <a:ext cx="2560320" cy="274320"/>
          </a:xfrm>
          <a:prstGeom prst="rect">
            <a:avLst/>
          </a:prstGeom>
          <a:noFill/>
          <a:ln/>
        </p:spPr>
        <p:txBody>
          <a:bodyPr wrap="square" lIns="0" tIns="0" rIns="0" bIns="0" rtlCol="0" anchor="ctr"/>
          <a:lstStyle/>
          <a:p>
            <a:pPr marL="0" indent="0" algn="ctr">
              <a:buNone/>
            </a:pPr>
            <a:r>
              <a:rPr lang="en-US" sz="1300" b="1" dirty="0">
                <a:solidFill>
                  <a:srgbClr val="1677FF"/>
                </a:solidFill>
                <a:latin typeface="Poppins" pitchFamily="34" charset="0"/>
                <a:ea typeface="Poppins" pitchFamily="34" charset="-122"/>
                <a:cs typeface="Poppins" pitchFamily="34" charset="-120"/>
              </a:rPr>
              <a:t>Tablette cariste</a:t>
            </a:r>
            <a:endParaRPr lang="en-US" sz="1300" dirty="0"/>
          </a:p>
        </p:txBody>
      </p:sp>
      <p:sp>
        <p:nvSpPr>
          <p:cNvPr id="9" name="Text 6"/>
          <p:cNvSpPr/>
          <p:nvPr/>
        </p:nvSpPr>
        <p:spPr>
          <a:xfrm>
            <a:off x="457200" y="2212848"/>
            <a:ext cx="2560320" cy="201168"/>
          </a:xfrm>
          <a:prstGeom prst="rect">
            <a:avLst/>
          </a:prstGeom>
          <a:noFill/>
          <a:ln/>
        </p:spPr>
        <p:txBody>
          <a:bodyPr wrap="square" lIns="0" tIns="0" rIns="0" bIns="0" rtlCol="0" anchor="ctr"/>
          <a:lstStyle/>
          <a:p>
            <a:pPr marL="0" indent="0" algn="ctr">
              <a:buNone/>
            </a:pPr>
            <a:r>
              <a:rPr lang="en-US" sz="900" dirty="0">
                <a:solidFill>
                  <a:srgbClr val="6B7280"/>
                </a:solidFill>
                <a:latin typeface="Poppins" pitchFamily="34" charset="0"/>
                <a:ea typeface="Poppins" pitchFamily="34" charset="-122"/>
                <a:cs typeface="Poppins" pitchFamily="34" charset="-120"/>
              </a:rPr>
              <a:t>Interface de mission</a:t>
            </a:r>
            <a:endParaRPr lang="en-US" sz="900" dirty="0"/>
          </a:p>
        </p:txBody>
      </p:sp>
      <p:sp>
        <p:nvSpPr>
          <p:cNvPr id="10" name="Shape 7"/>
          <p:cNvSpPr/>
          <p:nvPr/>
        </p:nvSpPr>
        <p:spPr>
          <a:xfrm>
            <a:off x="731520" y="2487168"/>
            <a:ext cx="2011680" cy="18288"/>
          </a:xfrm>
          <a:prstGeom prst="rect">
            <a:avLst/>
          </a:prstGeom>
          <a:solidFill>
            <a:srgbClr val="E5E7EB"/>
          </a:solidFill>
          <a:ln/>
        </p:spPr>
      </p:sp>
      <p:pic>
        <p:nvPicPr>
          <p:cNvPr id="11" name="Image 1" descr="preencoded.png"/>
          <p:cNvPicPr>
            <a:picLocks noChangeAspect="1"/>
          </p:cNvPicPr>
          <p:nvPr/>
        </p:nvPicPr>
        <p:blipFill>
          <a:blip r:embed="rId4"/>
          <a:stretch>
            <a:fillRect/>
          </a:stretch>
        </p:blipFill>
        <p:spPr>
          <a:xfrm>
            <a:off x="640080" y="2633472"/>
            <a:ext cx="164592" cy="164592"/>
          </a:xfrm>
          <a:prstGeom prst="rect">
            <a:avLst/>
          </a:prstGeom>
        </p:spPr>
      </p:pic>
      <p:sp>
        <p:nvSpPr>
          <p:cNvPr id="12" name="Text 8"/>
          <p:cNvSpPr/>
          <p:nvPr/>
        </p:nvSpPr>
        <p:spPr>
          <a:xfrm>
            <a:off x="868680" y="2615184"/>
            <a:ext cx="1965960" cy="27432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Liste des missions groupées assignées</a:t>
            </a:r>
            <a:endParaRPr lang="en-US" sz="850" dirty="0"/>
          </a:p>
        </p:txBody>
      </p:sp>
      <p:pic>
        <p:nvPicPr>
          <p:cNvPr id="13" name="Image 2" descr="preencoded.png"/>
          <p:cNvPicPr>
            <a:picLocks noChangeAspect="1"/>
          </p:cNvPicPr>
          <p:nvPr/>
        </p:nvPicPr>
        <p:blipFill>
          <a:blip r:embed="rId4"/>
          <a:stretch>
            <a:fillRect/>
          </a:stretch>
        </p:blipFill>
        <p:spPr>
          <a:xfrm>
            <a:off x="640080" y="2935224"/>
            <a:ext cx="164592" cy="164592"/>
          </a:xfrm>
          <a:prstGeom prst="rect">
            <a:avLst/>
          </a:prstGeom>
        </p:spPr>
      </p:pic>
      <p:sp>
        <p:nvSpPr>
          <p:cNvPr id="14" name="Text 9"/>
          <p:cNvSpPr/>
          <p:nvPr/>
        </p:nvSpPr>
        <p:spPr>
          <a:xfrm>
            <a:off x="868680" y="2916936"/>
            <a:ext cx="1965960" cy="27432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Visualisation du parcours optimisé</a:t>
            </a:r>
            <a:endParaRPr lang="en-US" sz="850" dirty="0"/>
          </a:p>
        </p:txBody>
      </p:sp>
      <p:pic>
        <p:nvPicPr>
          <p:cNvPr id="15" name="Image 3" descr="preencoded.png"/>
          <p:cNvPicPr>
            <a:picLocks noChangeAspect="1"/>
          </p:cNvPicPr>
          <p:nvPr/>
        </p:nvPicPr>
        <p:blipFill>
          <a:blip r:embed="rId4"/>
          <a:stretch>
            <a:fillRect/>
          </a:stretch>
        </p:blipFill>
        <p:spPr>
          <a:xfrm>
            <a:off x="640080" y="3236976"/>
            <a:ext cx="164592" cy="164592"/>
          </a:xfrm>
          <a:prstGeom prst="rect">
            <a:avLst/>
          </a:prstGeom>
        </p:spPr>
      </p:pic>
      <p:sp>
        <p:nvSpPr>
          <p:cNvPr id="16" name="Text 10"/>
          <p:cNvSpPr/>
          <p:nvPr/>
        </p:nvSpPr>
        <p:spPr>
          <a:xfrm>
            <a:off x="868680" y="3218688"/>
            <a:ext cx="1965960" cy="27432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Appel stockeur intégré (si zone auto)</a:t>
            </a:r>
            <a:endParaRPr lang="en-US" sz="850" dirty="0"/>
          </a:p>
        </p:txBody>
      </p:sp>
      <p:pic>
        <p:nvPicPr>
          <p:cNvPr id="17" name="Image 4" descr="preencoded.png"/>
          <p:cNvPicPr>
            <a:picLocks noChangeAspect="1"/>
          </p:cNvPicPr>
          <p:nvPr/>
        </p:nvPicPr>
        <p:blipFill>
          <a:blip r:embed="rId4"/>
          <a:stretch>
            <a:fillRect/>
          </a:stretch>
        </p:blipFill>
        <p:spPr>
          <a:xfrm>
            <a:off x="640080" y="3538728"/>
            <a:ext cx="164592" cy="164592"/>
          </a:xfrm>
          <a:prstGeom prst="rect">
            <a:avLst/>
          </a:prstGeom>
        </p:spPr>
      </p:pic>
      <p:sp>
        <p:nvSpPr>
          <p:cNvPr id="18" name="Text 11"/>
          <p:cNvSpPr/>
          <p:nvPr/>
        </p:nvSpPr>
        <p:spPr>
          <a:xfrm>
            <a:off x="868680" y="3520440"/>
            <a:ext cx="1965960" cy="27432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Statut temps réel de chaque slot</a:t>
            </a:r>
            <a:endParaRPr lang="en-US" sz="850" dirty="0"/>
          </a:p>
        </p:txBody>
      </p:sp>
      <p:pic>
        <p:nvPicPr>
          <p:cNvPr id="19" name="Image 5" descr="preencoded.png"/>
          <p:cNvPicPr>
            <a:picLocks noChangeAspect="1"/>
          </p:cNvPicPr>
          <p:nvPr/>
        </p:nvPicPr>
        <p:blipFill>
          <a:blip r:embed="rId4"/>
          <a:stretch>
            <a:fillRect/>
          </a:stretch>
        </p:blipFill>
        <p:spPr>
          <a:xfrm>
            <a:off x="640080" y="3840480"/>
            <a:ext cx="164592" cy="164592"/>
          </a:xfrm>
          <a:prstGeom prst="rect">
            <a:avLst/>
          </a:prstGeom>
        </p:spPr>
      </p:pic>
      <p:sp>
        <p:nvSpPr>
          <p:cNvPr id="20" name="Text 12"/>
          <p:cNvSpPr/>
          <p:nvPr/>
        </p:nvSpPr>
        <p:spPr>
          <a:xfrm>
            <a:off x="868680" y="3822192"/>
            <a:ext cx="1965960" cy="27432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Notification de nouvelle mission</a:t>
            </a:r>
            <a:endParaRPr lang="en-US" sz="850" dirty="0"/>
          </a:p>
        </p:txBody>
      </p:sp>
      <p:pic>
        <p:nvPicPr>
          <p:cNvPr id="21" name="Image 6" descr="preencoded.png"/>
          <p:cNvPicPr>
            <a:picLocks noChangeAspect="1"/>
          </p:cNvPicPr>
          <p:nvPr/>
        </p:nvPicPr>
        <p:blipFill>
          <a:blip r:embed="rId4"/>
          <a:stretch>
            <a:fillRect/>
          </a:stretch>
        </p:blipFill>
        <p:spPr>
          <a:xfrm>
            <a:off x="640080" y="4142232"/>
            <a:ext cx="164592" cy="164592"/>
          </a:xfrm>
          <a:prstGeom prst="rect">
            <a:avLst/>
          </a:prstGeom>
        </p:spPr>
      </p:pic>
      <p:sp>
        <p:nvSpPr>
          <p:cNvPr id="22" name="Text 13"/>
          <p:cNvSpPr/>
          <p:nvPr/>
        </p:nvSpPr>
        <p:spPr>
          <a:xfrm>
            <a:off x="868680" y="4123944"/>
            <a:ext cx="1965960" cy="27432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Historique et performance journalière</a:t>
            </a:r>
            <a:endParaRPr lang="en-US" sz="850" dirty="0"/>
          </a:p>
        </p:txBody>
      </p:sp>
      <p:sp>
        <p:nvSpPr>
          <p:cNvPr id="23" name="Shape 14"/>
          <p:cNvSpPr/>
          <p:nvPr/>
        </p:nvSpPr>
        <p:spPr>
          <a:xfrm>
            <a:off x="3291840" y="1005840"/>
            <a:ext cx="2560320" cy="3657600"/>
          </a:xfrm>
          <a:prstGeom prst="rect">
            <a:avLst/>
          </a:prstGeom>
          <a:solidFill>
            <a:srgbClr val="F7F9FC"/>
          </a:solidFill>
          <a:ln/>
          <a:effectLst>
            <a:outerShdw blurRad="76200" dist="25400" dir="8100000" algn="bl" rotWithShape="0">
              <a:srgbClr val="000000">
                <a:alpha val="6000"/>
              </a:srgbClr>
            </a:outerShdw>
          </a:effectLst>
        </p:spPr>
      </p:sp>
      <p:sp>
        <p:nvSpPr>
          <p:cNvPr id="24" name="Shape 15"/>
          <p:cNvSpPr/>
          <p:nvPr/>
        </p:nvSpPr>
        <p:spPr>
          <a:xfrm>
            <a:off x="3291840" y="1005840"/>
            <a:ext cx="2560320" cy="54864"/>
          </a:xfrm>
          <a:prstGeom prst="rect">
            <a:avLst/>
          </a:prstGeom>
          <a:solidFill>
            <a:srgbClr val="16A34A"/>
          </a:solidFill>
          <a:ln/>
        </p:spPr>
      </p:sp>
      <p:sp>
        <p:nvSpPr>
          <p:cNvPr id="25" name="Shape 16"/>
          <p:cNvSpPr/>
          <p:nvPr/>
        </p:nvSpPr>
        <p:spPr>
          <a:xfrm>
            <a:off x="4251960" y="1234440"/>
            <a:ext cx="640080" cy="640080"/>
          </a:xfrm>
          <a:prstGeom prst="ellipse">
            <a:avLst/>
          </a:prstGeom>
          <a:solidFill>
            <a:srgbClr val="EBF5FF"/>
          </a:solidFill>
          <a:ln/>
        </p:spPr>
      </p:sp>
      <p:pic>
        <p:nvPicPr>
          <p:cNvPr id="26" name="Image 7" descr="preencoded.png"/>
          <p:cNvPicPr>
            <a:picLocks noChangeAspect="1"/>
          </p:cNvPicPr>
          <p:nvPr/>
        </p:nvPicPr>
        <p:blipFill>
          <a:blip r:embed="rId5"/>
          <a:stretch>
            <a:fillRect/>
          </a:stretch>
        </p:blipFill>
        <p:spPr>
          <a:xfrm>
            <a:off x="4389120" y="1371600"/>
            <a:ext cx="365760" cy="365760"/>
          </a:xfrm>
          <a:prstGeom prst="rect">
            <a:avLst/>
          </a:prstGeom>
        </p:spPr>
      </p:pic>
      <p:sp>
        <p:nvSpPr>
          <p:cNvPr id="27" name="Text 17"/>
          <p:cNvSpPr/>
          <p:nvPr/>
        </p:nvSpPr>
        <p:spPr>
          <a:xfrm>
            <a:off x="3291840" y="1965960"/>
            <a:ext cx="2560320" cy="274320"/>
          </a:xfrm>
          <a:prstGeom prst="rect">
            <a:avLst/>
          </a:prstGeom>
          <a:noFill/>
          <a:ln/>
        </p:spPr>
        <p:txBody>
          <a:bodyPr wrap="square" lIns="0" tIns="0" rIns="0" bIns="0" rtlCol="0" anchor="ctr"/>
          <a:lstStyle/>
          <a:p>
            <a:pPr marL="0" indent="0" algn="ctr">
              <a:buNone/>
            </a:pPr>
            <a:r>
              <a:rPr lang="en-US" sz="1300" b="1" dirty="0">
                <a:solidFill>
                  <a:srgbClr val="16A34A"/>
                </a:solidFill>
                <a:latin typeface="Poppins" pitchFamily="34" charset="0"/>
                <a:ea typeface="Poppins" pitchFamily="34" charset="-122"/>
                <a:cs typeface="Poppins" pitchFamily="34" charset="-120"/>
              </a:rPr>
              <a:t>Scanner préparateur</a:t>
            </a:r>
            <a:endParaRPr lang="en-US" sz="1300" dirty="0"/>
          </a:p>
        </p:txBody>
      </p:sp>
      <p:sp>
        <p:nvSpPr>
          <p:cNvPr id="28" name="Text 18"/>
          <p:cNvSpPr/>
          <p:nvPr/>
        </p:nvSpPr>
        <p:spPr>
          <a:xfrm>
            <a:off x="3291840" y="2212848"/>
            <a:ext cx="2560320" cy="201168"/>
          </a:xfrm>
          <a:prstGeom prst="rect">
            <a:avLst/>
          </a:prstGeom>
          <a:noFill/>
          <a:ln/>
        </p:spPr>
        <p:txBody>
          <a:bodyPr wrap="square" lIns="0" tIns="0" rIns="0" bIns="0" rtlCol="0" anchor="ctr"/>
          <a:lstStyle/>
          <a:p>
            <a:pPr marL="0" indent="0" algn="ctr">
              <a:buNone/>
            </a:pPr>
            <a:r>
              <a:rPr lang="en-US" sz="900" dirty="0">
                <a:solidFill>
                  <a:srgbClr val="6B7280"/>
                </a:solidFill>
                <a:latin typeface="Poppins" pitchFamily="34" charset="0"/>
                <a:ea typeface="Poppins" pitchFamily="34" charset="-122"/>
                <a:cs typeface="Poppins" pitchFamily="34" charset="-120"/>
              </a:rPr>
              <a:t>Interface de picking</a:t>
            </a:r>
            <a:endParaRPr lang="en-US" sz="900" dirty="0"/>
          </a:p>
        </p:txBody>
      </p:sp>
      <p:sp>
        <p:nvSpPr>
          <p:cNvPr id="29" name="Shape 19"/>
          <p:cNvSpPr/>
          <p:nvPr/>
        </p:nvSpPr>
        <p:spPr>
          <a:xfrm>
            <a:off x="3566160" y="2487168"/>
            <a:ext cx="2011680" cy="18288"/>
          </a:xfrm>
          <a:prstGeom prst="rect">
            <a:avLst/>
          </a:prstGeom>
          <a:solidFill>
            <a:srgbClr val="E5E7EB"/>
          </a:solidFill>
          <a:ln/>
        </p:spPr>
      </p:sp>
      <p:pic>
        <p:nvPicPr>
          <p:cNvPr id="30" name="Image 8" descr="preencoded.png"/>
          <p:cNvPicPr>
            <a:picLocks noChangeAspect="1"/>
          </p:cNvPicPr>
          <p:nvPr/>
        </p:nvPicPr>
        <p:blipFill>
          <a:blip r:embed="rId4"/>
          <a:stretch>
            <a:fillRect/>
          </a:stretch>
        </p:blipFill>
        <p:spPr>
          <a:xfrm>
            <a:off x="3474720" y="2633472"/>
            <a:ext cx="164592" cy="164592"/>
          </a:xfrm>
          <a:prstGeom prst="rect">
            <a:avLst/>
          </a:prstGeom>
        </p:spPr>
      </p:pic>
      <p:sp>
        <p:nvSpPr>
          <p:cNvPr id="31" name="Text 20"/>
          <p:cNvSpPr/>
          <p:nvPr/>
        </p:nvSpPr>
        <p:spPr>
          <a:xfrm>
            <a:off x="3703320" y="2615184"/>
            <a:ext cx="1965960" cy="27432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Scan article → validation instantanée</a:t>
            </a:r>
            <a:endParaRPr lang="en-US" sz="850" dirty="0"/>
          </a:p>
        </p:txBody>
      </p:sp>
      <p:pic>
        <p:nvPicPr>
          <p:cNvPr id="32" name="Image 9" descr="preencoded.png"/>
          <p:cNvPicPr>
            <a:picLocks noChangeAspect="1"/>
          </p:cNvPicPr>
          <p:nvPr/>
        </p:nvPicPr>
        <p:blipFill>
          <a:blip r:embed="rId4"/>
          <a:stretch>
            <a:fillRect/>
          </a:stretch>
        </p:blipFill>
        <p:spPr>
          <a:xfrm>
            <a:off x="3474720" y="2935224"/>
            <a:ext cx="164592" cy="164592"/>
          </a:xfrm>
          <a:prstGeom prst="rect">
            <a:avLst/>
          </a:prstGeom>
        </p:spPr>
      </p:pic>
      <p:sp>
        <p:nvSpPr>
          <p:cNvPr id="33" name="Text 21"/>
          <p:cNvSpPr/>
          <p:nvPr/>
        </p:nvSpPr>
        <p:spPr>
          <a:xfrm>
            <a:off x="3703320" y="2916936"/>
            <a:ext cx="1965960" cy="27432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Affichage quantité restante par ligne</a:t>
            </a:r>
            <a:endParaRPr lang="en-US" sz="850" dirty="0"/>
          </a:p>
        </p:txBody>
      </p:sp>
      <p:pic>
        <p:nvPicPr>
          <p:cNvPr id="34" name="Image 10" descr="preencoded.png"/>
          <p:cNvPicPr>
            <a:picLocks noChangeAspect="1"/>
          </p:cNvPicPr>
          <p:nvPr/>
        </p:nvPicPr>
        <p:blipFill>
          <a:blip r:embed="rId4"/>
          <a:stretch>
            <a:fillRect/>
          </a:stretch>
        </p:blipFill>
        <p:spPr>
          <a:xfrm>
            <a:off x="3474720" y="3236976"/>
            <a:ext cx="164592" cy="164592"/>
          </a:xfrm>
          <a:prstGeom prst="rect">
            <a:avLst/>
          </a:prstGeom>
        </p:spPr>
      </p:pic>
      <p:sp>
        <p:nvSpPr>
          <p:cNvPr id="35" name="Text 22"/>
          <p:cNvSpPr/>
          <p:nvPr/>
        </p:nvSpPr>
        <p:spPr>
          <a:xfrm>
            <a:off x="3703320" y="3218688"/>
            <a:ext cx="1965960" cy="27432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Alerte si mauvaise référence scannée</a:t>
            </a:r>
            <a:endParaRPr lang="en-US" sz="850" dirty="0"/>
          </a:p>
        </p:txBody>
      </p:sp>
      <p:pic>
        <p:nvPicPr>
          <p:cNvPr id="36" name="Image 11" descr="preencoded.png"/>
          <p:cNvPicPr>
            <a:picLocks noChangeAspect="1"/>
          </p:cNvPicPr>
          <p:nvPr/>
        </p:nvPicPr>
        <p:blipFill>
          <a:blip r:embed="rId4"/>
          <a:stretch>
            <a:fillRect/>
          </a:stretch>
        </p:blipFill>
        <p:spPr>
          <a:xfrm>
            <a:off x="3474720" y="3538728"/>
            <a:ext cx="164592" cy="164592"/>
          </a:xfrm>
          <a:prstGeom prst="rect">
            <a:avLst/>
          </a:prstGeom>
        </p:spPr>
      </p:pic>
      <p:sp>
        <p:nvSpPr>
          <p:cNvPr id="37" name="Text 23"/>
          <p:cNvSpPr/>
          <p:nvPr/>
        </p:nvSpPr>
        <p:spPr>
          <a:xfrm>
            <a:off x="3703320" y="3520440"/>
            <a:ext cx="1965960" cy="27432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Confirmation carton maman associé</a:t>
            </a:r>
            <a:endParaRPr lang="en-US" sz="850" dirty="0"/>
          </a:p>
        </p:txBody>
      </p:sp>
      <p:pic>
        <p:nvPicPr>
          <p:cNvPr id="38" name="Image 12" descr="preencoded.png"/>
          <p:cNvPicPr>
            <a:picLocks noChangeAspect="1"/>
          </p:cNvPicPr>
          <p:nvPr/>
        </p:nvPicPr>
        <p:blipFill>
          <a:blip r:embed="rId4"/>
          <a:stretch>
            <a:fillRect/>
          </a:stretch>
        </p:blipFill>
        <p:spPr>
          <a:xfrm>
            <a:off x="3474720" y="3840480"/>
            <a:ext cx="164592" cy="164592"/>
          </a:xfrm>
          <a:prstGeom prst="rect">
            <a:avLst/>
          </a:prstGeom>
        </p:spPr>
      </p:pic>
      <p:sp>
        <p:nvSpPr>
          <p:cNvPr id="39" name="Text 24"/>
          <p:cNvSpPr/>
          <p:nvPr/>
        </p:nvSpPr>
        <p:spPr>
          <a:xfrm>
            <a:off x="3703320" y="3822192"/>
            <a:ext cx="1965960" cy="27432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Mode dégradé (saisie manuelle)</a:t>
            </a:r>
            <a:endParaRPr lang="en-US" sz="850" dirty="0"/>
          </a:p>
        </p:txBody>
      </p:sp>
      <p:pic>
        <p:nvPicPr>
          <p:cNvPr id="40" name="Image 13" descr="preencoded.png"/>
          <p:cNvPicPr>
            <a:picLocks noChangeAspect="1"/>
          </p:cNvPicPr>
          <p:nvPr/>
        </p:nvPicPr>
        <p:blipFill>
          <a:blip r:embed="rId4"/>
          <a:stretch>
            <a:fillRect/>
          </a:stretch>
        </p:blipFill>
        <p:spPr>
          <a:xfrm>
            <a:off x="3474720" y="4142232"/>
            <a:ext cx="164592" cy="164592"/>
          </a:xfrm>
          <a:prstGeom prst="rect">
            <a:avLst/>
          </a:prstGeom>
        </p:spPr>
      </p:pic>
      <p:sp>
        <p:nvSpPr>
          <p:cNvPr id="41" name="Text 25"/>
          <p:cNvSpPr/>
          <p:nvPr/>
        </p:nvSpPr>
        <p:spPr>
          <a:xfrm>
            <a:off x="3703320" y="4123944"/>
            <a:ext cx="1965960" cy="27432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Progression de la mission en cours</a:t>
            </a:r>
            <a:endParaRPr lang="en-US" sz="850" dirty="0"/>
          </a:p>
        </p:txBody>
      </p:sp>
      <p:sp>
        <p:nvSpPr>
          <p:cNvPr id="42" name="Shape 26"/>
          <p:cNvSpPr/>
          <p:nvPr/>
        </p:nvSpPr>
        <p:spPr>
          <a:xfrm>
            <a:off x="6126480" y="1005840"/>
            <a:ext cx="2560320" cy="3657600"/>
          </a:xfrm>
          <a:prstGeom prst="rect">
            <a:avLst/>
          </a:prstGeom>
          <a:solidFill>
            <a:srgbClr val="F7F9FC"/>
          </a:solidFill>
          <a:ln/>
          <a:effectLst>
            <a:outerShdw blurRad="76200" dist="25400" dir="8100000" algn="bl" rotWithShape="0">
              <a:srgbClr val="000000">
                <a:alpha val="6000"/>
              </a:srgbClr>
            </a:outerShdw>
          </a:effectLst>
        </p:spPr>
      </p:sp>
      <p:sp>
        <p:nvSpPr>
          <p:cNvPr id="43" name="Shape 27"/>
          <p:cNvSpPr/>
          <p:nvPr/>
        </p:nvSpPr>
        <p:spPr>
          <a:xfrm>
            <a:off x="6126480" y="1005840"/>
            <a:ext cx="2560320" cy="54864"/>
          </a:xfrm>
          <a:prstGeom prst="rect">
            <a:avLst/>
          </a:prstGeom>
          <a:solidFill>
            <a:srgbClr val="7C3AED"/>
          </a:solidFill>
          <a:ln/>
        </p:spPr>
      </p:sp>
      <p:sp>
        <p:nvSpPr>
          <p:cNvPr id="44" name="Shape 28"/>
          <p:cNvSpPr/>
          <p:nvPr/>
        </p:nvSpPr>
        <p:spPr>
          <a:xfrm>
            <a:off x="7086600" y="1234440"/>
            <a:ext cx="640080" cy="640080"/>
          </a:xfrm>
          <a:prstGeom prst="ellipse">
            <a:avLst/>
          </a:prstGeom>
          <a:solidFill>
            <a:srgbClr val="EBF5FF"/>
          </a:solidFill>
          <a:ln/>
        </p:spPr>
      </p:sp>
      <p:pic>
        <p:nvPicPr>
          <p:cNvPr id="45" name="Image 14" descr="preencoded.png"/>
          <p:cNvPicPr>
            <a:picLocks noChangeAspect="1"/>
          </p:cNvPicPr>
          <p:nvPr/>
        </p:nvPicPr>
        <p:blipFill>
          <a:blip r:embed="rId6"/>
          <a:stretch>
            <a:fillRect/>
          </a:stretch>
        </p:blipFill>
        <p:spPr>
          <a:xfrm>
            <a:off x="7223760" y="1371600"/>
            <a:ext cx="365760" cy="365760"/>
          </a:xfrm>
          <a:prstGeom prst="rect">
            <a:avLst/>
          </a:prstGeom>
        </p:spPr>
      </p:pic>
      <p:sp>
        <p:nvSpPr>
          <p:cNvPr id="46" name="Text 29"/>
          <p:cNvSpPr/>
          <p:nvPr/>
        </p:nvSpPr>
        <p:spPr>
          <a:xfrm>
            <a:off x="6126480" y="1965960"/>
            <a:ext cx="2560320" cy="274320"/>
          </a:xfrm>
          <a:prstGeom prst="rect">
            <a:avLst/>
          </a:prstGeom>
          <a:noFill/>
          <a:ln/>
        </p:spPr>
        <p:txBody>
          <a:bodyPr wrap="square" lIns="0" tIns="0" rIns="0" bIns="0" rtlCol="0" anchor="ctr"/>
          <a:lstStyle/>
          <a:p>
            <a:pPr marL="0" indent="0" algn="ctr">
              <a:buNone/>
            </a:pPr>
            <a:r>
              <a:rPr lang="en-US" sz="1300" b="1" dirty="0">
                <a:solidFill>
                  <a:srgbClr val="7C3AED"/>
                </a:solidFill>
                <a:latin typeface="Poppins" pitchFamily="34" charset="0"/>
                <a:ea typeface="Poppins" pitchFamily="34" charset="-122"/>
                <a:cs typeface="Poppins" pitchFamily="34" charset="-120"/>
              </a:rPr>
              <a:t>Dashboard superviseur</a:t>
            </a:r>
            <a:endParaRPr lang="en-US" sz="1300" dirty="0"/>
          </a:p>
        </p:txBody>
      </p:sp>
      <p:sp>
        <p:nvSpPr>
          <p:cNvPr id="47" name="Text 30"/>
          <p:cNvSpPr/>
          <p:nvPr/>
        </p:nvSpPr>
        <p:spPr>
          <a:xfrm>
            <a:off x="6126480" y="2212848"/>
            <a:ext cx="2560320" cy="201168"/>
          </a:xfrm>
          <a:prstGeom prst="rect">
            <a:avLst/>
          </a:prstGeom>
          <a:noFill/>
          <a:ln/>
        </p:spPr>
        <p:txBody>
          <a:bodyPr wrap="square" lIns="0" tIns="0" rIns="0" bIns="0" rtlCol="0" anchor="ctr"/>
          <a:lstStyle/>
          <a:p>
            <a:pPr marL="0" indent="0" algn="ctr">
              <a:buNone/>
            </a:pPr>
            <a:r>
              <a:rPr lang="en-US" sz="900" dirty="0">
                <a:solidFill>
                  <a:srgbClr val="6B7280"/>
                </a:solidFill>
                <a:latin typeface="Poppins" pitchFamily="34" charset="0"/>
                <a:ea typeface="Poppins" pitchFamily="34" charset="-122"/>
                <a:cs typeface="Poppins" pitchFamily="34" charset="-120"/>
              </a:rPr>
              <a:t>Vue d'ensemble</a:t>
            </a:r>
            <a:endParaRPr lang="en-US" sz="900" dirty="0"/>
          </a:p>
        </p:txBody>
      </p:sp>
      <p:sp>
        <p:nvSpPr>
          <p:cNvPr id="48" name="Shape 31"/>
          <p:cNvSpPr/>
          <p:nvPr/>
        </p:nvSpPr>
        <p:spPr>
          <a:xfrm>
            <a:off x="6400800" y="2487168"/>
            <a:ext cx="2011680" cy="18288"/>
          </a:xfrm>
          <a:prstGeom prst="rect">
            <a:avLst/>
          </a:prstGeom>
          <a:solidFill>
            <a:srgbClr val="E5E7EB"/>
          </a:solidFill>
          <a:ln/>
        </p:spPr>
      </p:sp>
      <p:pic>
        <p:nvPicPr>
          <p:cNvPr id="49" name="Image 15" descr="preencoded.png"/>
          <p:cNvPicPr>
            <a:picLocks noChangeAspect="1"/>
          </p:cNvPicPr>
          <p:nvPr/>
        </p:nvPicPr>
        <p:blipFill>
          <a:blip r:embed="rId4"/>
          <a:stretch>
            <a:fillRect/>
          </a:stretch>
        </p:blipFill>
        <p:spPr>
          <a:xfrm>
            <a:off x="6309360" y="2633472"/>
            <a:ext cx="164592" cy="164592"/>
          </a:xfrm>
          <a:prstGeom prst="rect">
            <a:avLst/>
          </a:prstGeom>
        </p:spPr>
      </p:pic>
      <p:sp>
        <p:nvSpPr>
          <p:cNvPr id="50" name="Text 32"/>
          <p:cNvSpPr/>
          <p:nvPr/>
        </p:nvSpPr>
        <p:spPr>
          <a:xfrm>
            <a:off x="6537960" y="2615184"/>
            <a:ext cx="1965960" cy="27432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Vue globale des missions en cours</a:t>
            </a:r>
            <a:endParaRPr lang="en-US" sz="850" dirty="0"/>
          </a:p>
        </p:txBody>
      </p:sp>
      <p:pic>
        <p:nvPicPr>
          <p:cNvPr id="51" name="Image 16" descr="preencoded.png"/>
          <p:cNvPicPr>
            <a:picLocks noChangeAspect="1"/>
          </p:cNvPicPr>
          <p:nvPr/>
        </p:nvPicPr>
        <p:blipFill>
          <a:blip r:embed="rId4"/>
          <a:stretch>
            <a:fillRect/>
          </a:stretch>
        </p:blipFill>
        <p:spPr>
          <a:xfrm>
            <a:off x="6309360" y="2935224"/>
            <a:ext cx="164592" cy="164592"/>
          </a:xfrm>
          <a:prstGeom prst="rect">
            <a:avLst/>
          </a:prstGeom>
        </p:spPr>
      </p:pic>
      <p:sp>
        <p:nvSpPr>
          <p:cNvPr id="52" name="Text 33"/>
          <p:cNvSpPr/>
          <p:nvPr/>
        </p:nvSpPr>
        <p:spPr>
          <a:xfrm>
            <a:off x="6537960" y="2916936"/>
            <a:ext cx="1965960" cy="27432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Taux de complétion temps réel</a:t>
            </a:r>
            <a:endParaRPr lang="en-US" sz="850" dirty="0"/>
          </a:p>
        </p:txBody>
      </p:sp>
      <p:pic>
        <p:nvPicPr>
          <p:cNvPr id="53" name="Image 17" descr="preencoded.png"/>
          <p:cNvPicPr>
            <a:picLocks noChangeAspect="1"/>
          </p:cNvPicPr>
          <p:nvPr/>
        </p:nvPicPr>
        <p:blipFill>
          <a:blip r:embed="rId4"/>
          <a:stretch>
            <a:fillRect/>
          </a:stretch>
        </p:blipFill>
        <p:spPr>
          <a:xfrm>
            <a:off x="6309360" y="3236976"/>
            <a:ext cx="164592" cy="164592"/>
          </a:xfrm>
          <a:prstGeom prst="rect">
            <a:avLst/>
          </a:prstGeom>
        </p:spPr>
      </p:pic>
      <p:sp>
        <p:nvSpPr>
          <p:cNvPr id="54" name="Text 34"/>
          <p:cNvSpPr/>
          <p:nvPr/>
        </p:nvSpPr>
        <p:spPr>
          <a:xfrm>
            <a:off x="6537960" y="3218688"/>
            <a:ext cx="1965960" cy="27432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Alertes retard et anomalies</a:t>
            </a:r>
            <a:endParaRPr lang="en-US" sz="850" dirty="0"/>
          </a:p>
        </p:txBody>
      </p:sp>
      <p:pic>
        <p:nvPicPr>
          <p:cNvPr id="55" name="Image 18" descr="preencoded.png"/>
          <p:cNvPicPr>
            <a:picLocks noChangeAspect="1"/>
          </p:cNvPicPr>
          <p:nvPr/>
        </p:nvPicPr>
        <p:blipFill>
          <a:blip r:embed="rId4"/>
          <a:stretch>
            <a:fillRect/>
          </a:stretch>
        </p:blipFill>
        <p:spPr>
          <a:xfrm>
            <a:off x="6309360" y="3538728"/>
            <a:ext cx="164592" cy="164592"/>
          </a:xfrm>
          <a:prstGeom prst="rect">
            <a:avLst/>
          </a:prstGeom>
        </p:spPr>
      </p:pic>
      <p:sp>
        <p:nvSpPr>
          <p:cNvPr id="56" name="Text 35"/>
          <p:cNvSpPr/>
          <p:nvPr/>
        </p:nvSpPr>
        <p:spPr>
          <a:xfrm>
            <a:off x="6537960" y="3520440"/>
            <a:ext cx="1965960" cy="27432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Statistiques de productivité</a:t>
            </a:r>
            <a:endParaRPr lang="en-US" sz="850" dirty="0"/>
          </a:p>
        </p:txBody>
      </p:sp>
      <p:pic>
        <p:nvPicPr>
          <p:cNvPr id="57" name="Image 19" descr="preencoded.png"/>
          <p:cNvPicPr>
            <a:picLocks noChangeAspect="1"/>
          </p:cNvPicPr>
          <p:nvPr/>
        </p:nvPicPr>
        <p:blipFill>
          <a:blip r:embed="rId4"/>
          <a:stretch>
            <a:fillRect/>
          </a:stretch>
        </p:blipFill>
        <p:spPr>
          <a:xfrm>
            <a:off x="6309360" y="3840480"/>
            <a:ext cx="164592" cy="164592"/>
          </a:xfrm>
          <a:prstGeom prst="rect">
            <a:avLst/>
          </a:prstGeom>
        </p:spPr>
      </p:pic>
      <p:sp>
        <p:nvSpPr>
          <p:cNvPr id="58" name="Text 36"/>
          <p:cNvSpPr/>
          <p:nvPr/>
        </p:nvSpPr>
        <p:spPr>
          <a:xfrm>
            <a:off x="6537960" y="3822192"/>
            <a:ext cx="1965960" cy="27432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Comparaison avant/après optimisation</a:t>
            </a:r>
            <a:endParaRPr lang="en-US" sz="850" dirty="0"/>
          </a:p>
        </p:txBody>
      </p:sp>
      <p:pic>
        <p:nvPicPr>
          <p:cNvPr id="59" name="Image 20" descr="preencoded.png"/>
          <p:cNvPicPr>
            <a:picLocks noChangeAspect="1"/>
          </p:cNvPicPr>
          <p:nvPr/>
        </p:nvPicPr>
        <p:blipFill>
          <a:blip r:embed="rId4"/>
          <a:stretch>
            <a:fillRect/>
          </a:stretch>
        </p:blipFill>
        <p:spPr>
          <a:xfrm>
            <a:off x="6309360" y="4142232"/>
            <a:ext cx="164592" cy="164592"/>
          </a:xfrm>
          <a:prstGeom prst="rect">
            <a:avLst/>
          </a:prstGeom>
        </p:spPr>
      </p:pic>
      <p:sp>
        <p:nvSpPr>
          <p:cNvPr id="60" name="Text 37"/>
          <p:cNvSpPr/>
          <p:nvPr/>
        </p:nvSpPr>
        <p:spPr>
          <a:xfrm>
            <a:off x="6537960" y="4123944"/>
            <a:ext cx="1965960" cy="274320"/>
          </a:xfrm>
          <a:prstGeom prst="rect">
            <a:avLst/>
          </a:prstGeom>
          <a:noFill/>
          <a:ln/>
        </p:spPr>
        <p:txBody>
          <a:bodyPr wrap="square" lIns="0" tIns="0" rIns="0" bIns="0" rtlCol="0" anchor="ctr"/>
          <a:lstStyle/>
          <a:p>
            <a:pPr marL="0" indent="0">
              <a:buNone/>
            </a:pPr>
            <a:r>
              <a:rPr lang="en-US" sz="850" dirty="0">
                <a:solidFill>
                  <a:srgbClr val="0F172A"/>
                </a:solidFill>
                <a:latin typeface="Poppins" pitchFamily="34" charset="0"/>
                <a:ea typeface="Poppins" pitchFamily="34" charset="-122"/>
                <a:cs typeface="Poppins" pitchFamily="34" charset="-120"/>
              </a:rPr>
              <a:t>Export rapports journaliers</a:t>
            </a:r>
            <a:endParaRPr lang="en-US" sz="850" dirty="0"/>
          </a:p>
        </p:txBody>
      </p:sp>
      <p:sp>
        <p:nvSpPr>
          <p:cNvPr id="61" name="Text 38"/>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28600"/>
            <a:ext cx="8229600" cy="411480"/>
          </a:xfrm>
          <a:prstGeom prst="rect">
            <a:avLst/>
          </a:prstGeom>
          <a:noFill/>
          <a:ln/>
        </p:spPr>
        <p:txBody>
          <a:bodyPr wrap="square" lIns="0" tIns="0" rIns="0" bIns="0" rtlCol="0" anchor="ctr"/>
          <a:lstStyle/>
          <a:p>
            <a:pPr marL="0" indent="0">
              <a:buNone/>
            </a:pPr>
            <a:r>
              <a:rPr lang="en-US" sz="2800" b="1" dirty="0">
                <a:solidFill>
                  <a:srgbClr val="0F172A"/>
                </a:solidFill>
                <a:latin typeface="Poppins" pitchFamily="34" charset="0"/>
                <a:ea typeface="Poppins" pitchFamily="34" charset="-122"/>
                <a:cs typeface="Poppins" pitchFamily="34" charset="-120"/>
              </a:rPr>
              <a:t>Questions pour l'équipe MHS</a:t>
            </a:r>
            <a:endParaRPr lang="en-US" sz="2800" dirty="0"/>
          </a:p>
        </p:txBody>
      </p:sp>
      <p:sp>
        <p:nvSpPr>
          <p:cNvPr id="3" name="Text 1"/>
          <p:cNvSpPr/>
          <p:nvPr/>
        </p:nvSpPr>
        <p:spPr>
          <a:xfrm>
            <a:off x="640080" y="640080"/>
            <a:ext cx="7315200" cy="228600"/>
          </a:xfrm>
          <a:prstGeom prst="rect">
            <a:avLst/>
          </a:prstGeom>
          <a:noFill/>
          <a:ln/>
        </p:spPr>
        <p:txBody>
          <a:bodyPr wrap="square" lIns="0" tIns="0" rIns="0" bIns="0" rtlCol="0" anchor="ctr"/>
          <a:lstStyle/>
          <a:p>
            <a:pPr marL="0" indent="0">
              <a:buNone/>
            </a:pPr>
            <a:r>
              <a:rPr lang="en-US" sz="1100" dirty="0">
                <a:solidFill>
                  <a:srgbClr val="6B7280"/>
                </a:solidFill>
                <a:latin typeface="Poppins" pitchFamily="34" charset="0"/>
                <a:ea typeface="Poppins" pitchFamily="34" charset="-122"/>
                <a:cs typeface="Poppins" pitchFamily="34" charset="-120"/>
              </a:rPr>
              <a:t>Points à clarifier pour avancer sur l'intégration</a:t>
            </a:r>
            <a:endParaRPr lang="en-US" sz="1100" dirty="0"/>
          </a:p>
        </p:txBody>
      </p:sp>
      <p:sp>
        <p:nvSpPr>
          <p:cNvPr id="4" name="Shape 2"/>
          <p:cNvSpPr/>
          <p:nvPr/>
        </p:nvSpPr>
        <p:spPr>
          <a:xfrm>
            <a:off x="594360" y="1005840"/>
            <a:ext cx="3840480" cy="1828800"/>
          </a:xfrm>
          <a:prstGeom prst="rect">
            <a:avLst/>
          </a:prstGeom>
          <a:solidFill>
            <a:srgbClr val="FFFFFF"/>
          </a:solidFill>
          <a:ln w="15240">
            <a:solidFill>
              <a:srgbClr val="1677FF"/>
            </a:solidFill>
            <a:prstDash val="solid"/>
          </a:ln>
        </p:spPr>
      </p:sp>
      <p:pic>
        <p:nvPicPr>
          <p:cNvPr id="5" name="Image 0" descr="preencoded.png"/>
          <p:cNvPicPr>
            <a:picLocks noChangeAspect="1"/>
          </p:cNvPicPr>
          <p:nvPr/>
        </p:nvPicPr>
        <p:blipFill>
          <a:blip r:embed="rId3"/>
          <a:stretch>
            <a:fillRect/>
          </a:stretch>
        </p:blipFill>
        <p:spPr>
          <a:xfrm>
            <a:off x="731520" y="1115568"/>
            <a:ext cx="256032" cy="256032"/>
          </a:xfrm>
          <a:prstGeom prst="rect">
            <a:avLst/>
          </a:prstGeom>
        </p:spPr>
      </p:pic>
      <p:sp>
        <p:nvSpPr>
          <p:cNvPr id="6" name="Text 3"/>
          <p:cNvSpPr/>
          <p:nvPr/>
        </p:nvSpPr>
        <p:spPr>
          <a:xfrm>
            <a:off x="1051560" y="1097280"/>
            <a:ext cx="2926080" cy="292608"/>
          </a:xfrm>
          <a:prstGeom prst="rect">
            <a:avLst/>
          </a:prstGeom>
          <a:noFill/>
          <a:ln/>
        </p:spPr>
        <p:txBody>
          <a:bodyPr wrap="square" lIns="0" tIns="0" rIns="0" bIns="0" rtlCol="0" anchor="ctr"/>
          <a:lstStyle/>
          <a:p>
            <a:pPr marL="0" indent="0">
              <a:buNone/>
            </a:pPr>
            <a:r>
              <a:rPr lang="en-US" sz="1300" b="1" dirty="0">
                <a:solidFill>
                  <a:srgbClr val="1677FF"/>
                </a:solidFill>
                <a:latin typeface="Poppins" pitchFamily="34" charset="0"/>
                <a:ea typeface="Poppins" pitchFamily="34" charset="-122"/>
                <a:cs typeface="Poppins" pitchFamily="34" charset="-120"/>
              </a:rPr>
              <a:t>API &amp; Endpoints</a:t>
            </a:r>
            <a:endParaRPr lang="en-US" sz="1300" dirty="0"/>
          </a:p>
        </p:txBody>
      </p:sp>
      <p:sp>
        <p:nvSpPr>
          <p:cNvPr id="7" name="Shape 4"/>
          <p:cNvSpPr/>
          <p:nvPr/>
        </p:nvSpPr>
        <p:spPr>
          <a:xfrm>
            <a:off x="731520" y="1444752"/>
            <a:ext cx="3566160" cy="18288"/>
          </a:xfrm>
          <a:prstGeom prst="rect">
            <a:avLst/>
          </a:prstGeom>
          <a:solidFill>
            <a:srgbClr val="E5E7EB"/>
          </a:solidFill>
          <a:ln/>
        </p:spPr>
      </p:sp>
      <p:pic>
        <p:nvPicPr>
          <p:cNvPr id="8" name="Image 1" descr="preencoded.png"/>
          <p:cNvPicPr>
            <a:picLocks noChangeAspect="1"/>
          </p:cNvPicPr>
          <p:nvPr/>
        </p:nvPicPr>
        <p:blipFill>
          <a:blip r:embed="rId4"/>
          <a:stretch>
            <a:fillRect/>
          </a:stretch>
        </p:blipFill>
        <p:spPr>
          <a:xfrm>
            <a:off x="777240" y="1554480"/>
            <a:ext cx="164592" cy="164592"/>
          </a:xfrm>
          <a:prstGeom prst="rect">
            <a:avLst/>
          </a:prstGeom>
        </p:spPr>
      </p:pic>
      <p:sp>
        <p:nvSpPr>
          <p:cNvPr id="9" name="Text 5"/>
          <p:cNvSpPr/>
          <p:nvPr/>
        </p:nvSpPr>
        <p:spPr>
          <a:xfrm>
            <a:off x="1005840" y="1536192"/>
            <a:ext cx="3246120" cy="274320"/>
          </a:xfrm>
          <a:prstGeom prst="rect">
            <a:avLst/>
          </a:prstGeom>
          <a:noFill/>
          <a:ln/>
        </p:spPr>
        <p:txBody>
          <a:bodyPr wrap="square" lIns="0" tIns="0" rIns="0" bIns="0" rtlCol="0" anchor="ctr"/>
          <a:lstStyle/>
          <a:p>
            <a:pPr marL="0" indent="0">
              <a:buNone/>
            </a:pPr>
            <a:r>
              <a:rPr lang="en-US" sz="900" dirty="0">
                <a:solidFill>
                  <a:srgbClr val="0F172A"/>
                </a:solidFill>
                <a:latin typeface="Poppins" pitchFamily="34" charset="0"/>
                <a:ea typeface="Poppins" pitchFamily="34" charset="-122"/>
                <a:cs typeface="Poppins" pitchFamily="34" charset="-120"/>
              </a:rPr>
              <a:t>Les endpoints présentés existent-ils déjà dans MHS ?</a:t>
            </a:r>
            <a:endParaRPr lang="en-US" sz="900" dirty="0"/>
          </a:p>
        </p:txBody>
      </p:sp>
      <p:pic>
        <p:nvPicPr>
          <p:cNvPr id="10" name="Image 2" descr="preencoded.png"/>
          <p:cNvPicPr>
            <a:picLocks noChangeAspect="1"/>
          </p:cNvPicPr>
          <p:nvPr/>
        </p:nvPicPr>
        <p:blipFill>
          <a:blip r:embed="rId4"/>
          <a:stretch>
            <a:fillRect/>
          </a:stretch>
        </p:blipFill>
        <p:spPr>
          <a:xfrm>
            <a:off x="777240" y="1856232"/>
            <a:ext cx="164592" cy="164592"/>
          </a:xfrm>
          <a:prstGeom prst="rect">
            <a:avLst/>
          </a:prstGeom>
        </p:spPr>
      </p:pic>
      <p:sp>
        <p:nvSpPr>
          <p:cNvPr id="11" name="Text 6"/>
          <p:cNvSpPr/>
          <p:nvPr/>
        </p:nvSpPr>
        <p:spPr>
          <a:xfrm>
            <a:off x="1005840" y="1837944"/>
            <a:ext cx="3246120" cy="274320"/>
          </a:xfrm>
          <a:prstGeom prst="rect">
            <a:avLst/>
          </a:prstGeom>
          <a:noFill/>
          <a:ln/>
        </p:spPr>
        <p:txBody>
          <a:bodyPr wrap="square" lIns="0" tIns="0" rIns="0" bIns="0" rtlCol="0" anchor="ctr"/>
          <a:lstStyle/>
          <a:p>
            <a:pPr marL="0" indent="0">
              <a:buNone/>
            </a:pPr>
            <a:r>
              <a:rPr lang="en-US" sz="900" dirty="0">
                <a:solidFill>
                  <a:srgbClr val="0F172A"/>
                </a:solidFill>
                <a:latin typeface="Poppins" pitchFamily="34" charset="0"/>
                <a:ea typeface="Poppins" pitchFamily="34" charset="-122"/>
                <a:cs typeface="Poppins" pitchFamily="34" charset="-120"/>
              </a:rPr>
              <a:t>Quel format de données ? (JSON, XML, autre)</a:t>
            </a:r>
            <a:endParaRPr lang="en-US" sz="900" dirty="0"/>
          </a:p>
        </p:txBody>
      </p:sp>
      <p:pic>
        <p:nvPicPr>
          <p:cNvPr id="12" name="Image 3" descr="preencoded.png"/>
          <p:cNvPicPr>
            <a:picLocks noChangeAspect="1"/>
          </p:cNvPicPr>
          <p:nvPr/>
        </p:nvPicPr>
        <p:blipFill>
          <a:blip r:embed="rId4"/>
          <a:stretch>
            <a:fillRect/>
          </a:stretch>
        </p:blipFill>
        <p:spPr>
          <a:xfrm>
            <a:off x="777240" y="2157984"/>
            <a:ext cx="164592" cy="164592"/>
          </a:xfrm>
          <a:prstGeom prst="rect">
            <a:avLst/>
          </a:prstGeom>
        </p:spPr>
      </p:pic>
      <p:sp>
        <p:nvSpPr>
          <p:cNvPr id="13" name="Text 7"/>
          <p:cNvSpPr/>
          <p:nvPr/>
        </p:nvSpPr>
        <p:spPr>
          <a:xfrm>
            <a:off x="1005840" y="2139696"/>
            <a:ext cx="3246120" cy="274320"/>
          </a:xfrm>
          <a:prstGeom prst="rect">
            <a:avLst/>
          </a:prstGeom>
          <a:noFill/>
          <a:ln/>
        </p:spPr>
        <p:txBody>
          <a:bodyPr wrap="square" lIns="0" tIns="0" rIns="0" bIns="0" rtlCol="0" anchor="ctr"/>
          <a:lstStyle/>
          <a:p>
            <a:pPr marL="0" indent="0">
              <a:buNone/>
            </a:pPr>
            <a:r>
              <a:rPr lang="en-US" sz="900" dirty="0">
                <a:solidFill>
                  <a:srgbClr val="0F172A"/>
                </a:solidFill>
                <a:latin typeface="Poppins" pitchFamily="34" charset="0"/>
                <a:ea typeface="Poppins" pitchFamily="34" charset="-122"/>
                <a:cs typeface="Poppins" pitchFamily="34" charset="-120"/>
              </a:rPr>
              <a:t>Y a-t-il une documentation Swagger/OpenAPI disponible ?</a:t>
            </a:r>
            <a:endParaRPr lang="en-US" sz="900" dirty="0"/>
          </a:p>
        </p:txBody>
      </p:sp>
      <p:pic>
        <p:nvPicPr>
          <p:cNvPr id="14" name="Image 4" descr="preencoded.png"/>
          <p:cNvPicPr>
            <a:picLocks noChangeAspect="1"/>
          </p:cNvPicPr>
          <p:nvPr/>
        </p:nvPicPr>
        <p:blipFill>
          <a:blip r:embed="rId4"/>
          <a:stretch>
            <a:fillRect/>
          </a:stretch>
        </p:blipFill>
        <p:spPr>
          <a:xfrm>
            <a:off x="777240" y="2459736"/>
            <a:ext cx="164592" cy="164592"/>
          </a:xfrm>
          <a:prstGeom prst="rect">
            <a:avLst/>
          </a:prstGeom>
        </p:spPr>
      </p:pic>
      <p:sp>
        <p:nvSpPr>
          <p:cNvPr id="15" name="Text 8"/>
          <p:cNvSpPr/>
          <p:nvPr/>
        </p:nvSpPr>
        <p:spPr>
          <a:xfrm>
            <a:off x="1005840" y="2441448"/>
            <a:ext cx="3246120" cy="274320"/>
          </a:xfrm>
          <a:prstGeom prst="rect">
            <a:avLst/>
          </a:prstGeom>
          <a:noFill/>
          <a:ln/>
        </p:spPr>
        <p:txBody>
          <a:bodyPr wrap="square" lIns="0" tIns="0" rIns="0" bIns="0" rtlCol="0" anchor="ctr"/>
          <a:lstStyle/>
          <a:p>
            <a:pPr marL="0" indent="0">
              <a:buNone/>
            </a:pPr>
            <a:r>
              <a:rPr lang="en-US" sz="900" dirty="0">
                <a:solidFill>
                  <a:srgbClr val="0F172A"/>
                </a:solidFill>
                <a:latin typeface="Poppins" pitchFamily="34" charset="0"/>
                <a:ea typeface="Poppins" pitchFamily="34" charset="-122"/>
                <a:cs typeface="Poppins" pitchFamily="34" charset="-120"/>
              </a:rPr>
              <a:t>Limitations de rate limiting / quotas d'appels ?</a:t>
            </a:r>
            <a:endParaRPr lang="en-US" sz="900" dirty="0"/>
          </a:p>
        </p:txBody>
      </p:sp>
      <p:sp>
        <p:nvSpPr>
          <p:cNvPr id="16" name="Shape 9"/>
          <p:cNvSpPr/>
          <p:nvPr/>
        </p:nvSpPr>
        <p:spPr>
          <a:xfrm>
            <a:off x="4709160" y="1005840"/>
            <a:ext cx="3840480" cy="1828800"/>
          </a:xfrm>
          <a:prstGeom prst="rect">
            <a:avLst/>
          </a:prstGeom>
          <a:solidFill>
            <a:srgbClr val="FFFFFF"/>
          </a:solidFill>
          <a:ln w="15240">
            <a:solidFill>
              <a:srgbClr val="0891B2"/>
            </a:solidFill>
            <a:prstDash val="solid"/>
          </a:ln>
        </p:spPr>
      </p:sp>
      <p:pic>
        <p:nvPicPr>
          <p:cNvPr id="17" name="Image 5" descr="preencoded.png"/>
          <p:cNvPicPr>
            <a:picLocks noChangeAspect="1"/>
          </p:cNvPicPr>
          <p:nvPr/>
        </p:nvPicPr>
        <p:blipFill>
          <a:blip r:embed="rId5"/>
          <a:stretch>
            <a:fillRect/>
          </a:stretch>
        </p:blipFill>
        <p:spPr>
          <a:xfrm>
            <a:off x="4846320" y="1115568"/>
            <a:ext cx="256032" cy="256032"/>
          </a:xfrm>
          <a:prstGeom prst="rect">
            <a:avLst/>
          </a:prstGeom>
        </p:spPr>
      </p:pic>
      <p:sp>
        <p:nvSpPr>
          <p:cNvPr id="18" name="Text 10"/>
          <p:cNvSpPr/>
          <p:nvPr/>
        </p:nvSpPr>
        <p:spPr>
          <a:xfrm>
            <a:off x="5166360" y="1097280"/>
            <a:ext cx="2926080" cy="292608"/>
          </a:xfrm>
          <a:prstGeom prst="rect">
            <a:avLst/>
          </a:prstGeom>
          <a:noFill/>
          <a:ln/>
        </p:spPr>
        <p:txBody>
          <a:bodyPr wrap="square" lIns="0" tIns="0" rIns="0" bIns="0" rtlCol="0" anchor="ctr"/>
          <a:lstStyle/>
          <a:p>
            <a:pPr marL="0" indent="0">
              <a:buNone/>
            </a:pPr>
            <a:r>
              <a:rPr lang="en-US" sz="1300" b="1" dirty="0">
                <a:solidFill>
                  <a:srgbClr val="0891B2"/>
                </a:solidFill>
                <a:latin typeface="Poppins" pitchFamily="34" charset="0"/>
                <a:ea typeface="Poppins" pitchFamily="34" charset="-122"/>
                <a:cs typeface="Poppins" pitchFamily="34" charset="-120"/>
              </a:rPr>
              <a:t>Données &amp; accès</a:t>
            </a:r>
            <a:endParaRPr lang="en-US" sz="1300" dirty="0"/>
          </a:p>
        </p:txBody>
      </p:sp>
      <p:sp>
        <p:nvSpPr>
          <p:cNvPr id="19" name="Shape 11"/>
          <p:cNvSpPr/>
          <p:nvPr/>
        </p:nvSpPr>
        <p:spPr>
          <a:xfrm>
            <a:off x="4846320" y="1444752"/>
            <a:ext cx="3566160" cy="18288"/>
          </a:xfrm>
          <a:prstGeom prst="rect">
            <a:avLst/>
          </a:prstGeom>
          <a:solidFill>
            <a:srgbClr val="E5E7EB"/>
          </a:solidFill>
          <a:ln/>
        </p:spPr>
      </p:sp>
      <p:pic>
        <p:nvPicPr>
          <p:cNvPr id="20" name="Image 6" descr="preencoded.png"/>
          <p:cNvPicPr>
            <a:picLocks noChangeAspect="1"/>
          </p:cNvPicPr>
          <p:nvPr/>
        </p:nvPicPr>
        <p:blipFill>
          <a:blip r:embed="rId4"/>
          <a:stretch>
            <a:fillRect/>
          </a:stretch>
        </p:blipFill>
        <p:spPr>
          <a:xfrm>
            <a:off x="4892040" y="1554480"/>
            <a:ext cx="164592" cy="164592"/>
          </a:xfrm>
          <a:prstGeom prst="rect">
            <a:avLst/>
          </a:prstGeom>
        </p:spPr>
      </p:pic>
      <p:sp>
        <p:nvSpPr>
          <p:cNvPr id="21" name="Text 12"/>
          <p:cNvSpPr/>
          <p:nvPr/>
        </p:nvSpPr>
        <p:spPr>
          <a:xfrm>
            <a:off x="5120640" y="1536192"/>
            <a:ext cx="3246120" cy="274320"/>
          </a:xfrm>
          <a:prstGeom prst="rect">
            <a:avLst/>
          </a:prstGeom>
          <a:noFill/>
          <a:ln/>
        </p:spPr>
        <p:txBody>
          <a:bodyPr wrap="square" lIns="0" tIns="0" rIns="0" bIns="0" rtlCol="0" anchor="ctr"/>
          <a:lstStyle/>
          <a:p>
            <a:pPr marL="0" indent="0">
              <a:buNone/>
            </a:pPr>
            <a:r>
              <a:rPr lang="en-US" sz="900" dirty="0">
                <a:solidFill>
                  <a:srgbClr val="0F172A"/>
                </a:solidFill>
                <a:latin typeface="Poppins" pitchFamily="34" charset="0"/>
                <a:ea typeface="Poppins" pitchFamily="34" charset="-122"/>
                <a:cs typeface="Poppins" pitchFamily="34" charset="-120"/>
              </a:rPr>
              <a:t>Peut-on accéder à l'historique complet des slots ?</a:t>
            </a:r>
            <a:endParaRPr lang="en-US" sz="900" dirty="0"/>
          </a:p>
        </p:txBody>
      </p:sp>
      <p:pic>
        <p:nvPicPr>
          <p:cNvPr id="22" name="Image 7" descr="preencoded.png"/>
          <p:cNvPicPr>
            <a:picLocks noChangeAspect="1"/>
          </p:cNvPicPr>
          <p:nvPr/>
        </p:nvPicPr>
        <p:blipFill>
          <a:blip r:embed="rId4"/>
          <a:stretch>
            <a:fillRect/>
          </a:stretch>
        </p:blipFill>
        <p:spPr>
          <a:xfrm>
            <a:off x="4892040" y="1856232"/>
            <a:ext cx="164592" cy="164592"/>
          </a:xfrm>
          <a:prstGeom prst="rect">
            <a:avLst/>
          </a:prstGeom>
        </p:spPr>
      </p:pic>
      <p:sp>
        <p:nvSpPr>
          <p:cNvPr id="23" name="Text 13"/>
          <p:cNvSpPr/>
          <p:nvPr/>
        </p:nvSpPr>
        <p:spPr>
          <a:xfrm>
            <a:off x="5120640" y="1837944"/>
            <a:ext cx="3246120" cy="274320"/>
          </a:xfrm>
          <a:prstGeom prst="rect">
            <a:avLst/>
          </a:prstGeom>
          <a:noFill/>
          <a:ln/>
        </p:spPr>
        <p:txBody>
          <a:bodyPr wrap="square" lIns="0" tIns="0" rIns="0" bIns="0" rtlCol="0" anchor="ctr"/>
          <a:lstStyle/>
          <a:p>
            <a:pPr marL="0" indent="0">
              <a:buNone/>
            </a:pPr>
            <a:r>
              <a:rPr lang="en-US" sz="900" dirty="0">
                <a:solidFill>
                  <a:srgbClr val="0F172A"/>
                </a:solidFill>
                <a:latin typeface="Poppins" pitchFamily="34" charset="0"/>
                <a:ea typeface="Poppins" pitchFamily="34" charset="-122"/>
                <a:cs typeface="Poppins" pitchFamily="34" charset="-120"/>
              </a:rPr>
              <a:t>Quelle profondeur d'historique est disponible ?</a:t>
            </a:r>
            <a:endParaRPr lang="en-US" sz="900" dirty="0"/>
          </a:p>
        </p:txBody>
      </p:sp>
      <p:pic>
        <p:nvPicPr>
          <p:cNvPr id="24" name="Image 8" descr="preencoded.png"/>
          <p:cNvPicPr>
            <a:picLocks noChangeAspect="1"/>
          </p:cNvPicPr>
          <p:nvPr/>
        </p:nvPicPr>
        <p:blipFill>
          <a:blip r:embed="rId4"/>
          <a:stretch>
            <a:fillRect/>
          </a:stretch>
        </p:blipFill>
        <p:spPr>
          <a:xfrm>
            <a:off x="4892040" y="2157984"/>
            <a:ext cx="164592" cy="164592"/>
          </a:xfrm>
          <a:prstGeom prst="rect">
            <a:avLst/>
          </a:prstGeom>
        </p:spPr>
      </p:pic>
      <p:sp>
        <p:nvSpPr>
          <p:cNvPr id="25" name="Text 14"/>
          <p:cNvSpPr/>
          <p:nvPr/>
        </p:nvSpPr>
        <p:spPr>
          <a:xfrm>
            <a:off x="5120640" y="2139696"/>
            <a:ext cx="3246120" cy="274320"/>
          </a:xfrm>
          <a:prstGeom prst="rect">
            <a:avLst/>
          </a:prstGeom>
          <a:noFill/>
          <a:ln/>
        </p:spPr>
        <p:txBody>
          <a:bodyPr wrap="square" lIns="0" tIns="0" rIns="0" bIns="0" rtlCol="0" anchor="ctr"/>
          <a:lstStyle/>
          <a:p>
            <a:pPr marL="0" indent="0">
              <a:buNone/>
            </a:pPr>
            <a:r>
              <a:rPr lang="en-US" sz="900" dirty="0">
                <a:solidFill>
                  <a:srgbClr val="0F172A"/>
                </a:solidFill>
                <a:latin typeface="Poppins" pitchFamily="34" charset="0"/>
                <a:ea typeface="Poppins" pitchFamily="34" charset="-122"/>
                <a:cs typeface="Poppins" pitchFamily="34" charset="-120"/>
              </a:rPr>
              <a:t>Les états des stockeurs sont-ils exposés en API ?</a:t>
            </a:r>
            <a:endParaRPr lang="en-US" sz="900" dirty="0"/>
          </a:p>
        </p:txBody>
      </p:sp>
      <p:pic>
        <p:nvPicPr>
          <p:cNvPr id="26" name="Image 9" descr="preencoded.png"/>
          <p:cNvPicPr>
            <a:picLocks noChangeAspect="1"/>
          </p:cNvPicPr>
          <p:nvPr/>
        </p:nvPicPr>
        <p:blipFill>
          <a:blip r:embed="rId4"/>
          <a:stretch>
            <a:fillRect/>
          </a:stretch>
        </p:blipFill>
        <p:spPr>
          <a:xfrm>
            <a:off x="4892040" y="2459736"/>
            <a:ext cx="164592" cy="164592"/>
          </a:xfrm>
          <a:prstGeom prst="rect">
            <a:avLst/>
          </a:prstGeom>
        </p:spPr>
      </p:pic>
      <p:sp>
        <p:nvSpPr>
          <p:cNvPr id="27" name="Text 15"/>
          <p:cNvSpPr/>
          <p:nvPr/>
        </p:nvSpPr>
        <p:spPr>
          <a:xfrm>
            <a:off x="5120640" y="2441448"/>
            <a:ext cx="3246120" cy="274320"/>
          </a:xfrm>
          <a:prstGeom prst="rect">
            <a:avLst/>
          </a:prstGeom>
          <a:noFill/>
          <a:ln/>
        </p:spPr>
        <p:txBody>
          <a:bodyPr wrap="square" lIns="0" tIns="0" rIns="0" bIns="0" rtlCol="0" anchor="ctr"/>
          <a:lstStyle/>
          <a:p>
            <a:pPr marL="0" indent="0">
              <a:buNone/>
            </a:pPr>
            <a:r>
              <a:rPr lang="en-US" sz="900" dirty="0">
                <a:solidFill>
                  <a:srgbClr val="0F172A"/>
                </a:solidFill>
                <a:latin typeface="Poppins" pitchFamily="34" charset="0"/>
                <a:ea typeface="Poppins" pitchFamily="34" charset="-122"/>
                <a:cs typeface="Poppins" pitchFamily="34" charset="-120"/>
              </a:rPr>
              <a:t>Fréquence de mise à jour des données temps réel ?</a:t>
            </a:r>
            <a:endParaRPr lang="en-US" sz="900" dirty="0"/>
          </a:p>
        </p:txBody>
      </p:sp>
      <p:sp>
        <p:nvSpPr>
          <p:cNvPr id="28" name="Shape 16"/>
          <p:cNvSpPr/>
          <p:nvPr/>
        </p:nvSpPr>
        <p:spPr>
          <a:xfrm>
            <a:off x="594360" y="2971800"/>
            <a:ext cx="3840480" cy="1828800"/>
          </a:xfrm>
          <a:prstGeom prst="rect">
            <a:avLst/>
          </a:prstGeom>
          <a:solidFill>
            <a:srgbClr val="FFFFFF"/>
          </a:solidFill>
          <a:ln w="15240">
            <a:solidFill>
              <a:srgbClr val="EA580C"/>
            </a:solidFill>
            <a:prstDash val="solid"/>
          </a:ln>
        </p:spPr>
      </p:sp>
      <p:pic>
        <p:nvPicPr>
          <p:cNvPr id="29" name="Image 10" descr="preencoded.png"/>
          <p:cNvPicPr>
            <a:picLocks noChangeAspect="1"/>
          </p:cNvPicPr>
          <p:nvPr/>
        </p:nvPicPr>
        <p:blipFill>
          <a:blip r:embed="rId6"/>
          <a:stretch>
            <a:fillRect/>
          </a:stretch>
        </p:blipFill>
        <p:spPr>
          <a:xfrm>
            <a:off x="731520" y="3081528"/>
            <a:ext cx="256032" cy="256032"/>
          </a:xfrm>
          <a:prstGeom prst="rect">
            <a:avLst/>
          </a:prstGeom>
        </p:spPr>
      </p:pic>
      <p:sp>
        <p:nvSpPr>
          <p:cNvPr id="30" name="Text 17"/>
          <p:cNvSpPr/>
          <p:nvPr/>
        </p:nvSpPr>
        <p:spPr>
          <a:xfrm>
            <a:off x="1051560" y="3063240"/>
            <a:ext cx="2926080" cy="292608"/>
          </a:xfrm>
          <a:prstGeom prst="rect">
            <a:avLst/>
          </a:prstGeom>
          <a:noFill/>
          <a:ln/>
        </p:spPr>
        <p:txBody>
          <a:bodyPr wrap="square" lIns="0" tIns="0" rIns="0" bIns="0" rtlCol="0" anchor="ctr"/>
          <a:lstStyle/>
          <a:p>
            <a:pPr marL="0" indent="0">
              <a:buNone/>
            </a:pPr>
            <a:r>
              <a:rPr lang="en-US" sz="1300" b="1" dirty="0">
                <a:solidFill>
                  <a:srgbClr val="EA580C"/>
                </a:solidFill>
                <a:latin typeface="Poppins" pitchFamily="34" charset="0"/>
                <a:ea typeface="Poppins" pitchFamily="34" charset="-122"/>
                <a:cs typeface="Poppins" pitchFamily="34" charset="-120"/>
              </a:rPr>
              <a:t>Écriture &amp; validation</a:t>
            </a:r>
            <a:endParaRPr lang="en-US" sz="1300" dirty="0"/>
          </a:p>
        </p:txBody>
      </p:sp>
      <p:sp>
        <p:nvSpPr>
          <p:cNvPr id="31" name="Shape 18"/>
          <p:cNvSpPr/>
          <p:nvPr/>
        </p:nvSpPr>
        <p:spPr>
          <a:xfrm>
            <a:off x="731520" y="3410712"/>
            <a:ext cx="3566160" cy="18288"/>
          </a:xfrm>
          <a:prstGeom prst="rect">
            <a:avLst/>
          </a:prstGeom>
          <a:solidFill>
            <a:srgbClr val="E5E7EB"/>
          </a:solidFill>
          <a:ln/>
        </p:spPr>
      </p:sp>
      <p:pic>
        <p:nvPicPr>
          <p:cNvPr id="32" name="Image 11" descr="preencoded.png"/>
          <p:cNvPicPr>
            <a:picLocks noChangeAspect="1"/>
          </p:cNvPicPr>
          <p:nvPr/>
        </p:nvPicPr>
        <p:blipFill>
          <a:blip r:embed="rId4"/>
          <a:stretch>
            <a:fillRect/>
          </a:stretch>
        </p:blipFill>
        <p:spPr>
          <a:xfrm>
            <a:off x="777240" y="3520440"/>
            <a:ext cx="164592" cy="164592"/>
          </a:xfrm>
          <a:prstGeom prst="rect">
            <a:avLst/>
          </a:prstGeom>
        </p:spPr>
      </p:pic>
      <p:sp>
        <p:nvSpPr>
          <p:cNvPr id="33" name="Text 19"/>
          <p:cNvSpPr/>
          <p:nvPr/>
        </p:nvSpPr>
        <p:spPr>
          <a:xfrm>
            <a:off x="1005840" y="3502152"/>
            <a:ext cx="3246120" cy="274320"/>
          </a:xfrm>
          <a:prstGeom prst="rect">
            <a:avLst/>
          </a:prstGeom>
          <a:noFill/>
          <a:ln/>
        </p:spPr>
        <p:txBody>
          <a:bodyPr wrap="square" lIns="0" tIns="0" rIns="0" bIns="0" rtlCol="0" anchor="ctr"/>
          <a:lstStyle/>
          <a:p>
            <a:pPr marL="0" indent="0">
              <a:buNone/>
            </a:pPr>
            <a:r>
              <a:rPr lang="en-US" sz="900" dirty="0">
                <a:solidFill>
                  <a:srgbClr val="0F172A"/>
                </a:solidFill>
                <a:latin typeface="Poppins" pitchFamily="34" charset="0"/>
                <a:ea typeface="Poppins" pitchFamily="34" charset="-122"/>
                <a:cs typeface="Poppins" pitchFamily="34" charset="-120"/>
              </a:rPr>
              <a:t>MHS accepte-t-il des écritures via API REST ?</a:t>
            </a:r>
            <a:endParaRPr lang="en-US" sz="900" dirty="0"/>
          </a:p>
        </p:txBody>
      </p:sp>
      <p:pic>
        <p:nvPicPr>
          <p:cNvPr id="34" name="Image 12" descr="preencoded.png"/>
          <p:cNvPicPr>
            <a:picLocks noChangeAspect="1"/>
          </p:cNvPicPr>
          <p:nvPr/>
        </p:nvPicPr>
        <p:blipFill>
          <a:blip r:embed="rId4"/>
          <a:stretch>
            <a:fillRect/>
          </a:stretch>
        </p:blipFill>
        <p:spPr>
          <a:xfrm>
            <a:off x="777240" y="3822192"/>
            <a:ext cx="164592" cy="164592"/>
          </a:xfrm>
          <a:prstGeom prst="rect">
            <a:avLst/>
          </a:prstGeom>
        </p:spPr>
      </p:pic>
      <p:sp>
        <p:nvSpPr>
          <p:cNvPr id="35" name="Text 20"/>
          <p:cNvSpPr/>
          <p:nvPr/>
        </p:nvSpPr>
        <p:spPr>
          <a:xfrm>
            <a:off x="1005840" y="3803904"/>
            <a:ext cx="3246120" cy="274320"/>
          </a:xfrm>
          <a:prstGeom prst="rect">
            <a:avLst/>
          </a:prstGeom>
          <a:noFill/>
          <a:ln/>
        </p:spPr>
        <p:txBody>
          <a:bodyPr wrap="square" lIns="0" tIns="0" rIns="0" bIns="0" rtlCol="0" anchor="ctr"/>
          <a:lstStyle/>
          <a:p>
            <a:pPr marL="0" indent="0">
              <a:buNone/>
            </a:pPr>
            <a:r>
              <a:rPr lang="en-US" sz="900" dirty="0">
                <a:solidFill>
                  <a:srgbClr val="0F172A"/>
                </a:solidFill>
                <a:latin typeface="Poppins" pitchFamily="34" charset="0"/>
                <a:ea typeface="Poppins" pitchFamily="34" charset="-122"/>
                <a:cs typeface="Poppins" pitchFamily="34" charset="-120"/>
              </a:rPr>
              <a:t>Ou faut-il passer par un autre canal (MQ, fichier) ?</a:t>
            </a:r>
            <a:endParaRPr lang="en-US" sz="900" dirty="0"/>
          </a:p>
        </p:txBody>
      </p:sp>
      <p:pic>
        <p:nvPicPr>
          <p:cNvPr id="36" name="Image 13" descr="preencoded.png"/>
          <p:cNvPicPr>
            <a:picLocks noChangeAspect="1"/>
          </p:cNvPicPr>
          <p:nvPr/>
        </p:nvPicPr>
        <p:blipFill>
          <a:blip r:embed="rId4"/>
          <a:stretch>
            <a:fillRect/>
          </a:stretch>
        </p:blipFill>
        <p:spPr>
          <a:xfrm>
            <a:off x="777240" y="4123944"/>
            <a:ext cx="164592" cy="164592"/>
          </a:xfrm>
          <a:prstGeom prst="rect">
            <a:avLst/>
          </a:prstGeom>
        </p:spPr>
      </p:pic>
      <p:sp>
        <p:nvSpPr>
          <p:cNvPr id="37" name="Text 21"/>
          <p:cNvSpPr/>
          <p:nvPr/>
        </p:nvSpPr>
        <p:spPr>
          <a:xfrm>
            <a:off x="1005840" y="4105656"/>
            <a:ext cx="3246120" cy="274320"/>
          </a:xfrm>
          <a:prstGeom prst="rect">
            <a:avLst/>
          </a:prstGeom>
          <a:noFill/>
          <a:ln/>
        </p:spPr>
        <p:txBody>
          <a:bodyPr wrap="square" lIns="0" tIns="0" rIns="0" bIns="0" rtlCol="0" anchor="ctr"/>
          <a:lstStyle/>
          <a:p>
            <a:pPr marL="0" indent="0">
              <a:buNone/>
            </a:pPr>
            <a:r>
              <a:rPr lang="en-US" sz="900" dirty="0">
                <a:solidFill>
                  <a:srgbClr val="0F172A"/>
                </a:solidFill>
                <a:latin typeface="Poppins" pitchFamily="34" charset="0"/>
                <a:ea typeface="Poppins" pitchFamily="34" charset="-122"/>
                <a:cs typeface="Poppins" pitchFamily="34" charset="-120"/>
              </a:rPr>
              <a:t>Peut-on assigner un carton maman via API ?</a:t>
            </a:r>
            <a:endParaRPr lang="en-US" sz="900" dirty="0"/>
          </a:p>
        </p:txBody>
      </p:sp>
      <p:pic>
        <p:nvPicPr>
          <p:cNvPr id="38" name="Image 14" descr="preencoded.png"/>
          <p:cNvPicPr>
            <a:picLocks noChangeAspect="1"/>
          </p:cNvPicPr>
          <p:nvPr/>
        </p:nvPicPr>
        <p:blipFill>
          <a:blip r:embed="rId4"/>
          <a:stretch>
            <a:fillRect/>
          </a:stretch>
        </p:blipFill>
        <p:spPr>
          <a:xfrm>
            <a:off x="777240" y="4425696"/>
            <a:ext cx="164592" cy="164592"/>
          </a:xfrm>
          <a:prstGeom prst="rect">
            <a:avLst/>
          </a:prstGeom>
        </p:spPr>
      </p:pic>
      <p:sp>
        <p:nvSpPr>
          <p:cNvPr id="39" name="Text 22"/>
          <p:cNvSpPr/>
          <p:nvPr/>
        </p:nvSpPr>
        <p:spPr>
          <a:xfrm>
            <a:off x="1005840" y="4407408"/>
            <a:ext cx="3246120" cy="274320"/>
          </a:xfrm>
          <a:prstGeom prst="rect">
            <a:avLst/>
          </a:prstGeom>
          <a:noFill/>
          <a:ln/>
        </p:spPr>
        <p:txBody>
          <a:bodyPr wrap="square" lIns="0" tIns="0" rIns="0" bIns="0" rtlCol="0" anchor="ctr"/>
          <a:lstStyle/>
          <a:p>
            <a:pPr marL="0" indent="0">
              <a:buNone/>
            </a:pPr>
            <a:r>
              <a:rPr lang="en-US" sz="900" dirty="0">
                <a:solidFill>
                  <a:srgbClr val="0F172A"/>
                </a:solidFill>
                <a:latin typeface="Poppins" pitchFamily="34" charset="0"/>
                <a:ea typeface="Poppins" pitchFamily="34" charset="-122"/>
                <a:cs typeface="Poppins" pitchFamily="34" charset="-120"/>
              </a:rPr>
              <a:t>La validation du picking est-elle possible en API ?</a:t>
            </a:r>
            <a:endParaRPr lang="en-US" sz="900" dirty="0"/>
          </a:p>
        </p:txBody>
      </p:sp>
      <p:sp>
        <p:nvSpPr>
          <p:cNvPr id="40" name="Shape 23"/>
          <p:cNvSpPr/>
          <p:nvPr/>
        </p:nvSpPr>
        <p:spPr>
          <a:xfrm>
            <a:off x="4709160" y="2971800"/>
            <a:ext cx="3840480" cy="1828800"/>
          </a:xfrm>
          <a:prstGeom prst="rect">
            <a:avLst/>
          </a:prstGeom>
          <a:solidFill>
            <a:srgbClr val="FFFFFF"/>
          </a:solidFill>
          <a:ln w="15240">
            <a:solidFill>
              <a:srgbClr val="16A34A"/>
            </a:solidFill>
            <a:prstDash val="solid"/>
          </a:ln>
        </p:spPr>
      </p:sp>
      <p:pic>
        <p:nvPicPr>
          <p:cNvPr id="41" name="Image 15" descr="preencoded.png"/>
          <p:cNvPicPr>
            <a:picLocks noChangeAspect="1"/>
          </p:cNvPicPr>
          <p:nvPr/>
        </p:nvPicPr>
        <p:blipFill>
          <a:blip r:embed="rId7"/>
          <a:stretch>
            <a:fillRect/>
          </a:stretch>
        </p:blipFill>
        <p:spPr>
          <a:xfrm>
            <a:off x="4846320" y="3081528"/>
            <a:ext cx="256032" cy="256032"/>
          </a:xfrm>
          <a:prstGeom prst="rect">
            <a:avLst/>
          </a:prstGeom>
        </p:spPr>
      </p:pic>
      <p:sp>
        <p:nvSpPr>
          <p:cNvPr id="42" name="Text 24"/>
          <p:cNvSpPr/>
          <p:nvPr/>
        </p:nvSpPr>
        <p:spPr>
          <a:xfrm>
            <a:off x="5166360" y="3063240"/>
            <a:ext cx="2926080" cy="292608"/>
          </a:xfrm>
          <a:prstGeom prst="rect">
            <a:avLst/>
          </a:prstGeom>
          <a:noFill/>
          <a:ln/>
        </p:spPr>
        <p:txBody>
          <a:bodyPr wrap="square" lIns="0" tIns="0" rIns="0" bIns="0" rtlCol="0" anchor="ctr"/>
          <a:lstStyle/>
          <a:p>
            <a:pPr marL="0" indent="0">
              <a:buNone/>
            </a:pPr>
            <a:r>
              <a:rPr lang="en-US" sz="1300" b="1" dirty="0">
                <a:solidFill>
                  <a:srgbClr val="16A34A"/>
                </a:solidFill>
                <a:latin typeface="Poppins" pitchFamily="34" charset="0"/>
                <a:ea typeface="Poppins" pitchFamily="34" charset="-122"/>
                <a:cs typeface="Poppins" pitchFamily="34" charset="-120"/>
              </a:rPr>
              <a:t>Infrastructure</a:t>
            </a:r>
            <a:endParaRPr lang="en-US" sz="1300" dirty="0"/>
          </a:p>
        </p:txBody>
      </p:sp>
      <p:sp>
        <p:nvSpPr>
          <p:cNvPr id="43" name="Shape 25"/>
          <p:cNvSpPr/>
          <p:nvPr/>
        </p:nvSpPr>
        <p:spPr>
          <a:xfrm>
            <a:off x="4846320" y="3410712"/>
            <a:ext cx="3566160" cy="18288"/>
          </a:xfrm>
          <a:prstGeom prst="rect">
            <a:avLst/>
          </a:prstGeom>
          <a:solidFill>
            <a:srgbClr val="E5E7EB"/>
          </a:solidFill>
          <a:ln/>
        </p:spPr>
      </p:sp>
      <p:pic>
        <p:nvPicPr>
          <p:cNvPr id="44" name="Image 16" descr="preencoded.png"/>
          <p:cNvPicPr>
            <a:picLocks noChangeAspect="1"/>
          </p:cNvPicPr>
          <p:nvPr/>
        </p:nvPicPr>
        <p:blipFill>
          <a:blip r:embed="rId4"/>
          <a:stretch>
            <a:fillRect/>
          </a:stretch>
        </p:blipFill>
        <p:spPr>
          <a:xfrm>
            <a:off x="4892040" y="3520440"/>
            <a:ext cx="164592" cy="164592"/>
          </a:xfrm>
          <a:prstGeom prst="rect">
            <a:avLst/>
          </a:prstGeom>
        </p:spPr>
      </p:pic>
      <p:sp>
        <p:nvSpPr>
          <p:cNvPr id="45" name="Text 26"/>
          <p:cNvSpPr/>
          <p:nvPr/>
        </p:nvSpPr>
        <p:spPr>
          <a:xfrm>
            <a:off x="5120640" y="3502152"/>
            <a:ext cx="3246120" cy="274320"/>
          </a:xfrm>
          <a:prstGeom prst="rect">
            <a:avLst/>
          </a:prstGeom>
          <a:noFill/>
          <a:ln/>
        </p:spPr>
        <p:txBody>
          <a:bodyPr wrap="square" lIns="0" tIns="0" rIns="0" bIns="0" rtlCol="0" anchor="ctr"/>
          <a:lstStyle/>
          <a:p>
            <a:pPr marL="0" indent="0">
              <a:buNone/>
            </a:pPr>
            <a:r>
              <a:rPr lang="en-US" sz="900" dirty="0">
                <a:solidFill>
                  <a:srgbClr val="0F172A"/>
                </a:solidFill>
                <a:latin typeface="Poppins" pitchFamily="34" charset="0"/>
                <a:ea typeface="Poppins" pitchFamily="34" charset="-122"/>
                <a:cs typeface="Poppins" pitchFamily="34" charset="-120"/>
              </a:rPr>
              <a:t>Un environnement de test est-il disponible ?</a:t>
            </a:r>
            <a:endParaRPr lang="en-US" sz="900" dirty="0"/>
          </a:p>
        </p:txBody>
      </p:sp>
      <p:pic>
        <p:nvPicPr>
          <p:cNvPr id="46" name="Image 17" descr="preencoded.png"/>
          <p:cNvPicPr>
            <a:picLocks noChangeAspect="1"/>
          </p:cNvPicPr>
          <p:nvPr/>
        </p:nvPicPr>
        <p:blipFill>
          <a:blip r:embed="rId4"/>
          <a:stretch>
            <a:fillRect/>
          </a:stretch>
        </p:blipFill>
        <p:spPr>
          <a:xfrm>
            <a:off x="4892040" y="3822192"/>
            <a:ext cx="164592" cy="164592"/>
          </a:xfrm>
          <a:prstGeom prst="rect">
            <a:avLst/>
          </a:prstGeom>
        </p:spPr>
      </p:pic>
      <p:sp>
        <p:nvSpPr>
          <p:cNvPr id="47" name="Text 27"/>
          <p:cNvSpPr/>
          <p:nvPr/>
        </p:nvSpPr>
        <p:spPr>
          <a:xfrm>
            <a:off x="5120640" y="3803904"/>
            <a:ext cx="3246120" cy="274320"/>
          </a:xfrm>
          <a:prstGeom prst="rect">
            <a:avLst/>
          </a:prstGeom>
          <a:noFill/>
          <a:ln/>
        </p:spPr>
        <p:txBody>
          <a:bodyPr wrap="square" lIns="0" tIns="0" rIns="0" bIns="0" rtlCol="0" anchor="ctr"/>
          <a:lstStyle/>
          <a:p>
            <a:pPr marL="0" indent="0">
              <a:buNone/>
            </a:pPr>
            <a:r>
              <a:rPr lang="en-US" sz="900" dirty="0">
                <a:solidFill>
                  <a:srgbClr val="0F172A"/>
                </a:solidFill>
                <a:latin typeface="Poppins" pitchFamily="34" charset="0"/>
                <a:ea typeface="Poppins" pitchFamily="34" charset="-122"/>
                <a:cs typeface="Poppins" pitchFamily="34" charset="-120"/>
              </a:rPr>
              <a:t>Quels sont les prérequis d'authentification ?</a:t>
            </a:r>
            <a:endParaRPr lang="en-US" sz="900" dirty="0"/>
          </a:p>
        </p:txBody>
      </p:sp>
      <p:pic>
        <p:nvPicPr>
          <p:cNvPr id="48" name="Image 18" descr="preencoded.png"/>
          <p:cNvPicPr>
            <a:picLocks noChangeAspect="1"/>
          </p:cNvPicPr>
          <p:nvPr/>
        </p:nvPicPr>
        <p:blipFill>
          <a:blip r:embed="rId4"/>
          <a:stretch>
            <a:fillRect/>
          </a:stretch>
        </p:blipFill>
        <p:spPr>
          <a:xfrm>
            <a:off x="4892040" y="4123944"/>
            <a:ext cx="164592" cy="164592"/>
          </a:xfrm>
          <a:prstGeom prst="rect">
            <a:avLst/>
          </a:prstGeom>
        </p:spPr>
      </p:pic>
      <p:sp>
        <p:nvSpPr>
          <p:cNvPr id="49" name="Text 28"/>
          <p:cNvSpPr/>
          <p:nvPr/>
        </p:nvSpPr>
        <p:spPr>
          <a:xfrm>
            <a:off x="5120640" y="4105656"/>
            <a:ext cx="3246120" cy="274320"/>
          </a:xfrm>
          <a:prstGeom prst="rect">
            <a:avLst/>
          </a:prstGeom>
          <a:noFill/>
          <a:ln/>
        </p:spPr>
        <p:txBody>
          <a:bodyPr wrap="square" lIns="0" tIns="0" rIns="0" bIns="0" rtlCol="0" anchor="ctr"/>
          <a:lstStyle/>
          <a:p>
            <a:pPr marL="0" indent="0">
              <a:buNone/>
            </a:pPr>
            <a:r>
              <a:rPr lang="en-US" sz="900" dirty="0">
                <a:solidFill>
                  <a:srgbClr val="0F172A"/>
                </a:solidFill>
                <a:latin typeface="Poppins" pitchFamily="34" charset="0"/>
                <a:ea typeface="Poppins" pitchFamily="34" charset="-122"/>
                <a:cs typeface="Poppins" pitchFamily="34" charset="-120"/>
              </a:rPr>
              <a:t>Qui est l'interlocuteur technique côté MHS ?</a:t>
            </a:r>
            <a:endParaRPr lang="en-US" sz="900" dirty="0"/>
          </a:p>
        </p:txBody>
      </p:sp>
      <p:pic>
        <p:nvPicPr>
          <p:cNvPr id="50" name="Image 19" descr="preencoded.png"/>
          <p:cNvPicPr>
            <a:picLocks noChangeAspect="1"/>
          </p:cNvPicPr>
          <p:nvPr/>
        </p:nvPicPr>
        <p:blipFill>
          <a:blip r:embed="rId4"/>
          <a:stretch>
            <a:fillRect/>
          </a:stretch>
        </p:blipFill>
        <p:spPr>
          <a:xfrm>
            <a:off x="4892040" y="4425696"/>
            <a:ext cx="164592" cy="164592"/>
          </a:xfrm>
          <a:prstGeom prst="rect">
            <a:avLst/>
          </a:prstGeom>
        </p:spPr>
      </p:pic>
      <p:sp>
        <p:nvSpPr>
          <p:cNvPr id="51" name="Text 29"/>
          <p:cNvSpPr/>
          <p:nvPr/>
        </p:nvSpPr>
        <p:spPr>
          <a:xfrm>
            <a:off x="5120640" y="4407408"/>
            <a:ext cx="3246120" cy="274320"/>
          </a:xfrm>
          <a:prstGeom prst="rect">
            <a:avLst/>
          </a:prstGeom>
          <a:noFill/>
          <a:ln/>
        </p:spPr>
        <p:txBody>
          <a:bodyPr wrap="square" lIns="0" tIns="0" rIns="0" bIns="0" rtlCol="0" anchor="ctr"/>
          <a:lstStyle/>
          <a:p>
            <a:pPr marL="0" indent="0">
              <a:buNone/>
            </a:pPr>
            <a:r>
              <a:rPr lang="en-US" sz="900" dirty="0">
                <a:solidFill>
                  <a:srgbClr val="0F172A"/>
                </a:solidFill>
                <a:latin typeface="Poppins" pitchFamily="34" charset="0"/>
                <a:ea typeface="Poppins" pitchFamily="34" charset="-122"/>
                <a:cs typeface="Poppins" pitchFamily="34" charset="-120"/>
              </a:rPr>
              <a:t>Quel est le planning de disponibilité pour les tests ?</a:t>
            </a:r>
            <a:endParaRPr lang="en-US" sz="900" dirty="0"/>
          </a:p>
        </p:txBody>
      </p:sp>
      <p:sp>
        <p:nvSpPr>
          <p:cNvPr id="52" name="Text 30"/>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28600"/>
            <a:ext cx="8229600" cy="411480"/>
          </a:xfrm>
          <a:prstGeom prst="rect">
            <a:avLst/>
          </a:prstGeom>
          <a:noFill/>
          <a:ln/>
        </p:spPr>
        <p:txBody>
          <a:bodyPr wrap="square" lIns="0" tIns="0" rIns="0" bIns="0" rtlCol="0" anchor="ctr"/>
          <a:lstStyle/>
          <a:p>
            <a:pPr marL="0" indent="0">
              <a:buNone/>
            </a:pPr>
            <a:r>
              <a:rPr lang="en-US" sz="2800" b="1" dirty="0">
                <a:solidFill>
                  <a:srgbClr val="0F172A"/>
                </a:solidFill>
                <a:latin typeface="Poppins" pitchFamily="34" charset="0"/>
                <a:ea typeface="Poppins" pitchFamily="34" charset="-122"/>
                <a:cs typeface="Poppins" pitchFamily="34" charset="-120"/>
              </a:rPr>
              <a:t>Planning &amp; prochaines étapes</a:t>
            </a:r>
            <a:endParaRPr lang="en-US" sz="2800" dirty="0"/>
          </a:p>
        </p:txBody>
      </p:sp>
      <p:sp>
        <p:nvSpPr>
          <p:cNvPr id="3" name="Shape 1"/>
          <p:cNvSpPr/>
          <p:nvPr/>
        </p:nvSpPr>
        <p:spPr>
          <a:xfrm>
            <a:off x="731520" y="1280160"/>
            <a:ext cx="7680960" cy="73152"/>
          </a:xfrm>
          <a:prstGeom prst="rect">
            <a:avLst/>
          </a:prstGeom>
          <a:solidFill>
            <a:srgbClr val="E5E7EB"/>
          </a:solidFill>
          <a:ln/>
        </p:spPr>
      </p:sp>
      <p:sp>
        <p:nvSpPr>
          <p:cNvPr id="4" name="Shape 2"/>
          <p:cNvSpPr/>
          <p:nvPr/>
        </p:nvSpPr>
        <p:spPr>
          <a:xfrm>
            <a:off x="1371600" y="1170432"/>
            <a:ext cx="320040" cy="320040"/>
          </a:xfrm>
          <a:prstGeom prst="ellipse">
            <a:avLst/>
          </a:prstGeom>
          <a:solidFill>
            <a:srgbClr val="1677FF"/>
          </a:solidFill>
          <a:ln/>
        </p:spPr>
      </p:sp>
      <p:sp>
        <p:nvSpPr>
          <p:cNvPr id="5" name="Text 3"/>
          <p:cNvSpPr/>
          <p:nvPr/>
        </p:nvSpPr>
        <p:spPr>
          <a:xfrm>
            <a:off x="1371600" y="1170432"/>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Poppins" pitchFamily="34" charset="0"/>
                <a:ea typeface="Poppins" pitchFamily="34" charset="-122"/>
                <a:cs typeface="Poppins" pitchFamily="34" charset="-120"/>
              </a:rPr>
              <a:t>1</a:t>
            </a:r>
            <a:endParaRPr lang="en-US" sz="1200" dirty="0"/>
          </a:p>
        </p:txBody>
      </p:sp>
      <p:sp>
        <p:nvSpPr>
          <p:cNvPr id="6" name="Shape 4"/>
          <p:cNvSpPr/>
          <p:nvPr/>
        </p:nvSpPr>
        <p:spPr>
          <a:xfrm>
            <a:off x="685800" y="1691640"/>
            <a:ext cx="1737360" cy="3017520"/>
          </a:xfrm>
          <a:prstGeom prst="rect">
            <a:avLst/>
          </a:prstGeom>
          <a:solidFill>
            <a:srgbClr val="F7F9FC"/>
          </a:solidFill>
          <a:ln/>
          <a:effectLst>
            <a:outerShdw blurRad="76200" dist="25400" dir="8100000" algn="bl" rotWithShape="0">
              <a:srgbClr val="000000">
                <a:alpha val="6000"/>
              </a:srgbClr>
            </a:outerShdw>
          </a:effectLst>
        </p:spPr>
      </p:sp>
      <p:sp>
        <p:nvSpPr>
          <p:cNvPr id="7" name="Shape 5"/>
          <p:cNvSpPr/>
          <p:nvPr/>
        </p:nvSpPr>
        <p:spPr>
          <a:xfrm>
            <a:off x="685800" y="1691640"/>
            <a:ext cx="1737360" cy="54864"/>
          </a:xfrm>
          <a:prstGeom prst="rect">
            <a:avLst/>
          </a:prstGeom>
          <a:solidFill>
            <a:srgbClr val="1677FF"/>
          </a:solidFill>
          <a:ln/>
        </p:spPr>
      </p:sp>
      <p:sp>
        <p:nvSpPr>
          <p:cNvPr id="8" name="Text 6"/>
          <p:cNvSpPr/>
          <p:nvPr/>
        </p:nvSpPr>
        <p:spPr>
          <a:xfrm>
            <a:off x="685800" y="1801368"/>
            <a:ext cx="1737360" cy="182880"/>
          </a:xfrm>
          <a:prstGeom prst="rect">
            <a:avLst/>
          </a:prstGeom>
          <a:noFill/>
          <a:ln/>
        </p:spPr>
        <p:txBody>
          <a:bodyPr wrap="square" lIns="0" tIns="0" rIns="0" bIns="0" rtlCol="0" anchor="ctr"/>
          <a:lstStyle/>
          <a:p>
            <a:pPr marL="0" indent="0" algn="ctr">
              <a:buNone/>
            </a:pPr>
            <a:r>
              <a:rPr lang="en-US" sz="800" b="1" dirty="0">
                <a:solidFill>
                  <a:srgbClr val="1677FF"/>
                </a:solidFill>
                <a:latin typeface="Poppins" pitchFamily="34" charset="0"/>
                <a:ea typeface="Poppins" pitchFamily="34" charset="-122"/>
                <a:cs typeface="Poppins" pitchFamily="34" charset="-120"/>
              </a:rPr>
              <a:t>Phase 1</a:t>
            </a:r>
            <a:endParaRPr lang="en-US" sz="800" dirty="0"/>
          </a:p>
        </p:txBody>
      </p:sp>
      <p:sp>
        <p:nvSpPr>
          <p:cNvPr id="9" name="Text 7"/>
          <p:cNvSpPr/>
          <p:nvPr/>
        </p:nvSpPr>
        <p:spPr>
          <a:xfrm>
            <a:off x="685800" y="1965960"/>
            <a:ext cx="173736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Poppins" pitchFamily="34" charset="0"/>
                <a:ea typeface="Poppins" pitchFamily="34" charset="-122"/>
                <a:cs typeface="Poppins" pitchFamily="34" charset="-120"/>
              </a:rPr>
              <a:t>Découverte</a:t>
            </a:r>
            <a:endParaRPr lang="en-US" sz="1300" dirty="0"/>
          </a:p>
        </p:txBody>
      </p:sp>
      <p:sp>
        <p:nvSpPr>
          <p:cNvPr id="10" name="Shape 8"/>
          <p:cNvSpPr/>
          <p:nvPr/>
        </p:nvSpPr>
        <p:spPr>
          <a:xfrm>
            <a:off x="960120" y="2286000"/>
            <a:ext cx="1188720" cy="228600"/>
          </a:xfrm>
          <a:prstGeom prst="rect">
            <a:avLst/>
          </a:prstGeom>
          <a:solidFill>
            <a:srgbClr val="1677FF"/>
          </a:solidFill>
          <a:ln/>
        </p:spPr>
      </p:sp>
      <p:sp>
        <p:nvSpPr>
          <p:cNvPr id="11" name="Text 9"/>
          <p:cNvSpPr/>
          <p:nvPr/>
        </p:nvSpPr>
        <p:spPr>
          <a:xfrm>
            <a:off x="960120" y="2286000"/>
            <a:ext cx="118872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Poppins" pitchFamily="34" charset="0"/>
                <a:ea typeface="Poppins" pitchFamily="34" charset="-122"/>
                <a:cs typeface="Poppins" pitchFamily="34" charset="-120"/>
              </a:rPr>
              <a:t>2 semaines</a:t>
            </a:r>
            <a:endParaRPr lang="en-US" sz="800" dirty="0"/>
          </a:p>
        </p:txBody>
      </p:sp>
      <p:sp>
        <p:nvSpPr>
          <p:cNvPr id="12" name="Text 10"/>
          <p:cNvSpPr/>
          <p:nvPr/>
        </p:nvSpPr>
        <p:spPr>
          <a:xfrm>
            <a:off x="777240" y="2651760"/>
            <a:ext cx="1554480" cy="365760"/>
          </a:xfrm>
          <a:prstGeom prst="rect">
            <a:avLst/>
          </a:prstGeom>
          <a:noFill/>
          <a:ln/>
        </p:spPr>
        <p:txBody>
          <a:bodyPr wrap="square" lIns="0" tIns="0" rIns="0" bIns="0" rtlCol="0" anchor="ctr"/>
          <a:lstStyle/>
          <a:p>
            <a:pPr marL="0" indent="0">
              <a:lnSpc>
                <a:spcPct val="110000"/>
              </a:lnSpc>
              <a:buNone/>
            </a:pPr>
            <a:r>
              <a:rPr lang="en-US" sz="800" dirty="0">
                <a:solidFill>
                  <a:srgbClr val="0F172A"/>
                </a:solidFill>
                <a:latin typeface="Poppins" pitchFamily="34" charset="0"/>
                <a:ea typeface="Poppins" pitchFamily="34" charset="-122"/>
                <a:cs typeface="Poppins" pitchFamily="34" charset="-120"/>
              </a:rPr>
              <a:t>•  Accès env. test MHS</a:t>
            </a:r>
            <a:endParaRPr lang="en-US" sz="800" dirty="0"/>
          </a:p>
        </p:txBody>
      </p:sp>
      <p:sp>
        <p:nvSpPr>
          <p:cNvPr id="13" name="Text 11"/>
          <p:cNvSpPr/>
          <p:nvPr/>
        </p:nvSpPr>
        <p:spPr>
          <a:xfrm>
            <a:off x="777240" y="3063240"/>
            <a:ext cx="1554480" cy="365760"/>
          </a:xfrm>
          <a:prstGeom prst="rect">
            <a:avLst/>
          </a:prstGeom>
          <a:noFill/>
          <a:ln/>
        </p:spPr>
        <p:txBody>
          <a:bodyPr wrap="square" lIns="0" tIns="0" rIns="0" bIns="0" rtlCol="0" anchor="ctr"/>
          <a:lstStyle/>
          <a:p>
            <a:pPr marL="0" indent="0">
              <a:lnSpc>
                <a:spcPct val="110000"/>
              </a:lnSpc>
              <a:buNone/>
            </a:pPr>
            <a:r>
              <a:rPr lang="en-US" sz="800" dirty="0">
                <a:solidFill>
                  <a:srgbClr val="0F172A"/>
                </a:solidFill>
                <a:latin typeface="Poppins" pitchFamily="34" charset="0"/>
                <a:ea typeface="Poppins" pitchFamily="34" charset="-122"/>
                <a:cs typeface="Poppins" pitchFamily="34" charset="-120"/>
              </a:rPr>
              <a:t>•  Documentation API</a:t>
            </a:r>
            <a:endParaRPr lang="en-US" sz="800" dirty="0"/>
          </a:p>
        </p:txBody>
      </p:sp>
      <p:sp>
        <p:nvSpPr>
          <p:cNvPr id="14" name="Text 12"/>
          <p:cNvSpPr/>
          <p:nvPr/>
        </p:nvSpPr>
        <p:spPr>
          <a:xfrm>
            <a:off x="777240" y="3474720"/>
            <a:ext cx="1554480" cy="365760"/>
          </a:xfrm>
          <a:prstGeom prst="rect">
            <a:avLst/>
          </a:prstGeom>
          <a:noFill/>
          <a:ln/>
        </p:spPr>
        <p:txBody>
          <a:bodyPr wrap="square" lIns="0" tIns="0" rIns="0" bIns="0" rtlCol="0" anchor="ctr"/>
          <a:lstStyle/>
          <a:p>
            <a:pPr marL="0" indent="0">
              <a:lnSpc>
                <a:spcPct val="110000"/>
              </a:lnSpc>
              <a:buNone/>
            </a:pPr>
            <a:r>
              <a:rPr lang="en-US" sz="800" dirty="0">
                <a:solidFill>
                  <a:srgbClr val="0F172A"/>
                </a:solidFill>
                <a:latin typeface="Poppins" pitchFamily="34" charset="0"/>
                <a:ea typeface="Poppins" pitchFamily="34" charset="-122"/>
                <a:cs typeface="Poppins" pitchFamily="34" charset="-120"/>
              </a:rPr>
              <a:t>•  Premiers appels GET</a:t>
            </a:r>
            <a:endParaRPr lang="en-US" sz="800" dirty="0"/>
          </a:p>
        </p:txBody>
      </p:sp>
      <p:sp>
        <p:nvSpPr>
          <p:cNvPr id="15" name="Text 13"/>
          <p:cNvSpPr/>
          <p:nvPr/>
        </p:nvSpPr>
        <p:spPr>
          <a:xfrm>
            <a:off x="777240" y="3886200"/>
            <a:ext cx="1554480" cy="365760"/>
          </a:xfrm>
          <a:prstGeom prst="rect">
            <a:avLst/>
          </a:prstGeom>
          <a:noFill/>
          <a:ln/>
        </p:spPr>
        <p:txBody>
          <a:bodyPr wrap="square" lIns="0" tIns="0" rIns="0" bIns="0" rtlCol="0" anchor="ctr"/>
          <a:lstStyle/>
          <a:p>
            <a:pPr marL="0" indent="0">
              <a:lnSpc>
                <a:spcPct val="110000"/>
              </a:lnSpc>
              <a:buNone/>
            </a:pPr>
            <a:r>
              <a:rPr lang="en-US" sz="800" dirty="0">
                <a:solidFill>
                  <a:srgbClr val="0F172A"/>
                </a:solidFill>
                <a:latin typeface="Poppins" pitchFamily="34" charset="0"/>
                <a:ea typeface="Poppins" pitchFamily="34" charset="-122"/>
                <a:cs typeface="Poppins" pitchFamily="34" charset="-120"/>
              </a:rPr>
              <a:t>•  Validation des formats</a:t>
            </a:r>
            <a:endParaRPr lang="en-US" sz="800" dirty="0"/>
          </a:p>
        </p:txBody>
      </p:sp>
      <p:sp>
        <p:nvSpPr>
          <p:cNvPr id="16" name="Shape 14"/>
          <p:cNvSpPr/>
          <p:nvPr/>
        </p:nvSpPr>
        <p:spPr>
          <a:xfrm>
            <a:off x="3383280" y="1170432"/>
            <a:ext cx="320040" cy="320040"/>
          </a:xfrm>
          <a:prstGeom prst="ellipse">
            <a:avLst/>
          </a:prstGeom>
          <a:solidFill>
            <a:srgbClr val="7C3AED"/>
          </a:solidFill>
          <a:ln/>
        </p:spPr>
      </p:sp>
      <p:sp>
        <p:nvSpPr>
          <p:cNvPr id="17" name="Text 15"/>
          <p:cNvSpPr/>
          <p:nvPr/>
        </p:nvSpPr>
        <p:spPr>
          <a:xfrm>
            <a:off x="3383280" y="1170432"/>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Poppins" pitchFamily="34" charset="0"/>
                <a:ea typeface="Poppins" pitchFamily="34" charset="-122"/>
                <a:cs typeface="Poppins" pitchFamily="34" charset="-120"/>
              </a:rPr>
              <a:t>2</a:t>
            </a:r>
            <a:endParaRPr lang="en-US" sz="1200" dirty="0"/>
          </a:p>
        </p:txBody>
      </p:sp>
      <p:sp>
        <p:nvSpPr>
          <p:cNvPr id="18" name="Shape 16"/>
          <p:cNvSpPr/>
          <p:nvPr/>
        </p:nvSpPr>
        <p:spPr>
          <a:xfrm>
            <a:off x="2697480" y="1691640"/>
            <a:ext cx="1737360" cy="3017520"/>
          </a:xfrm>
          <a:prstGeom prst="rect">
            <a:avLst/>
          </a:prstGeom>
          <a:solidFill>
            <a:srgbClr val="F7F9FC"/>
          </a:solidFill>
          <a:ln/>
          <a:effectLst>
            <a:outerShdw blurRad="76200" dist="25400" dir="8100000" algn="bl" rotWithShape="0">
              <a:srgbClr val="000000">
                <a:alpha val="6000"/>
              </a:srgbClr>
            </a:outerShdw>
          </a:effectLst>
        </p:spPr>
      </p:sp>
      <p:sp>
        <p:nvSpPr>
          <p:cNvPr id="19" name="Shape 17"/>
          <p:cNvSpPr/>
          <p:nvPr/>
        </p:nvSpPr>
        <p:spPr>
          <a:xfrm>
            <a:off x="2697480" y="1691640"/>
            <a:ext cx="1737360" cy="54864"/>
          </a:xfrm>
          <a:prstGeom prst="rect">
            <a:avLst/>
          </a:prstGeom>
          <a:solidFill>
            <a:srgbClr val="7C3AED"/>
          </a:solidFill>
          <a:ln/>
        </p:spPr>
      </p:sp>
      <p:sp>
        <p:nvSpPr>
          <p:cNvPr id="20" name="Text 18"/>
          <p:cNvSpPr/>
          <p:nvPr/>
        </p:nvSpPr>
        <p:spPr>
          <a:xfrm>
            <a:off x="2697480" y="1801368"/>
            <a:ext cx="1737360" cy="182880"/>
          </a:xfrm>
          <a:prstGeom prst="rect">
            <a:avLst/>
          </a:prstGeom>
          <a:noFill/>
          <a:ln/>
        </p:spPr>
        <p:txBody>
          <a:bodyPr wrap="square" lIns="0" tIns="0" rIns="0" bIns="0" rtlCol="0" anchor="ctr"/>
          <a:lstStyle/>
          <a:p>
            <a:pPr marL="0" indent="0" algn="ctr">
              <a:buNone/>
            </a:pPr>
            <a:r>
              <a:rPr lang="en-US" sz="800" b="1" dirty="0">
                <a:solidFill>
                  <a:srgbClr val="7C3AED"/>
                </a:solidFill>
                <a:latin typeface="Poppins" pitchFamily="34" charset="0"/>
                <a:ea typeface="Poppins" pitchFamily="34" charset="-122"/>
                <a:cs typeface="Poppins" pitchFamily="34" charset="-120"/>
              </a:rPr>
              <a:t>Phase 2</a:t>
            </a:r>
            <a:endParaRPr lang="en-US" sz="800" dirty="0"/>
          </a:p>
        </p:txBody>
      </p:sp>
      <p:sp>
        <p:nvSpPr>
          <p:cNvPr id="21" name="Text 19"/>
          <p:cNvSpPr/>
          <p:nvPr/>
        </p:nvSpPr>
        <p:spPr>
          <a:xfrm>
            <a:off x="2697480" y="1965960"/>
            <a:ext cx="173736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Poppins" pitchFamily="34" charset="0"/>
                <a:ea typeface="Poppins" pitchFamily="34" charset="-122"/>
                <a:cs typeface="Poppins" pitchFamily="34" charset="-120"/>
              </a:rPr>
              <a:t>Intégration</a:t>
            </a:r>
            <a:endParaRPr lang="en-US" sz="1300" dirty="0"/>
          </a:p>
        </p:txBody>
      </p:sp>
      <p:sp>
        <p:nvSpPr>
          <p:cNvPr id="22" name="Shape 20"/>
          <p:cNvSpPr/>
          <p:nvPr/>
        </p:nvSpPr>
        <p:spPr>
          <a:xfrm>
            <a:off x="2971800" y="2286000"/>
            <a:ext cx="1188720" cy="228600"/>
          </a:xfrm>
          <a:prstGeom prst="rect">
            <a:avLst/>
          </a:prstGeom>
          <a:solidFill>
            <a:srgbClr val="7C3AED"/>
          </a:solidFill>
          <a:ln/>
        </p:spPr>
      </p:sp>
      <p:sp>
        <p:nvSpPr>
          <p:cNvPr id="23" name="Text 21"/>
          <p:cNvSpPr/>
          <p:nvPr/>
        </p:nvSpPr>
        <p:spPr>
          <a:xfrm>
            <a:off x="2971800" y="2286000"/>
            <a:ext cx="118872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Poppins" pitchFamily="34" charset="0"/>
                <a:ea typeface="Poppins" pitchFamily="34" charset="-122"/>
                <a:cs typeface="Poppins" pitchFamily="34" charset="-120"/>
              </a:rPr>
              <a:t>4 semaines</a:t>
            </a:r>
            <a:endParaRPr lang="en-US" sz="800" dirty="0"/>
          </a:p>
        </p:txBody>
      </p:sp>
      <p:sp>
        <p:nvSpPr>
          <p:cNvPr id="24" name="Text 22"/>
          <p:cNvSpPr/>
          <p:nvPr/>
        </p:nvSpPr>
        <p:spPr>
          <a:xfrm>
            <a:off x="2788920" y="2651760"/>
            <a:ext cx="1554480" cy="365760"/>
          </a:xfrm>
          <a:prstGeom prst="rect">
            <a:avLst/>
          </a:prstGeom>
          <a:noFill/>
          <a:ln/>
        </p:spPr>
        <p:txBody>
          <a:bodyPr wrap="square" lIns="0" tIns="0" rIns="0" bIns="0" rtlCol="0" anchor="ctr"/>
          <a:lstStyle/>
          <a:p>
            <a:pPr marL="0" indent="0">
              <a:lnSpc>
                <a:spcPct val="110000"/>
              </a:lnSpc>
              <a:buNone/>
            </a:pPr>
            <a:r>
              <a:rPr lang="en-US" sz="800" dirty="0">
                <a:solidFill>
                  <a:srgbClr val="0F172A"/>
                </a:solidFill>
                <a:latin typeface="Poppins" pitchFamily="34" charset="0"/>
                <a:ea typeface="Poppins" pitchFamily="34" charset="-122"/>
                <a:cs typeface="Poppins" pitchFamily="34" charset="-120"/>
              </a:rPr>
              <a:t>•  Connecteurs GET/POST</a:t>
            </a:r>
            <a:endParaRPr lang="en-US" sz="800" dirty="0"/>
          </a:p>
        </p:txBody>
      </p:sp>
      <p:sp>
        <p:nvSpPr>
          <p:cNvPr id="25" name="Text 23"/>
          <p:cNvSpPr/>
          <p:nvPr/>
        </p:nvSpPr>
        <p:spPr>
          <a:xfrm>
            <a:off x="2788920" y="3063240"/>
            <a:ext cx="1554480" cy="365760"/>
          </a:xfrm>
          <a:prstGeom prst="rect">
            <a:avLst/>
          </a:prstGeom>
          <a:noFill/>
          <a:ln/>
        </p:spPr>
        <p:txBody>
          <a:bodyPr wrap="square" lIns="0" tIns="0" rIns="0" bIns="0" rtlCol="0" anchor="ctr"/>
          <a:lstStyle/>
          <a:p>
            <a:pPr marL="0" indent="0">
              <a:lnSpc>
                <a:spcPct val="110000"/>
              </a:lnSpc>
              <a:buNone/>
            </a:pPr>
            <a:r>
              <a:rPr lang="en-US" sz="800" dirty="0">
                <a:solidFill>
                  <a:srgbClr val="0F172A"/>
                </a:solidFill>
                <a:latin typeface="Poppins" pitchFamily="34" charset="0"/>
                <a:ea typeface="Poppins" pitchFamily="34" charset="-122"/>
                <a:cs typeface="Poppins" pitchFamily="34" charset="-120"/>
              </a:rPr>
              <a:t>•  Moteur d'optimisation</a:t>
            </a:r>
            <a:endParaRPr lang="en-US" sz="800" dirty="0"/>
          </a:p>
        </p:txBody>
      </p:sp>
      <p:sp>
        <p:nvSpPr>
          <p:cNvPr id="26" name="Text 24"/>
          <p:cNvSpPr/>
          <p:nvPr/>
        </p:nvSpPr>
        <p:spPr>
          <a:xfrm>
            <a:off x="2788920" y="3474720"/>
            <a:ext cx="1554480" cy="365760"/>
          </a:xfrm>
          <a:prstGeom prst="rect">
            <a:avLst/>
          </a:prstGeom>
          <a:noFill/>
          <a:ln/>
        </p:spPr>
        <p:txBody>
          <a:bodyPr wrap="square" lIns="0" tIns="0" rIns="0" bIns="0" rtlCol="0" anchor="ctr"/>
          <a:lstStyle/>
          <a:p>
            <a:pPr marL="0" indent="0">
              <a:lnSpc>
                <a:spcPct val="110000"/>
              </a:lnSpc>
              <a:buNone/>
            </a:pPr>
            <a:r>
              <a:rPr lang="en-US" sz="800" dirty="0">
                <a:solidFill>
                  <a:srgbClr val="0F172A"/>
                </a:solidFill>
                <a:latin typeface="Poppins" pitchFamily="34" charset="0"/>
                <a:ea typeface="Poppins" pitchFamily="34" charset="-122"/>
                <a:cs typeface="Poppins" pitchFamily="34" charset="-120"/>
              </a:rPr>
              <a:t>•  Tests unitaires</a:t>
            </a:r>
            <a:endParaRPr lang="en-US" sz="800" dirty="0"/>
          </a:p>
        </p:txBody>
      </p:sp>
      <p:sp>
        <p:nvSpPr>
          <p:cNvPr id="27" name="Text 25"/>
          <p:cNvSpPr/>
          <p:nvPr/>
        </p:nvSpPr>
        <p:spPr>
          <a:xfrm>
            <a:off x="2788920" y="3886200"/>
            <a:ext cx="1554480" cy="365760"/>
          </a:xfrm>
          <a:prstGeom prst="rect">
            <a:avLst/>
          </a:prstGeom>
          <a:noFill/>
          <a:ln/>
        </p:spPr>
        <p:txBody>
          <a:bodyPr wrap="square" lIns="0" tIns="0" rIns="0" bIns="0" rtlCol="0" anchor="ctr"/>
          <a:lstStyle/>
          <a:p>
            <a:pPr marL="0" indent="0">
              <a:lnSpc>
                <a:spcPct val="110000"/>
              </a:lnSpc>
              <a:buNone/>
            </a:pPr>
            <a:r>
              <a:rPr lang="en-US" sz="800" dirty="0">
                <a:solidFill>
                  <a:srgbClr val="0F172A"/>
                </a:solidFill>
                <a:latin typeface="Poppins" pitchFamily="34" charset="0"/>
                <a:ea typeface="Poppins" pitchFamily="34" charset="-122"/>
                <a:cs typeface="Poppins" pitchFamily="34" charset="-120"/>
              </a:rPr>
              <a:t>•  Maquettes interfaces</a:t>
            </a:r>
            <a:endParaRPr lang="en-US" sz="800" dirty="0"/>
          </a:p>
        </p:txBody>
      </p:sp>
      <p:sp>
        <p:nvSpPr>
          <p:cNvPr id="28" name="Shape 26"/>
          <p:cNvSpPr/>
          <p:nvPr/>
        </p:nvSpPr>
        <p:spPr>
          <a:xfrm>
            <a:off x="5394960" y="1170432"/>
            <a:ext cx="320040" cy="320040"/>
          </a:xfrm>
          <a:prstGeom prst="ellipse">
            <a:avLst/>
          </a:prstGeom>
          <a:solidFill>
            <a:srgbClr val="F59E0B"/>
          </a:solidFill>
          <a:ln/>
        </p:spPr>
      </p:sp>
      <p:sp>
        <p:nvSpPr>
          <p:cNvPr id="29" name="Text 27"/>
          <p:cNvSpPr/>
          <p:nvPr/>
        </p:nvSpPr>
        <p:spPr>
          <a:xfrm>
            <a:off x="5394960" y="1170432"/>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Poppins" pitchFamily="34" charset="0"/>
                <a:ea typeface="Poppins" pitchFamily="34" charset="-122"/>
                <a:cs typeface="Poppins" pitchFamily="34" charset="-120"/>
              </a:rPr>
              <a:t>3</a:t>
            </a:r>
            <a:endParaRPr lang="en-US" sz="1200" dirty="0"/>
          </a:p>
        </p:txBody>
      </p:sp>
      <p:sp>
        <p:nvSpPr>
          <p:cNvPr id="30" name="Shape 28"/>
          <p:cNvSpPr/>
          <p:nvPr/>
        </p:nvSpPr>
        <p:spPr>
          <a:xfrm>
            <a:off x="4709160" y="1691640"/>
            <a:ext cx="1737360" cy="3017520"/>
          </a:xfrm>
          <a:prstGeom prst="rect">
            <a:avLst/>
          </a:prstGeom>
          <a:solidFill>
            <a:srgbClr val="F7F9FC"/>
          </a:solidFill>
          <a:ln/>
          <a:effectLst>
            <a:outerShdw blurRad="76200" dist="25400" dir="8100000" algn="bl" rotWithShape="0">
              <a:srgbClr val="000000">
                <a:alpha val="6000"/>
              </a:srgbClr>
            </a:outerShdw>
          </a:effectLst>
        </p:spPr>
      </p:sp>
      <p:sp>
        <p:nvSpPr>
          <p:cNvPr id="31" name="Shape 29"/>
          <p:cNvSpPr/>
          <p:nvPr/>
        </p:nvSpPr>
        <p:spPr>
          <a:xfrm>
            <a:off x="4709160" y="1691640"/>
            <a:ext cx="1737360" cy="54864"/>
          </a:xfrm>
          <a:prstGeom prst="rect">
            <a:avLst/>
          </a:prstGeom>
          <a:solidFill>
            <a:srgbClr val="F59E0B"/>
          </a:solidFill>
          <a:ln/>
        </p:spPr>
      </p:sp>
      <p:sp>
        <p:nvSpPr>
          <p:cNvPr id="32" name="Text 30"/>
          <p:cNvSpPr/>
          <p:nvPr/>
        </p:nvSpPr>
        <p:spPr>
          <a:xfrm>
            <a:off x="4709160" y="1801368"/>
            <a:ext cx="1737360" cy="182880"/>
          </a:xfrm>
          <a:prstGeom prst="rect">
            <a:avLst/>
          </a:prstGeom>
          <a:noFill/>
          <a:ln/>
        </p:spPr>
        <p:txBody>
          <a:bodyPr wrap="square" lIns="0" tIns="0" rIns="0" bIns="0" rtlCol="0" anchor="ctr"/>
          <a:lstStyle/>
          <a:p>
            <a:pPr marL="0" indent="0" algn="ctr">
              <a:buNone/>
            </a:pPr>
            <a:r>
              <a:rPr lang="en-US" sz="800" b="1" dirty="0">
                <a:solidFill>
                  <a:srgbClr val="F59E0B"/>
                </a:solidFill>
                <a:latin typeface="Poppins" pitchFamily="34" charset="0"/>
                <a:ea typeface="Poppins" pitchFamily="34" charset="-122"/>
                <a:cs typeface="Poppins" pitchFamily="34" charset="-120"/>
              </a:rPr>
              <a:t>Phase 3</a:t>
            </a:r>
            <a:endParaRPr lang="en-US" sz="800" dirty="0"/>
          </a:p>
        </p:txBody>
      </p:sp>
      <p:sp>
        <p:nvSpPr>
          <p:cNvPr id="33" name="Text 31"/>
          <p:cNvSpPr/>
          <p:nvPr/>
        </p:nvSpPr>
        <p:spPr>
          <a:xfrm>
            <a:off x="4709160" y="1965960"/>
            <a:ext cx="173736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Poppins" pitchFamily="34" charset="0"/>
                <a:ea typeface="Poppins" pitchFamily="34" charset="-122"/>
                <a:cs typeface="Poppins" pitchFamily="34" charset="-120"/>
              </a:rPr>
              <a:t>Pilote</a:t>
            </a:r>
            <a:endParaRPr lang="en-US" sz="1300" dirty="0"/>
          </a:p>
        </p:txBody>
      </p:sp>
      <p:sp>
        <p:nvSpPr>
          <p:cNvPr id="34" name="Shape 32"/>
          <p:cNvSpPr/>
          <p:nvPr/>
        </p:nvSpPr>
        <p:spPr>
          <a:xfrm>
            <a:off x="4983480" y="2286000"/>
            <a:ext cx="1188720" cy="228600"/>
          </a:xfrm>
          <a:prstGeom prst="rect">
            <a:avLst/>
          </a:prstGeom>
          <a:solidFill>
            <a:srgbClr val="F59E0B"/>
          </a:solidFill>
          <a:ln/>
        </p:spPr>
      </p:sp>
      <p:sp>
        <p:nvSpPr>
          <p:cNvPr id="35" name="Text 33"/>
          <p:cNvSpPr/>
          <p:nvPr/>
        </p:nvSpPr>
        <p:spPr>
          <a:xfrm>
            <a:off x="4983480" y="2286000"/>
            <a:ext cx="118872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Poppins" pitchFamily="34" charset="0"/>
                <a:ea typeface="Poppins" pitchFamily="34" charset="-122"/>
                <a:cs typeface="Poppins" pitchFamily="34" charset="-120"/>
              </a:rPr>
              <a:t>3 semaines</a:t>
            </a:r>
            <a:endParaRPr lang="en-US" sz="800" dirty="0"/>
          </a:p>
        </p:txBody>
      </p:sp>
      <p:sp>
        <p:nvSpPr>
          <p:cNvPr id="36" name="Text 34"/>
          <p:cNvSpPr/>
          <p:nvPr/>
        </p:nvSpPr>
        <p:spPr>
          <a:xfrm>
            <a:off x="4800600" y="2651760"/>
            <a:ext cx="1554480" cy="365760"/>
          </a:xfrm>
          <a:prstGeom prst="rect">
            <a:avLst/>
          </a:prstGeom>
          <a:noFill/>
          <a:ln/>
        </p:spPr>
        <p:txBody>
          <a:bodyPr wrap="square" lIns="0" tIns="0" rIns="0" bIns="0" rtlCol="0" anchor="ctr"/>
          <a:lstStyle/>
          <a:p>
            <a:pPr marL="0" indent="0">
              <a:lnSpc>
                <a:spcPct val="110000"/>
              </a:lnSpc>
              <a:buNone/>
            </a:pPr>
            <a:r>
              <a:rPr lang="en-US" sz="800" dirty="0">
                <a:solidFill>
                  <a:srgbClr val="0F172A"/>
                </a:solidFill>
                <a:latin typeface="Poppins" pitchFamily="34" charset="0"/>
                <a:ea typeface="Poppins" pitchFamily="34" charset="-122"/>
                <a:cs typeface="Poppins" pitchFamily="34" charset="-120"/>
              </a:rPr>
              <a:t>•  Déploiement 1 zone</a:t>
            </a:r>
            <a:endParaRPr lang="en-US" sz="800" dirty="0"/>
          </a:p>
        </p:txBody>
      </p:sp>
      <p:sp>
        <p:nvSpPr>
          <p:cNvPr id="37" name="Text 35"/>
          <p:cNvSpPr/>
          <p:nvPr/>
        </p:nvSpPr>
        <p:spPr>
          <a:xfrm>
            <a:off x="4800600" y="3063240"/>
            <a:ext cx="1554480" cy="365760"/>
          </a:xfrm>
          <a:prstGeom prst="rect">
            <a:avLst/>
          </a:prstGeom>
          <a:noFill/>
          <a:ln/>
        </p:spPr>
        <p:txBody>
          <a:bodyPr wrap="square" lIns="0" tIns="0" rIns="0" bIns="0" rtlCol="0" anchor="ctr"/>
          <a:lstStyle/>
          <a:p>
            <a:pPr marL="0" indent="0">
              <a:lnSpc>
                <a:spcPct val="110000"/>
              </a:lnSpc>
              <a:buNone/>
            </a:pPr>
            <a:r>
              <a:rPr lang="en-US" sz="800" dirty="0">
                <a:solidFill>
                  <a:srgbClr val="0F172A"/>
                </a:solidFill>
                <a:latin typeface="Poppins" pitchFamily="34" charset="0"/>
                <a:ea typeface="Poppins" pitchFamily="34" charset="-122"/>
                <a:cs typeface="Poppins" pitchFamily="34" charset="-120"/>
              </a:rPr>
              <a:t>•  Formation opérateurs</a:t>
            </a:r>
            <a:endParaRPr lang="en-US" sz="800" dirty="0"/>
          </a:p>
        </p:txBody>
      </p:sp>
      <p:sp>
        <p:nvSpPr>
          <p:cNvPr id="38" name="Text 36"/>
          <p:cNvSpPr/>
          <p:nvPr/>
        </p:nvSpPr>
        <p:spPr>
          <a:xfrm>
            <a:off x="4800600" y="3474720"/>
            <a:ext cx="1554480" cy="365760"/>
          </a:xfrm>
          <a:prstGeom prst="rect">
            <a:avLst/>
          </a:prstGeom>
          <a:noFill/>
          <a:ln/>
        </p:spPr>
        <p:txBody>
          <a:bodyPr wrap="square" lIns="0" tIns="0" rIns="0" bIns="0" rtlCol="0" anchor="ctr"/>
          <a:lstStyle/>
          <a:p>
            <a:pPr marL="0" indent="0">
              <a:lnSpc>
                <a:spcPct val="110000"/>
              </a:lnSpc>
              <a:buNone/>
            </a:pPr>
            <a:r>
              <a:rPr lang="en-US" sz="800" dirty="0">
                <a:solidFill>
                  <a:srgbClr val="0F172A"/>
                </a:solidFill>
                <a:latin typeface="Poppins" pitchFamily="34" charset="0"/>
                <a:ea typeface="Poppins" pitchFamily="34" charset="-122"/>
                <a:cs typeface="Poppins" pitchFamily="34" charset="-120"/>
              </a:rPr>
              <a:t>•  Tests terrain réels</a:t>
            </a:r>
            <a:endParaRPr lang="en-US" sz="800" dirty="0"/>
          </a:p>
        </p:txBody>
      </p:sp>
      <p:sp>
        <p:nvSpPr>
          <p:cNvPr id="39" name="Text 37"/>
          <p:cNvSpPr/>
          <p:nvPr/>
        </p:nvSpPr>
        <p:spPr>
          <a:xfrm>
            <a:off x="4800600" y="3886200"/>
            <a:ext cx="1554480" cy="365760"/>
          </a:xfrm>
          <a:prstGeom prst="rect">
            <a:avLst/>
          </a:prstGeom>
          <a:noFill/>
          <a:ln/>
        </p:spPr>
        <p:txBody>
          <a:bodyPr wrap="square" lIns="0" tIns="0" rIns="0" bIns="0" rtlCol="0" anchor="ctr"/>
          <a:lstStyle/>
          <a:p>
            <a:pPr marL="0" indent="0">
              <a:lnSpc>
                <a:spcPct val="110000"/>
              </a:lnSpc>
              <a:buNone/>
            </a:pPr>
            <a:r>
              <a:rPr lang="en-US" sz="800" dirty="0">
                <a:solidFill>
                  <a:srgbClr val="0F172A"/>
                </a:solidFill>
                <a:latin typeface="Poppins" pitchFamily="34" charset="0"/>
                <a:ea typeface="Poppins" pitchFamily="34" charset="-122"/>
                <a:cs typeface="Poppins" pitchFamily="34" charset="-120"/>
              </a:rPr>
              <a:t>•  Ajustements algorithme</a:t>
            </a:r>
            <a:endParaRPr lang="en-US" sz="800" dirty="0"/>
          </a:p>
        </p:txBody>
      </p:sp>
      <p:sp>
        <p:nvSpPr>
          <p:cNvPr id="40" name="Shape 38"/>
          <p:cNvSpPr/>
          <p:nvPr/>
        </p:nvSpPr>
        <p:spPr>
          <a:xfrm>
            <a:off x="7406640" y="1170432"/>
            <a:ext cx="320040" cy="320040"/>
          </a:xfrm>
          <a:prstGeom prst="ellipse">
            <a:avLst/>
          </a:prstGeom>
          <a:solidFill>
            <a:srgbClr val="16A34A"/>
          </a:solidFill>
          <a:ln/>
        </p:spPr>
      </p:sp>
      <p:sp>
        <p:nvSpPr>
          <p:cNvPr id="41" name="Text 39"/>
          <p:cNvSpPr/>
          <p:nvPr/>
        </p:nvSpPr>
        <p:spPr>
          <a:xfrm>
            <a:off x="7406640" y="1170432"/>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Poppins" pitchFamily="34" charset="0"/>
                <a:ea typeface="Poppins" pitchFamily="34" charset="-122"/>
                <a:cs typeface="Poppins" pitchFamily="34" charset="-120"/>
              </a:rPr>
              <a:t>4</a:t>
            </a:r>
            <a:endParaRPr lang="en-US" sz="1200" dirty="0"/>
          </a:p>
        </p:txBody>
      </p:sp>
      <p:sp>
        <p:nvSpPr>
          <p:cNvPr id="42" name="Shape 40"/>
          <p:cNvSpPr/>
          <p:nvPr/>
        </p:nvSpPr>
        <p:spPr>
          <a:xfrm>
            <a:off x="6720840" y="1691640"/>
            <a:ext cx="1737360" cy="3017520"/>
          </a:xfrm>
          <a:prstGeom prst="rect">
            <a:avLst/>
          </a:prstGeom>
          <a:solidFill>
            <a:srgbClr val="F7F9FC"/>
          </a:solidFill>
          <a:ln/>
          <a:effectLst>
            <a:outerShdw blurRad="76200" dist="25400" dir="8100000" algn="bl" rotWithShape="0">
              <a:srgbClr val="000000">
                <a:alpha val="6000"/>
              </a:srgbClr>
            </a:outerShdw>
          </a:effectLst>
        </p:spPr>
      </p:sp>
      <p:sp>
        <p:nvSpPr>
          <p:cNvPr id="43" name="Shape 41"/>
          <p:cNvSpPr/>
          <p:nvPr/>
        </p:nvSpPr>
        <p:spPr>
          <a:xfrm>
            <a:off x="6720840" y="1691640"/>
            <a:ext cx="1737360" cy="54864"/>
          </a:xfrm>
          <a:prstGeom prst="rect">
            <a:avLst/>
          </a:prstGeom>
          <a:solidFill>
            <a:srgbClr val="16A34A"/>
          </a:solidFill>
          <a:ln/>
        </p:spPr>
      </p:sp>
      <p:sp>
        <p:nvSpPr>
          <p:cNvPr id="44" name="Text 42"/>
          <p:cNvSpPr/>
          <p:nvPr/>
        </p:nvSpPr>
        <p:spPr>
          <a:xfrm>
            <a:off x="6720840" y="1801368"/>
            <a:ext cx="1737360" cy="182880"/>
          </a:xfrm>
          <a:prstGeom prst="rect">
            <a:avLst/>
          </a:prstGeom>
          <a:noFill/>
          <a:ln/>
        </p:spPr>
        <p:txBody>
          <a:bodyPr wrap="square" lIns="0" tIns="0" rIns="0" bIns="0" rtlCol="0" anchor="ctr"/>
          <a:lstStyle/>
          <a:p>
            <a:pPr marL="0" indent="0" algn="ctr">
              <a:buNone/>
            </a:pPr>
            <a:r>
              <a:rPr lang="en-US" sz="800" b="1" dirty="0">
                <a:solidFill>
                  <a:srgbClr val="16A34A"/>
                </a:solidFill>
                <a:latin typeface="Poppins" pitchFamily="34" charset="0"/>
                <a:ea typeface="Poppins" pitchFamily="34" charset="-122"/>
                <a:cs typeface="Poppins" pitchFamily="34" charset="-120"/>
              </a:rPr>
              <a:t>Phase 4</a:t>
            </a:r>
            <a:endParaRPr lang="en-US" sz="800" dirty="0"/>
          </a:p>
        </p:txBody>
      </p:sp>
      <p:sp>
        <p:nvSpPr>
          <p:cNvPr id="45" name="Text 43"/>
          <p:cNvSpPr/>
          <p:nvPr/>
        </p:nvSpPr>
        <p:spPr>
          <a:xfrm>
            <a:off x="6720840" y="1965960"/>
            <a:ext cx="173736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Poppins" pitchFamily="34" charset="0"/>
                <a:ea typeface="Poppins" pitchFamily="34" charset="-122"/>
                <a:cs typeface="Poppins" pitchFamily="34" charset="-120"/>
              </a:rPr>
              <a:t>Déploiement</a:t>
            </a:r>
            <a:endParaRPr lang="en-US" sz="1300" dirty="0"/>
          </a:p>
        </p:txBody>
      </p:sp>
      <p:sp>
        <p:nvSpPr>
          <p:cNvPr id="46" name="Shape 44"/>
          <p:cNvSpPr/>
          <p:nvPr/>
        </p:nvSpPr>
        <p:spPr>
          <a:xfrm>
            <a:off x="6995160" y="2286000"/>
            <a:ext cx="1188720" cy="228600"/>
          </a:xfrm>
          <a:prstGeom prst="rect">
            <a:avLst/>
          </a:prstGeom>
          <a:solidFill>
            <a:srgbClr val="16A34A"/>
          </a:solidFill>
          <a:ln/>
        </p:spPr>
      </p:sp>
      <p:sp>
        <p:nvSpPr>
          <p:cNvPr id="47" name="Text 45"/>
          <p:cNvSpPr/>
          <p:nvPr/>
        </p:nvSpPr>
        <p:spPr>
          <a:xfrm>
            <a:off x="6995160" y="2286000"/>
            <a:ext cx="118872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Poppins" pitchFamily="34" charset="0"/>
                <a:ea typeface="Poppins" pitchFamily="34" charset="-122"/>
                <a:cs typeface="Poppins" pitchFamily="34" charset="-120"/>
              </a:rPr>
              <a:t>2 semaines</a:t>
            </a:r>
            <a:endParaRPr lang="en-US" sz="800" dirty="0"/>
          </a:p>
        </p:txBody>
      </p:sp>
      <p:sp>
        <p:nvSpPr>
          <p:cNvPr id="48" name="Text 46"/>
          <p:cNvSpPr/>
          <p:nvPr/>
        </p:nvSpPr>
        <p:spPr>
          <a:xfrm>
            <a:off x="6812280" y="2651760"/>
            <a:ext cx="1554480" cy="365760"/>
          </a:xfrm>
          <a:prstGeom prst="rect">
            <a:avLst/>
          </a:prstGeom>
          <a:noFill/>
          <a:ln/>
        </p:spPr>
        <p:txBody>
          <a:bodyPr wrap="square" lIns="0" tIns="0" rIns="0" bIns="0" rtlCol="0" anchor="ctr"/>
          <a:lstStyle/>
          <a:p>
            <a:pPr marL="0" indent="0">
              <a:lnSpc>
                <a:spcPct val="110000"/>
              </a:lnSpc>
              <a:buNone/>
            </a:pPr>
            <a:r>
              <a:rPr lang="en-US" sz="800" dirty="0">
                <a:solidFill>
                  <a:srgbClr val="0F172A"/>
                </a:solidFill>
                <a:latin typeface="Poppins" pitchFamily="34" charset="0"/>
                <a:ea typeface="Poppins" pitchFamily="34" charset="-122"/>
                <a:cs typeface="Poppins" pitchFamily="34" charset="-120"/>
              </a:rPr>
              <a:t>•  Extension entrepôt</a:t>
            </a:r>
            <a:endParaRPr lang="en-US" sz="800" dirty="0"/>
          </a:p>
        </p:txBody>
      </p:sp>
      <p:sp>
        <p:nvSpPr>
          <p:cNvPr id="49" name="Text 47"/>
          <p:cNvSpPr/>
          <p:nvPr/>
        </p:nvSpPr>
        <p:spPr>
          <a:xfrm>
            <a:off x="6812280" y="3063240"/>
            <a:ext cx="1554480" cy="365760"/>
          </a:xfrm>
          <a:prstGeom prst="rect">
            <a:avLst/>
          </a:prstGeom>
          <a:noFill/>
          <a:ln/>
        </p:spPr>
        <p:txBody>
          <a:bodyPr wrap="square" lIns="0" tIns="0" rIns="0" bIns="0" rtlCol="0" anchor="ctr"/>
          <a:lstStyle/>
          <a:p>
            <a:pPr marL="0" indent="0">
              <a:lnSpc>
                <a:spcPct val="110000"/>
              </a:lnSpc>
              <a:buNone/>
            </a:pPr>
            <a:r>
              <a:rPr lang="en-US" sz="800" dirty="0">
                <a:solidFill>
                  <a:srgbClr val="0F172A"/>
                </a:solidFill>
                <a:latin typeface="Poppins" pitchFamily="34" charset="0"/>
                <a:ea typeface="Poppins" pitchFamily="34" charset="-122"/>
                <a:cs typeface="Poppins" pitchFamily="34" charset="-120"/>
              </a:rPr>
              <a:t>•  Monitoring production</a:t>
            </a:r>
            <a:endParaRPr lang="en-US" sz="800" dirty="0"/>
          </a:p>
        </p:txBody>
      </p:sp>
      <p:sp>
        <p:nvSpPr>
          <p:cNvPr id="50" name="Text 48"/>
          <p:cNvSpPr/>
          <p:nvPr/>
        </p:nvSpPr>
        <p:spPr>
          <a:xfrm>
            <a:off x="6812280" y="3474720"/>
            <a:ext cx="1554480" cy="365760"/>
          </a:xfrm>
          <a:prstGeom prst="rect">
            <a:avLst/>
          </a:prstGeom>
          <a:noFill/>
          <a:ln/>
        </p:spPr>
        <p:txBody>
          <a:bodyPr wrap="square" lIns="0" tIns="0" rIns="0" bIns="0" rtlCol="0" anchor="ctr"/>
          <a:lstStyle/>
          <a:p>
            <a:pPr marL="0" indent="0">
              <a:lnSpc>
                <a:spcPct val="110000"/>
              </a:lnSpc>
              <a:buNone/>
            </a:pPr>
            <a:r>
              <a:rPr lang="en-US" sz="800" dirty="0">
                <a:solidFill>
                  <a:srgbClr val="0F172A"/>
                </a:solidFill>
                <a:latin typeface="Poppins" pitchFamily="34" charset="0"/>
                <a:ea typeface="Poppins" pitchFamily="34" charset="-122"/>
                <a:cs typeface="Poppins" pitchFamily="34" charset="-120"/>
              </a:rPr>
              <a:t>•  Documentation finale</a:t>
            </a:r>
            <a:endParaRPr lang="en-US" sz="800" dirty="0"/>
          </a:p>
        </p:txBody>
      </p:sp>
      <p:sp>
        <p:nvSpPr>
          <p:cNvPr id="51" name="Text 49"/>
          <p:cNvSpPr/>
          <p:nvPr/>
        </p:nvSpPr>
        <p:spPr>
          <a:xfrm>
            <a:off x="6812280" y="3886200"/>
            <a:ext cx="1554480" cy="365760"/>
          </a:xfrm>
          <a:prstGeom prst="rect">
            <a:avLst/>
          </a:prstGeom>
          <a:noFill/>
          <a:ln/>
        </p:spPr>
        <p:txBody>
          <a:bodyPr wrap="square" lIns="0" tIns="0" rIns="0" bIns="0" rtlCol="0" anchor="ctr"/>
          <a:lstStyle/>
          <a:p>
            <a:pPr marL="0" indent="0">
              <a:lnSpc>
                <a:spcPct val="110000"/>
              </a:lnSpc>
              <a:buNone/>
            </a:pPr>
            <a:r>
              <a:rPr lang="en-US" sz="800" dirty="0">
                <a:solidFill>
                  <a:srgbClr val="0F172A"/>
                </a:solidFill>
                <a:latin typeface="Poppins" pitchFamily="34" charset="0"/>
                <a:ea typeface="Poppins" pitchFamily="34" charset="-122"/>
                <a:cs typeface="Poppins" pitchFamily="34" charset="-120"/>
              </a:rPr>
              <a:t>•  Support &amp; maintenance</a:t>
            </a:r>
            <a:endParaRPr lang="en-US" sz="800" dirty="0"/>
          </a:p>
        </p:txBody>
      </p:sp>
      <p:sp>
        <p:nvSpPr>
          <p:cNvPr id="52" name="Text 50"/>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11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E3A5F"/>
          </a:solidFill>
          <a:ln/>
        </p:spPr>
      </p:sp>
      <p:pic>
        <p:nvPicPr>
          <p:cNvPr id="3" name="Image 0" descr="preencoded.png"/>
          <p:cNvPicPr>
            <a:picLocks noChangeAspect="1"/>
          </p:cNvPicPr>
          <p:nvPr/>
        </p:nvPicPr>
        <p:blipFill>
          <a:blip r:embed="rId3"/>
          <a:stretch>
            <a:fillRect/>
          </a:stretch>
        </p:blipFill>
        <p:spPr>
          <a:xfrm>
            <a:off x="3200400" y="1097280"/>
            <a:ext cx="914400" cy="594360"/>
          </a:xfrm>
          <a:prstGeom prst="rect">
            <a:avLst/>
          </a:prstGeom>
        </p:spPr>
      </p:pic>
      <p:sp>
        <p:nvSpPr>
          <p:cNvPr id="4" name="Text 1"/>
          <p:cNvSpPr/>
          <p:nvPr/>
        </p:nvSpPr>
        <p:spPr>
          <a:xfrm>
            <a:off x="4160520" y="1097280"/>
            <a:ext cx="1828800" cy="594360"/>
          </a:xfrm>
          <a:prstGeom prst="rect">
            <a:avLst/>
          </a:prstGeom>
          <a:noFill/>
          <a:ln/>
        </p:spPr>
        <p:txBody>
          <a:bodyPr wrap="square" lIns="0" tIns="0" rIns="0" bIns="0" rtlCol="0" anchor="ctr"/>
          <a:lstStyle/>
          <a:p>
            <a:pPr marL="0" indent="0">
              <a:buNone/>
            </a:pPr>
            <a:r>
              <a:rPr lang="en-US" sz="3200" b="1" dirty="0">
                <a:solidFill>
                  <a:srgbClr val="0F172A"/>
                </a:solidFill>
                <a:latin typeface="Poppins" pitchFamily="34" charset="0"/>
                <a:ea typeface="Poppins" pitchFamily="34" charset="-122"/>
                <a:cs typeface="Poppins" pitchFamily="34" charset="-120"/>
              </a:rPr>
              <a:t>KINN</a:t>
            </a:r>
            <a:endParaRPr lang="en-US" sz="3200" dirty="0"/>
          </a:p>
        </p:txBody>
      </p:sp>
      <p:sp>
        <p:nvSpPr>
          <p:cNvPr id="5" name="Text 2"/>
          <p:cNvSpPr/>
          <p:nvPr/>
        </p:nvSpPr>
        <p:spPr>
          <a:xfrm>
            <a:off x="2286000" y="1874520"/>
            <a:ext cx="4572000" cy="365760"/>
          </a:xfrm>
          <a:prstGeom prst="rect">
            <a:avLst/>
          </a:prstGeom>
          <a:noFill/>
          <a:ln/>
        </p:spPr>
        <p:txBody>
          <a:bodyPr wrap="square" lIns="0" tIns="0" rIns="0" bIns="0" rtlCol="0" anchor="ctr"/>
          <a:lstStyle/>
          <a:p>
            <a:pPr marL="0" indent="0" algn="ctr">
              <a:buNone/>
            </a:pPr>
            <a:r>
              <a:rPr lang="en-US" sz="2000" b="1" dirty="0">
                <a:solidFill>
                  <a:srgbClr val="1E3A5F"/>
                </a:solidFill>
                <a:latin typeface="Poppins" pitchFamily="34" charset="0"/>
                <a:ea typeface="Poppins" pitchFamily="34" charset="-122"/>
                <a:cs typeface="Poppins" pitchFamily="34" charset="-120"/>
              </a:rPr>
              <a:t>×  Stocklor / Garrett</a:t>
            </a:r>
            <a:endParaRPr lang="en-US" sz="2000" dirty="0"/>
          </a:p>
        </p:txBody>
      </p:sp>
      <p:sp>
        <p:nvSpPr>
          <p:cNvPr id="6" name="Text 3"/>
          <p:cNvSpPr/>
          <p:nvPr/>
        </p:nvSpPr>
        <p:spPr>
          <a:xfrm>
            <a:off x="1828800" y="2468880"/>
            <a:ext cx="5486400" cy="365760"/>
          </a:xfrm>
          <a:prstGeom prst="rect">
            <a:avLst/>
          </a:prstGeom>
          <a:noFill/>
          <a:ln/>
        </p:spPr>
        <p:txBody>
          <a:bodyPr wrap="square" lIns="0" tIns="0" rIns="0" bIns="0" rtlCol="0" anchor="ctr"/>
          <a:lstStyle/>
          <a:p>
            <a:pPr marL="0" indent="0" algn="ctr">
              <a:buNone/>
            </a:pPr>
            <a:r>
              <a:rPr lang="en-US" sz="1600" dirty="0">
                <a:solidFill>
                  <a:srgbClr val="1677FF"/>
                </a:solidFill>
                <a:latin typeface="Poppins" pitchFamily="34" charset="0"/>
                <a:ea typeface="Poppins" pitchFamily="34" charset="-122"/>
                <a:cs typeface="Poppins" pitchFamily="34" charset="-120"/>
              </a:rPr>
              <a:t>Merci — Prochaines étapes</a:t>
            </a:r>
            <a:endParaRPr lang="en-US" sz="1600" dirty="0"/>
          </a:p>
        </p:txBody>
      </p:sp>
      <p:pic>
        <p:nvPicPr>
          <p:cNvPr id="7" name="Image 1" descr="preencoded.png"/>
          <p:cNvPicPr>
            <a:picLocks noChangeAspect="1"/>
          </p:cNvPicPr>
          <p:nvPr/>
        </p:nvPicPr>
        <p:blipFill>
          <a:blip r:embed="rId4"/>
          <a:stretch>
            <a:fillRect/>
          </a:stretch>
        </p:blipFill>
        <p:spPr>
          <a:xfrm>
            <a:off x="2286000" y="3063240"/>
            <a:ext cx="182880" cy="182880"/>
          </a:xfrm>
          <a:prstGeom prst="rect">
            <a:avLst/>
          </a:prstGeom>
        </p:spPr>
      </p:pic>
      <p:sp>
        <p:nvSpPr>
          <p:cNvPr id="8" name="Text 4"/>
          <p:cNvSpPr/>
          <p:nvPr/>
        </p:nvSpPr>
        <p:spPr>
          <a:xfrm>
            <a:off x="2606040" y="3044952"/>
            <a:ext cx="4572000" cy="274320"/>
          </a:xfrm>
          <a:prstGeom prst="rect">
            <a:avLst/>
          </a:prstGeom>
          <a:noFill/>
          <a:ln/>
        </p:spPr>
        <p:txBody>
          <a:bodyPr wrap="square" lIns="0" tIns="0" rIns="0" bIns="0" rtlCol="0" anchor="ctr"/>
          <a:lstStyle/>
          <a:p>
            <a:pPr marL="0" indent="0">
              <a:buNone/>
            </a:pPr>
            <a:r>
              <a:rPr lang="en-US" sz="1000" dirty="0">
                <a:solidFill>
                  <a:srgbClr val="0F172A"/>
                </a:solidFill>
                <a:latin typeface="Poppins" pitchFamily="34" charset="0"/>
                <a:ea typeface="Poppins" pitchFamily="34" charset="-122"/>
                <a:cs typeface="Poppins" pitchFamily="34" charset="-120"/>
              </a:rPr>
              <a:t>Accès à la documentation API MHS (Swagger/OpenAPI)</a:t>
            </a:r>
            <a:endParaRPr lang="en-US" sz="1000" dirty="0"/>
          </a:p>
        </p:txBody>
      </p:sp>
      <p:pic>
        <p:nvPicPr>
          <p:cNvPr id="9" name="Image 2" descr="preencoded.png"/>
          <p:cNvPicPr>
            <a:picLocks noChangeAspect="1"/>
          </p:cNvPicPr>
          <p:nvPr/>
        </p:nvPicPr>
        <p:blipFill>
          <a:blip r:embed="rId4"/>
          <a:stretch>
            <a:fillRect/>
          </a:stretch>
        </p:blipFill>
        <p:spPr>
          <a:xfrm>
            <a:off x="2286000" y="3410712"/>
            <a:ext cx="182880" cy="182880"/>
          </a:xfrm>
          <a:prstGeom prst="rect">
            <a:avLst/>
          </a:prstGeom>
        </p:spPr>
      </p:pic>
      <p:sp>
        <p:nvSpPr>
          <p:cNvPr id="10" name="Text 5"/>
          <p:cNvSpPr/>
          <p:nvPr/>
        </p:nvSpPr>
        <p:spPr>
          <a:xfrm>
            <a:off x="2606040" y="3392424"/>
            <a:ext cx="4572000" cy="274320"/>
          </a:xfrm>
          <a:prstGeom prst="rect">
            <a:avLst/>
          </a:prstGeom>
          <a:noFill/>
          <a:ln/>
        </p:spPr>
        <p:txBody>
          <a:bodyPr wrap="square" lIns="0" tIns="0" rIns="0" bIns="0" rtlCol="0" anchor="ctr"/>
          <a:lstStyle/>
          <a:p>
            <a:pPr marL="0" indent="0">
              <a:buNone/>
            </a:pPr>
            <a:r>
              <a:rPr lang="en-US" sz="1000" dirty="0">
                <a:solidFill>
                  <a:srgbClr val="0F172A"/>
                </a:solidFill>
                <a:latin typeface="Poppins" pitchFamily="34" charset="0"/>
                <a:ea typeface="Poppins" pitchFamily="34" charset="-122"/>
                <a:cs typeface="Poppins" pitchFamily="34" charset="-120"/>
              </a:rPr>
              <a:t>Mise à disposition d'un environnement de test</a:t>
            </a:r>
            <a:endParaRPr lang="en-US" sz="1000" dirty="0"/>
          </a:p>
        </p:txBody>
      </p:sp>
      <p:pic>
        <p:nvPicPr>
          <p:cNvPr id="11" name="Image 3" descr="preencoded.png"/>
          <p:cNvPicPr>
            <a:picLocks noChangeAspect="1"/>
          </p:cNvPicPr>
          <p:nvPr/>
        </p:nvPicPr>
        <p:blipFill>
          <a:blip r:embed="rId4"/>
          <a:stretch>
            <a:fillRect/>
          </a:stretch>
        </p:blipFill>
        <p:spPr>
          <a:xfrm>
            <a:off x="2286000" y="3758184"/>
            <a:ext cx="182880" cy="182880"/>
          </a:xfrm>
          <a:prstGeom prst="rect">
            <a:avLst/>
          </a:prstGeom>
        </p:spPr>
      </p:pic>
      <p:sp>
        <p:nvSpPr>
          <p:cNvPr id="12" name="Text 6"/>
          <p:cNvSpPr/>
          <p:nvPr/>
        </p:nvSpPr>
        <p:spPr>
          <a:xfrm>
            <a:off x="2606040" y="3739896"/>
            <a:ext cx="4572000" cy="274320"/>
          </a:xfrm>
          <a:prstGeom prst="rect">
            <a:avLst/>
          </a:prstGeom>
          <a:noFill/>
          <a:ln/>
        </p:spPr>
        <p:txBody>
          <a:bodyPr wrap="square" lIns="0" tIns="0" rIns="0" bIns="0" rtlCol="0" anchor="ctr"/>
          <a:lstStyle/>
          <a:p>
            <a:pPr marL="0" indent="0">
              <a:buNone/>
            </a:pPr>
            <a:r>
              <a:rPr lang="en-US" sz="1000" dirty="0">
                <a:solidFill>
                  <a:srgbClr val="0F172A"/>
                </a:solidFill>
                <a:latin typeface="Poppins" pitchFamily="34" charset="0"/>
                <a:ea typeface="Poppins" pitchFamily="34" charset="-122"/>
                <a:cs typeface="Poppins" pitchFamily="34" charset="-120"/>
              </a:rPr>
              <a:t>Définition du mode d'authentification (OAuth2 / API Key)</a:t>
            </a:r>
            <a:endParaRPr lang="en-US" sz="1000" dirty="0"/>
          </a:p>
        </p:txBody>
      </p:sp>
      <p:pic>
        <p:nvPicPr>
          <p:cNvPr id="13" name="Image 4" descr="preencoded.png"/>
          <p:cNvPicPr>
            <a:picLocks noChangeAspect="1"/>
          </p:cNvPicPr>
          <p:nvPr/>
        </p:nvPicPr>
        <p:blipFill>
          <a:blip r:embed="rId4"/>
          <a:stretch>
            <a:fillRect/>
          </a:stretch>
        </p:blipFill>
        <p:spPr>
          <a:xfrm>
            <a:off x="2286000" y="4105656"/>
            <a:ext cx="182880" cy="182880"/>
          </a:xfrm>
          <a:prstGeom prst="rect">
            <a:avLst/>
          </a:prstGeom>
        </p:spPr>
      </p:pic>
      <p:sp>
        <p:nvSpPr>
          <p:cNvPr id="14" name="Text 7"/>
          <p:cNvSpPr/>
          <p:nvPr/>
        </p:nvSpPr>
        <p:spPr>
          <a:xfrm>
            <a:off x="2606040" y="4087368"/>
            <a:ext cx="4572000" cy="274320"/>
          </a:xfrm>
          <a:prstGeom prst="rect">
            <a:avLst/>
          </a:prstGeom>
          <a:noFill/>
          <a:ln/>
        </p:spPr>
        <p:txBody>
          <a:bodyPr wrap="square" lIns="0" tIns="0" rIns="0" bIns="0" rtlCol="0" anchor="ctr"/>
          <a:lstStyle/>
          <a:p>
            <a:pPr marL="0" indent="0">
              <a:buNone/>
            </a:pPr>
            <a:r>
              <a:rPr lang="en-US" sz="1000" dirty="0">
                <a:solidFill>
                  <a:srgbClr val="0F172A"/>
                </a:solidFill>
                <a:latin typeface="Poppins" pitchFamily="34" charset="0"/>
                <a:ea typeface="Poppins" pitchFamily="34" charset="-122"/>
                <a:cs typeface="Poppins" pitchFamily="34" charset="-120"/>
              </a:rPr>
              <a:t>Planification du kick-off technique Phase 1</a:t>
            </a:r>
            <a:endParaRPr lang="en-US" sz="1000" dirty="0"/>
          </a:p>
        </p:txBody>
      </p:sp>
      <p:sp>
        <p:nvSpPr>
          <p:cNvPr id="15" name="Text 8"/>
          <p:cNvSpPr/>
          <p:nvPr/>
        </p:nvSpPr>
        <p:spPr>
          <a:xfrm>
            <a:off x="1828800" y="4572000"/>
            <a:ext cx="5486400" cy="274320"/>
          </a:xfrm>
          <a:prstGeom prst="rect">
            <a:avLst/>
          </a:prstGeom>
          <a:noFill/>
          <a:ln/>
        </p:spPr>
        <p:txBody>
          <a:bodyPr wrap="square" lIns="0" tIns="0" rIns="0" bIns="0" rtlCol="0" anchor="ctr"/>
          <a:lstStyle/>
          <a:p>
            <a:pPr marL="0" indent="0" algn="ctr">
              <a:buNone/>
            </a:pPr>
            <a:r>
              <a:rPr lang="en-US" sz="900" dirty="0">
                <a:solidFill>
                  <a:srgbClr val="9CA3AF"/>
                </a:solidFill>
                <a:latin typeface="Poppins" pitchFamily="34" charset="0"/>
                <a:ea typeface="Poppins" pitchFamily="34" charset="-122"/>
                <a:cs typeface="Poppins" pitchFamily="34" charset="-120"/>
              </a:rPr>
              <a:t>Contact : edouard@c4rbon.group  |  kinn.c4rbon.group</a:t>
            </a:r>
            <a:endParaRPr lang="en-US" sz="900" dirty="0"/>
          </a:p>
        </p:txBody>
      </p:sp>
      <p:sp>
        <p:nvSpPr>
          <p:cNvPr id="16" name="Text 9"/>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17724</TotalTime>
  <Words>2172</Words>
  <Application>Microsoft Macintosh PowerPoint</Application>
  <PresentationFormat>Affichage à l'écran (16:9)</PresentationFormat>
  <Paragraphs>301</Paragraphs>
  <Slides>11</Slides>
  <Notes>11</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11</vt:i4>
      </vt:variant>
    </vt:vector>
  </HeadingPairs>
  <TitlesOfParts>
    <vt:vector size="15" baseType="lpstr">
      <vt:lpstr>Arial</vt:lpstr>
      <vt:lpstr>Courier New</vt:lpstr>
      <vt:lpstr>Poppins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KINN × Stocklor — Intégration technique MHS</dc:title>
  <dc:subject>PptxGenJS Presentation</dc:subject>
  <dc:creator>C4RBON Group</dc:creator>
  <cp:lastModifiedBy>Edouard Bernier-Nahon</cp:lastModifiedBy>
  <cp:revision>2</cp:revision>
  <dcterms:created xsi:type="dcterms:W3CDTF">2026-03-11T09:23:42Z</dcterms:created>
  <dcterms:modified xsi:type="dcterms:W3CDTF">2026-03-23T16:55:58Z</dcterms:modified>
</cp:coreProperties>
</file>