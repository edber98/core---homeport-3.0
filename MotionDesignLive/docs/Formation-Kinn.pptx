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34"/>
    <p:restoredTop sz="94610"/>
  </p:normalViewPr>
  <p:slideViewPr>
    <p:cSldViewPr snapToGrid="0" snapToObjects="1">
      <p:cViewPr varScale="1">
        <p:scale>
          <a:sx n="214" d="100"/>
          <a:sy n="214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9080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6.png"/><Relationship Id="rId10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12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6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6.png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890F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722ED1">
              <a:alpha val="10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7315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7132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KINN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737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complète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31520" y="2560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89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Automatisation No-Code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31520" y="34747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Apprenez à automatiser vos processus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sans écrire une seule ligne de code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modules  •  Formation interactive  •  Du débutant à l'expert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Votre parcours de formation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modules progressifs pour maîtriser Kinn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84048" cy="384048"/>
          </a:xfrm>
          <a:prstGeom prst="ellipse">
            <a:avLst/>
          </a:prstGeom>
          <a:solidFill>
            <a:srgbClr val="1890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44475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417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C'est quoi le no-code 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075688"/>
            <a:ext cx="384048" cy="384048"/>
          </a:xfrm>
          <a:prstGeom prst="ellipse">
            <a:avLst/>
          </a:prstGeom>
          <a:solidFill>
            <a:srgbClr val="0050B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210312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2075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Découvrir Kinn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2734056"/>
            <a:ext cx="384048" cy="384048"/>
          </a:xfrm>
          <a:prstGeom prst="ellipse">
            <a:avLst/>
          </a:prstGeom>
          <a:solidFill>
            <a:srgbClr val="52C41A"/>
          </a:solidFill>
          <a:ln/>
        </p:spPr>
      </p:sp>
      <p:sp>
        <p:nvSpPr>
          <p:cNvPr id="13" name="Text 9"/>
          <p:cNvSpPr/>
          <p:nvPr/>
        </p:nvSpPr>
        <p:spPr>
          <a:xfrm>
            <a:off x="73152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276148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27340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Votre premier flow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31520" y="3392424"/>
            <a:ext cx="384048" cy="384048"/>
          </a:xfrm>
          <a:prstGeom prst="ellipse">
            <a:avLst/>
          </a:prstGeom>
          <a:solidFill>
            <a:srgbClr val="FAAD14"/>
          </a:solidFill>
          <a:ln/>
        </p:spPr>
      </p:sp>
      <p:sp>
        <p:nvSpPr>
          <p:cNvPr id="17" name="Text 12"/>
          <p:cNvSpPr/>
          <p:nvPr/>
        </p:nvSpPr>
        <p:spPr>
          <a:xfrm>
            <a:off x="73152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341985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33924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types de nœuds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731520" y="4050792"/>
            <a:ext cx="384048" cy="384048"/>
          </a:xfrm>
          <a:prstGeom prst="ellipse">
            <a:avLst/>
          </a:prstGeom>
          <a:solidFill>
            <a:srgbClr val="1890FF"/>
          </a:solidFill>
          <a:ln/>
        </p:spPr>
      </p:sp>
      <p:sp>
        <p:nvSpPr>
          <p:cNvPr id="21" name="Text 15"/>
          <p:cNvSpPr/>
          <p:nvPr/>
        </p:nvSpPr>
        <p:spPr>
          <a:xfrm>
            <a:off x="73152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440" y="4078224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45920" y="40507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formulaires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572000" y="1417320"/>
            <a:ext cx="384048" cy="384048"/>
          </a:xfrm>
          <a:prstGeom prst="ellipse">
            <a:avLst/>
          </a:prstGeom>
          <a:solidFill>
            <a:srgbClr val="0050B3"/>
          </a:solidFill>
          <a:ln/>
        </p:spPr>
      </p:sp>
      <p:sp>
        <p:nvSpPr>
          <p:cNvPr id="25" name="Text 18"/>
          <p:cNvSpPr/>
          <p:nvPr/>
        </p:nvSpPr>
        <p:spPr>
          <a:xfrm>
            <a:off x="45720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4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1444752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86400" y="1417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expressions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4572000" y="2075688"/>
            <a:ext cx="384048" cy="384048"/>
          </a:xfrm>
          <a:prstGeom prst="ellipse">
            <a:avLst/>
          </a:prstGeom>
          <a:solidFill>
            <a:srgbClr val="52C41A"/>
          </a:solidFill>
          <a:ln/>
        </p:spPr>
      </p:sp>
      <p:sp>
        <p:nvSpPr>
          <p:cNvPr id="29" name="Text 21"/>
          <p:cNvSpPr/>
          <p:nvPr/>
        </p:nvSpPr>
        <p:spPr>
          <a:xfrm>
            <a:off x="457200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4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4920" y="2103120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486400" y="2075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Providers &amp; credentials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4572000" y="2734056"/>
            <a:ext cx="384048" cy="384048"/>
          </a:xfrm>
          <a:prstGeom prst="ellipse">
            <a:avLst/>
          </a:prstGeom>
          <a:solidFill>
            <a:srgbClr val="722ED1"/>
          </a:solidFill>
          <a:ln/>
        </p:spPr>
      </p:sp>
      <p:sp>
        <p:nvSpPr>
          <p:cNvPr id="33" name="Text 24"/>
          <p:cNvSpPr/>
          <p:nvPr/>
        </p:nvSpPr>
        <p:spPr>
          <a:xfrm>
            <a:off x="457200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4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4920" y="2761488"/>
            <a:ext cx="292608" cy="29260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486400" y="27340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L'assistant IA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4572000" y="3392424"/>
            <a:ext cx="384048" cy="384048"/>
          </a:xfrm>
          <a:prstGeom prst="ellipse">
            <a:avLst/>
          </a:prstGeom>
          <a:solidFill>
            <a:srgbClr val="FAAD14"/>
          </a:solidFill>
          <a:ln/>
        </p:spPr>
      </p:sp>
      <p:sp>
        <p:nvSpPr>
          <p:cNvPr id="37" name="Text 27"/>
          <p:cNvSpPr/>
          <p:nvPr/>
        </p:nvSpPr>
        <p:spPr>
          <a:xfrm>
            <a:off x="457200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40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4920" y="3419856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486400" y="33924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Déploiement</a:t>
            </a:r>
            <a:endParaRPr lang="en-US" sz="1300" dirty="0"/>
          </a:p>
        </p:txBody>
      </p:sp>
      <p:sp>
        <p:nvSpPr>
          <p:cNvPr id="40" name="Shape 29"/>
          <p:cNvSpPr/>
          <p:nvPr/>
        </p:nvSpPr>
        <p:spPr>
          <a:xfrm>
            <a:off x="4572000" y="4050792"/>
            <a:ext cx="384048" cy="384048"/>
          </a:xfrm>
          <a:prstGeom prst="ellipse">
            <a:avLst/>
          </a:prstGeom>
          <a:solidFill>
            <a:srgbClr val="1890FF"/>
          </a:solidFill>
          <a:ln/>
        </p:spPr>
      </p:sp>
      <p:sp>
        <p:nvSpPr>
          <p:cNvPr id="41" name="Text 30"/>
          <p:cNvSpPr/>
          <p:nvPr/>
        </p:nvSpPr>
        <p:spPr>
          <a:xfrm>
            <a:off x="457200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400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74920" y="4078224"/>
            <a:ext cx="292608" cy="29260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486400" y="40507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aller plus loin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C'est quoi le no-code ?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Comprendre l'automatisation sans code, simplement.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no-code, c'est comme des LEGO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657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201168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88720"/>
            <a:ext cx="457200" cy="45720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12573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Construire sans coder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05840" y="1828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Imaginez des briques que vous assemblez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visuellement pour créer des automatisations.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 besoin d'écrire du </a:t>
            </a:r>
            <a:r>
              <a:rPr lang="en-US" sz="1200" dirty="0" err="1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codevous</a:t>
            </a:r>
            <a:r>
              <a:rPr lang="en-US" sz="12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glissez,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connectez et configurez.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3657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05840"/>
            <a:ext cx="54864" cy="201168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0" y="1188720"/>
            <a:ext cx="457200" cy="457200"/>
          </a:xfrm>
          <a:prstGeom prst="ellipse">
            <a:avLst/>
          </a:prstGeom>
          <a:solidFill>
            <a:srgbClr val="F6FFED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12573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Accessible à tous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029200" y="17830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 besoin d'être développeur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Interface visuelle drag &amp; drop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Résultats en quelques minutes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60+ services connectables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31520" y="3337560"/>
            <a:ext cx="7680960" cy="594360"/>
          </a:xfrm>
          <a:prstGeom prst="rect">
            <a:avLst/>
          </a:prstGeom>
          <a:solidFill>
            <a:srgbClr val="FFF7E6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47288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3832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6D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no-code ne remplace pas le code — il le rend inutile pour 80% des tâches d'automatisation.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Pourquoi automatiser 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17764" y="1028700"/>
            <a:ext cx="2514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7764" y="1028700"/>
            <a:ext cx="54864" cy="292608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6" name="Shape 4"/>
          <p:cNvSpPr/>
          <p:nvPr/>
        </p:nvSpPr>
        <p:spPr>
          <a:xfrm>
            <a:off x="1340724" y="1257300"/>
            <a:ext cx="548640" cy="54864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020" y="133959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0644" y="19888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Gagner du temps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00644" y="24003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Fini les tâches répétitives 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copier-coller, envoyer des emails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par un, synchroniser à la main.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06684" y="1028700"/>
            <a:ext cx="2514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06684" y="1028700"/>
            <a:ext cx="54864" cy="292608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2" name="Shape 9"/>
          <p:cNvSpPr/>
          <p:nvPr/>
        </p:nvSpPr>
        <p:spPr>
          <a:xfrm>
            <a:off x="4129644" y="1257300"/>
            <a:ext cx="548640" cy="548640"/>
          </a:xfrm>
          <a:prstGeom prst="ellipse">
            <a:avLst/>
          </a:prstGeom>
          <a:solidFill>
            <a:srgbClr val="F6FFED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940" y="133959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89564" y="19888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Moins d'erreurs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89564" y="24003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robot ne se trompe pas.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Plus de fautes de frappe,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d'oublis ou de doublons.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95604" y="1028700"/>
            <a:ext cx="2514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95604" y="1028700"/>
            <a:ext cx="54864" cy="2926080"/>
          </a:xfrm>
          <a:prstGeom prst="rect">
            <a:avLst/>
          </a:prstGeom>
          <a:solidFill>
            <a:srgbClr val="FAAD14"/>
          </a:solidFill>
          <a:ln/>
        </p:spPr>
      </p:sp>
      <p:sp>
        <p:nvSpPr>
          <p:cNvPr id="18" name="Shape 14"/>
          <p:cNvSpPr/>
          <p:nvPr/>
        </p:nvSpPr>
        <p:spPr>
          <a:xfrm>
            <a:off x="6918564" y="1257300"/>
            <a:ext cx="548640" cy="548640"/>
          </a:xfrm>
          <a:prstGeom prst="ellipse">
            <a:avLst/>
          </a:prstGeom>
          <a:solidFill>
            <a:srgbClr val="FFF7E6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860" y="133959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78484" y="19888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concentrer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278484" y="24003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Libérez-vous pour les tâches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forte valeur ajoutée 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stratégie, créativité, relation client.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31520" y="4251960"/>
            <a:ext cx="7680960" cy="594360"/>
          </a:xfrm>
          <a:prstGeom prst="rect">
            <a:avLst/>
          </a:prstGeom>
          <a:solidFill>
            <a:srgbClr val="FFF7E6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361688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71600" y="42976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6D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moyenne, les entreprises qui automatisent économisent 10h par semaine et par employé.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principe : Déclencheur → Action → Résultat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88136"/>
            <a:ext cx="1554480" cy="2560320"/>
          </a:xfrm>
          <a:prstGeom prst="rect">
            <a:avLst/>
          </a:prstGeom>
          <a:solidFill>
            <a:srgbClr val="FFF7E6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316736"/>
            <a:ext cx="548640" cy="548640"/>
          </a:xfrm>
          <a:prstGeom prst="ellipse">
            <a:avLst/>
          </a:prstGeom>
          <a:solidFill>
            <a:srgbClr val="FFF7E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39903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0482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Déclencheur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414016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Qu'est-ce qui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démarre le processus ?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819656"/>
            <a:ext cx="457200" cy="457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840480" y="1088136"/>
            <a:ext cx="1554480" cy="2560320"/>
          </a:xfrm>
          <a:prstGeom prst="rect">
            <a:avLst/>
          </a:prstGeom>
          <a:solidFill>
            <a:srgbClr val="E6F4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97680" y="1316736"/>
            <a:ext cx="548640" cy="54864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976" y="1399032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40480" y="20482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Action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931920" y="2414016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faut-il faire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automatiquement ?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819656"/>
            <a:ext cx="457200" cy="457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223760" y="1088136"/>
            <a:ext cx="1554480" cy="2560320"/>
          </a:xfrm>
          <a:prstGeom prst="rect">
            <a:avLst/>
          </a:prstGeom>
          <a:solidFill>
            <a:srgbClr val="F6FFED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680960" y="1316736"/>
            <a:ext cx="548640" cy="548640"/>
          </a:xfrm>
          <a:prstGeom prst="ellipse">
            <a:avLst/>
          </a:prstGeom>
          <a:solidFill>
            <a:srgbClr val="F6FFED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3256" y="1399032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223760" y="20482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Résultat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7315200" y="2414016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Qu'obtient-on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la fin ?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731520" y="4251960"/>
            <a:ext cx="7680960" cy="594360"/>
          </a:xfrm>
          <a:prstGeom prst="rect">
            <a:avLst/>
          </a:prstGeom>
          <a:solidFill>
            <a:srgbClr val="FFF7E6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361688"/>
            <a:ext cx="320040" cy="3200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71600" y="42976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6D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Toute automatisation suit ce schéma simple. Même les workflows complexes sont des enchaînements de ce trio 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Exemples concrets d'automatisations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78081" y="1011778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8081" y="1011778"/>
            <a:ext cx="54864" cy="141732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6" name="Shape 4"/>
          <p:cNvSpPr/>
          <p:nvPr/>
        </p:nvSpPr>
        <p:spPr>
          <a:xfrm>
            <a:off x="860961" y="1286098"/>
            <a:ext cx="457200" cy="45720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541" y="135467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1041" y="119465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Email de bienvenue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1041" y="156041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client s'inscrit → email automatique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avec guide + lien de connexion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92881" y="1011778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2881" y="1011778"/>
            <a:ext cx="54864" cy="141732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2" name="Shape 9"/>
          <p:cNvSpPr/>
          <p:nvPr/>
        </p:nvSpPr>
        <p:spPr>
          <a:xfrm>
            <a:off x="4975761" y="1286098"/>
            <a:ext cx="457200" cy="45720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4341" y="135467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15841" y="119465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Synchronisation CRM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615841" y="156041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Nouveau contact dans un formulaire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fiche créée dans votre CRM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78081" y="2703418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78081" y="2703418"/>
            <a:ext cx="54864" cy="1417320"/>
          </a:xfrm>
          <a:prstGeom prst="rect">
            <a:avLst/>
          </a:prstGeom>
          <a:solidFill>
            <a:srgbClr val="FAAD14"/>
          </a:solidFill>
          <a:ln/>
        </p:spPr>
      </p:sp>
      <p:sp>
        <p:nvSpPr>
          <p:cNvPr id="18" name="Shape 14"/>
          <p:cNvSpPr/>
          <p:nvPr/>
        </p:nvSpPr>
        <p:spPr>
          <a:xfrm>
            <a:off x="860961" y="2977738"/>
            <a:ext cx="457200" cy="45720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541" y="304631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1041" y="288629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Alertes intelligentes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501041" y="325205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Erreur dans un processus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notification Slack + email au manager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92881" y="2703418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92881" y="2703418"/>
            <a:ext cx="54864" cy="1417320"/>
          </a:xfrm>
          <a:prstGeom prst="rect">
            <a:avLst/>
          </a:prstGeom>
          <a:solidFill>
            <a:srgbClr val="722ED1"/>
          </a:solidFill>
          <a:ln/>
        </p:spPr>
      </p:sp>
      <p:sp>
        <p:nvSpPr>
          <p:cNvPr id="24" name="Shape 19"/>
          <p:cNvSpPr/>
          <p:nvPr/>
        </p:nvSpPr>
        <p:spPr>
          <a:xfrm>
            <a:off x="4975761" y="2977738"/>
            <a:ext cx="457200" cy="45720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4341" y="3046318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15841" y="288629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Rapport quotidien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615841" y="325205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Tous les matins à 9h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rapport généré et envoyé par email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50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2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Découvrir Kinn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L'interface, les workspaces et la navigation.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Bienvenue sur Kinn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164592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88720"/>
            <a:ext cx="548640" cy="54864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27101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Kinn, c'est quoi 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169164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Une plateforme d'automatisation visuelle pour connecter vos applications,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traiter des données et créer des workflows — le tout sans écrire de code.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2926080"/>
            <a:ext cx="17830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926080"/>
            <a:ext cx="54864" cy="146304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2" name="Shape 9"/>
          <p:cNvSpPr/>
          <p:nvPr/>
        </p:nvSpPr>
        <p:spPr>
          <a:xfrm>
            <a:off x="1280160" y="3063240"/>
            <a:ext cx="457200" cy="45720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8740" y="31318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2960" y="3611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Automatiser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22960" y="3886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Tâches répétitives entre outils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697480" y="2926080"/>
            <a:ext cx="17830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697480" y="2926080"/>
            <a:ext cx="54864" cy="146304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8" name="Shape 14"/>
          <p:cNvSpPr/>
          <p:nvPr/>
        </p:nvSpPr>
        <p:spPr>
          <a:xfrm>
            <a:off x="3246120" y="3063240"/>
            <a:ext cx="457200" cy="45720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313182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788920" y="3611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Formulaires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2788920" y="3886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Collecter et traiter des données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663440" y="2926080"/>
            <a:ext cx="17830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63440" y="2926080"/>
            <a:ext cx="54864" cy="146304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24" name="Shape 19"/>
          <p:cNvSpPr/>
          <p:nvPr/>
        </p:nvSpPr>
        <p:spPr>
          <a:xfrm>
            <a:off x="5212080" y="3063240"/>
            <a:ext cx="457200" cy="45720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0660" y="313182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754880" y="3611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 intégrée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754880" y="3886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Copilote pour construire vos flows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6629400" y="2926080"/>
            <a:ext cx="17830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629400" y="2926080"/>
            <a:ext cx="54864" cy="146304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0" name="Shape 24"/>
          <p:cNvSpPr/>
          <p:nvPr/>
        </p:nvSpPr>
        <p:spPr>
          <a:xfrm>
            <a:off x="7178040" y="3063240"/>
            <a:ext cx="457200" cy="45720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6620" y="3131820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720840" y="3611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60+ services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6720840" y="3886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Google, Slack, Odoo, HTTP…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L'interface en un coup d'œil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118872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234440"/>
            <a:ext cx="457200" cy="45720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3030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Sidebar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15087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Navigation principale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Accès à toutes les sections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05840"/>
            <a:ext cx="54864" cy="1188720"/>
          </a:xfrm>
          <a:prstGeom prst="rect">
            <a:avLst/>
          </a:prstGeom>
          <a:solidFill>
            <a:srgbClr val="0050B3"/>
          </a:solidFill>
          <a:ln/>
        </p:spPr>
      </p:sp>
      <p:sp>
        <p:nvSpPr>
          <p:cNvPr id="12" name="Shape 9"/>
          <p:cNvSpPr/>
          <p:nvPr/>
        </p:nvSpPr>
        <p:spPr>
          <a:xfrm>
            <a:off x="4937760" y="1234440"/>
            <a:ext cx="457200" cy="45720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13030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Header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577840" y="15087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Workspace, recherche,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notifications, bouton IA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31520" y="246888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2468880"/>
            <a:ext cx="54864" cy="118872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8" name="Shape 14"/>
          <p:cNvSpPr/>
          <p:nvPr/>
        </p:nvSpPr>
        <p:spPr>
          <a:xfrm>
            <a:off x="914400" y="2697480"/>
            <a:ext cx="457200" cy="45720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27660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Zone centrale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554480" y="29718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contenu de la page active 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dashboard, éditeur de flow…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246888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2468880"/>
            <a:ext cx="54864" cy="1188720"/>
          </a:xfrm>
          <a:prstGeom prst="rect">
            <a:avLst/>
          </a:prstGeom>
          <a:solidFill>
            <a:srgbClr val="722ED1"/>
          </a:solidFill>
          <a:ln/>
        </p:spPr>
      </p:sp>
      <p:sp>
        <p:nvSpPr>
          <p:cNvPr id="24" name="Shape 19"/>
          <p:cNvSpPr/>
          <p:nvPr/>
        </p:nvSpPr>
        <p:spPr>
          <a:xfrm>
            <a:off x="4937760" y="2697480"/>
            <a:ext cx="457200" cy="45720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6340" y="276606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77840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Panel IA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577840" y="29718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L'assistant intelligent,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accessible partout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731520" y="3931920"/>
            <a:ext cx="7680960" cy="594360"/>
          </a:xfrm>
          <a:prstGeom prst="rect">
            <a:avLst/>
          </a:prstGeom>
          <a:solidFill>
            <a:srgbClr val="FFF7E6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041648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71600" y="39776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6D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L'assistant IA est accessible depuis n'importe quelle page via l'icône robot dans le header.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workspaces — Vos espaces isolés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45720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32004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88720"/>
            <a:ext cx="548640" cy="54864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27101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workspace = un espace isolé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05840" y="173736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Chaque workspace possède ses propres 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Flows (workflows)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Formulaires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Credentials (identifiants)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Exécutions et fichiers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0" y="100584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1005840"/>
            <a:ext cx="54864" cy="137160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2C4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4360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Automatisations en service,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données réelles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0" y="265176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69280" y="2651760"/>
            <a:ext cx="54864" cy="1371600"/>
          </a:xfrm>
          <a:prstGeom prst="rect">
            <a:avLst/>
          </a:prstGeom>
          <a:solidFill>
            <a:srgbClr val="FAAD14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AD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943600" y="3154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Expérimenter sans risque,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données de test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navigation dans Kinn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73152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115568"/>
            <a:ext cx="411480" cy="41148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02" y="1177290"/>
            <a:ext cx="288036" cy="2880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051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17320" y="1353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Vue d'ensemble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196596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1965960"/>
            <a:ext cx="54864" cy="73152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2" name="Shape 9"/>
          <p:cNvSpPr/>
          <p:nvPr/>
        </p:nvSpPr>
        <p:spPr>
          <a:xfrm>
            <a:off x="868680" y="2075688"/>
            <a:ext cx="411480" cy="41148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02" y="2137410"/>
            <a:ext cx="288036" cy="2880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Assistant IA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417320" y="2313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Copilote intelligent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31520" y="292608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2926080"/>
            <a:ext cx="54864" cy="73152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035808"/>
            <a:ext cx="411480" cy="41148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402" y="3097530"/>
            <a:ext cx="288036" cy="2880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2971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Flows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417320" y="3273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 des workflows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31520" y="388620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3886200"/>
            <a:ext cx="54864" cy="73152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24" name="Shape 19"/>
          <p:cNvSpPr/>
          <p:nvPr/>
        </p:nvSpPr>
        <p:spPr>
          <a:xfrm>
            <a:off x="868680" y="3995928"/>
            <a:ext cx="411480" cy="41148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402" y="4057650"/>
            <a:ext cx="288036" cy="2880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1732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Formulaires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417320" y="4233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Formulaires dynamiques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846320" y="100584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846320" y="1005840"/>
            <a:ext cx="54864" cy="73152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0" name="Shape 24"/>
          <p:cNvSpPr/>
          <p:nvPr/>
        </p:nvSpPr>
        <p:spPr>
          <a:xfrm>
            <a:off x="4983480" y="1115568"/>
            <a:ext cx="411480" cy="41148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5202" y="1177290"/>
            <a:ext cx="288036" cy="28803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532120" y="1051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Sites web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532120" y="1353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Éditeur intégré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846320" y="196596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846320" y="1965960"/>
            <a:ext cx="54864" cy="73152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6" name="Shape 29"/>
          <p:cNvSpPr/>
          <p:nvPr/>
        </p:nvSpPr>
        <p:spPr>
          <a:xfrm>
            <a:off x="4983480" y="2075688"/>
            <a:ext cx="411480" cy="41148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5202" y="2137410"/>
            <a:ext cx="288036" cy="28803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53212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Templates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5532120" y="2313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Catalogue des opérations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4846320" y="292608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4846320" y="2926080"/>
            <a:ext cx="54864" cy="73152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42" name="Shape 34"/>
          <p:cNvSpPr/>
          <p:nvPr/>
        </p:nvSpPr>
        <p:spPr>
          <a:xfrm>
            <a:off x="4983480" y="3035808"/>
            <a:ext cx="411480" cy="41148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5202" y="3097530"/>
            <a:ext cx="288036" cy="288036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5532120" y="2971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Credentials</a:t>
            </a:r>
            <a:endParaRPr lang="en-US" sz="1300" dirty="0"/>
          </a:p>
        </p:txBody>
      </p:sp>
      <p:sp>
        <p:nvSpPr>
          <p:cNvPr id="45" name="Text 36"/>
          <p:cNvSpPr/>
          <p:nvPr/>
        </p:nvSpPr>
        <p:spPr>
          <a:xfrm>
            <a:off x="5532120" y="3273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Identifiants sécurisés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4846320" y="388620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4846320" y="3886200"/>
            <a:ext cx="54864" cy="73152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48" name="Shape 39"/>
          <p:cNvSpPr/>
          <p:nvPr/>
        </p:nvSpPr>
        <p:spPr>
          <a:xfrm>
            <a:off x="4983480" y="3995928"/>
            <a:ext cx="411480" cy="41148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5202" y="4057650"/>
            <a:ext cx="288036" cy="288036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553212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Apps</a:t>
            </a:r>
            <a:endParaRPr lang="en-US" sz="1300" dirty="0"/>
          </a:p>
        </p:txBody>
      </p:sp>
      <p:sp>
        <p:nvSpPr>
          <p:cNvPr id="51" name="Text 41"/>
          <p:cNvSpPr/>
          <p:nvPr/>
        </p:nvSpPr>
        <p:spPr>
          <a:xfrm>
            <a:off x="5532120" y="4233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Catalogue des services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2C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3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Votre premier flow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Créez votre premier workflow automatisé pas à pas.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C'est quoi un flow 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146304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88720"/>
            <a:ext cx="548640" cy="548640"/>
          </a:xfrm>
          <a:prstGeom prst="ellipse">
            <a:avLst/>
          </a:prstGeom>
          <a:solidFill>
            <a:srgbClr val="F6FFED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27101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flow = une recette de cuisine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5840" y="16916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Comme une recette, un flow est une séquence d'étapes. Chaque étape (nœud) effectue une action.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ingrédients (données) passent d'une étape à la suivante jusqu'au résultat final.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2788920"/>
            <a:ext cx="2514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788920"/>
            <a:ext cx="54864" cy="18288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2" name="Shape 9"/>
          <p:cNvSpPr/>
          <p:nvPr/>
        </p:nvSpPr>
        <p:spPr>
          <a:xfrm>
            <a:off x="1554480" y="2926080"/>
            <a:ext cx="457200" cy="45720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060" y="29946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" y="3520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canvas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68680" y="3840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Votre plan de travail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visuel, comme un tableau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blanc infini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520440" y="2788920"/>
            <a:ext cx="2514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520440" y="2788920"/>
            <a:ext cx="54864" cy="182880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8" name="Shape 14"/>
          <p:cNvSpPr/>
          <p:nvPr/>
        </p:nvSpPr>
        <p:spPr>
          <a:xfrm>
            <a:off x="4343400" y="2926080"/>
            <a:ext cx="457200" cy="45720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980" y="29946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520440" y="3520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nœuds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657600" y="3840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briques de votre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automatisation : actions,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conditions, déclencheurs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309360" y="2788920"/>
            <a:ext cx="2514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09360" y="2788920"/>
            <a:ext cx="54864" cy="1828800"/>
          </a:xfrm>
          <a:prstGeom prst="rect">
            <a:avLst/>
          </a:prstGeom>
          <a:solidFill>
            <a:srgbClr val="FAAD14"/>
          </a:solidFill>
          <a:ln/>
        </p:spPr>
      </p:sp>
      <p:sp>
        <p:nvSpPr>
          <p:cNvPr id="24" name="Shape 19"/>
          <p:cNvSpPr/>
          <p:nvPr/>
        </p:nvSpPr>
        <p:spPr>
          <a:xfrm>
            <a:off x="7132320" y="2926080"/>
            <a:ext cx="457200" cy="45720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900" y="299466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09360" y="3520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connexions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446520" y="3840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liens entre 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nœuds : les données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circulent le long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Créer un flow : Start → Action → Exécuter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53390" y="1047403"/>
            <a:ext cx="25146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53390" y="1047403"/>
            <a:ext cx="54864" cy="16002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6" name="Shape 4"/>
          <p:cNvSpPr/>
          <p:nvPr/>
        </p:nvSpPr>
        <p:spPr>
          <a:xfrm>
            <a:off x="690550" y="1184563"/>
            <a:ext cx="411480" cy="411480"/>
          </a:xfrm>
          <a:prstGeom prst="ellipse">
            <a:avLst/>
          </a:prstGeom>
          <a:solidFill>
            <a:srgbClr val="1890FF"/>
          </a:solidFill>
          <a:ln/>
        </p:spPr>
      </p:sp>
      <p:sp>
        <p:nvSpPr>
          <p:cNvPr id="7" name="Text 5"/>
          <p:cNvSpPr/>
          <p:nvPr/>
        </p:nvSpPr>
        <p:spPr>
          <a:xfrm>
            <a:off x="690550" y="1184563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9190" y="1230283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Créer le flow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0550" y="1733203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Allez dans Flows,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cliquez sur « Nouveau 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42310" y="1047403"/>
            <a:ext cx="25146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42310" y="1047403"/>
            <a:ext cx="54864" cy="16002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9470" y="1184563"/>
            <a:ext cx="411480" cy="411480"/>
          </a:xfrm>
          <a:prstGeom prst="ellipse">
            <a:avLst/>
          </a:prstGeom>
          <a:solidFill>
            <a:srgbClr val="1890FF"/>
          </a:solidFill>
          <a:ln/>
        </p:spPr>
      </p:sp>
      <p:sp>
        <p:nvSpPr>
          <p:cNvPr id="13" name="Text 11"/>
          <p:cNvSpPr/>
          <p:nvPr/>
        </p:nvSpPr>
        <p:spPr>
          <a:xfrm>
            <a:off x="3479470" y="1184563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28110" y="1230283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Ajouter Start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9470" y="1733203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Cherchez « Start »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dans la palette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31230" y="1047403"/>
            <a:ext cx="25146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31230" y="1047403"/>
            <a:ext cx="54864" cy="16002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8390" y="1184563"/>
            <a:ext cx="411480" cy="411480"/>
          </a:xfrm>
          <a:prstGeom prst="ellipse">
            <a:avLst/>
          </a:prstGeom>
          <a:solidFill>
            <a:srgbClr val="1890FF"/>
          </a:solidFill>
          <a:ln/>
        </p:spPr>
      </p:sp>
      <p:sp>
        <p:nvSpPr>
          <p:cNvPr id="19" name="Text 17"/>
          <p:cNvSpPr/>
          <p:nvPr/>
        </p:nvSpPr>
        <p:spPr>
          <a:xfrm>
            <a:off x="6268390" y="1184563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7030" y="1230283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Ajouter une action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8390" y="1733203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 : Requête HTTP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 Envoyer un email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3390" y="2921923"/>
            <a:ext cx="25146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3390" y="2921923"/>
            <a:ext cx="54864" cy="16002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90550" y="3059083"/>
            <a:ext cx="411480" cy="411480"/>
          </a:xfrm>
          <a:prstGeom prst="ellipse">
            <a:avLst/>
          </a:prstGeom>
          <a:solidFill>
            <a:srgbClr val="1890FF"/>
          </a:solidFill>
          <a:ln/>
        </p:spPr>
      </p:sp>
      <p:sp>
        <p:nvSpPr>
          <p:cNvPr id="25" name="Text 23"/>
          <p:cNvSpPr/>
          <p:nvPr/>
        </p:nvSpPr>
        <p:spPr>
          <a:xfrm>
            <a:off x="690550" y="3059083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39190" y="3104803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550" y="3607723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Tirez un câble 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vers l'action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42310" y="2921923"/>
            <a:ext cx="25146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42310" y="2921923"/>
            <a:ext cx="54864" cy="16002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479470" y="3059083"/>
            <a:ext cx="411480" cy="411480"/>
          </a:xfrm>
          <a:prstGeom prst="ellipse">
            <a:avLst/>
          </a:prstGeom>
          <a:solidFill>
            <a:srgbClr val="1890FF"/>
          </a:solidFill>
          <a:ln/>
        </p:spPr>
      </p:sp>
      <p:sp>
        <p:nvSpPr>
          <p:cNvPr id="31" name="Text 29"/>
          <p:cNvSpPr/>
          <p:nvPr/>
        </p:nvSpPr>
        <p:spPr>
          <a:xfrm>
            <a:off x="3479470" y="3059083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028110" y="3104803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79470" y="3607723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Remplissez 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paramètres du nœud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31230" y="2921923"/>
            <a:ext cx="25146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31230" y="2921923"/>
            <a:ext cx="54864" cy="16002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268390" y="3059083"/>
            <a:ext cx="411480" cy="411480"/>
          </a:xfrm>
          <a:prstGeom prst="ellipse">
            <a:avLst/>
          </a:prstGeom>
          <a:solidFill>
            <a:srgbClr val="1890FF"/>
          </a:solidFill>
          <a:ln/>
        </p:spPr>
      </p:sp>
      <p:sp>
        <p:nvSpPr>
          <p:cNvPr id="37" name="Text 35"/>
          <p:cNvSpPr/>
          <p:nvPr/>
        </p:nvSpPr>
        <p:spPr>
          <a:xfrm>
            <a:off x="6268390" y="3059083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17030" y="3104803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Exécuter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68390" y="3607723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Cliquez sur Exécuter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et vérifiez le résultat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A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4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types de nœuds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Découvrez les différentes briques de vos automatisations.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familles de nœuds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960120"/>
            <a:ext cx="54864" cy="777240"/>
          </a:xfrm>
          <a:prstGeom prst="rect">
            <a:avLst/>
          </a:prstGeom>
          <a:solidFill>
            <a:srgbClr val="FAAD14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069848"/>
            <a:ext cx="457200" cy="457200"/>
          </a:xfrm>
          <a:prstGeom prst="ellipse">
            <a:avLst/>
          </a:prstGeom>
          <a:solidFill>
            <a:srgbClr val="FFF7E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13842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Déclenchement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00200" y="1344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 qui démarre votre flow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54880" y="1097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start, start_form, event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192024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1920240"/>
            <a:ext cx="54864" cy="77724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2029968"/>
            <a:ext cx="457200" cy="45720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2098548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600200" y="2304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 que fait votre flow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754880" y="2057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function (le plus courant)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31520" y="288036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31520" y="2880360"/>
            <a:ext cx="54864" cy="77724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20" name="Shape 16"/>
          <p:cNvSpPr/>
          <p:nvPr/>
        </p:nvSpPr>
        <p:spPr>
          <a:xfrm>
            <a:off x="960120" y="2990088"/>
            <a:ext cx="457200" cy="457200"/>
          </a:xfrm>
          <a:prstGeom prst="ellipse">
            <a:avLst/>
          </a:prstGeom>
          <a:solidFill>
            <a:srgbClr val="F6FFED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3058668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Contrôle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600200" y="3264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logique de votre flow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75488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condition (si/sinon), loop (boucle)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31520" y="38404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31520" y="3840480"/>
            <a:ext cx="54864" cy="777240"/>
          </a:xfrm>
          <a:prstGeom prst="rect">
            <a:avLst/>
          </a:prstGeom>
          <a:solidFill>
            <a:srgbClr val="722ED1"/>
          </a:solidFill>
          <a:ln/>
        </p:spPr>
      </p:sp>
      <p:sp>
        <p:nvSpPr>
          <p:cNvPr id="27" name="Shape 22"/>
          <p:cNvSpPr/>
          <p:nvPr/>
        </p:nvSpPr>
        <p:spPr>
          <a:xfrm>
            <a:off x="960120" y="3950208"/>
            <a:ext cx="457200" cy="457200"/>
          </a:xfrm>
          <a:prstGeom prst="ellipse">
            <a:avLst/>
          </a:prstGeom>
          <a:solidFill>
            <a:srgbClr val="F0E6FF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" y="4018788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60020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Intelligence artificielle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1600200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L'IA dans votre flow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754880" y="3977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agent, memory, tool_ai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731520" y="4251960"/>
            <a:ext cx="7680960" cy="594360"/>
          </a:xfrm>
          <a:prstGeom prst="rect">
            <a:avLst/>
          </a:prstGeom>
          <a:solidFill>
            <a:srgbClr val="FFF7E6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361688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371600" y="42976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6D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nœud « function » représente 80% de vos nœuds. C'est l'action concrète : envoyer un email, appeler une API, créer un contact…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Configurer un nœud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329184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panneau de configuration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Cliquez sur un nœud pour ouvrir
son panneau de configuration :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Formulaire d'arguments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Champs spécifiques (URL, email…)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Sections dépliables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Options avancées masquées par défaut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Credentials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Sélecteur automatique d'identifiants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Expressions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89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{{ incoming.data.email }}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54864" cy="3291840"/>
          </a:xfrm>
          <a:prstGeom prst="rect">
            <a:avLst/>
          </a:prstGeom>
          <a:solidFill>
            <a:srgbClr val="FAAD14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0" y="1188720"/>
            <a:ext cx="457200" cy="457200"/>
          </a:xfrm>
          <a:prstGeom prst="ellipse">
            <a:avLst/>
          </a:prstGeom>
          <a:solidFill>
            <a:srgbClr val="FFF7E6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780" y="125730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66928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Bonnes pratiques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29200" y="178308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champs obligatoires (*) doivent
être remplis avant l'exécution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Testez avec la simulation avant
de lancer en réel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Utilisez les expressions {{ }} pour
injecter des données dynamiques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Organisez vos nœuds clairement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sur le canvas pour plus de lisibilité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8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5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formulaires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Créez des formulaires dynamiques pour collecter des données.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Form Builder — 3 zones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05840"/>
            <a:ext cx="23317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005840"/>
            <a:ext cx="54864" cy="256032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1188720"/>
            <a:ext cx="548640" cy="54864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056" y="127101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Palette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23317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Tous les types de champs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disponibles : texte, nombre,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email, select, date, fichier…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1005840"/>
            <a:ext cx="23317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005840"/>
            <a:ext cx="54864" cy="256032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2" name="Shape 9"/>
          <p:cNvSpPr/>
          <p:nvPr/>
        </p:nvSpPr>
        <p:spPr>
          <a:xfrm>
            <a:off x="4069080" y="1188720"/>
            <a:ext cx="548640" cy="54864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376" y="127101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Aperçu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29000" y="23317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Visualisez votre formulaire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temps réel pendant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construction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897880" y="1005840"/>
            <a:ext cx="23317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897880" y="1005840"/>
            <a:ext cx="54864" cy="2560320"/>
          </a:xfrm>
          <a:prstGeom prst="rect">
            <a:avLst/>
          </a:prstGeom>
          <a:solidFill>
            <a:srgbClr val="FAAD14"/>
          </a:solidFill>
          <a:ln/>
        </p:spPr>
      </p:sp>
      <p:sp>
        <p:nvSpPr>
          <p:cNvPr id="18" name="Shape 14"/>
          <p:cNvSpPr/>
          <p:nvPr/>
        </p:nvSpPr>
        <p:spPr>
          <a:xfrm>
            <a:off x="6629400" y="1188720"/>
            <a:ext cx="548640" cy="54864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127101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89788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Inspecteur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989320" y="23317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Configurez le champ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sélectionné : label,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placeholder, validation…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31520" y="3840480"/>
            <a:ext cx="7680960" cy="594360"/>
          </a:xfrm>
          <a:prstGeom prst="rect">
            <a:avLst/>
          </a:prstGeom>
          <a:solidFill>
            <a:srgbClr val="FFF7E6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950208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71600" y="38862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6D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système utilise une grille à 24 colonnes. Vous pouvez placer les champs côte à côte pour un layout responsive.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Champs, logique et formulaires publics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4747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18288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Types de champs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Texte, Nombre, Email, Téléphone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Select, Checkbox, Radio, Date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Fichier, Tags, Couleur, URL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array (listes dynamiques)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Schema builder (schéma visuel)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657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54864" cy="1828800"/>
          </a:xfrm>
          <a:prstGeom prst="rect">
            <a:avLst/>
          </a:prstGeom>
          <a:solidFill>
            <a:srgbClr val="FAAD1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Logique conditionnelle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visibleIf cache ou montre un champ
selon la valeur d'un autre :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89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method === 'POST' → affiche Body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89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advanced === true → options avancées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7680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108960"/>
            <a:ext cx="54864" cy="137160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3291840"/>
            <a:ext cx="457200" cy="457200"/>
          </a:xfrm>
          <a:prstGeom prst="ellipse">
            <a:avLst/>
          </a:prstGeom>
          <a:solidFill>
            <a:srgbClr val="F6FFED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336042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4592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Formulaires publics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05840" y="36576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Créez un formulaire accessible via URL sans connexion. Chaque soumission déclenche automatiquement un flow.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Idéal pour : contact, devis, inscription, collecte de feedback.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50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6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expressions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Injectez des données dynamiques dans vos workflows.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expressions — Vos « post-it dynamiques »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292608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88720"/>
            <a:ext cx="457200" cy="45720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12573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Syntaxe {{ }}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164592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expressions injectent des données
dynamiques dans vos champs :
</a:t>
            </a:r>
            <a:endParaRPr lang="en-US" sz="1200" dirty="0"/>
          </a:p>
          <a:p>
            <a:pPr marL="0" indent="0">
              <a:buNone/>
            </a:pPr>
            <a:r>
              <a:rPr lang="en-US" sz="1300" dirty="0">
                <a:solidFill>
                  <a:srgbClr val="189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incoming.data.email }}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Contexte disponible 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incoming.data — Données du nœud précédent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msg — Message global du flow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env — Variables d'environnement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05840"/>
            <a:ext cx="54864" cy="292608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0" y="1188720"/>
            <a:ext cx="457200" cy="457200"/>
          </a:xfrm>
          <a:prstGeom prst="ellipse">
            <a:avLst/>
          </a:prstGeom>
          <a:solidFill>
            <a:srgbClr val="F6FFED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12573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Filtres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029200" y="164592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Transformez les données avec | :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2C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name | upper }}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→ DUPONT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upper, lower — Majuscules/minuscules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join(', ') — Joindre une liste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default(val) — Valeur par défaut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first, last, length — Listes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31520" y="4206240"/>
            <a:ext cx="7680960" cy="594360"/>
          </a:xfrm>
          <a:prstGeom prst="rect">
            <a:avLst/>
          </a:prstGeom>
          <a:solidFill>
            <a:srgbClr val="FFF7E6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15968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42519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6D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Enchaînez les filtres : {{ tags | join(', ') | upper }} — les données passent de filtre en filtre.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Expressions avancées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6576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210312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Conditions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9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if status === 'active' %}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Compte actif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89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else %}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Compte inactif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89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endif %}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6576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54864" cy="210312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Boucles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C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for item in items %}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 item.name }} : {{ item.price }}€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C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endfor %}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383280"/>
            <a:ext cx="54864" cy="1097280"/>
          </a:xfrm>
          <a:prstGeom prst="rect">
            <a:avLst/>
          </a:prstGeom>
          <a:solidFill>
            <a:srgbClr val="FAAD1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Variables $var:name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Définissez des schémas réutilisables : $var:contact → { "nom": "string", "email": "string"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Référençables dans plusieurs nœuds pour documenter et valider la structure des données.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52C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7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Providers &amp; credentials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Connectez vos applications et sécurisez vos accès.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providers — Vos connecteurs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45720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18288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88720"/>
            <a:ext cx="548640" cy="54864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27101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60+ services connectables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17373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(Gmail, Sheets, Drive, Calendar)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Slack, Odoo, HTTP, MongoDB, PostgreSQL…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Chaque provider fournit des opérations prêtes à l'emploi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0" y="10058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1005840"/>
            <a:ext cx="54864" cy="182880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Catalogue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943600" y="14630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Accessible via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« Apps / Providers »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dans la sidebar.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Filtrez par nom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 catégorie.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3108960"/>
            <a:ext cx="76809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1520" y="3108960"/>
            <a:ext cx="54864" cy="1554480"/>
          </a:xfrm>
          <a:prstGeom prst="rect">
            <a:avLst/>
          </a:prstGeom>
          <a:solidFill>
            <a:srgbClr val="FAAD14"/>
          </a:solidFill>
          <a:ln/>
        </p:spPr>
      </p:sp>
      <p:sp>
        <p:nvSpPr>
          <p:cNvPr id="16" name="Shape 13"/>
          <p:cNvSpPr/>
          <p:nvPr/>
        </p:nvSpPr>
        <p:spPr>
          <a:xfrm>
            <a:off x="1005840" y="3291840"/>
            <a:ext cx="457200" cy="457200"/>
          </a:xfrm>
          <a:prstGeom prst="ellipse">
            <a:avLst/>
          </a:prstGeom>
          <a:solidFill>
            <a:srgbClr val="F6FFED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" y="336042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64592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Credentials — Vos identifiants sécurisés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005840" y="36576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OAuth 2.0 — Fenêtre d'autorisation (Google, Slack…)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 Key — Clé secrète fournie par le service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Basic Auth — Utilisateur + mot de passe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52C4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Chiffrés en BDD, isolés par workspace, jamais dans les logs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722E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8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L'assistant IA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Votre copilote intelligent pour construire et optimiser.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L'assistant IA — 4 modes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71203" y="1051560"/>
            <a:ext cx="18288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203" y="1051560"/>
            <a:ext cx="54864" cy="27432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6" name="Shape 4"/>
          <p:cNvSpPr/>
          <p:nvPr/>
        </p:nvSpPr>
        <p:spPr>
          <a:xfrm>
            <a:off x="1119843" y="1234440"/>
            <a:ext cx="502920" cy="50292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281" y="130987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1203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2643" y="2331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 générales,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idées, guide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54083" y="3246120"/>
            <a:ext cx="1463040" cy="320040"/>
          </a:xfrm>
          <a:prstGeom prst="rect">
            <a:avLst/>
          </a:prstGeom>
          <a:solidFill>
            <a:srgbClr val="E6F4FF"/>
          </a:solidFill>
          <a:ln/>
        </p:spPr>
      </p:sp>
      <p:sp>
        <p:nvSpPr>
          <p:cNvPr id="11" name="Text 8"/>
          <p:cNvSpPr/>
          <p:nvPr/>
        </p:nvSpPr>
        <p:spPr>
          <a:xfrm>
            <a:off x="754083" y="3246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0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 défaut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674323" y="1051560"/>
            <a:ext cx="18288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74323" y="1051560"/>
            <a:ext cx="54864" cy="274320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4" name="Shape 11"/>
          <p:cNvSpPr/>
          <p:nvPr/>
        </p:nvSpPr>
        <p:spPr>
          <a:xfrm>
            <a:off x="3222963" y="1234440"/>
            <a:ext cx="502920" cy="50292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8401" y="1309878"/>
            <a:ext cx="352044" cy="3520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74323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765763" y="2331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Ajouter/modifier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nœuds et connexions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857203" y="3246120"/>
            <a:ext cx="1463040" cy="320040"/>
          </a:xfrm>
          <a:prstGeom prst="rect">
            <a:avLst/>
          </a:prstGeom>
          <a:solidFill>
            <a:srgbClr val="E6F4FF"/>
          </a:solidFill>
          <a:ln/>
        </p:spPr>
      </p:sp>
      <p:sp>
        <p:nvSpPr>
          <p:cNvPr id="19" name="Text 15"/>
          <p:cNvSpPr/>
          <p:nvPr/>
        </p:nvSpPr>
        <p:spPr>
          <a:xfrm>
            <a:off x="2857203" y="3246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0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Dans le Flow Builder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777443" y="1051560"/>
            <a:ext cx="18288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777443" y="1051560"/>
            <a:ext cx="54864" cy="2743200"/>
          </a:xfrm>
          <a:prstGeom prst="rect">
            <a:avLst/>
          </a:prstGeom>
          <a:solidFill>
            <a:srgbClr val="FAAD14"/>
          </a:solidFill>
          <a:ln/>
        </p:spPr>
      </p:sp>
      <p:sp>
        <p:nvSpPr>
          <p:cNvPr id="22" name="Shape 18"/>
          <p:cNvSpPr/>
          <p:nvPr/>
        </p:nvSpPr>
        <p:spPr>
          <a:xfrm>
            <a:off x="5326083" y="1234440"/>
            <a:ext cx="502920" cy="50292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1521" y="1309878"/>
            <a:ext cx="352044" cy="3520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77443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4868883" y="2331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Ajouter champs,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layout, validation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960323" y="3246120"/>
            <a:ext cx="1463040" cy="320040"/>
          </a:xfrm>
          <a:prstGeom prst="rect">
            <a:avLst/>
          </a:prstGeom>
          <a:solidFill>
            <a:srgbClr val="E6F4FF"/>
          </a:solidFill>
          <a:ln/>
        </p:spPr>
      </p:sp>
      <p:sp>
        <p:nvSpPr>
          <p:cNvPr id="27" name="Text 22"/>
          <p:cNvSpPr/>
          <p:nvPr/>
        </p:nvSpPr>
        <p:spPr>
          <a:xfrm>
            <a:off x="4960323" y="3246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0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Dans le Form Builder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880563" y="1051560"/>
            <a:ext cx="18288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880563" y="1051560"/>
            <a:ext cx="54864" cy="2743200"/>
          </a:xfrm>
          <a:prstGeom prst="rect">
            <a:avLst/>
          </a:prstGeom>
          <a:solidFill>
            <a:srgbClr val="722ED1"/>
          </a:solidFill>
          <a:ln/>
        </p:spPr>
      </p:sp>
      <p:sp>
        <p:nvSpPr>
          <p:cNvPr id="30" name="Shape 25"/>
          <p:cNvSpPr/>
          <p:nvPr/>
        </p:nvSpPr>
        <p:spPr>
          <a:xfrm>
            <a:off x="7429203" y="1234440"/>
            <a:ext cx="502920" cy="50292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4641" y="1309878"/>
            <a:ext cx="352044" cy="35204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880563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 Args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6972003" y="2331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Remplir les champs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automatiquement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7063443" y="3246120"/>
            <a:ext cx="1463040" cy="320040"/>
          </a:xfrm>
          <a:prstGeom prst="rect">
            <a:avLst/>
          </a:prstGeom>
          <a:solidFill>
            <a:srgbClr val="E6F4FF"/>
          </a:solidFill>
          <a:ln/>
        </p:spPr>
      </p:sp>
      <p:sp>
        <p:nvSpPr>
          <p:cNvPr id="35" name="Text 29"/>
          <p:cNvSpPr/>
          <p:nvPr/>
        </p:nvSpPr>
        <p:spPr>
          <a:xfrm>
            <a:off x="7063443" y="3246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0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 d'un nœud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solidFill>
            <a:srgbClr val="FFF7E6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24528"/>
            <a:ext cx="320040" cy="3200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371600" y="41605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6D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L'assistant comprend le français et le contexte de votre projet. Essayez : « Crée-moi un flow d'email de bienvenue ».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Agents et niveaux d'autonomie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657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2286000"/>
          </a:xfrm>
          <a:prstGeom prst="rect">
            <a:avLst/>
          </a:prstGeom>
          <a:solidFill>
            <a:srgbClr val="722ED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types d'agents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Agents système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Générés par provider (Odoo, Google…)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Agents personnalisés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Créés sur mesure, multi-providers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 général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Vue d'ensemble de tout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54864" cy="640080"/>
          </a:xfrm>
          <a:prstGeom prst="rect">
            <a:avLst/>
          </a:prstGeom>
          <a:solidFill>
            <a:srgbClr val="FAAD14"/>
          </a:solidFill>
          <a:ln/>
        </p:spPr>
      </p:sp>
      <p:sp>
        <p:nvSpPr>
          <p:cNvPr id="10" name="Shape 8"/>
          <p:cNvSpPr/>
          <p:nvPr/>
        </p:nvSpPr>
        <p:spPr>
          <a:xfrm>
            <a:off x="4937760" y="1078992"/>
            <a:ext cx="365760" cy="36576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1133856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0" y="10241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Prudent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766560" y="10241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Confirme avant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chaque action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182880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828800"/>
            <a:ext cx="54864" cy="64008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6" name="Shape 13"/>
          <p:cNvSpPr/>
          <p:nvPr/>
        </p:nvSpPr>
        <p:spPr>
          <a:xfrm>
            <a:off x="4937760" y="1901952"/>
            <a:ext cx="365760" cy="36576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1956816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86400" y="1847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Équilibré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766560" y="18470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Confirme 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grosses modifs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754880" y="265176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754880" y="2651760"/>
            <a:ext cx="54864" cy="64008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22" name="Shape 18"/>
          <p:cNvSpPr/>
          <p:nvPr/>
        </p:nvSpPr>
        <p:spPr>
          <a:xfrm>
            <a:off x="4937760" y="2724912"/>
            <a:ext cx="365760" cy="36576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24" y="2779776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486400" y="2670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Autonome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766560" y="26700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Agit librement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et vous informe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754880" y="356616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54880" y="3566160"/>
            <a:ext cx="54864" cy="640080"/>
          </a:xfrm>
          <a:prstGeom prst="rect">
            <a:avLst/>
          </a:prstGeom>
          <a:solidFill>
            <a:srgbClr val="722ED1"/>
          </a:solidFill>
          <a:ln/>
        </p:spPr>
      </p:sp>
      <p:sp>
        <p:nvSpPr>
          <p:cNvPr id="28" name="Shape 23"/>
          <p:cNvSpPr/>
          <p:nvPr/>
        </p:nvSpPr>
        <p:spPr>
          <a:xfrm>
            <a:off x="4937760" y="3639312"/>
            <a:ext cx="365760" cy="365760"/>
          </a:xfrm>
          <a:prstGeom prst="ellipse">
            <a:avLst/>
          </a:prstGeom>
          <a:solidFill>
            <a:srgbClr val="F0E6FF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3694176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86400" y="3611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Mémoire double : globale + par projet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A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9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Déploiement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Mettez vos workflows en production avec confiance.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déclencheurs — Quand lancer votre flow 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828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22860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1188720"/>
            <a:ext cx="502920" cy="50292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598" y="126415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Manuel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Bouton « Exécuter 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 appel API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05840" y="2926080"/>
            <a:ext cx="1280160" cy="228600"/>
          </a:xfrm>
          <a:prstGeom prst="rect">
            <a:avLst/>
          </a:prstGeom>
          <a:solidFill>
            <a:srgbClr val="E6F4FF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29260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834640" y="1005840"/>
            <a:ext cx="1828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834640" y="1005840"/>
            <a:ext cx="54864" cy="228600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4" name="Shape 11"/>
          <p:cNvSpPr/>
          <p:nvPr/>
        </p:nvSpPr>
        <p:spPr>
          <a:xfrm>
            <a:off x="3383280" y="1188720"/>
            <a:ext cx="502920" cy="50292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8718" y="1264158"/>
            <a:ext cx="352044" cy="3520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346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Formulaire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92608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Soumission d'un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formulaire public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108960" y="2926080"/>
            <a:ext cx="1280160" cy="228600"/>
          </a:xfrm>
          <a:prstGeom prst="rect">
            <a:avLst/>
          </a:prstGeom>
          <a:solidFill>
            <a:srgbClr val="E6F4FF"/>
          </a:solidFill>
          <a:ln/>
        </p:spPr>
      </p:sp>
      <p:sp>
        <p:nvSpPr>
          <p:cNvPr id="19" name="Text 15"/>
          <p:cNvSpPr/>
          <p:nvPr/>
        </p:nvSpPr>
        <p:spPr>
          <a:xfrm>
            <a:off x="3108960" y="29260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start_form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937760" y="1005840"/>
            <a:ext cx="1828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937760" y="1005840"/>
            <a:ext cx="54864" cy="2286000"/>
          </a:xfrm>
          <a:prstGeom prst="rect">
            <a:avLst/>
          </a:prstGeom>
          <a:solidFill>
            <a:srgbClr val="FAAD14"/>
          </a:solidFill>
          <a:ln/>
        </p:spPr>
      </p:sp>
      <p:sp>
        <p:nvSpPr>
          <p:cNvPr id="22" name="Shape 18"/>
          <p:cNvSpPr/>
          <p:nvPr/>
        </p:nvSpPr>
        <p:spPr>
          <a:xfrm>
            <a:off x="5486400" y="1188720"/>
            <a:ext cx="502920" cy="50292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1838" y="1264158"/>
            <a:ext cx="352044" cy="3520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93776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Événement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02920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Webhook ou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notification externe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212080" y="2926080"/>
            <a:ext cx="1280160" cy="228600"/>
          </a:xfrm>
          <a:prstGeom prst="rect">
            <a:avLst/>
          </a:prstGeom>
          <a:solidFill>
            <a:srgbClr val="E6F4FF"/>
          </a:solidFill>
          <a:ln/>
        </p:spPr>
      </p:sp>
      <p:sp>
        <p:nvSpPr>
          <p:cNvPr id="27" name="Text 22"/>
          <p:cNvSpPr/>
          <p:nvPr/>
        </p:nvSpPr>
        <p:spPr>
          <a:xfrm>
            <a:off x="5212080" y="29260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7040880" y="1005840"/>
            <a:ext cx="1828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040880" y="1005840"/>
            <a:ext cx="54864" cy="2286000"/>
          </a:xfrm>
          <a:prstGeom prst="rect">
            <a:avLst/>
          </a:prstGeom>
          <a:solidFill>
            <a:srgbClr val="722ED1"/>
          </a:solidFill>
          <a:ln/>
        </p:spPr>
      </p:sp>
      <p:sp>
        <p:nvSpPr>
          <p:cNvPr id="30" name="Shape 25"/>
          <p:cNvSpPr/>
          <p:nvPr/>
        </p:nvSpPr>
        <p:spPr>
          <a:xfrm>
            <a:off x="7589520" y="1188720"/>
            <a:ext cx="502920" cy="50292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4958" y="1264158"/>
            <a:ext cx="352044" cy="35204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04088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Planifié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713232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Exécution récurrente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(cron)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7315200" y="2926080"/>
            <a:ext cx="1280160" cy="228600"/>
          </a:xfrm>
          <a:prstGeom prst="rect">
            <a:avLst/>
          </a:prstGeom>
          <a:solidFill>
            <a:srgbClr val="E6F4FF"/>
          </a:solidFill>
          <a:ln/>
        </p:spPr>
      </p:sp>
      <p:sp>
        <p:nvSpPr>
          <p:cNvPr id="35" name="Text 29"/>
          <p:cNvSpPr/>
          <p:nvPr/>
        </p:nvSpPr>
        <p:spPr>
          <a:xfrm>
            <a:off x="7315200" y="29260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(cron)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731520" y="3657600"/>
            <a:ext cx="7680960" cy="594360"/>
          </a:xfrm>
          <a:prstGeom prst="rect">
            <a:avLst/>
          </a:prstGeom>
          <a:solidFill>
            <a:srgbClr val="FFF7E6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767328"/>
            <a:ext cx="320040" cy="3200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371600" y="3703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6D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Cron : 0 9 * * 1-5 = tous les jours ouvrés à 9h  |  */15 * * * * = toutes les 15 min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Simuler, tester et déployer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657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18288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Simulation vs Exécution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Simulation : données factices, vérifie
la structure sans exécuter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Exécution : opérations réelles,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résultats concrets par nœud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657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54864" cy="182880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0" y="1143000"/>
            <a:ext cx="411480" cy="411480"/>
          </a:xfrm>
          <a:prstGeom prst="ellipse">
            <a:avLst/>
          </a:prstGeom>
          <a:solidFill>
            <a:srgbClr val="F6FFED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922" y="1204722"/>
            <a:ext cx="288036" cy="2880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57784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Checklist production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0" y="15087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Nœuds configurés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Credentials testés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Simulation réussie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avec données réelles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Erreurs gérées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3108960"/>
            <a:ext cx="7680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1520" y="3108960"/>
            <a:ext cx="54864" cy="1371600"/>
          </a:xfrm>
          <a:prstGeom prst="rect">
            <a:avLst/>
          </a:prstGeom>
          <a:solidFill>
            <a:srgbClr val="FAAD14"/>
          </a:solidFill>
          <a:ln/>
        </p:spPr>
      </p:sp>
      <p:sp>
        <p:nvSpPr>
          <p:cNvPr id="16" name="Shape 13"/>
          <p:cNvSpPr/>
          <p:nvPr/>
        </p:nvSpPr>
        <p:spPr>
          <a:xfrm>
            <a:off x="1005840" y="3291840"/>
            <a:ext cx="457200" cy="457200"/>
          </a:xfrm>
          <a:prstGeom prst="ellipse">
            <a:avLst/>
          </a:prstGeom>
          <a:solidFill>
            <a:srgbClr val="FFF7E6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" y="336042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64592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Monitoring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005840" y="36576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Surveillez vos flows via la section Exécutions (historique), les Notifications (alertes erreurs)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et le Dashboard (vue d'ensemble). Vous êtes notifié en cas d'échec ou de template modifié.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8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10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aller plus loin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Schémas avancés, sites web et plugins.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Fonctionnalités avancées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25146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27432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1188720"/>
            <a:ext cx="548640" cy="54864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056" y="127101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920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Schémas multi-output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23317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output_array_field : plusieurs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sorties dynamiques par nœud.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L'engine route automatiquement.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20440" y="1005840"/>
            <a:ext cx="25146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0440" y="1005840"/>
            <a:ext cx="54864" cy="274320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2" name="Shape 9"/>
          <p:cNvSpPr/>
          <p:nvPr/>
        </p:nvSpPr>
        <p:spPr>
          <a:xfrm>
            <a:off x="4297680" y="1188720"/>
            <a:ext cx="548640" cy="54864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976" y="127101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1920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Sites web intégrés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57600" y="23317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Éditeur visuel pour créer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 pages liées à vos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automatisations.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09360" y="1005840"/>
            <a:ext cx="25146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9360" y="1005840"/>
            <a:ext cx="54864" cy="2743200"/>
          </a:xfrm>
          <a:prstGeom prst="rect">
            <a:avLst/>
          </a:prstGeom>
          <a:solidFill>
            <a:srgbClr val="FAAD14"/>
          </a:solidFill>
          <a:ln/>
        </p:spPr>
      </p:sp>
      <p:sp>
        <p:nvSpPr>
          <p:cNvPr id="18" name="Shape 14"/>
          <p:cNvSpPr/>
          <p:nvPr/>
        </p:nvSpPr>
        <p:spPr>
          <a:xfrm>
            <a:off x="7086600" y="1188720"/>
            <a:ext cx="548640" cy="54864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127101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1920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Plugins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46520" y="23317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Étendez Kinn avec des plugins 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manifest.json + handlers JS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de nouvelles opérations.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31520" y="4251960"/>
            <a:ext cx="7680960" cy="594360"/>
          </a:xfrm>
          <a:prstGeom prst="rect">
            <a:avLst/>
          </a:prstGeom>
          <a:solidFill>
            <a:srgbClr val="FFF7E6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361688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71600" y="42976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6D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créer un plugin : un dossier avec manifest.json (provider + nodes) et functions/*.js (handlers). Import via PLUGIN_IMPORT_ENABLED=1.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Récapitulatif du parcours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20040" cy="320040"/>
          </a:xfrm>
          <a:prstGeom prst="ellipse">
            <a:avLst/>
          </a:prstGeom>
          <a:solidFill>
            <a:srgbClr val="1890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88720" y="1069848"/>
            <a:ext cx="347472" cy="347472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841" y="1121969"/>
            <a:ext cx="243230" cy="2432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051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No-code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91640" y="12710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principes fondamentaux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1847088"/>
            <a:ext cx="320040" cy="320040"/>
          </a:xfrm>
          <a:prstGeom prst="ellipse">
            <a:avLst/>
          </a:prstGeom>
          <a:solidFill>
            <a:srgbClr val="0050B3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847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188720" y="1819656"/>
            <a:ext cx="347472" cy="347472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841" y="1871777"/>
            <a:ext cx="243230" cy="2432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1801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Kinn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691640" y="20208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L'interface et la navigation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31520" y="2596896"/>
            <a:ext cx="320040" cy="320040"/>
          </a:xfrm>
          <a:prstGeom prst="ellipse">
            <a:avLst/>
          </a:prstGeom>
          <a:solidFill>
            <a:srgbClr val="52C41A"/>
          </a:solidFill>
          <a:ln/>
        </p:spPr>
      </p:sp>
      <p:sp>
        <p:nvSpPr>
          <p:cNvPr id="16" name="Text 12"/>
          <p:cNvSpPr/>
          <p:nvPr/>
        </p:nvSpPr>
        <p:spPr>
          <a:xfrm>
            <a:off x="731520" y="2596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1188720" y="2569464"/>
            <a:ext cx="347472" cy="347472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0841" y="2621585"/>
            <a:ext cx="243230" cy="2432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2551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Flows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691640" y="27706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Créer et connecter des nœuds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31520" y="3346704"/>
            <a:ext cx="320040" cy="320040"/>
          </a:xfrm>
          <a:prstGeom prst="ellipse">
            <a:avLst/>
          </a:prstGeom>
          <a:solidFill>
            <a:srgbClr val="FAAD14"/>
          </a:solidFill>
          <a:ln/>
        </p:spPr>
      </p:sp>
      <p:sp>
        <p:nvSpPr>
          <p:cNvPr id="22" name="Text 17"/>
          <p:cNvSpPr/>
          <p:nvPr/>
        </p:nvSpPr>
        <p:spPr>
          <a:xfrm>
            <a:off x="731520" y="33467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1188720" y="3319272"/>
            <a:ext cx="347472" cy="347472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0841" y="3371393"/>
            <a:ext cx="243230" cy="24323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33009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Nœuds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691640" y="3520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types et la configuration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31520" y="4096512"/>
            <a:ext cx="320040" cy="320040"/>
          </a:xfrm>
          <a:prstGeom prst="ellipse">
            <a:avLst/>
          </a:prstGeom>
          <a:solidFill>
            <a:srgbClr val="1890FF"/>
          </a:solidFill>
          <a:ln/>
        </p:spPr>
      </p:sp>
      <p:sp>
        <p:nvSpPr>
          <p:cNvPr id="28" name="Text 22"/>
          <p:cNvSpPr/>
          <p:nvPr/>
        </p:nvSpPr>
        <p:spPr>
          <a:xfrm>
            <a:off x="731520" y="4096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1188720" y="4069080"/>
            <a:ext cx="347472" cy="347472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0841" y="4121201"/>
            <a:ext cx="243230" cy="24323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91640" y="4050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Formulaires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1691640" y="4270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 Builder et champs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846320" y="1097280"/>
            <a:ext cx="320040" cy="320040"/>
          </a:xfrm>
          <a:prstGeom prst="ellipse">
            <a:avLst/>
          </a:prstGeom>
          <a:solidFill>
            <a:srgbClr val="0050B3"/>
          </a:solidFill>
          <a:ln/>
        </p:spPr>
      </p:sp>
      <p:sp>
        <p:nvSpPr>
          <p:cNvPr id="34" name="Text 27"/>
          <p:cNvSpPr/>
          <p:nvPr/>
        </p:nvSpPr>
        <p:spPr>
          <a:xfrm>
            <a:off x="484632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5303520" y="1069848"/>
            <a:ext cx="347472" cy="347472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5641" y="1121969"/>
            <a:ext cx="243230" cy="24323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806440" y="1051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Expressions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5806440" y="12710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Données dynamiques {{ }}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4846320" y="1847088"/>
            <a:ext cx="320040" cy="320040"/>
          </a:xfrm>
          <a:prstGeom prst="ellipse">
            <a:avLst/>
          </a:prstGeom>
          <a:solidFill>
            <a:srgbClr val="52C41A"/>
          </a:solidFill>
          <a:ln/>
        </p:spPr>
      </p:sp>
      <p:sp>
        <p:nvSpPr>
          <p:cNvPr id="40" name="Text 32"/>
          <p:cNvSpPr/>
          <p:nvPr/>
        </p:nvSpPr>
        <p:spPr>
          <a:xfrm>
            <a:off x="4846320" y="1847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5303520" y="1819656"/>
            <a:ext cx="347472" cy="347472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5641" y="1871777"/>
            <a:ext cx="243230" cy="24323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806440" y="1801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Providers</a:t>
            </a:r>
            <a:endParaRPr lang="en-US" sz="1300" dirty="0"/>
          </a:p>
        </p:txBody>
      </p:sp>
      <p:sp>
        <p:nvSpPr>
          <p:cNvPr id="44" name="Text 35"/>
          <p:cNvSpPr/>
          <p:nvPr/>
        </p:nvSpPr>
        <p:spPr>
          <a:xfrm>
            <a:off x="5806440" y="20208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Services et credentials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4846320" y="2596896"/>
            <a:ext cx="320040" cy="320040"/>
          </a:xfrm>
          <a:prstGeom prst="ellipse">
            <a:avLst/>
          </a:prstGeom>
          <a:solidFill>
            <a:srgbClr val="722ED1"/>
          </a:solidFill>
          <a:ln/>
        </p:spPr>
      </p:sp>
      <p:sp>
        <p:nvSpPr>
          <p:cNvPr id="46" name="Text 37"/>
          <p:cNvSpPr/>
          <p:nvPr/>
        </p:nvSpPr>
        <p:spPr>
          <a:xfrm>
            <a:off x="4846320" y="2596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200" dirty="0"/>
          </a:p>
        </p:txBody>
      </p:sp>
      <p:sp>
        <p:nvSpPr>
          <p:cNvPr id="47" name="Shape 38"/>
          <p:cNvSpPr/>
          <p:nvPr/>
        </p:nvSpPr>
        <p:spPr>
          <a:xfrm>
            <a:off x="5303520" y="2569464"/>
            <a:ext cx="347472" cy="347472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55641" y="2621585"/>
            <a:ext cx="243230" cy="24323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5806440" y="2551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</a:t>
            </a:r>
            <a:endParaRPr lang="en-US" sz="1300" dirty="0"/>
          </a:p>
        </p:txBody>
      </p:sp>
      <p:sp>
        <p:nvSpPr>
          <p:cNvPr id="50" name="Text 40"/>
          <p:cNvSpPr/>
          <p:nvPr/>
        </p:nvSpPr>
        <p:spPr>
          <a:xfrm>
            <a:off x="5806440" y="27706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modes et agents</a:t>
            </a:r>
            <a:endParaRPr lang="en-US" sz="1000" dirty="0"/>
          </a:p>
        </p:txBody>
      </p:sp>
      <p:sp>
        <p:nvSpPr>
          <p:cNvPr id="51" name="Shape 41"/>
          <p:cNvSpPr/>
          <p:nvPr/>
        </p:nvSpPr>
        <p:spPr>
          <a:xfrm>
            <a:off x="4846320" y="3346704"/>
            <a:ext cx="320040" cy="320040"/>
          </a:xfrm>
          <a:prstGeom prst="ellipse">
            <a:avLst/>
          </a:prstGeom>
          <a:solidFill>
            <a:srgbClr val="FAAD14"/>
          </a:solidFill>
          <a:ln/>
        </p:spPr>
      </p:sp>
      <p:sp>
        <p:nvSpPr>
          <p:cNvPr id="52" name="Text 42"/>
          <p:cNvSpPr/>
          <p:nvPr/>
        </p:nvSpPr>
        <p:spPr>
          <a:xfrm>
            <a:off x="4846320" y="33467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200" dirty="0"/>
          </a:p>
        </p:txBody>
      </p:sp>
      <p:sp>
        <p:nvSpPr>
          <p:cNvPr id="53" name="Shape 43"/>
          <p:cNvSpPr/>
          <p:nvPr/>
        </p:nvSpPr>
        <p:spPr>
          <a:xfrm>
            <a:off x="5303520" y="3319272"/>
            <a:ext cx="347472" cy="347472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55641" y="3371393"/>
            <a:ext cx="243230" cy="243230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5806440" y="33009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Déploiement</a:t>
            </a:r>
            <a:endParaRPr lang="en-US" sz="1300" dirty="0"/>
          </a:p>
        </p:txBody>
      </p:sp>
      <p:sp>
        <p:nvSpPr>
          <p:cNvPr id="56" name="Text 45"/>
          <p:cNvSpPr/>
          <p:nvPr/>
        </p:nvSpPr>
        <p:spPr>
          <a:xfrm>
            <a:off x="5806440" y="3520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Déclencheurs et production</a:t>
            </a:r>
            <a:endParaRPr lang="en-US" sz="1000" dirty="0"/>
          </a:p>
        </p:txBody>
      </p:sp>
      <p:sp>
        <p:nvSpPr>
          <p:cNvPr id="57" name="Shape 46"/>
          <p:cNvSpPr/>
          <p:nvPr/>
        </p:nvSpPr>
        <p:spPr>
          <a:xfrm>
            <a:off x="4846320" y="4096512"/>
            <a:ext cx="320040" cy="320040"/>
          </a:xfrm>
          <a:prstGeom prst="ellipse">
            <a:avLst/>
          </a:prstGeom>
          <a:solidFill>
            <a:srgbClr val="1890FF"/>
          </a:solidFill>
          <a:ln/>
        </p:spPr>
      </p:sp>
      <p:sp>
        <p:nvSpPr>
          <p:cNvPr id="58" name="Text 47"/>
          <p:cNvSpPr/>
          <p:nvPr/>
        </p:nvSpPr>
        <p:spPr>
          <a:xfrm>
            <a:off x="4846320" y="4096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200" dirty="0"/>
          </a:p>
        </p:txBody>
      </p:sp>
      <p:sp>
        <p:nvSpPr>
          <p:cNvPr id="59" name="Shape 48"/>
          <p:cNvSpPr/>
          <p:nvPr/>
        </p:nvSpPr>
        <p:spPr>
          <a:xfrm>
            <a:off x="5303520" y="4069080"/>
            <a:ext cx="347472" cy="347472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6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55641" y="4121201"/>
            <a:ext cx="243230" cy="243230"/>
          </a:xfrm>
          <a:prstGeom prst="rect">
            <a:avLst/>
          </a:prstGeom>
        </p:spPr>
      </p:pic>
      <p:sp>
        <p:nvSpPr>
          <p:cNvPr id="61" name="Text 49"/>
          <p:cNvSpPr/>
          <p:nvPr/>
        </p:nvSpPr>
        <p:spPr>
          <a:xfrm>
            <a:off x="5806440" y="4050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Avancé</a:t>
            </a:r>
            <a:endParaRPr lang="en-US" sz="1300" dirty="0"/>
          </a:p>
        </p:txBody>
      </p:sp>
      <p:sp>
        <p:nvSpPr>
          <p:cNvPr id="62" name="Text 50"/>
          <p:cNvSpPr/>
          <p:nvPr/>
        </p:nvSpPr>
        <p:spPr>
          <a:xfrm>
            <a:off x="5806440" y="4270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Schémas, sites et plugins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890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722ED1">
              <a:alpha val="8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7315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Vous êtes prêt !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89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Automatisez avec Kinn dès maintenant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Prochaine étape : </a:t>
            </a: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→ Action → Exécuter !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43200" y="4023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📚  Module « Apprendre » dans l'app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🤖  Assistant IA disponible 24/7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🎯  Visites guidées intégrées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1958</Words>
  <Application>Microsoft Macintosh PowerPoint</Application>
  <PresentationFormat>Affichage à l'écran (16:9)</PresentationFormat>
  <Paragraphs>473</Paragraphs>
  <Slides>36</Slides>
  <Notes>36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36</vt:i4>
      </vt:variant>
    </vt:vector>
  </HeadingPairs>
  <TitlesOfParts>
    <vt:vector size="40" baseType="lpstr">
      <vt:lpstr>Arial</vt:lpstr>
      <vt:lpstr>Courier New</vt:lpstr>
      <vt:lpstr>Poppins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Kinn — Automatisation No-Code</dc:title>
  <dc:subject>PptxGenJS Presentation</dc:subject>
  <dc:creator>Kinn Formation</dc:creator>
  <cp:lastModifiedBy>Edouard Bernier-Nahon</cp:lastModifiedBy>
  <cp:revision>3</cp:revision>
  <dcterms:created xsi:type="dcterms:W3CDTF">2026-03-04T14:50:29Z</dcterms:created>
  <dcterms:modified xsi:type="dcterms:W3CDTF">2026-03-05T13:00:13Z</dcterms:modified>
</cp:coreProperties>
</file>