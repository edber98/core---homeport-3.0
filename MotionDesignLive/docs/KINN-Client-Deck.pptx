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3" d="100"/>
          <a:sy n="163" d="100"/>
        </p:scale>
        <p:origin x="184" y="3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40172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couverture. KINN est présenté comme une plateforme d'automatisation intelligente qui s'adresse à 3 types de clients : les entreprises (TPE, PME, industrie), les consultants IT/automatisation, et les DSI/grands comptes. L'objectif est que chaque visiteur s'identifie immédiatement.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problème universel : les entreprises utilisent de nombreux logiciels (ERP, CRM, emails, Excel, logiciels métiers, API) mais ces outils ne communiquent pas entre eux. Résultat : 30% du temps perdu en tâches manuelles, 62% des entreprises ont des outils déconnectés, 11h/semaine de copier-coller, aucune visibilité globale.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KINN fonctionne en 3 étapes simples : 1) Connecter — reliez tous vos logiciels, API et données en quelques clics. 2) Automatiser — créez des workflows visuels sans coder, avec l'aide de l'IA. 3) Piloter — visualisez vos données et processus en temps réel avec des tableaux de bord.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profils clients identifiés. Chaque persona a un besoin différent : le dirigeant TPE veut gagner du temps sans développeur, le dirigeant PME veut digitaliser, le DSI veut orchestrer le SI en sécurité, le chef de projet industrie veut connecter systèmes et machines, le consultant IT veut trouver des clients et livrer vite. Les slides suivantes détaillent chaque profil.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 1 : Dirigeant de TPE. Situation : gère tout seul, pas de service IT, trop de tâches manuelles. Freins : peur de la complexité, coût des développeurs, manque de temps. Solution KINN : copilote numérique avec form builder, automatisation visuelle, connecteurs, IA intégrée, templates métiers et assistant IA. Résultat : 5 à 10h gagnées par semaine, -80% d'erreurs, autonomie numérique totale, 0€ de développeur.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 2 : Dirigeant de PME. Comprend l'intérêt de l'automatisation mais ne sait pas par où commencer. KINN apporte un diagnostic, des outils prêts à l'emploi, un accompagnement par un consultant expert et des résultats mesurables en moins d'un mois.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 3 : DSI interne. Défis : digitaliser avec peu de ressources, shadow IT, intégrations complexes. KINN devient la plateforme d'orchestration centralisée du SI avec gouvernance, gestion des rôles, monitoring et déploiement flexible cloud ou on-premise.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 4 : Chef de projet industrie. Environnement complexe avec ERP, MES, machines, flux logistiques. KINN devient la couche d'orchestration entre les systèmes industriels avec des connecteurs API universels, workflows complexes, interfaces opérateurs terrain et IA pour l'analyse de données.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 5 : Consultant IT/automatisation. KINN devient une plateforme business complète : marketplace de projets pour trouver des clients, outils low-code pour livrer rapidement, templates réutilisables pour standardiser, et modèle de revenus récurrents. C'est un vrai accélérateur de business pour les consultants.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L'écosystème KINN connecte 3 mondes : les entreprises (avec leurs besoins et processus), la plateforme KINN (low-code + IA + workflows + connecteurs + marketplace) et les experts (consultants, intégrateurs, développeurs no-code). KINN n'est pas seulement un outil, c'est un écosystème complet.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cas d'usage concrets. 1) Automatisation commerciale : du formulaire client à la facture générée automatiquement, -70% de temps sur les devis. 2) Gestion des tickets : de l'email reçu à la résolution suivie, classification IA et assignation automatique, -50% temps de réponse. 3) Automatisation industrielle : des données machine à l'action corrective, analyse d'anomalies IA, -80% d'arrêts imprévus.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clôture avec les 3 appels à l'action principaux : Tester KINN gratuitement, demander une démonstration avec un expert, ou devenir consultant partenaire. Rappel de la proposition de valeur : KINN est à la fois une plateforme d'automatisation, une marketplace d'experts et un copilote IA pour créer des outils métiers.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5.png"/><Relationship Id="rId10" Type="http://schemas.openxmlformats.org/officeDocument/2006/relationships/image" Target="../media/image13.png"/><Relationship Id="rId4" Type="http://schemas.openxmlformats.org/officeDocument/2006/relationships/image" Target="../media/image1.png"/><Relationship Id="rId9"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677FF"/>
          </a:solidFill>
          <a:ln/>
        </p:spPr>
      </p:sp>
      <p:pic>
        <p:nvPicPr>
          <p:cNvPr id="3" name="Image 0" descr="preencoded.png"/>
          <p:cNvPicPr>
            <a:picLocks noChangeAspect="1"/>
          </p:cNvPicPr>
          <p:nvPr/>
        </p:nvPicPr>
        <p:blipFill>
          <a:blip r:embed="rId3"/>
          <a:stretch>
            <a:fillRect/>
          </a:stretch>
        </p:blipFill>
        <p:spPr>
          <a:xfrm>
            <a:off x="3200400" y="731520"/>
            <a:ext cx="1188720" cy="731520"/>
          </a:xfrm>
          <a:prstGeom prst="rect">
            <a:avLst/>
          </a:prstGeom>
        </p:spPr>
      </p:pic>
      <p:sp>
        <p:nvSpPr>
          <p:cNvPr id="4" name="Text 1"/>
          <p:cNvSpPr/>
          <p:nvPr/>
        </p:nvSpPr>
        <p:spPr>
          <a:xfrm>
            <a:off x="4434840" y="731520"/>
            <a:ext cx="2286000" cy="731520"/>
          </a:xfrm>
          <a:prstGeom prst="rect">
            <a:avLst/>
          </a:prstGeom>
          <a:noFill/>
          <a:ln/>
        </p:spPr>
        <p:txBody>
          <a:bodyPr wrap="square" lIns="0" tIns="0" rIns="0" bIns="0" rtlCol="0" anchor="ctr"/>
          <a:lstStyle/>
          <a:p>
            <a:pPr marL="0" indent="0">
              <a:buNone/>
            </a:pPr>
            <a:r>
              <a:rPr lang="en-US" sz="4000" b="1" dirty="0">
                <a:solidFill>
                  <a:srgbClr val="0F172A"/>
                </a:solidFill>
                <a:latin typeface="Poppins" pitchFamily="34" charset="0"/>
                <a:ea typeface="Poppins" pitchFamily="34" charset="-122"/>
                <a:cs typeface="Poppins" pitchFamily="34" charset="-120"/>
              </a:rPr>
              <a:t>KINN</a:t>
            </a:r>
            <a:endParaRPr lang="en-US" sz="4000" dirty="0"/>
          </a:p>
        </p:txBody>
      </p:sp>
      <p:sp>
        <p:nvSpPr>
          <p:cNvPr id="5" name="Text 2"/>
          <p:cNvSpPr/>
          <p:nvPr/>
        </p:nvSpPr>
        <p:spPr>
          <a:xfrm>
            <a:off x="1371600" y="1828800"/>
            <a:ext cx="6400800" cy="822960"/>
          </a:xfrm>
          <a:prstGeom prst="rect">
            <a:avLst/>
          </a:prstGeom>
          <a:noFill/>
          <a:ln/>
        </p:spPr>
        <p:txBody>
          <a:bodyPr wrap="square" lIns="0" tIns="0" rIns="0" bIns="0" rtlCol="0" anchor="ctr"/>
          <a:lstStyle/>
          <a:p>
            <a:pPr marL="0" indent="0" algn="ctr">
              <a:lnSpc>
                <a:spcPct val="130000"/>
              </a:lnSpc>
              <a:buNone/>
            </a:pPr>
            <a:r>
              <a:rPr lang="en-US" sz="2200" b="1" dirty="0">
                <a:solidFill>
                  <a:srgbClr val="0F172A"/>
                </a:solidFill>
                <a:latin typeface="Poppins" pitchFamily="34" charset="0"/>
                <a:ea typeface="Poppins" pitchFamily="34" charset="-122"/>
                <a:cs typeface="Poppins" pitchFamily="34" charset="-120"/>
              </a:rPr>
              <a:t>Transformez vos processus</a:t>
            </a:r>
            <a:endParaRPr lang="en-US" sz="2200" dirty="0"/>
          </a:p>
          <a:p>
            <a:pPr marL="0" indent="0" algn="ctr">
              <a:lnSpc>
                <a:spcPct val="130000"/>
              </a:lnSpc>
              <a:buNone/>
            </a:pPr>
            <a:r>
              <a:rPr lang="en-US" sz="2200" b="1" dirty="0">
                <a:solidFill>
                  <a:srgbClr val="0F172A"/>
                </a:solidFill>
                <a:latin typeface="Poppins" pitchFamily="34" charset="0"/>
                <a:ea typeface="Poppins" pitchFamily="34" charset="-122"/>
                <a:cs typeface="Poppins" pitchFamily="34" charset="-120"/>
              </a:rPr>
              <a:t>en applications automatisées</a:t>
            </a:r>
            <a:endParaRPr lang="en-US" sz="2200" dirty="0"/>
          </a:p>
        </p:txBody>
      </p:sp>
      <p:sp>
        <p:nvSpPr>
          <p:cNvPr id="6" name="Text 3"/>
          <p:cNvSpPr/>
          <p:nvPr/>
        </p:nvSpPr>
        <p:spPr>
          <a:xfrm>
            <a:off x="1371600" y="2743200"/>
            <a:ext cx="6400800" cy="640080"/>
          </a:xfrm>
          <a:prstGeom prst="rect">
            <a:avLst/>
          </a:prstGeom>
          <a:noFill/>
          <a:ln/>
        </p:spPr>
        <p:txBody>
          <a:bodyPr wrap="square" lIns="0" tIns="0" rIns="0" bIns="0" rtlCol="0" anchor="ctr"/>
          <a:lstStyle/>
          <a:p>
            <a:pPr marL="0" indent="0" algn="ctr">
              <a:lnSpc>
                <a:spcPct val="140000"/>
              </a:lnSpc>
              <a:buNone/>
            </a:pPr>
            <a:r>
              <a:rPr lang="en-US" sz="1300" dirty="0">
                <a:solidFill>
                  <a:srgbClr val="374151"/>
                </a:solidFill>
                <a:latin typeface="Poppins" pitchFamily="34" charset="0"/>
                <a:ea typeface="Poppins" pitchFamily="34" charset="-122"/>
                <a:cs typeface="Poppins" pitchFamily="34" charset="-120"/>
              </a:rPr>
              <a:t>Connectez vos logiciels, automatisez vos processus</a:t>
            </a:r>
            <a:endParaRPr lang="en-US" sz="1300" dirty="0"/>
          </a:p>
          <a:p>
            <a:pPr marL="0" indent="0" algn="ctr">
              <a:lnSpc>
                <a:spcPct val="140000"/>
              </a:lnSpc>
              <a:buNone/>
            </a:pPr>
            <a:r>
              <a:rPr lang="en-US" sz="1300" dirty="0">
                <a:solidFill>
                  <a:srgbClr val="374151"/>
                </a:solidFill>
                <a:latin typeface="Poppins" pitchFamily="34" charset="0"/>
                <a:ea typeface="Poppins" pitchFamily="34" charset="-122"/>
                <a:cs typeface="Poppins" pitchFamily="34" charset="-120"/>
              </a:rPr>
              <a:t>et créez vos outils métiers avec l'IA.</a:t>
            </a:r>
            <a:endParaRPr lang="en-US" sz="1300" dirty="0"/>
          </a:p>
        </p:txBody>
      </p:sp>
      <p:sp>
        <p:nvSpPr>
          <p:cNvPr id="7" name="Shape 4"/>
          <p:cNvSpPr/>
          <p:nvPr/>
        </p:nvSpPr>
        <p:spPr>
          <a:xfrm>
            <a:off x="685800" y="3657600"/>
            <a:ext cx="2377440" cy="1005840"/>
          </a:xfrm>
          <a:prstGeom prst="rect">
            <a:avLst/>
          </a:prstGeom>
          <a:solidFill>
            <a:srgbClr val="F7F9FC"/>
          </a:solidFill>
          <a:ln/>
          <a:effectLst>
            <a:outerShdw blurRad="76200" dist="25400" dir="8100000" algn="bl" rotWithShape="0">
              <a:srgbClr val="000000">
                <a:alpha val="6000"/>
              </a:srgbClr>
            </a:outerShdw>
          </a:effectLst>
        </p:spPr>
      </p:sp>
      <p:pic>
        <p:nvPicPr>
          <p:cNvPr id="8" name="Image 1" descr="preencoded.png"/>
          <p:cNvPicPr>
            <a:picLocks noChangeAspect="1"/>
          </p:cNvPicPr>
          <p:nvPr/>
        </p:nvPicPr>
        <p:blipFill>
          <a:blip r:embed="rId4"/>
          <a:stretch>
            <a:fillRect/>
          </a:stretch>
        </p:blipFill>
        <p:spPr>
          <a:xfrm>
            <a:off x="822960" y="3822192"/>
            <a:ext cx="365760" cy="365760"/>
          </a:xfrm>
          <a:prstGeom prst="rect">
            <a:avLst/>
          </a:prstGeom>
        </p:spPr>
      </p:pic>
      <p:sp>
        <p:nvSpPr>
          <p:cNvPr id="9" name="Text 5"/>
          <p:cNvSpPr/>
          <p:nvPr/>
        </p:nvSpPr>
        <p:spPr>
          <a:xfrm>
            <a:off x="1234440" y="3749040"/>
            <a:ext cx="1645920" cy="320040"/>
          </a:xfrm>
          <a:prstGeom prst="rect">
            <a:avLst/>
          </a:prstGeom>
          <a:noFill/>
          <a:ln/>
        </p:spPr>
        <p:txBody>
          <a:bodyPr wrap="square" lIns="0" tIns="0" rIns="0" bIns="0" rtlCol="0" anchor="ctr"/>
          <a:lstStyle/>
          <a:p>
            <a:pPr marL="0" indent="0">
              <a:buNone/>
            </a:pPr>
            <a:r>
              <a:rPr lang="en-US" sz="1200" b="1" dirty="0">
                <a:solidFill>
                  <a:srgbClr val="1677FF"/>
                </a:solidFill>
                <a:latin typeface="Poppins" pitchFamily="34" charset="0"/>
                <a:ea typeface="Poppins" pitchFamily="34" charset="-122"/>
                <a:cs typeface="Poppins" pitchFamily="34" charset="-120"/>
              </a:rPr>
              <a:t>Entreprises</a:t>
            </a:r>
            <a:endParaRPr lang="en-US" sz="1200" dirty="0"/>
          </a:p>
        </p:txBody>
      </p:sp>
      <p:sp>
        <p:nvSpPr>
          <p:cNvPr id="10" name="Text 6"/>
          <p:cNvSpPr/>
          <p:nvPr/>
        </p:nvSpPr>
        <p:spPr>
          <a:xfrm>
            <a:off x="1234440" y="4069080"/>
            <a:ext cx="1645920" cy="228600"/>
          </a:xfrm>
          <a:prstGeom prst="rect">
            <a:avLst/>
          </a:prstGeom>
          <a:noFill/>
          <a:ln/>
        </p:spPr>
        <p:txBody>
          <a:bodyPr wrap="square" lIns="0" tIns="0" rIns="0" bIns="0" rtlCol="0" anchor="t"/>
          <a:lstStyle/>
          <a:p>
            <a:pPr marL="0" indent="0">
              <a:buNone/>
            </a:pPr>
            <a:r>
              <a:rPr lang="en-US" sz="850" dirty="0">
                <a:solidFill>
                  <a:srgbClr val="6B7280"/>
                </a:solidFill>
                <a:latin typeface="Poppins" pitchFamily="34" charset="0"/>
                <a:ea typeface="Poppins" pitchFamily="34" charset="-122"/>
                <a:cs typeface="Poppins" pitchFamily="34" charset="-120"/>
              </a:rPr>
              <a:t>TPE · PME · Industrie</a:t>
            </a:r>
            <a:endParaRPr lang="en-US" sz="850" dirty="0"/>
          </a:p>
        </p:txBody>
      </p:sp>
      <p:sp>
        <p:nvSpPr>
          <p:cNvPr id="11" name="Text 7"/>
          <p:cNvSpPr/>
          <p:nvPr/>
        </p:nvSpPr>
        <p:spPr>
          <a:xfrm>
            <a:off x="2651760" y="3840480"/>
            <a:ext cx="274320" cy="274320"/>
          </a:xfrm>
          <a:prstGeom prst="rect">
            <a:avLst/>
          </a:prstGeom>
          <a:noFill/>
          <a:ln/>
        </p:spPr>
        <p:txBody>
          <a:bodyPr wrap="square" lIns="0" tIns="0" rIns="0" bIns="0" rtlCol="0" anchor="ctr"/>
          <a:lstStyle/>
          <a:p>
            <a:pPr marL="0" indent="0" algn="ctr">
              <a:buNone/>
            </a:pPr>
            <a:r>
              <a:rPr lang="en-US" sz="1400" dirty="0">
                <a:solidFill>
                  <a:srgbClr val="1677FF"/>
                </a:solidFill>
                <a:latin typeface="Poppins" pitchFamily="34" charset="0"/>
                <a:ea typeface="Poppins" pitchFamily="34" charset="-122"/>
                <a:cs typeface="Poppins" pitchFamily="34" charset="-120"/>
              </a:rPr>
              <a:t>→</a:t>
            </a:r>
            <a:endParaRPr lang="en-US" sz="1400" dirty="0"/>
          </a:p>
        </p:txBody>
      </p:sp>
      <p:sp>
        <p:nvSpPr>
          <p:cNvPr id="12" name="Shape 8"/>
          <p:cNvSpPr/>
          <p:nvPr/>
        </p:nvSpPr>
        <p:spPr>
          <a:xfrm>
            <a:off x="3383280" y="3657600"/>
            <a:ext cx="2377440" cy="1005840"/>
          </a:xfrm>
          <a:prstGeom prst="rect">
            <a:avLst/>
          </a:prstGeom>
          <a:solidFill>
            <a:srgbClr val="F7F9FC"/>
          </a:solidFill>
          <a:ln/>
          <a:effectLst>
            <a:outerShdw blurRad="76200" dist="25400" dir="8100000" algn="bl" rotWithShape="0">
              <a:srgbClr val="000000">
                <a:alpha val="6000"/>
              </a:srgbClr>
            </a:outerShdw>
          </a:effectLst>
        </p:spPr>
      </p:sp>
      <p:pic>
        <p:nvPicPr>
          <p:cNvPr id="13" name="Image 2" descr="preencoded.png"/>
          <p:cNvPicPr>
            <a:picLocks noChangeAspect="1"/>
          </p:cNvPicPr>
          <p:nvPr/>
        </p:nvPicPr>
        <p:blipFill>
          <a:blip r:embed="rId5"/>
          <a:stretch>
            <a:fillRect/>
          </a:stretch>
        </p:blipFill>
        <p:spPr>
          <a:xfrm>
            <a:off x="3520440" y="3822192"/>
            <a:ext cx="365760" cy="365760"/>
          </a:xfrm>
          <a:prstGeom prst="rect">
            <a:avLst/>
          </a:prstGeom>
        </p:spPr>
      </p:pic>
      <p:sp>
        <p:nvSpPr>
          <p:cNvPr id="14" name="Text 9"/>
          <p:cNvSpPr/>
          <p:nvPr/>
        </p:nvSpPr>
        <p:spPr>
          <a:xfrm>
            <a:off x="3931920" y="3749040"/>
            <a:ext cx="1645920" cy="320040"/>
          </a:xfrm>
          <a:prstGeom prst="rect">
            <a:avLst/>
          </a:prstGeom>
          <a:noFill/>
          <a:ln/>
        </p:spPr>
        <p:txBody>
          <a:bodyPr wrap="square" lIns="0" tIns="0" rIns="0" bIns="0" rtlCol="0" anchor="ctr"/>
          <a:lstStyle/>
          <a:p>
            <a:pPr marL="0" indent="0">
              <a:buNone/>
            </a:pPr>
            <a:r>
              <a:rPr lang="en-US" sz="1200" b="1" dirty="0">
                <a:solidFill>
                  <a:srgbClr val="16A34A"/>
                </a:solidFill>
                <a:latin typeface="Poppins" pitchFamily="34" charset="0"/>
                <a:ea typeface="Poppins" pitchFamily="34" charset="-122"/>
                <a:cs typeface="Poppins" pitchFamily="34" charset="-120"/>
              </a:rPr>
              <a:t>Consultants</a:t>
            </a:r>
            <a:endParaRPr lang="en-US" sz="1200" dirty="0"/>
          </a:p>
        </p:txBody>
      </p:sp>
      <p:sp>
        <p:nvSpPr>
          <p:cNvPr id="15" name="Text 10"/>
          <p:cNvSpPr/>
          <p:nvPr/>
        </p:nvSpPr>
        <p:spPr>
          <a:xfrm>
            <a:off x="3931920" y="4069080"/>
            <a:ext cx="1645920" cy="228600"/>
          </a:xfrm>
          <a:prstGeom prst="rect">
            <a:avLst/>
          </a:prstGeom>
          <a:noFill/>
          <a:ln/>
        </p:spPr>
        <p:txBody>
          <a:bodyPr wrap="square" lIns="0" tIns="0" rIns="0" bIns="0" rtlCol="0" anchor="t"/>
          <a:lstStyle/>
          <a:p>
            <a:pPr marL="0" indent="0">
              <a:buNone/>
            </a:pPr>
            <a:r>
              <a:rPr lang="en-US" sz="850" dirty="0">
                <a:solidFill>
                  <a:srgbClr val="6B7280"/>
                </a:solidFill>
                <a:latin typeface="Poppins" pitchFamily="34" charset="0"/>
                <a:ea typeface="Poppins" pitchFamily="34" charset="-122"/>
                <a:cs typeface="Poppins" pitchFamily="34" charset="-120"/>
              </a:rPr>
              <a:t>IT · Automatisation</a:t>
            </a:r>
            <a:endParaRPr lang="en-US" sz="850" dirty="0"/>
          </a:p>
        </p:txBody>
      </p:sp>
      <p:sp>
        <p:nvSpPr>
          <p:cNvPr id="16" name="Text 11"/>
          <p:cNvSpPr/>
          <p:nvPr/>
        </p:nvSpPr>
        <p:spPr>
          <a:xfrm>
            <a:off x="5349240" y="3840480"/>
            <a:ext cx="274320" cy="274320"/>
          </a:xfrm>
          <a:prstGeom prst="rect">
            <a:avLst/>
          </a:prstGeom>
          <a:noFill/>
          <a:ln/>
        </p:spPr>
        <p:txBody>
          <a:bodyPr wrap="square" lIns="0" tIns="0" rIns="0" bIns="0" rtlCol="0" anchor="ctr"/>
          <a:lstStyle/>
          <a:p>
            <a:pPr marL="0" indent="0" algn="ctr">
              <a:buNone/>
            </a:pPr>
            <a:r>
              <a:rPr lang="en-US" sz="1400" dirty="0">
                <a:solidFill>
                  <a:srgbClr val="16A34A"/>
                </a:solidFill>
                <a:latin typeface="Poppins" pitchFamily="34" charset="0"/>
                <a:ea typeface="Poppins" pitchFamily="34" charset="-122"/>
                <a:cs typeface="Poppins" pitchFamily="34" charset="-120"/>
              </a:rPr>
              <a:t>→</a:t>
            </a:r>
            <a:endParaRPr lang="en-US" sz="1400" dirty="0"/>
          </a:p>
        </p:txBody>
      </p:sp>
      <p:sp>
        <p:nvSpPr>
          <p:cNvPr id="17" name="Shape 12"/>
          <p:cNvSpPr/>
          <p:nvPr/>
        </p:nvSpPr>
        <p:spPr>
          <a:xfrm>
            <a:off x="6080760" y="3657600"/>
            <a:ext cx="2377440" cy="1005840"/>
          </a:xfrm>
          <a:prstGeom prst="rect">
            <a:avLst/>
          </a:prstGeom>
          <a:solidFill>
            <a:srgbClr val="F7F9FC"/>
          </a:solidFill>
          <a:ln/>
          <a:effectLst>
            <a:outerShdw blurRad="76200" dist="25400" dir="8100000" algn="bl" rotWithShape="0">
              <a:srgbClr val="000000">
                <a:alpha val="6000"/>
              </a:srgbClr>
            </a:outerShdw>
          </a:effectLst>
        </p:spPr>
      </p:sp>
      <p:pic>
        <p:nvPicPr>
          <p:cNvPr id="18" name="Image 3" descr="preencoded.png"/>
          <p:cNvPicPr>
            <a:picLocks noChangeAspect="1"/>
          </p:cNvPicPr>
          <p:nvPr/>
        </p:nvPicPr>
        <p:blipFill>
          <a:blip r:embed="rId6"/>
          <a:stretch>
            <a:fillRect/>
          </a:stretch>
        </p:blipFill>
        <p:spPr>
          <a:xfrm>
            <a:off x="6217920" y="3822192"/>
            <a:ext cx="365760" cy="365760"/>
          </a:xfrm>
          <a:prstGeom prst="rect">
            <a:avLst/>
          </a:prstGeom>
        </p:spPr>
      </p:pic>
      <p:sp>
        <p:nvSpPr>
          <p:cNvPr id="19" name="Text 13"/>
          <p:cNvSpPr/>
          <p:nvPr/>
        </p:nvSpPr>
        <p:spPr>
          <a:xfrm>
            <a:off x="6629400" y="3749040"/>
            <a:ext cx="1645920" cy="320040"/>
          </a:xfrm>
          <a:prstGeom prst="rect">
            <a:avLst/>
          </a:prstGeom>
          <a:noFill/>
          <a:ln/>
        </p:spPr>
        <p:txBody>
          <a:bodyPr wrap="square" lIns="0" tIns="0" rIns="0" bIns="0" rtlCol="0" anchor="ctr"/>
          <a:lstStyle/>
          <a:p>
            <a:pPr marL="0" indent="0">
              <a:buNone/>
            </a:pPr>
            <a:r>
              <a:rPr lang="en-US" sz="1200" b="1" dirty="0">
                <a:solidFill>
                  <a:srgbClr val="7C3AED"/>
                </a:solidFill>
                <a:latin typeface="Poppins" pitchFamily="34" charset="0"/>
                <a:ea typeface="Poppins" pitchFamily="34" charset="-122"/>
                <a:cs typeface="Poppins" pitchFamily="34" charset="-120"/>
              </a:rPr>
              <a:t>DSI · Grands comptes</a:t>
            </a:r>
            <a:endParaRPr lang="en-US" sz="1200" dirty="0"/>
          </a:p>
        </p:txBody>
      </p:sp>
      <p:sp>
        <p:nvSpPr>
          <p:cNvPr id="20" name="Text 14"/>
          <p:cNvSpPr/>
          <p:nvPr/>
        </p:nvSpPr>
        <p:spPr>
          <a:xfrm>
            <a:off x="6629400" y="4069080"/>
            <a:ext cx="1645920" cy="228600"/>
          </a:xfrm>
          <a:prstGeom prst="rect">
            <a:avLst/>
          </a:prstGeom>
          <a:noFill/>
          <a:ln/>
        </p:spPr>
        <p:txBody>
          <a:bodyPr wrap="square" lIns="0" tIns="0" rIns="0" bIns="0" rtlCol="0" anchor="t"/>
          <a:lstStyle/>
          <a:p>
            <a:pPr marL="0" indent="0">
              <a:buNone/>
            </a:pPr>
            <a:r>
              <a:rPr lang="en-US" sz="850" dirty="0">
                <a:solidFill>
                  <a:srgbClr val="6B7280"/>
                </a:solidFill>
                <a:latin typeface="Poppins" pitchFamily="34" charset="0"/>
                <a:ea typeface="Poppins" pitchFamily="34" charset="-122"/>
                <a:cs typeface="Poppins" pitchFamily="34" charset="-120"/>
              </a:rPr>
              <a:t>Plateforme interne</a:t>
            </a:r>
            <a:endParaRPr lang="en-US" sz="850" dirty="0"/>
          </a:p>
        </p:txBody>
      </p:sp>
      <p:sp>
        <p:nvSpPr>
          <p:cNvPr id="21" name="Text 15"/>
          <p:cNvSpPr/>
          <p:nvPr/>
        </p:nvSpPr>
        <p:spPr>
          <a:xfrm>
            <a:off x="8046720" y="3840480"/>
            <a:ext cx="274320" cy="274320"/>
          </a:xfrm>
          <a:prstGeom prst="rect">
            <a:avLst/>
          </a:prstGeom>
          <a:noFill/>
          <a:ln/>
        </p:spPr>
        <p:txBody>
          <a:bodyPr wrap="square" lIns="0" tIns="0" rIns="0" bIns="0" rtlCol="0" anchor="ctr"/>
          <a:lstStyle/>
          <a:p>
            <a:pPr marL="0" indent="0" algn="ctr">
              <a:buNone/>
            </a:pPr>
            <a:r>
              <a:rPr lang="en-US" sz="1400" dirty="0">
                <a:solidFill>
                  <a:srgbClr val="7C3AED"/>
                </a:solidFill>
                <a:latin typeface="Poppins" pitchFamily="34" charset="0"/>
                <a:ea typeface="Poppins" pitchFamily="34" charset="-122"/>
                <a:cs typeface="Poppins" pitchFamily="34" charset="-120"/>
              </a:rPr>
              <a:t>→</a:t>
            </a:r>
            <a:endParaRPr lang="en-US" sz="1400" dirty="0"/>
          </a:p>
        </p:txBody>
      </p:sp>
      <p:sp>
        <p:nvSpPr>
          <p:cNvPr id="22" name="Text 16"/>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marL="0" indent="0">
              <a:buNone/>
            </a:pPr>
            <a:r>
              <a:rPr lang="en-US" sz="2800" b="1" dirty="0">
                <a:solidFill>
                  <a:srgbClr val="0F172A"/>
                </a:solidFill>
                <a:latin typeface="Poppins" pitchFamily="34" charset="0"/>
                <a:ea typeface="Poppins" pitchFamily="34" charset="-122"/>
                <a:cs typeface="Poppins" pitchFamily="34" charset="-120"/>
              </a:rPr>
              <a:t>Le problème</a:t>
            </a:r>
            <a:endParaRPr lang="en-US" sz="2800" dirty="0"/>
          </a:p>
        </p:txBody>
      </p:sp>
      <p:sp>
        <p:nvSpPr>
          <p:cNvPr id="3" name="Text 1"/>
          <p:cNvSpPr/>
          <p:nvPr/>
        </p:nvSpPr>
        <p:spPr>
          <a:xfrm>
            <a:off x="640080" y="640080"/>
            <a:ext cx="7315200" cy="228600"/>
          </a:xfrm>
          <a:prstGeom prst="rect">
            <a:avLst/>
          </a:prstGeom>
          <a:noFill/>
          <a:ln/>
        </p:spPr>
        <p:txBody>
          <a:bodyPr wrap="square" lIns="0" tIns="0" rIns="0" bIns="0" rtlCol="0" anchor="ctr"/>
          <a:lstStyle/>
          <a:p>
            <a:pPr marL="0" indent="0">
              <a:buNone/>
            </a:pPr>
            <a:r>
              <a:rPr lang="en-US" sz="1100" dirty="0">
                <a:solidFill>
                  <a:srgbClr val="6B7280"/>
                </a:solidFill>
                <a:latin typeface="Poppins" pitchFamily="34" charset="0"/>
                <a:ea typeface="Poppins" pitchFamily="34" charset="-122"/>
                <a:cs typeface="Poppins" pitchFamily="34" charset="-120"/>
              </a:rPr>
              <a:t>Vos outils ne communiquent pas entre eux</a:t>
            </a:r>
            <a:endParaRPr lang="en-US" sz="1100" dirty="0"/>
          </a:p>
        </p:txBody>
      </p:sp>
      <p:sp>
        <p:nvSpPr>
          <p:cNvPr id="4" name="Shape 2"/>
          <p:cNvSpPr/>
          <p:nvPr/>
        </p:nvSpPr>
        <p:spPr>
          <a:xfrm>
            <a:off x="731520" y="1280160"/>
            <a:ext cx="1463040" cy="640080"/>
          </a:xfrm>
          <a:prstGeom prst="rect">
            <a:avLst/>
          </a:prstGeom>
          <a:solidFill>
            <a:srgbClr val="F0F2F5"/>
          </a:solidFill>
          <a:ln w="12700">
            <a:solidFill>
              <a:srgbClr val="E5E7EB"/>
            </a:solidFill>
            <a:prstDash val="solid"/>
          </a:ln>
        </p:spPr>
      </p:sp>
      <p:sp>
        <p:nvSpPr>
          <p:cNvPr id="5" name="Text 3"/>
          <p:cNvSpPr/>
          <p:nvPr/>
        </p:nvSpPr>
        <p:spPr>
          <a:xfrm>
            <a:off x="731520" y="1280160"/>
            <a:ext cx="1463040" cy="640080"/>
          </a:xfrm>
          <a:prstGeom prst="rect">
            <a:avLst/>
          </a:prstGeom>
          <a:noFill/>
          <a:ln/>
        </p:spPr>
        <p:txBody>
          <a:bodyPr wrap="square" lIns="0" tIns="0" rIns="0" bIns="0" rtlCol="0" anchor="ctr"/>
          <a:lstStyle/>
          <a:p>
            <a:pPr marL="0" indent="0" algn="ctr">
              <a:buNone/>
            </a:pPr>
            <a:r>
              <a:rPr lang="en-US" sz="1000" b="1" dirty="0">
                <a:solidFill>
                  <a:srgbClr val="6B7280"/>
                </a:solidFill>
                <a:latin typeface="Poppins" pitchFamily="34" charset="0"/>
                <a:ea typeface="Poppins" pitchFamily="34" charset="-122"/>
                <a:cs typeface="Poppins" pitchFamily="34" charset="-120"/>
              </a:rPr>
              <a:t>ERP</a:t>
            </a:r>
            <a:endParaRPr lang="en-US" sz="1000" dirty="0"/>
          </a:p>
        </p:txBody>
      </p:sp>
      <p:sp>
        <p:nvSpPr>
          <p:cNvPr id="6" name="Shape 4"/>
          <p:cNvSpPr/>
          <p:nvPr/>
        </p:nvSpPr>
        <p:spPr>
          <a:xfrm>
            <a:off x="2743200" y="1188720"/>
            <a:ext cx="1463040" cy="640080"/>
          </a:xfrm>
          <a:prstGeom prst="rect">
            <a:avLst/>
          </a:prstGeom>
          <a:solidFill>
            <a:srgbClr val="F0F2F5"/>
          </a:solidFill>
          <a:ln w="12700">
            <a:solidFill>
              <a:srgbClr val="E5E7EB"/>
            </a:solidFill>
            <a:prstDash val="solid"/>
          </a:ln>
        </p:spPr>
      </p:sp>
      <p:sp>
        <p:nvSpPr>
          <p:cNvPr id="7" name="Text 5"/>
          <p:cNvSpPr/>
          <p:nvPr/>
        </p:nvSpPr>
        <p:spPr>
          <a:xfrm>
            <a:off x="2743200" y="1188720"/>
            <a:ext cx="1463040" cy="640080"/>
          </a:xfrm>
          <a:prstGeom prst="rect">
            <a:avLst/>
          </a:prstGeom>
          <a:noFill/>
          <a:ln/>
        </p:spPr>
        <p:txBody>
          <a:bodyPr wrap="square" lIns="0" tIns="0" rIns="0" bIns="0" rtlCol="0" anchor="ctr"/>
          <a:lstStyle/>
          <a:p>
            <a:pPr marL="0" indent="0" algn="ctr">
              <a:buNone/>
            </a:pPr>
            <a:r>
              <a:rPr lang="en-US" sz="1000" b="1" dirty="0">
                <a:solidFill>
                  <a:srgbClr val="6B7280"/>
                </a:solidFill>
                <a:latin typeface="Poppins" pitchFamily="34" charset="0"/>
                <a:ea typeface="Poppins" pitchFamily="34" charset="-122"/>
                <a:cs typeface="Poppins" pitchFamily="34" charset="-120"/>
              </a:rPr>
              <a:t>CRM</a:t>
            </a:r>
            <a:endParaRPr lang="en-US" sz="1000" dirty="0"/>
          </a:p>
        </p:txBody>
      </p:sp>
      <p:sp>
        <p:nvSpPr>
          <p:cNvPr id="8" name="Shape 6"/>
          <p:cNvSpPr/>
          <p:nvPr/>
        </p:nvSpPr>
        <p:spPr>
          <a:xfrm>
            <a:off x="5029200" y="1371600"/>
            <a:ext cx="1463040" cy="640080"/>
          </a:xfrm>
          <a:prstGeom prst="rect">
            <a:avLst/>
          </a:prstGeom>
          <a:solidFill>
            <a:srgbClr val="F0F2F5"/>
          </a:solidFill>
          <a:ln w="12700">
            <a:solidFill>
              <a:srgbClr val="E5E7EB"/>
            </a:solidFill>
            <a:prstDash val="solid"/>
          </a:ln>
        </p:spPr>
      </p:sp>
      <p:sp>
        <p:nvSpPr>
          <p:cNvPr id="9" name="Text 7"/>
          <p:cNvSpPr/>
          <p:nvPr/>
        </p:nvSpPr>
        <p:spPr>
          <a:xfrm>
            <a:off x="5029200" y="1371600"/>
            <a:ext cx="1463040" cy="640080"/>
          </a:xfrm>
          <a:prstGeom prst="rect">
            <a:avLst/>
          </a:prstGeom>
          <a:noFill/>
          <a:ln/>
        </p:spPr>
        <p:txBody>
          <a:bodyPr wrap="square" lIns="0" tIns="0" rIns="0" bIns="0" rtlCol="0" anchor="ctr"/>
          <a:lstStyle/>
          <a:p>
            <a:pPr marL="0" indent="0" algn="ctr">
              <a:buNone/>
            </a:pPr>
            <a:r>
              <a:rPr lang="en-US" sz="1000" b="1" dirty="0">
                <a:solidFill>
                  <a:srgbClr val="6B7280"/>
                </a:solidFill>
                <a:latin typeface="Poppins" pitchFamily="34" charset="0"/>
                <a:ea typeface="Poppins" pitchFamily="34" charset="-122"/>
                <a:cs typeface="Poppins" pitchFamily="34" charset="-120"/>
              </a:rPr>
              <a:t>Emails</a:t>
            </a:r>
            <a:endParaRPr lang="en-US" sz="1000" dirty="0"/>
          </a:p>
        </p:txBody>
      </p:sp>
      <p:sp>
        <p:nvSpPr>
          <p:cNvPr id="10" name="Shape 8"/>
          <p:cNvSpPr/>
          <p:nvPr/>
        </p:nvSpPr>
        <p:spPr>
          <a:xfrm>
            <a:off x="7132320" y="1188720"/>
            <a:ext cx="1463040" cy="640080"/>
          </a:xfrm>
          <a:prstGeom prst="rect">
            <a:avLst/>
          </a:prstGeom>
          <a:solidFill>
            <a:srgbClr val="F0F2F5"/>
          </a:solidFill>
          <a:ln w="12700">
            <a:solidFill>
              <a:srgbClr val="E5E7EB"/>
            </a:solidFill>
            <a:prstDash val="solid"/>
          </a:ln>
        </p:spPr>
      </p:sp>
      <p:sp>
        <p:nvSpPr>
          <p:cNvPr id="11" name="Text 9"/>
          <p:cNvSpPr/>
          <p:nvPr/>
        </p:nvSpPr>
        <p:spPr>
          <a:xfrm>
            <a:off x="7132320" y="1188720"/>
            <a:ext cx="1463040" cy="640080"/>
          </a:xfrm>
          <a:prstGeom prst="rect">
            <a:avLst/>
          </a:prstGeom>
          <a:noFill/>
          <a:ln/>
        </p:spPr>
        <p:txBody>
          <a:bodyPr wrap="square" lIns="0" tIns="0" rIns="0" bIns="0" rtlCol="0" anchor="ctr"/>
          <a:lstStyle/>
          <a:p>
            <a:pPr marL="0" indent="0" algn="ctr">
              <a:buNone/>
            </a:pPr>
            <a:r>
              <a:rPr lang="en-US" sz="1000" b="1" dirty="0">
                <a:solidFill>
                  <a:srgbClr val="6B7280"/>
                </a:solidFill>
                <a:latin typeface="Poppins" pitchFamily="34" charset="0"/>
                <a:ea typeface="Poppins" pitchFamily="34" charset="-122"/>
                <a:cs typeface="Poppins" pitchFamily="34" charset="-120"/>
              </a:rPr>
              <a:t>Excel</a:t>
            </a:r>
            <a:endParaRPr lang="en-US" sz="1000" dirty="0"/>
          </a:p>
        </p:txBody>
      </p:sp>
      <p:sp>
        <p:nvSpPr>
          <p:cNvPr id="12" name="Shape 10"/>
          <p:cNvSpPr/>
          <p:nvPr/>
        </p:nvSpPr>
        <p:spPr>
          <a:xfrm>
            <a:off x="1371600" y="2377440"/>
            <a:ext cx="1463040" cy="640080"/>
          </a:xfrm>
          <a:prstGeom prst="rect">
            <a:avLst/>
          </a:prstGeom>
          <a:solidFill>
            <a:srgbClr val="F0F2F5"/>
          </a:solidFill>
          <a:ln w="12700">
            <a:solidFill>
              <a:srgbClr val="E5E7EB"/>
            </a:solidFill>
            <a:prstDash val="solid"/>
          </a:ln>
        </p:spPr>
      </p:sp>
      <p:sp>
        <p:nvSpPr>
          <p:cNvPr id="13" name="Text 11"/>
          <p:cNvSpPr/>
          <p:nvPr/>
        </p:nvSpPr>
        <p:spPr>
          <a:xfrm>
            <a:off x="1371600" y="2377440"/>
            <a:ext cx="1463040" cy="640080"/>
          </a:xfrm>
          <a:prstGeom prst="rect">
            <a:avLst/>
          </a:prstGeom>
          <a:noFill/>
          <a:ln/>
        </p:spPr>
        <p:txBody>
          <a:bodyPr wrap="square" lIns="0" tIns="0" rIns="0" bIns="0" rtlCol="0" anchor="ctr"/>
          <a:lstStyle/>
          <a:p>
            <a:pPr marL="0" indent="0" algn="ctr">
              <a:buNone/>
            </a:pPr>
            <a:r>
              <a:rPr lang="en-US" sz="1000" b="1" dirty="0">
                <a:solidFill>
                  <a:srgbClr val="6B7280"/>
                </a:solidFill>
                <a:latin typeface="Poppins" pitchFamily="34" charset="0"/>
                <a:ea typeface="Poppins" pitchFamily="34" charset="-122"/>
                <a:cs typeface="Poppins" pitchFamily="34" charset="-120"/>
              </a:rPr>
              <a:t>Comptabilité</a:t>
            </a:r>
            <a:endParaRPr lang="en-US" sz="1000" dirty="0"/>
          </a:p>
        </p:txBody>
      </p:sp>
      <p:sp>
        <p:nvSpPr>
          <p:cNvPr id="14" name="Shape 12"/>
          <p:cNvSpPr/>
          <p:nvPr/>
        </p:nvSpPr>
        <p:spPr>
          <a:xfrm>
            <a:off x="3840480" y="2286000"/>
            <a:ext cx="1463040" cy="640080"/>
          </a:xfrm>
          <a:prstGeom prst="rect">
            <a:avLst/>
          </a:prstGeom>
          <a:solidFill>
            <a:srgbClr val="F0F2F5"/>
          </a:solidFill>
          <a:ln w="12700">
            <a:solidFill>
              <a:srgbClr val="E5E7EB"/>
            </a:solidFill>
            <a:prstDash val="solid"/>
          </a:ln>
        </p:spPr>
      </p:sp>
      <p:sp>
        <p:nvSpPr>
          <p:cNvPr id="15" name="Text 13"/>
          <p:cNvSpPr/>
          <p:nvPr/>
        </p:nvSpPr>
        <p:spPr>
          <a:xfrm>
            <a:off x="3840480" y="2286000"/>
            <a:ext cx="1463040" cy="640080"/>
          </a:xfrm>
          <a:prstGeom prst="rect">
            <a:avLst/>
          </a:prstGeom>
          <a:noFill/>
          <a:ln/>
        </p:spPr>
        <p:txBody>
          <a:bodyPr wrap="square" lIns="0" tIns="0" rIns="0" bIns="0" rtlCol="0" anchor="ctr"/>
          <a:lstStyle/>
          <a:p>
            <a:pPr marL="0" indent="0" algn="ctr">
              <a:buNone/>
            </a:pPr>
            <a:r>
              <a:rPr lang="en-US" sz="1000" b="1" dirty="0">
                <a:solidFill>
                  <a:srgbClr val="6B7280"/>
                </a:solidFill>
                <a:latin typeface="Poppins" pitchFamily="34" charset="0"/>
                <a:ea typeface="Poppins" pitchFamily="34" charset="-122"/>
                <a:cs typeface="Poppins" pitchFamily="34" charset="-120"/>
              </a:rPr>
              <a:t>Logiciel métier</a:t>
            </a:r>
            <a:endParaRPr lang="en-US" sz="1000" dirty="0"/>
          </a:p>
        </p:txBody>
      </p:sp>
      <p:sp>
        <p:nvSpPr>
          <p:cNvPr id="16" name="Shape 14"/>
          <p:cNvSpPr/>
          <p:nvPr/>
        </p:nvSpPr>
        <p:spPr>
          <a:xfrm>
            <a:off x="6400800" y="2468880"/>
            <a:ext cx="1463040" cy="640080"/>
          </a:xfrm>
          <a:prstGeom prst="rect">
            <a:avLst/>
          </a:prstGeom>
          <a:solidFill>
            <a:srgbClr val="F0F2F5"/>
          </a:solidFill>
          <a:ln w="12700">
            <a:solidFill>
              <a:srgbClr val="E5E7EB"/>
            </a:solidFill>
            <a:prstDash val="solid"/>
          </a:ln>
        </p:spPr>
      </p:sp>
      <p:sp>
        <p:nvSpPr>
          <p:cNvPr id="17" name="Text 15"/>
          <p:cNvSpPr/>
          <p:nvPr/>
        </p:nvSpPr>
        <p:spPr>
          <a:xfrm>
            <a:off x="6400800" y="2468880"/>
            <a:ext cx="1463040" cy="640080"/>
          </a:xfrm>
          <a:prstGeom prst="rect">
            <a:avLst/>
          </a:prstGeom>
          <a:noFill/>
          <a:ln/>
        </p:spPr>
        <p:txBody>
          <a:bodyPr wrap="square" lIns="0" tIns="0" rIns="0" bIns="0" rtlCol="0" anchor="ctr"/>
          <a:lstStyle/>
          <a:p>
            <a:pPr marL="0" indent="0" algn="ctr">
              <a:buNone/>
            </a:pPr>
            <a:r>
              <a:rPr lang="en-US" sz="1000" b="1" dirty="0">
                <a:solidFill>
                  <a:srgbClr val="6B7280"/>
                </a:solidFill>
                <a:latin typeface="Poppins" pitchFamily="34" charset="0"/>
                <a:ea typeface="Poppins" pitchFamily="34" charset="-122"/>
                <a:cs typeface="Poppins" pitchFamily="34" charset="-120"/>
              </a:rPr>
              <a:t>API interne</a:t>
            </a:r>
            <a:endParaRPr lang="en-US" sz="1000" dirty="0"/>
          </a:p>
        </p:txBody>
      </p:sp>
      <p:sp>
        <p:nvSpPr>
          <p:cNvPr id="18" name="Text 16"/>
          <p:cNvSpPr/>
          <p:nvPr/>
        </p:nvSpPr>
        <p:spPr>
          <a:xfrm>
            <a:off x="2194560" y="1554480"/>
            <a:ext cx="365760" cy="365760"/>
          </a:xfrm>
          <a:prstGeom prst="rect">
            <a:avLst/>
          </a:prstGeom>
          <a:noFill/>
          <a:ln/>
        </p:spPr>
        <p:txBody>
          <a:bodyPr wrap="square" lIns="0" tIns="0" rIns="0" bIns="0" rtlCol="0" anchor="ctr"/>
          <a:lstStyle/>
          <a:p>
            <a:pPr marL="0" indent="0" algn="ctr">
              <a:buNone/>
            </a:pPr>
            <a:r>
              <a:rPr lang="en-US" sz="1600" dirty="0">
                <a:solidFill>
                  <a:srgbClr val="EF4444"/>
                </a:solidFill>
                <a:latin typeface="Poppins" pitchFamily="34" charset="0"/>
                <a:ea typeface="Poppins" pitchFamily="34" charset="-122"/>
                <a:cs typeface="Poppins" pitchFamily="34" charset="-120"/>
              </a:rPr>
              <a:t>✕</a:t>
            </a:r>
            <a:endParaRPr lang="en-US" sz="1600" dirty="0"/>
          </a:p>
        </p:txBody>
      </p:sp>
      <p:sp>
        <p:nvSpPr>
          <p:cNvPr id="19" name="Text 17"/>
          <p:cNvSpPr/>
          <p:nvPr/>
        </p:nvSpPr>
        <p:spPr>
          <a:xfrm>
            <a:off x="4297680" y="1463040"/>
            <a:ext cx="365760" cy="365760"/>
          </a:xfrm>
          <a:prstGeom prst="rect">
            <a:avLst/>
          </a:prstGeom>
          <a:noFill/>
          <a:ln/>
        </p:spPr>
        <p:txBody>
          <a:bodyPr wrap="square" lIns="0" tIns="0" rIns="0" bIns="0" rtlCol="0" anchor="ctr"/>
          <a:lstStyle/>
          <a:p>
            <a:pPr marL="0" indent="0" algn="ctr">
              <a:buNone/>
            </a:pPr>
            <a:r>
              <a:rPr lang="en-US" sz="1600" dirty="0">
                <a:solidFill>
                  <a:srgbClr val="EF4444"/>
                </a:solidFill>
                <a:latin typeface="Poppins" pitchFamily="34" charset="0"/>
                <a:ea typeface="Poppins" pitchFamily="34" charset="-122"/>
                <a:cs typeface="Poppins" pitchFamily="34" charset="-120"/>
              </a:rPr>
              <a:t>✕</a:t>
            </a:r>
            <a:endParaRPr lang="en-US" sz="1600" dirty="0"/>
          </a:p>
        </p:txBody>
      </p:sp>
      <p:sp>
        <p:nvSpPr>
          <p:cNvPr id="20" name="Text 18"/>
          <p:cNvSpPr/>
          <p:nvPr/>
        </p:nvSpPr>
        <p:spPr>
          <a:xfrm>
            <a:off x="6217920" y="1645920"/>
            <a:ext cx="365760" cy="365760"/>
          </a:xfrm>
          <a:prstGeom prst="rect">
            <a:avLst/>
          </a:prstGeom>
          <a:noFill/>
          <a:ln/>
        </p:spPr>
        <p:txBody>
          <a:bodyPr wrap="square" lIns="0" tIns="0" rIns="0" bIns="0" rtlCol="0" anchor="ctr"/>
          <a:lstStyle/>
          <a:p>
            <a:pPr marL="0" indent="0" algn="ctr">
              <a:buNone/>
            </a:pPr>
            <a:r>
              <a:rPr lang="en-US" sz="1600" dirty="0">
                <a:solidFill>
                  <a:srgbClr val="EF4444"/>
                </a:solidFill>
                <a:latin typeface="Poppins" pitchFamily="34" charset="0"/>
                <a:ea typeface="Poppins" pitchFamily="34" charset="-122"/>
                <a:cs typeface="Poppins" pitchFamily="34" charset="-120"/>
              </a:rPr>
              <a:t>✕</a:t>
            </a:r>
            <a:endParaRPr lang="en-US" sz="1600" dirty="0"/>
          </a:p>
        </p:txBody>
      </p:sp>
      <p:sp>
        <p:nvSpPr>
          <p:cNvPr id="21" name="Text 19"/>
          <p:cNvSpPr/>
          <p:nvPr/>
        </p:nvSpPr>
        <p:spPr>
          <a:xfrm>
            <a:off x="2926080" y="2560320"/>
            <a:ext cx="365760" cy="365760"/>
          </a:xfrm>
          <a:prstGeom prst="rect">
            <a:avLst/>
          </a:prstGeom>
          <a:noFill/>
          <a:ln/>
        </p:spPr>
        <p:txBody>
          <a:bodyPr wrap="square" lIns="0" tIns="0" rIns="0" bIns="0" rtlCol="0" anchor="ctr"/>
          <a:lstStyle/>
          <a:p>
            <a:pPr marL="0" indent="0" algn="ctr">
              <a:buNone/>
            </a:pPr>
            <a:r>
              <a:rPr lang="en-US" sz="1600" dirty="0">
                <a:solidFill>
                  <a:srgbClr val="EF4444"/>
                </a:solidFill>
                <a:latin typeface="Poppins" pitchFamily="34" charset="0"/>
                <a:ea typeface="Poppins" pitchFamily="34" charset="-122"/>
                <a:cs typeface="Poppins" pitchFamily="34" charset="-120"/>
              </a:rPr>
              <a:t>✕</a:t>
            </a:r>
            <a:endParaRPr lang="en-US" sz="1600" dirty="0"/>
          </a:p>
        </p:txBody>
      </p:sp>
      <p:sp>
        <p:nvSpPr>
          <p:cNvPr id="22" name="Text 20"/>
          <p:cNvSpPr/>
          <p:nvPr/>
        </p:nvSpPr>
        <p:spPr>
          <a:xfrm>
            <a:off x="5303520" y="2286000"/>
            <a:ext cx="365760" cy="365760"/>
          </a:xfrm>
          <a:prstGeom prst="rect">
            <a:avLst/>
          </a:prstGeom>
          <a:noFill/>
          <a:ln/>
        </p:spPr>
        <p:txBody>
          <a:bodyPr wrap="square" lIns="0" tIns="0" rIns="0" bIns="0" rtlCol="0" anchor="ctr"/>
          <a:lstStyle/>
          <a:p>
            <a:pPr marL="0" indent="0" algn="ctr">
              <a:buNone/>
            </a:pPr>
            <a:r>
              <a:rPr lang="en-US" sz="1600" dirty="0">
                <a:solidFill>
                  <a:srgbClr val="EF4444"/>
                </a:solidFill>
                <a:latin typeface="Poppins" pitchFamily="34" charset="0"/>
                <a:ea typeface="Poppins" pitchFamily="34" charset="-122"/>
                <a:cs typeface="Poppins" pitchFamily="34" charset="-120"/>
              </a:rPr>
              <a:t>✕</a:t>
            </a:r>
            <a:endParaRPr lang="en-US" sz="1600" dirty="0"/>
          </a:p>
        </p:txBody>
      </p:sp>
      <p:sp>
        <p:nvSpPr>
          <p:cNvPr id="23" name="Shape 21"/>
          <p:cNvSpPr/>
          <p:nvPr/>
        </p:nvSpPr>
        <p:spPr>
          <a:xfrm>
            <a:off x="571500" y="3383280"/>
            <a:ext cx="1828800" cy="1097280"/>
          </a:xfrm>
          <a:prstGeom prst="rect">
            <a:avLst/>
          </a:prstGeom>
          <a:solidFill>
            <a:srgbClr val="FEF2F2"/>
          </a:solidFill>
          <a:ln/>
        </p:spPr>
      </p:sp>
      <p:sp>
        <p:nvSpPr>
          <p:cNvPr id="24" name="Text 22"/>
          <p:cNvSpPr/>
          <p:nvPr/>
        </p:nvSpPr>
        <p:spPr>
          <a:xfrm>
            <a:off x="571500" y="3456432"/>
            <a:ext cx="1828800" cy="411480"/>
          </a:xfrm>
          <a:prstGeom prst="rect">
            <a:avLst/>
          </a:prstGeom>
          <a:noFill/>
          <a:ln/>
        </p:spPr>
        <p:txBody>
          <a:bodyPr wrap="square" lIns="0" tIns="0" rIns="0" bIns="0" rtlCol="0" anchor="ctr"/>
          <a:lstStyle/>
          <a:p>
            <a:pPr marL="0" indent="0" algn="ctr">
              <a:buNone/>
            </a:pPr>
            <a:r>
              <a:rPr lang="en-US" sz="2200" b="1" dirty="0">
                <a:solidFill>
                  <a:srgbClr val="EF4444"/>
                </a:solidFill>
                <a:latin typeface="Poppins" pitchFamily="34" charset="0"/>
                <a:ea typeface="Poppins" pitchFamily="34" charset="-122"/>
                <a:cs typeface="Poppins" pitchFamily="34" charset="-120"/>
              </a:rPr>
              <a:t>30%</a:t>
            </a:r>
            <a:endParaRPr lang="en-US" sz="2200" dirty="0"/>
          </a:p>
        </p:txBody>
      </p:sp>
      <p:sp>
        <p:nvSpPr>
          <p:cNvPr id="25" name="Text 23"/>
          <p:cNvSpPr/>
          <p:nvPr/>
        </p:nvSpPr>
        <p:spPr>
          <a:xfrm>
            <a:off x="662940" y="3886200"/>
            <a:ext cx="1645920" cy="502920"/>
          </a:xfrm>
          <a:prstGeom prst="rect">
            <a:avLst/>
          </a:prstGeom>
          <a:noFill/>
          <a:ln/>
        </p:spPr>
        <p:txBody>
          <a:bodyPr wrap="square" lIns="0" tIns="0" rIns="0" bIns="0" rtlCol="0" anchor="ctr"/>
          <a:lstStyle/>
          <a:p>
            <a:pPr marL="0" indent="0" algn="ctr">
              <a:lnSpc>
                <a:spcPct val="120000"/>
              </a:lnSpc>
              <a:buNone/>
            </a:pPr>
            <a:r>
              <a:rPr lang="en-US" sz="850" dirty="0">
                <a:solidFill>
                  <a:srgbClr val="0F172A"/>
                </a:solidFill>
                <a:latin typeface="Poppins" pitchFamily="34" charset="0"/>
                <a:ea typeface="Poppins" pitchFamily="34" charset="-122"/>
                <a:cs typeface="Poppins" pitchFamily="34" charset="-120"/>
              </a:rPr>
              <a:t>du temps perdu en tâches manuelles</a:t>
            </a:r>
            <a:endParaRPr lang="en-US" sz="850" dirty="0"/>
          </a:p>
        </p:txBody>
      </p:sp>
      <p:sp>
        <p:nvSpPr>
          <p:cNvPr id="26" name="Shape 24"/>
          <p:cNvSpPr/>
          <p:nvPr/>
        </p:nvSpPr>
        <p:spPr>
          <a:xfrm>
            <a:off x="2628900" y="3383280"/>
            <a:ext cx="1828800" cy="1097280"/>
          </a:xfrm>
          <a:prstGeom prst="rect">
            <a:avLst/>
          </a:prstGeom>
          <a:solidFill>
            <a:srgbClr val="FEF2F2"/>
          </a:solidFill>
          <a:ln/>
        </p:spPr>
      </p:sp>
      <p:sp>
        <p:nvSpPr>
          <p:cNvPr id="27" name="Text 25"/>
          <p:cNvSpPr/>
          <p:nvPr/>
        </p:nvSpPr>
        <p:spPr>
          <a:xfrm>
            <a:off x="2628900" y="3456432"/>
            <a:ext cx="1828800" cy="411480"/>
          </a:xfrm>
          <a:prstGeom prst="rect">
            <a:avLst/>
          </a:prstGeom>
          <a:noFill/>
          <a:ln/>
        </p:spPr>
        <p:txBody>
          <a:bodyPr wrap="square" lIns="0" tIns="0" rIns="0" bIns="0" rtlCol="0" anchor="ctr"/>
          <a:lstStyle/>
          <a:p>
            <a:pPr marL="0" indent="0" algn="ctr">
              <a:buNone/>
            </a:pPr>
            <a:r>
              <a:rPr lang="en-US" sz="2200" b="1" dirty="0">
                <a:solidFill>
                  <a:srgbClr val="EF4444"/>
                </a:solidFill>
                <a:latin typeface="Poppins" pitchFamily="34" charset="0"/>
                <a:ea typeface="Poppins" pitchFamily="34" charset="-122"/>
                <a:cs typeface="Poppins" pitchFamily="34" charset="-120"/>
              </a:rPr>
              <a:t>62%</a:t>
            </a:r>
            <a:endParaRPr lang="en-US" sz="2200" dirty="0"/>
          </a:p>
        </p:txBody>
      </p:sp>
      <p:sp>
        <p:nvSpPr>
          <p:cNvPr id="28" name="Text 26"/>
          <p:cNvSpPr/>
          <p:nvPr/>
        </p:nvSpPr>
        <p:spPr>
          <a:xfrm>
            <a:off x="2720340" y="3886200"/>
            <a:ext cx="1645920" cy="502920"/>
          </a:xfrm>
          <a:prstGeom prst="rect">
            <a:avLst/>
          </a:prstGeom>
          <a:noFill/>
          <a:ln/>
        </p:spPr>
        <p:txBody>
          <a:bodyPr wrap="square" lIns="0" tIns="0" rIns="0" bIns="0" rtlCol="0" anchor="ctr"/>
          <a:lstStyle/>
          <a:p>
            <a:pPr marL="0" indent="0" algn="ctr">
              <a:lnSpc>
                <a:spcPct val="120000"/>
              </a:lnSpc>
              <a:buNone/>
            </a:pPr>
            <a:r>
              <a:rPr lang="en-US" sz="850" dirty="0">
                <a:solidFill>
                  <a:srgbClr val="0F172A"/>
                </a:solidFill>
                <a:latin typeface="Poppins" pitchFamily="34" charset="0"/>
                <a:ea typeface="Poppins" pitchFamily="34" charset="-122"/>
                <a:cs typeface="Poppins" pitchFamily="34" charset="-120"/>
              </a:rPr>
              <a:t>des entreprises ont des outils déconnectés</a:t>
            </a:r>
            <a:endParaRPr lang="en-US" sz="850" dirty="0"/>
          </a:p>
        </p:txBody>
      </p:sp>
      <p:sp>
        <p:nvSpPr>
          <p:cNvPr id="29" name="Shape 27"/>
          <p:cNvSpPr/>
          <p:nvPr/>
        </p:nvSpPr>
        <p:spPr>
          <a:xfrm>
            <a:off x="4686300" y="3383280"/>
            <a:ext cx="1828800" cy="1097280"/>
          </a:xfrm>
          <a:prstGeom prst="rect">
            <a:avLst/>
          </a:prstGeom>
          <a:solidFill>
            <a:srgbClr val="FEF2F2"/>
          </a:solidFill>
          <a:ln/>
        </p:spPr>
      </p:sp>
      <p:sp>
        <p:nvSpPr>
          <p:cNvPr id="30" name="Text 28"/>
          <p:cNvSpPr/>
          <p:nvPr/>
        </p:nvSpPr>
        <p:spPr>
          <a:xfrm>
            <a:off x="4686300" y="3456432"/>
            <a:ext cx="1828800" cy="411480"/>
          </a:xfrm>
          <a:prstGeom prst="rect">
            <a:avLst/>
          </a:prstGeom>
          <a:noFill/>
          <a:ln/>
        </p:spPr>
        <p:txBody>
          <a:bodyPr wrap="square" lIns="0" tIns="0" rIns="0" bIns="0" rtlCol="0" anchor="ctr"/>
          <a:lstStyle/>
          <a:p>
            <a:pPr marL="0" indent="0" algn="ctr">
              <a:buNone/>
            </a:pPr>
            <a:r>
              <a:rPr lang="en-US" sz="2200" b="1" dirty="0">
                <a:solidFill>
                  <a:srgbClr val="F59E0B"/>
                </a:solidFill>
                <a:latin typeface="Poppins" pitchFamily="34" charset="0"/>
                <a:ea typeface="Poppins" pitchFamily="34" charset="-122"/>
                <a:cs typeface="Poppins" pitchFamily="34" charset="-120"/>
              </a:rPr>
              <a:t>11h</a:t>
            </a:r>
            <a:endParaRPr lang="en-US" sz="2200" dirty="0"/>
          </a:p>
        </p:txBody>
      </p:sp>
      <p:sp>
        <p:nvSpPr>
          <p:cNvPr id="31" name="Text 29"/>
          <p:cNvSpPr/>
          <p:nvPr/>
        </p:nvSpPr>
        <p:spPr>
          <a:xfrm>
            <a:off x="4777740" y="3886200"/>
            <a:ext cx="1645920" cy="502920"/>
          </a:xfrm>
          <a:prstGeom prst="rect">
            <a:avLst/>
          </a:prstGeom>
          <a:noFill/>
          <a:ln/>
        </p:spPr>
        <p:txBody>
          <a:bodyPr wrap="square" lIns="0" tIns="0" rIns="0" bIns="0" rtlCol="0" anchor="ctr"/>
          <a:lstStyle/>
          <a:p>
            <a:pPr marL="0" indent="0" algn="ctr">
              <a:lnSpc>
                <a:spcPct val="120000"/>
              </a:lnSpc>
              <a:buNone/>
            </a:pPr>
            <a:r>
              <a:rPr lang="en-US" sz="850" dirty="0">
                <a:solidFill>
                  <a:srgbClr val="0F172A"/>
                </a:solidFill>
                <a:latin typeface="Poppins" pitchFamily="34" charset="0"/>
                <a:ea typeface="Poppins" pitchFamily="34" charset="-122"/>
                <a:cs typeface="Poppins" pitchFamily="34" charset="-120"/>
              </a:rPr>
              <a:t>par semaine perdues en copier-coller</a:t>
            </a:r>
            <a:endParaRPr lang="en-US" sz="850" dirty="0"/>
          </a:p>
        </p:txBody>
      </p:sp>
      <p:sp>
        <p:nvSpPr>
          <p:cNvPr id="32" name="Shape 30"/>
          <p:cNvSpPr/>
          <p:nvPr/>
        </p:nvSpPr>
        <p:spPr>
          <a:xfrm>
            <a:off x="6743700" y="3383280"/>
            <a:ext cx="1828800" cy="1097280"/>
          </a:xfrm>
          <a:prstGeom prst="rect">
            <a:avLst/>
          </a:prstGeom>
          <a:solidFill>
            <a:srgbClr val="FEF2F2"/>
          </a:solidFill>
          <a:ln/>
        </p:spPr>
      </p:sp>
      <p:sp>
        <p:nvSpPr>
          <p:cNvPr id="33" name="Text 31"/>
          <p:cNvSpPr/>
          <p:nvPr/>
        </p:nvSpPr>
        <p:spPr>
          <a:xfrm>
            <a:off x="6743700" y="3456432"/>
            <a:ext cx="1828800" cy="411480"/>
          </a:xfrm>
          <a:prstGeom prst="rect">
            <a:avLst/>
          </a:prstGeom>
          <a:noFill/>
          <a:ln/>
        </p:spPr>
        <p:txBody>
          <a:bodyPr wrap="square" lIns="0" tIns="0" rIns="0" bIns="0" rtlCol="0" anchor="ctr"/>
          <a:lstStyle/>
          <a:p>
            <a:pPr marL="0" indent="0" algn="ctr">
              <a:buNone/>
            </a:pPr>
            <a:r>
              <a:rPr lang="en-US" sz="2200" b="1" dirty="0">
                <a:solidFill>
                  <a:srgbClr val="EA580C"/>
                </a:solidFill>
                <a:latin typeface="Poppins" pitchFamily="34" charset="0"/>
                <a:ea typeface="Poppins" pitchFamily="34" charset="-122"/>
                <a:cs typeface="Poppins" pitchFamily="34" charset="-120"/>
              </a:rPr>
              <a:t>0</a:t>
            </a:r>
            <a:endParaRPr lang="en-US" sz="2200" dirty="0"/>
          </a:p>
        </p:txBody>
      </p:sp>
      <p:sp>
        <p:nvSpPr>
          <p:cNvPr id="34" name="Text 32"/>
          <p:cNvSpPr/>
          <p:nvPr/>
        </p:nvSpPr>
        <p:spPr>
          <a:xfrm>
            <a:off x="6835140" y="3886200"/>
            <a:ext cx="1645920" cy="502920"/>
          </a:xfrm>
          <a:prstGeom prst="rect">
            <a:avLst/>
          </a:prstGeom>
          <a:noFill/>
          <a:ln/>
        </p:spPr>
        <p:txBody>
          <a:bodyPr wrap="square" lIns="0" tIns="0" rIns="0" bIns="0" rtlCol="0" anchor="ctr"/>
          <a:lstStyle/>
          <a:p>
            <a:pPr marL="0" indent="0" algn="ctr">
              <a:lnSpc>
                <a:spcPct val="120000"/>
              </a:lnSpc>
              <a:buNone/>
            </a:pPr>
            <a:r>
              <a:rPr lang="en-US" sz="850" dirty="0">
                <a:solidFill>
                  <a:srgbClr val="0F172A"/>
                </a:solidFill>
                <a:latin typeface="Poppins" pitchFamily="34" charset="0"/>
                <a:ea typeface="Poppins" pitchFamily="34" charset="-122"/>
                <a:cs typeface="Poppins" pitchFamily="34" charset="-120"/>
              </a:rPr>
              <a:t>visibilité globale sur les processus</a:t>
            </a:r>
            <a:endParaRPr lang="en-US" sz="850" dirty="0"/>
          </a:p>
        </p:txBody>
      </p:sp>
      <p:sp>
        <p:nvSpPr>
          <p:cNvPr id="35" name="Text 33"/>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marL="0" indent="0">
              <a:buNone/>
            </a:pPr>
            <a:r>
              <a:rPr lang="en-US" sz="2800" b="1" dirty="0">
                <a:solidFill>
                  <a:srgbClr val="0F172A"/>
                </a:solidFill>
                <a:latin typeface="Poppins" pitchFamily="34" charset="0"/>
                <a:ea typeface="Poppins" pitchFamily="34" charset="-122"/>
                <a:cs typeface="Poppins" pitchFamily="34" charset="-120"/>
              </a:rPr>
              <a:t>La solution KINN</a:t>
            </a:r>
            <a:endParaRPr lang="en-US" sz="2800" dirty="0"/>
          </a:p>
        </p:txBody>
      </p:sp>
      <p:sp>
        <p:nvSpPr>
          <p:cNvPr id="3" name="Text 1"/>
          <p:cNvSpPr/>
          <p:nvPr/>
        </p:nvSpPr>
        <p:spPr>
          <a:xfrm>
            <a:off x="640080" y="640080"/>
            <a:ext cx="7315200" cy="228600"/>
          </a:xfrm>
          <a:prstGeom prst="rect">
            <a:avLst/>
          </a:prstGeom>
          <a:noFill/>
          <a:ln/>
        </p:spPr>
        <p:txBody>
          <a:bodyPr wrap="square" lIns="0" tIns="0" rIns="0" bIns="0" rtlCol="0" anchor="ctr"/>
          <a:lstStyle/>
          <a:p>
            <a:pPr marL="0" indent="0">
              <a:buNone/>
            </a:pPr>
            <a:r>
              <a:rPr lang="en-US" sz="1100" dirty="0">
                <a:solidFill>
                  <a:srgbClr val="6B7280"/>
                </a:solidFill>
                <a:latin typeface="Poppins" pitchFamily="34" charset="0"/>
                <a:ea typeface="Poppins" pitchFamily="34" charset="-122"/>
                <a:cs typeface="Poppins" pitchFamily="34" charset="-120"/>
              </a:rPr>
              <a:t>Une plateforme intelligente pour tout connecter et tout automatiser</a:t>
            </a:r>
            <a:endParaRPr lang="en-US" sz="1100" dirty="0"/>
          </a:p>
        </p:txBody>
      </p:sp>
      <p:sp>
        <p:nvSpPr>
          <p:cNvPr id="4" name="Shape 2"/>
          <p:cNvSpPr/>
          <p:nvPr/>
        </p:nvSpPr>
        <p:spPr>
          <a:xfrm>
            <a:off x="1508760" y="1051560"/>
            <a:ext cx="502920" cy="502920"/>
          </a:xfrm>
          <a:prstGeom prst="ellipse">
            <a:avLst/>
          </a:prstGeom>
          <a:solidFill>
            <a:srgbClr val="1677FF"/>
          </a:solidFill>
          <a:ln/>
        </p:spPr>
      </p:sp>
      <p:sp>
        <p:nvSpPr>
          <p:cNvPr id="5" name="Text 3"/>
          <p:cNvSpPr/>
          <p:nvPr/>
        </p:nvSpPr>
        <p:spPr>
          <a:xfrm>
            <a:off x="1508760" y="105156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Poppins" pitchFamily="34" charset="0"/>
                <a:ea typeface="Poppins" pitchFamily="34" charset="-122"/>
                <a:cs typeface="Poppins" pitchFamily="34" charset="-120"/>
              </a:rPr>
              <a:t>1</a:t>
            </a:r>
            <a:endParaRPr lang="en-US" sz="2000" dirty="0"/>
          </a:p>
        </p:txBody>
      </p:sp>
      <p:sp>
        <p:nvSpPr>
          <p:cNvPr id="6" name="Shape 4"/>
          <p:cNvSpPr/>
          <p:nvPr/>
        </p:nvSpPr>
        <p:spPr>
          <a:xfrm>
            <a:off x="548640" y="1737360"/>
            <a:ext cx="2468880" cy="2926080"/>
          </a:xfrm>
          <a:prstGeom prst="rect">
            <a:avLst/>
          </a:prstGeom>
          <a:solidFill>
            <a:srgbClr val="F7F9FC"/>
          </a:solidFill>
          <a:ln/>
          <a:effectLst>
            <a:outerShdw blurRad="76200" dist="25400" dir="8100000" algn="bl" rotWithShape="0">
              <a:srgbClr val="000000">
                <a:alpha val="6000"/>
              </a:srgbClr>
            </a:outerShdw>
          </a:effectLst>
        </p:spPr>
      </p:sp>
      <p:sp>
        <p:nvSpPr>
          <p:cNvPr id="7" name="Shape 5"/>
          <p:cNvSpPr/>
          <p:nvPr/>
        </p:nvSpPr>
        <p:spPr>
          <a:xfrm>
            <a:off x="548640" y="1737360"/>
            <a:ext cx="2468880" cy="54864"/>
          </a:xfrm>
          <a:prstGeom prst="rect">
            <a:avLst/>
          </a:prstGeom>
          <a:solidFill>
            <a:srgbClr val="1677FF"/>
          </a:solidFill>
          <a:ln/>
        </p:spPr>
      </p:sp>
      <p:pic>
        <p:nvPicPr>
          <p:cNvPr id="8" name="Image 0" descr="preencoded.png"/>
          <p:cNvPicPr>
            <a:picLocks noChangeAspect="1"/>
          </p:cNvPicPr>
          <p:nvPr/>
        </p:nvPicPr>
        <p:blipFill>
          <a:blip r:embed="rId3"/>
          <a:stretch>
            <a:fillRect/>
          </a:stretch>
        </p:blipFill>
        <p:spPr>
          <a:xfrm>
            <a:off x="1508760" y="1920240"/>
            <a:ext cx="457200" cy="457200"/>
          </a:xfrm>
          <a:prstGeom prst="rect">
            <a:avLst/>
          </a:prstGeom>
        </p:spPr>
      </p:pic>
      <p:sp>
        <p:nvSpPr>
          <p:cNvPr id="9" name="Text 6"/>
          <p:cNvSpPr/>
          <p:nvPr/>
        </p:nvSpPr>
        <p:spPr>
          <a:xfrm>
            <a:off x="548640" y="2468880"/>
            <a:ext cx="2468880" cy="320040"/>
          </a:xfrm>
          <a:prstGeom prst="rect">
            <a:avLst/>
          </a:prstGeom>
          <a:noFill/>
          <a:ln/>
        </p:spPr>
        <p:txBody>
          <a:bodyPr wrap="square" lIns="0" tIns="0" rIns="0" bIns="0" rtlCol="0" anchor="ctr"/>
          <a:lstStyle/>
          <a:p>
            <a:pPr marL="0" indent="0" algn="ctr">
              <a:buNone/>
            </a:pPr>
            <a:r>
              <a:rPr lang="en-US" sz="1600" b="1" dirty="0">
                <a:solidFill>
                  <a:srgbClr val="1677FF"/>
                </a:solidFill>
                <a:latin typeface="Poppins" pitchFamily="34" charset="0"/>
                <a:ea typeface="Poppins" pitchFamily="34" charset="-122"/>
                <a:cs typeface="Poppins" pitchFamily="34" charset="-120"/>
              </a:rPr>
              <a:t>Connecter</a:t>
            </a:r>
            <a:endParaRPr lang="en-US" sz="1600" dirty="0"/>
          </a:p>
        </p:txBody>
      </p:sp>
      <p:sp>
        <p:nvSpPr>
          <p:cNvPr id="10" name="Text 7"/>
          <p:cNvSpPr/>
          <p:nvPr/>
        </p:nvSpPr>
        <p:spPr>
          <a:xfrm>
            <a:off x="640080" y="2788920"/>
            <a:ext cx="2286000" cy="640080"/>
          </a:xfrm>
          <a:prstGeom prst="rect">
            <a:avLst/>
          </a:prstGeom>
          <a:noFill/>
          <a:ln/>
        </p:spPr>
        <p:txBody>
          <a:bodyPr wrap="square" lIns="0" tIns="0" rIns="0" bIns="0" rtlCol="0" anchor="ctr"/>
          <a:lstStyle/>
          <a:p>
            <a:pPr marL="0" indent="0" algn="ctr">
              <a:lnSpc>
                <a:spcPct val="130000"/>
              </a:lnSpc>
              <a:buNone/>
            </a:pPr>
            <a:r>
              <a:rPr lang="en-US" sz="900" dirty="0">
                <a:solidFill>
                  <a:srgbClr val="374151"/>
                </a:solidFill>
                <a:latin typeface="Poppins" pitchFamily="34" charset="0"/>
                <a:ea typeface="Poppins" pitchFamily="34" charset="-122"/>
                <a:cs typeface="Poppins" pitchFamily="34" charset="-120"/>
              </a:rPr>
              <a:t>Reliez vos logiciels,</a:t>
            </a:r>
            <a:endParaRPr lang="en-US" sz="900" dirty="0"/>
          </a:p>
          <a:p>
            <a:pPr marL="0" indent="0" algn="ctr">
              <a:lnSpc>
                <a:spcPct val="130000"/>
              </a:lnSpc>
              <a:buNone/>
            </a:pPr>
            <a:r>
              <a:rPr lang="en-US" sz="900" dirty="0">
                <a:solidFill>
                  <a:srgbClr val="374151"/>
                </a:solidFill>
                <a:latin typeface="Poppins" pitchFamily="34" charset="0"/>
                <a:ea typeface="Poppins" pitchFamily="34" charset="-122"/>
                <a:cs typeface="Poppins" pitchFamily="34" charset="-120"/>
              </a:rPr>
              <a:t>API et bases de données</a:t>
            </a:r>
            <a:endParaRPr lang="en-US" sz="900" dirty="0"/>
          </a:p>
          <a:p>
            <a:pPr marL="0" indent="0" algn="ctr">
              <a:lnSpc>
                <a:spcPct val="130000"/>
              </a:lnSpc>
              <a:buNone/>
            </a:pPr>
            <a:r>
              <a:rPr lang="en-US" sz="900" dirty="0">
                <a:solidFill>
                  <a:srgbClr val="374151"/>
                </a:solidFill>
                <a:latin typeface="Poppins" pitchFamily="34" charset="0"/>
                <a:ea typeface="Poppins" pitchFamily="34" charset="-122"/>
                <a:cs typeface="Poppins" pitchFamily="34" charset="-120"/>
              </a:rPr>
              <a:t>en quelques clics</a:t>
            </a:r>
            <a:endParaRPr lang="en-US" sz="900" dirty="0"/>
          </a:p>
        </p:txBody>
      </p:sp>
      <p:pic>
        <p:nvPicPr>
          <p:cNvPr id="11" name="Image 1" descr="preencoded.png"/>
          <p:cNvPicPr>
            <a:picLocks noChangeAspect="1"/>
          </p:cNvPicPr>
          <p:nvPr/>
        </p:nvPicPr>
        <p:blipFill>
          <a:blip r:embed="rId4"/>
          <a:stretch>
            <a:fillRect/>
          </a:stretch>
        </p:blipFill>
        <p:spPr>
          <a:xfrm>
            <a:off x="731520" y="3520440"/>
            <a:ext cx="146304" cy="146304"/>
          </a:xfrm>
          <a:prstGeom prst="rect">
            <a:avLst/>
          </a:prstGeom>
        </p:spPr>
      </p:pic>
      <p:sp>
        <p:nvSpPr>
          <p:cNvPr id="12" name="Text 8"/>
          <p:cNvSpPr/>
          <p:nvPr/>
        </p:nvSpPr>
        <p:spPr>
          <a:xfrm>
            <a:off x="932688" y="3502152"/>
            <a:ext cx="1920240" cy="22860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ERP, CRM, emails</a:t>
            </a:r>
            <a:endParaRPr lang="en-US" sz="850" dirty="0"/>
          </a:p>
        </p:txBody>
      </p:sp>
      <p:pic>
        <p:nvPicPr>
          <p:cNvPr id="13" name="Image 2" descr="preencoded.png"/>
          <p:cNvPicPr>
            <a:picLocks noChangeAspect="1"/>
          </p:cNvPicPr>
          <p:nvPr/>
        </p:nvPicPr>
        <p:blipFill>
          <a:blip r:embed="rId4"/>
          <a:stretch>
            <a:fillRect/>
          </a:stretch>
        </p:blipFill>
        <p:spPr>
          <a:xfrm>
            <a:off x="731520" y="3776472"/>
            <a:ext cx="146304" cy="146304"/>
          </a:xfrm>
          <a:prstGeom prst="rect">
            <a:avLst/>
          </a:prstGeom>
        </p:spPr>
      </p:pic>
      <p:sp>
        <p:nvSpPr>
          <p:cNvPr id="14" name="Text 9"/>
          <p:cNvSpPr/>
          <p:nvPr/>
        </p:nvSpPr>
        <p:spPr>
          <a:xfrm>
            <a:off x="932688" y="3758184"/>
            <a:ext cx="1920240" cy="22860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API externes</a:t>
            </a:r>
            <a:endParaRPr lang="en-US" sz="850" dirty="0"/>
          </a:p>
        </p:txBody>
      </p:sp>
      <p:pic>
        <p:nvPicPr>
          <p:cNvPr id="15" name="Image 3" descr="preencoded.png"/>
          <p:cNvPicPr>
            <a:picLocks noChangeAspect="1"/>
          </p:cNvPicPr>
          <p:nvPr/>
        </p:nvPicPr>
        <p:blipFill>
          <a:blip r:embed="rId4"/>
          <a:stretch>
            <a:fillRect/>
          </a:stretch>
        </p:blipFill>
        <p:spPr>
          <a:xfrm>
            <a:off x="731520" y="4032504"/>
            <a:ext cx="146304" cy="146304"/>
          </a:xfrm>
          <a:prstGeom prst="rect">
            <a:avLst/>
          </a:prstGeom>
        </p:spPr>
      </p:pic>
      <p:sp>
        <p:nvSpPr>
          <p:cNvPr id="16" name="Text 10"/>
          <p:cNvSpPr/>
          <p:nvPr/>
        </p:nvSpPr>
        <p:spPr>
          <a:xfrm>
            <a:off x="932688" y="4014216"/>
            <a:ext cx="1920240" cy="22860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Google Drive, Slack...</a:t>
            </a:r>
            <a:endParaRPr lang="en-US" sz="850" dirty="0"/>
          </a:p>
        </p:txBody>
      </p:sp>
      <p:pic>
        <p:nvPicPr>
          <p:cNvPr id="17" name="Image 4" descr="preencoded.png"/>
          <p:cNvPicPr>
            <a:picLocks noChangeAspect="1"/>
          </p:cNvPicPr>
          <p:nvPr/>
        </p:nvPicPr>
        <p:blipFill>
          <a:blip r:embed="rId4"/>
          <a:stretch>
            <a:fillRect/>
          </a:stretch>
        </p:blipFill>
        <p:spPr>
          <a:xfrm>
            <a:off x="731520" y="4288536"/>
            <a:ext cx="146304" cy="146304"/>
          </a:xfrm>
          <a:prstGeom prst="rect">
            <a:avLst/>
          </a:prstGeom>
        </p:spPr>
      </p:pic>
      <p:sp>
        <p:nvSpPr>
          <p:cNvPr id="18" name="Text 11"/>
          <p:cNvSpPr/>
          <p:nvPr/>
        </p:nvSpPr>
        <p:spPr>
          <a:xfrm>
            <a:off x="932688" y="4270248"/>
            <a:ext cx="1920240" cy="22860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Bases de données</a:t>
            </a:r>
            <a:endParaRPr lang="en-US" sz="850" dirty="0"/>
          </a:p>
        </p:txBody>
      </p:sp>
      <p:sp>
        <p:nvSpPr>
          <p:cNvPr id="19" name="Text 12"/>
          <p:cNvSpPr/>
          <p:nvPr/>
        </p:nvSpPr>
        <p:spPr>
          <a:xfrm>
            <a:off x="3017520" y="2743200"/>
            <a:ext cx="320040" cy="457200"/>
          </a:xfrm>
          <a:prstGeom prst="rect">
            <a:avLst/>
          </a:prstGeom>
          <a:noFill/>
          <a:ln/>
        </p:spPr>
        <p:txBody>
          <a:bodyPr wrap="square" lIns="0" tIns="0" rIns="0" bIns="0" rtlCol="0" anchor="ctr"/>
          <a:lstStyle/>
          <a:p>
            <a:pPr marL="0" indent="0" algn="ctr">
              <a:buNone/>
            </a:pPr>
            <a:r>
              <a:rPr lang="en-US" sz="1600" dirty="0">
                <a:solidFill>
                  <a:srgbClr val="9CA3AF"/>
                </a:solidFill>
                <a:latin typeface="Poppins" pitchFamily="34" charset="0"/>
                <a:ea typeface="Poppins" pitchFamily="34" charset="-122"/>
                <a:cs typeface="Poppins" pitchFamily="34" charset="-120"/>
              </a:rPr>
              <a:t>►</a:t>
            </a:r>
            <a:endParaRPr lang="en-US" sz="1600" dirty="0"/>
          </a:p>
        </p:txBody>
      </p:sp>
      <p:sp>
        <p:nvSpPr>
          <p:cNvPr id="20" name="Shape 13"/>
          <p:cNvSpPr/>
          <p:nvPr/>
        </p:nvSpPr>
        <p:spPr>
          <a:xfrm>
            <a:off x="4297680" y="1051560"/>
            <a:ext cx="502920" cy="502920"/>
          </a:xfrm>
          <a:prstGeom prst="ellipse">
            <a:avLst/>
          </a:prstGeom>
          <a:solidFill>
            <a:srgbClr val="7C3AED"/>
          </a:solidFill>
          <a:ln/>
        </p:spPr>
      </p:sp>
      <p:sp>
        <p:nvSpPr>
          <p:cNvPr id="21" name="Text 14"/>
          <p:cNvSpPr/>
          <p:nvPr/>
        </p:nvSpPr>
        <p:spPr>
          <a:xfrm>
            <a:off x="4297680" y="105156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Poppins" pitchFamily="34" charset="0"/>
                <a:ea typeface="Poppins" pitchFamily="34" charset="-122"/>
                <a:cs typeface="Poppins" pitchFamily="34" charset="-120"/>
              </a:rPr>
              <a:t>2</a:t>
            </a:r>
            <a:endParaRPr lang="en-US" sz="2000" dirty="0"/>
          </a:p>
        </p:txBody>
      </p:sp>
      <p:sp>
        <p:nvSpPr>
          <p:cNvPr id="22" name="Shape 15"/>
          <p:cNvSpPr/>
          <p:nvPr/>
        </p:nvSpPr>
        <p:spPr>
          <a:xfrm>
            <a:off x="3337560" y="1737360"/>
            <a:ext cx="2468880" cy="2926080"/>
          </a:xfrm>
          <a:prstGeom prst="rect">
            <a:avLst/>
          </a:prstGeom>
          <a:solidFill>
            <a:srgbClr val="F7F9FC"/>
          </a:solidFill>
          <a:ln/>
          <a:effectLst>
            <a:outerShdw blurRad="76200" dist="25400" dir="8100000" algn="bl" rotWithShape="0">
              <a:srgbClr val="000000">
                <a:alpha val="6000"/>
              </a:srgbClr>
            </a:outerShdw>
          </a:effectLst>
        </p:spPr>
      </p:sp>
      <p:sp>
        <p:nvSpPr>
          <p:cNvPr id="23" name="Shape 16"/>
          <p:cNvSpPr/>
          <p:nvPr/>
        </p:nvSpPr>
        <p:spPr>
          <a:xfrm>
            <a:off x="3337560" y="1737360"/>
            <a:ext cx="2468880" cy="54864"/>
          </a:xfrm>
          <a:prstGeom prst="rect">
            <a:avLst/>
          </a:prstGeom>
          <a:solidFill>
            <a:srgbClr val="7C3AED"/>
          </a:solidFill>
          <a:ln/>
        </p:spPr>
      </p:sp>
      <p:pic>
        <p:nvPicPr>
          <p:cNvPr id="24" name="Image 5" descr="preencoded.png"/>
          <p:cNvPicPr>
            <a:picLocks noChangeAspect="1"/>
          </p:cNvPicPr>
          <p:nvPr/>
        </p:nvPicPr>
        <p:blipFill>
          <a:blip r:embed="rId5"/>
          <a:stretch>
            <a:fillRect/>
          </a:stretch>
        </p:blipFill>
        <p:spPr>
          <a:xfrm>
            <a:off x="4297680" y="1920240"/>
            <a:ext cx="457200" cy="457200"/>
          </a:xfrm>
          <a:prstGeom prst="rect">
            <a:avLst/>
          </a:prstGeom>
        </p:spPr>
      </p:pic>
      <p:sp>
        <p:nvSpPr>
          <p:cNvPr id="25" name="Text 17"/>
          <p:cNvSpPr/>
          <p:nvPr/>
        </p:nvSpPr>
        <p:spPr>
          <a:xfrm>
            <a:off x="3337560" y="2468880"/>
            <a:ext cx="2468880" cy="320040"/>
          </a:xfrm>
          <a:prstGeom prst="rect">
            <a:avLst/>
          </a:prstGeom>
          <a:noFill/>
          <a:ln/>
        </p:spPr>
        <p:txBody>
          <a:bodyPr wrap="square" lIns="0" tIns="0" rIns="0" bIns="0" rtlCol="0" anchor="ctr"/>
          <a:lstStyle/>
          <a:p>
            <a:pPr marL="0" indent="0" algn="ctr">
              <a:buNone/>
            </a:pPr>
            <a:r>
              <a:rPr lang="en-US" sz="1600" b="1" dirty="0">
                <a:solidFill>
                  <a:srgbClr val="7C3AED"/>
                </a:solidFill>
                <a:latin typeface="Poppins" pitchFamily="34" charset="0"/>
                <a:ea typeface="Poppins" pitchFamily="34" charset="-122"/>
                <a:cs typeface="Poppins" pitchFamily="34" charset="-120"/>
              </a:rPr>
              <a:t>Automatiser</a:t>
            </a:r>
            <a:endParaRPr lang="en-US" sz="1600" dirty="0"/>
          </a:p>
        </p:txBody>
      </p:sp>
      <p:sp>
        <p:nvSpPr>
          <p:cNvPr id="26" name="Text 18"/>
          <p:cNvSpPr/>
          <p:nvPr/>
        </p:nvSpPr>
        <p:spPr>
          <a:xfrm>
            <a:off x="3429000" y="2788920"/>
            <a:ext cx="2286000" cy="640080"/>
          </a:xfrm>
          <a:prstGeom prst="rect">
            <a:avLst/>
          </a:prstGeom>
          <a:noFill/>
          <a:ln/>
        </p:spPr>
        <p:txBody>
          <a:bodyPr wrap="square" lIns="0" tIns="0" rIns="0" bIns="0" rtlCol="0" anchor="ctr"/>
          <a:lstStyle/>
          <a:p>
            <a:pPr marL="0" indent="0" algn="ctr">
              <a:lnSpc>
                <a:spcPct val="130000"/>
              </a:lnSpc>
              <a:buNone/>
            </a:pPr>
            <a:r>
              <a:rPr lang="en-US" sz="900" dirty="0">
                <a:solidFill>
                  <a:srgbClr val="374151"/>
                </a:solidFill>
                <a:latin typeface="Poppins" pitchFamily="34" charset="0"/>
                <a:ea typeface="Poppins" pitchFamily="34" charset="-122"/>
                <a:cs typeface="Poppins" pitchFamily="34" charset="-120"/>
              </a:rPr>
              <a:t>Créez des workflows</a:t>
            </a:r>
            <a:endParaRPr lang="en-US" sz="900" dirty="0"/>
          </a:p>
          <a:p>
            <a:pPr marL="0" indent="0" algn="ctr">
              <a:lnSpc>
                <a:spcPct val="130000"/>
              </a:lnSpc>
              <a:buNone/>
            </a:pPr>
            <a:r>
              <a:rPr lang="en-US" sz="900" dirty="0">
                <a:solidFill>
                  <a:srgbClr val="374151"/>
                </a:solidFill>
                <a:latin typeface="Poppins" pitchFamily="34" charset="0"/>
                <a:ea typeface="Poppins" pitchFamily="34" charset="-122"/>
                <a:cs typeface="Poppins" pitchFamily="34" charset="-120"/>
              </a:rPr>
              <a:t>visuels sans coder</a:t>
            </a:r>
            <a:endParaRPr lang="en-US" sz="900" dirty="0"/>
          </a:p>
          <a:p>
            <a:pPr marL="0" indent="0" algn="ctr">
              <a:lnSpc>
                <a:spcPct val="130000"/>
              </a:lnSpc>
              <a:buNone/>
            </a:pPr>
            <a:r>
              <a:rPr lang="en-US" sz="900" dirty="0">
                <a:solidFill>
                  <a:srgbClr val="374151"/>
                </a:solidFill>
                <a:latin typeface="Poppins" pitchFamily="34" charset="0"/>
                <a:ea typeface="Poppins" pitchFamily="34" charset="-122"/>
                <a:cs typeface="Poppins" pitchFamily="34" charset="-120"/>
              </a:rPr>
              <a:t>avec l'IA</a:t>
            </a:r>
            <a:endParaRPr lang="en-US" sz="900" dirty="0"/>
          </a:p>
        </p:txBody>
      </p:sp>
      <p:pic>
        <p:nvPicPr>
          <p:cNvPr id="27" name="Image 6" descr="preencoded.png"/>
          <p:cNvPicPr>
            <a:picLocks noChangeAspect="1"/>
          </p:cNvPicPr>
          <p:nvPr/>
        </p:nvPicPr>
        <p:blipFill>
          <a:blip r:embed="rId4"/>
          <a:stretch>
            <a:fillRect/>
          </a:stretch>
        </p:blipFill>
        <p:spPr>
          <a:xfrm>
            <a:off x="3520440" y="3520440"/>
            <a:ext cx="146304" cy="146304"/>
          </a:xfrm>
          <a:prstGeom prst="rect">
            <a:avLst/>
          </a:prstGeom>
        </p:spPr>
      </p:pic>
      <p:sp>
        <p:nvSpPr>
          <p:cNvPr id="28" name="Text 19"/>
          <p:cNvSpPr/>
          <p:nvPr/>
        </p:nvSpPr>
        <p:spPr>
          <a:xfrm>
            <a:off x="3721608" y="3502152"/>
            <a:ext cx="1920240" cy="22860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Éditeur visuel no-code</a:t>
            </a:r>
            <a:endParaRPr lang="en-US" sz="850" dirty="0"/>
          </a:p>
        </p:txBody>
      </p:sp>
      <p:pic>
        <p:nvPicPr>
          <p:cNvPr id="29" name="Image 7" descr="preencoded.png"/>
          <p:cNvPicPr>
            <a:picLocks noChangeAspect="1"/>
          </p:cNvPicPr>
          <p:nvPr/>
        </p:nvPicPr>
        <p:blipFill>
          <a:blip r:embed="rId4"/>
          <a:stretch>
            <a:fillRect/>
          </a:stretch>
        </p:blipFill>
        <p:spPr>
          <a:xfrm>
            <a:off x="3520440" y="3776472"/>
            <a:ext cx="146304" cy="146304"/>
          </a:xfrm>
          <a:prstGeom prst="rect">
            <a:avLst/>
          </a:prstGeom>
        </p:spPr>
      </p:pic>
      <p:sp>
        <p:nvSpPr>
          <p:cNvPr id="30" name="Text 20"/>
          <p:cNvSpPr/>
          <p:nvPr/>
        </p:nvSpPr>
        <p:spPr>
          <a:xfrm>
            <a:off x="3721608" y="3758184"/>
            <a:ext cx="1920240" cy="22860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Templates métiers prêts</a:t>
            </a:r>
            <a:endParaRPr lang="en-US" sz="850" dirty="0"/>
          </a:p>
        </p:txBody>
      </p:sp>
      <p:pic>
        <p:nvPicPr>
          <p:cNvPr id="31" name="Image 8" descr="preencoded.png"/>
          <p:cNvPicPr>
            <a:picLocks noChangeAspect="1"/>
          </p:cNvPicPr>
          <p:nvPr/>
        </p:nvPicPr>
        <p:blipFill>
          <a:blip r:embed="rId4"/>
          <a:stretch>
            <a:fillRect/>
          </a:stretch>
        </p:blipFill>
        <p:spPr>
          <a:xfrm>
            <a:off x="3520440" y="4032504"/>
            <a:ext cx="146304" cy="146304"/>
          </a:xfrm>
          <a:prstGeom prst="rect">
            <a:avLst/>
          </a:prstGeom>
        </p:spPr>
      </p:pic>
      <p:sp>
        <p:nvSpPr>
          <p:cNvPr id="32" name="Text 21"/>
          <p:cNvSpPr/>
          <p:nvPr/>
        </p:nvSpPr>
        <p:spPr>
          <a:xfrm>
            <a:off x="3721608" y="4014216"/>
            <a:ext cx="1920240" cy="22860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IA qui crée les workflows</a:t>
            </a:r>
            <a:endParaRPr lang="en-US" sz="850" dirty="0"/>
          </a:p>
        </p:txBody>
      </p:sp>
      <p:pic>
        <p:nvPicPr>
          <p:cNvPr id="33" name="Image 9" descr="preencoded.png"/>
          <p:cNvPicPr>
            <a:picLocks noChangeAspect="1"/>
          </p:cNvPicPr>
          <p:nvPr/>
        </p:nvPicPr>
        <p:blipFill>
          <a:blip r:embed="rId4"/>
          <a:stretch>
            <a:fillRect/>
          </a:stretch>
        </p:blipFill>
        <p:spPr>
          <a:xfrm>
            <a:off x="3520440" y="4288536"/>
            <a:ext cx="146304" cy="146304"/>
          </a:xfrm>
          <a:prstGeom prst="rect">
            <a:avLst/>
          </a:prstGeom>
        </p:spPr>
      </p:pic>
      <p:sp>
        <p:nvSpPr>
          <p:cNvPr id="34" name="Text 22"/>
          <p:cNvSpPr/>
          <p:nvPr/>
        </p:nvSpPr>
        <p:spPr>
          <a:xfrm>
            <a:off x="3721608" y="4270248"/>
            <a:ext cx="1920240" cy="22860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Conditions, boucles, branchements</a:t>
            </a:r>
            <a:endParaRPr lang="en-US" sz="850" dirty="0"/>
          </a:p>
        </p:txBody>
      </p:sp>
      <p:sp>
        <p:nvSpPr>
          <p:cNvPr id="35" name="Text 23"/>
          <p:cNvSpPr/>
          <p:nvPr/>
        </p:nvSpPr>
        <p:spPr>
          <a:xfrm>
            <a:off x="5806440" y="2743200"/>
            <a:ext cx="320040" cy="457200"/>
          </a:xfrm>
          <a:prstGeom prst="rect">
            <a:avLst/>
          </a:prstGeom>
          <a:noFill/>
          <a:ln/>
        </p:spPr>
        <p:txBody>
          <a:bodyPr wrap="square" lIns="0" tIns="0" rIns="0" bIns="0" rtlCol="0" anchor="ctr"/>
          <a:lstStyle/>
          <a:p>
            <a:pPr marL="0" indent="0" algn="ctr">
              <a:buNone/>
            </a:pPr>
            <a:r>
              <a:rPr lang="en-US" sz="1600" dirty="0">
                <a:solidFill>
                  <a:srgbClr val="9CA3AF"/>
                </a:solidFill>
                <a:latin typeface="Poppins" pitchFamily="34" charset="0"/>
                <a:ea typeface="Poppins" pitchFamily="34" charset="-122"/>
                <a:cs typeface="Poppins" pitchFamily="34" charset="-120"/>
              </a:rPr>
              <a:t>►</a:t>
            </a:r>
            <a:endParaRPr lang="en-US" sz="1600" dirty="0"/>
          </a:p>
        </p:txBody>
      </p:sp>
      <p:sp>
        <p:nvSpPr>
          <p:cNvPr id="36" name="Shape 24"/>
          <p:cNvSpPr/>
          <p:nvPr/>
        </p:nvSpPr>
        <p:spPr>
          <a:xfrm>
            <a:off x="7086600" y="1051560"/>
            <a:ext cx="502920" cy="502920"/>
          </a:xfrm>
          <a:prstGeom prst="ellipse">
            <a:avLst/>
          </a:prstGeom>
          <a:solidFill>
            <a:srgbClr val="16A34A"/>
          </a:solidFill>
          <a:ln/>
        </p:spPr>
      </p:sp>
      <p:sp>
        <p:nvSpPr>
          <p:cNvPr id="37" name="Text 25"/>
          <p:cNvSpPr/>
          <p:nvPr/>
        </p:nvSpPr>
        <p:spPr>
          <a:xfrm>
            <a:off x="7086600" y="105156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Poppins" pitchFamily="34" charset="0"/>
                <a:ea typeface="Poppins" pitchFamily="34" charset="-122"/>
                <a:cs typeface="Poppins" pitchFamily="34" charset="-120"/>
              </a:rPr>
              <a:t>3</a:t>
            </a:r>
            <a:endParaRPr lang="en-US" sz="2000" dirty="0"/>
          </a:p>
        </p:txBody>
      </p:sp>
      <p:sp>
        <p:nvSpPr>
          <p:cNvPr id="38" name="Shape 26"/>
          <p:cNvSpPr/>
          <p:nvPr/>
        </p:nvSpPr>
        <p:spPr>
          <a:xfrm>
            <a:off x="6126480" y="1737360"/>
            <a:ext cx="2468880" cy="2926080"/>
          </a:xfrm>
          <a:prstGeom prst="rect">
            <a:avLst/>
          </a:prstGeom>
          <a:solidFill>
            <a:srgbClr val="F7F9FC"/>
          </a:solidFill>
          <a:ln/>
          <a:effectLst>
            <a:outerShdw blurRad="76200" dist="25400" dir="8100000" algn="bl" rotWithShape="0">
              <a:srgbClr val="000000">
                <a:alpha val="6000"/>
              </a:srgbClr>
            </a:outerShdw>
          </a:effectLst>
        </p:spPr>
      </p:sp>
      <p:sp>
        <p:nvSpPr>
          <p:cNvPr id="39" name="Shape 27"/>
          <p:cNvSpPr/>
          <p:nvPr/>
        </p:nvSpPr>
        <p:spPr>
          <a:xfrm>
            <a:off x="6126480" y="1737360"/>
            <a:ext cx="2468880" cy="54864"/>
          </a:xfrm>
          <a:prstGeom prst="rect">
            <a:avLst/>
          </a:prstGeom>
          <a:solidFill>
            <a:srgbClr val="16A34A"/>
          </a:solidFill>
          <a:ln/>
        </p:spPr>
      </p:sp>
      <p:pic>
        <p:nvPicPr>
          <p:cNvPr id="40" name="Image 10" descr="preencoded.png"/>
          <p:cNvPicPr>
            <a:picLocks noChangeAspect="1"/>
          </p:cNvPicPr>
          <p:nvPr/>
        </p:nvPicPr>
        <p:blipFill>
          <a:blip r:embed="rId6"/>
          <a:stretch>
            <a:fillRect/>
          </a:stretch>
        </p:blipFill>
        <p:spPr>
          <a:xfrm>
            <a:off x="7086600" y="1920240"/>
            <a:ext cx="457200" cy="457200"/>
          </a:xfrm>
          <a:prstGeom prst="rect">
            <a:avLst/>
          </a:prstGeom>
        </p:spPr>
      </p:pic>
      <p:sp>
        <p:nvSpPr>
          <p:cNvPr id="41" name="Text 28"/>
          <p:cNvSpPr/>
          <p:nvPr/>
        </p:nvSpPr>
        <p:spPr>
          <a:xfrm>
            <a:off x="6126480" y="2468880"/>
            <a:ext cx="2468880" cy="320040"/>
          </a:xfrm>
          <a:prstGeom prst="rect">
            <a:avLst/>
          </a:prstGeom>
          <a:noFill/>
          <a:ln/>
        </p:spPr>
        <p:txBody>
          <a:bodyPr wrap="square" lIns="0" tIns="0" rIns="0" bIns="0" rtlCol="0" anchor="ctr"/>
          <a:lstStyle/>
          <a:p>
            <a:pPr marL="0" indent="0" algn="ctr">
              <a:buNone/>
            </a:pPr>
            <a:r>
              <a:rPr lang="en-US" sz="1600" b="1" dirty="0">
                <a:solidFill>
                  <a:srgbClr val="16A34A"/>
                </a:solidFill>
                <a:latin typeface="Poppins" pitchFamily="34" charset="0"/>
                <a:ea typeface="Poppins" pitchFamily="34" charset="-122"/>
                <a:cs typeface="Poppins" pitchFamily="34" charset="-120"/>
              </a:rPr>
              <a:t>Piloter</a:t>
            </a:r>
            <a:endParaRPr lang="en-US" sz="1600" dirty="0"/>
          </a:p>
        </p:txBody>
      </p:sp>
      <p:sp>
        <p:nvSpPr>
          <p:cNvPr id="42" name="Text 29"/>
          <p:cNvSpPr/>
          <p:nvPr/>
        </p:nvSpPr>
        <p:spPr>
          <a:xfrm>
            <a:off x="6217920" y="2788920"/>
            <a:ext cx="2286000" cy="640080"/>
          </a:xfrm>
          <a:prstGeom prst="rect">
            <a:avLst/>
          </a:prstGeom>
          <a:noFill/>
          <a:ln/>
        </p:spPr>
        <p:txBody>
          <a:bodyPr wrap="square" lIns="0" tIns="0" rIns="0" bIns="0" rtlCol="0" anchor="ctr"/>
          <a:lstStyle/>
          <a:p>
            <a:pPr marL="0" indent="0" algn="ctr">
              <a:lnSpc>
                <a:spcPct val="130000"/>
              </a:lnSpc>
              <a:buNone/>
            </a:pPr>
            <a:r>
              <a:rPr lang="en-US" sz="900" dirty="0">
                <a:solidFill>
                  <a:srgbClr val="374151"/>
                </a:solidFill>
                <a:latin typeface="Poppins" pitchFamily="34" charset="0"/>
                <a:ea typeface="Poppins" pitchFamily="34" charset="-122"/>
                <a:cs typeface="Poppins" pitchFamily="34" charset="-120"/>
              </a:rPr>
              <a:t>Visualisez vos données,</a:t>
            </a:r>
            <a:endParaRPr lang="en-US" sz="900" dirty="0"/>
          </a:p>
          <a:p>
            <a:pPr marL="0" indent="0" algn="ctr">
              <a:lnSpc>
                <a:spcPct val="130000"/>
              </a:lnSpc>
              <a:buNone/>
            </a:pPr>
            <a:r>
              <a:rPr lang="en-US" sz="900" dirty="0">
                <a:solidFill>
                  <a:srgbClr val="374151"/>
                </a:solidFill>
                <a:latin typeface="Poppins" pitchFamily="34" charset="0"/>
                <a:ea typeface="Poppins" pitchFamily="34" charset="-122"/>
                <a:cs typeface="Poppins" pitchFamily="34" charset="-120"/>
              </a:rPr>
              <a:t>processus et indicateurs</a:t>
            </a:r>
            <a:endParaRPr lang="en-US" sz="900" dirty="0"/>
          </a:p>
          <a:p>
            <a:pPr marL="0" indent="0" algn="ctr">
              <a:lnSpc>
                <a:spcPct val="130000"/>
              </a:lnSpc>
              <a:buNone/>
            </a:pPr>
            <a:r>
              <a:rPr lang="en-US" sz="900" dirty="0">
                <a:solidFill>
                  <a:srgbClr val="374151"/>
                </a:solidFill>
                <a:latin typeface="Poppins" pitchFamily="34" charset="0"/>
                <a:ea typeface="Poppins" pitchFamily="34" charset="-122"/>
                <a:cs typeface="Poppins" pitchFamily="34" charset="-120"/>
              </a:rPr>
              <a:t>en temps réel</a:t>
            </a:r>
            <a:endParaRPr lang="en-US" sz="900" dirty="0"/>
          </a:p>
        </p:txBody>
      </p:sp>
      <p:pic>
        <p:nvPicPr>
          <p:cNvPr id="43" name="Image 11" descr="preencoded.png"/>
          <p:cNvPicPr>
            <a:picLocks noChangeAspect="1"/>
          </p:cNvPicPr>
          <p:nvPr/>
        </p:nvPicPr>
        <p:blipFill>
          <a:blip r:embed="rId4"/>
          <a:stretch>
            <a:fillRect/>
          </a:stretch>
        </p:blipFill>
        <p:spPr>
          <a:xfrm>
            <a:off x="6309360" y="3520440"/>
            <a:ext cx="146304" cy="146304"/>
          </a:xfrm>
          <a:prstGeom prst="rect">
            <a:avLst/>
          </a:prstGeom>
        </p:spPr>
      </p:pic>
      <p:sp>
        <p:nvSpPr>
          <p:cNvPr id="44" name="Text 30"/>
          <p:cNvSpPr/>
          <p:nvPr/>
        </p:nvSpPr>
        <p:spPr>
          <a:xfrm>
            <a:off x="6510528" y="3502152"/>
            <a:ext cx="1920240" cy="22860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Tableaux de bord</a:t>
            </a:r>
            <a:endParaRPr lang="en-US" sz="850" dirty="0"/>
          </a:p>
        </p:txBody>
      </p:sp>
      <p:pic>
        <p:nvPicPr>
          <p:cNvPr id="45" name="Image 12" descr="preencoded.png"/>
          <p:cNvPicPr>
            <a:picLocks noChangeAspect="1"/>
          </p:cNvPicPr>
          <p:nvPr/>
        </p:nvPicPr>
        <p:blipFill>
          <a:blip r:embed="rId4"/>
          <a:stretch>
            <a:fillRect/>
          </a:stretch>
        </p:blipFill>
        <p:spPr>
          <a:xfrm>
            <a:off x="6309360" y="3776472"/>
            <a:ext cx="146304" cy="146304"/>
          </a:xfrm>
          <a:prstGeom prst="rect">
            <a:avLst/>
          </a:prstGeom>
        </p:spPr>
      </p:pic>
      <p:sp>
        <p:nvSpPr>
          <p:cNvPr id="46" name="Text 31"/>
          <p:cNvSpPr/>
          <p:nvPr/>
        </p:nvSpPr>
        <p:spPr>
          <a:xfrm>
            <a:off x="6510528" y="3758184"/>
            <a:ext cx="1920240" cy="22860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Suivi des workflows</a:t>
            </a:r>
            <a:endParaRPr lang="en-US" sz="850" dirty="0"/>
          </a:p>
        </p:txBody>
      </p:sp>
      <p:pic>
        <p:nvPicPr>
          <p:cNvPr id="47" name="Image 13" descr="preencoded.png"/>
          <p:cNvPicPr>
            <a:picLocks noChangeAspect="1"/>
          </p:cNvPicPr>
          <p:nvPr/>
        </p:nvPicPr>
        <p:blipFill>
          <a:blip r:embed="rId4"/>
          <a:stretch>
            <a:fillRect/>
          </a:stretch>
        </p:blipFill>
        <p:spPr>
          <a:xfrm>
            <a:off x="6309360" y="4032504"/>
            <a:ext cx="146304" cy="146304"/>
          </a:xfrm>
          <a:prstGeom prst="rect">
            <a:avLst/>
          </a:prstGeom>
        </p:spPr>
      </p:pic>
      <p:sp>
        <p:nvSpPr>
          <p:cNvPr id="48" name="Text 32"/>
          <p:cNvSpPr/>
          <p:nvPr/>
        </p:nvSpPr>
        <p:spPr>
          <a:xfrm>
            <a:off x="6510528" y="4014216"/>
            <a:ext cx="1920240" cy="22860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Alertes et notifications</a:t>
            </a:r>
            <a:endParaRPr lang="en-US" sz="850" dirty="0"/>
          </a:p>
        </p:txBody>
      </p:sp>
      <p:pic>
        <p:nvPicPr>
          <p:cNvPr id="49" name="Image 14" descr="preencoded.png"/>
          <p:cNvPicPr>
            <a:picLocks noChangeAspect="1"/>
          </p:cNvPicPr>
          <p:nvPr/>
        </p:nvPicPr>
        <p:blipFill>
          <a:blip r:embed="rId4"/>
          <a:stretch>
            <a:fillRect/>
          </a:stretch>
        </p:blipFill>
        <p:spPr>
          <a:xfrm>
            <a:off x="6309360" y="4288536"/>
            <a:ext cx="146304" cy="146304"/>
          </a:xfrm>
          <a:prstGeom prst="rect">
            <a:avLst/>
          </a:prstGeom>
        </p:spPr>
      </p:pic>
      <p:sp>
        <p:nvSpPr>
          <p:cNvPr id="50" name="Text 33"/>
          <p:cNvSpPr/>
          <p:nvPr/>
        </p:nvSpPr>
        <p:spPr>
          <a:xfrm>
            <a:off x="6510528" y="4270248"/>
            <a:ext cx="1920240" cy="22860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Rapports automatiques</a:t>
            </a:r>
            <a:endParaRPr lang="en-US" sz="850" dirty="0"/>
          </a:p>
        </p:txBody>
      </p:sp>
      <p:sp>
        <p:nvSpPr>
          <p:cNvPr id="51" name="Text 34"/>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marL="0" indent="0">
              <a:buNone/>
            </a:pPr>
            <a:r>
              <a:rPr lang="en-US" sz="2800" b="1" dirty="0">
                <a:solidFill>
                  <a:srgbClr val="0F172A"/>
                </a:solidFill>
                <a:latin typeface="Poppins" pitchFamily="34" charset="0"/>
                <a:ea typeface="Poppins" pitchFamily="34" charset="-122"/>
                <a:cs typeface="Poppins" pitchFamily="34" charset="-120"/>
              </a:rPr>
              <a:t>Vous êtes...</a:t>
            </a:r>
            <a:endParaRPr lang="en-US" sz="2800" dirty="0"/>
          </a:p>
        </p:txBody>
      </p:sp>
      <p:sp>
        <p:nvSpPr>
          <p:cNvPr id="3" name="Text 1"/>
          <p:cNvSpPr/>
          <p:nvPr/>
        </p:nvSpPr>
        <p:spPr>
          <a:xfrm>
            <a:off x="640080" y="640080"/>
            <a:ext cx="7315200" cy="228600"/>
          </a:xfrm>
          <a:prstGeom prst="rect">
            <a:avLst/>
          </a:prstGeom>
          <a:noFill/>
          <a:ln/>
        </p:spPr>
        <p:txBody>
          <a:bodyPr wrap="square" lIns="0" tIns="0" rIns="0" bIns="0" rtlCol="0" anchor="ctr"/>
          <a:lstStyle/>
          <a:p>
            <a:pPr marL="0" indent="0">
              <a:buNone/>
            </a:pPr>
            <a:r>
              <a:rPr lang="en-US" sz="1100" dirty="0">
                <a:solidFill>
                  <a:srgbClr val="6B7280"/>
                </a:solidFill>
                <a:latin typeface="Poppins" pitchFamily="34" charset="0"/>
                <a:ea typeface="Poppins" pitchFamily="34" charset="-122"/>
                <a:cs typeface="Poppins" pitchFamily="34" charset="-120"/>
              </a:rPr>
              <a:t>KINN répond à des besoins très différents selon votre profil</a:t>
            </a:r>
            <a:endParaRPr lang="en-US" sz="1100" dirty="0"/>
          </a:p>
        </p:txBody>
      </p:sp>
      <p:sp>
        <p:nvSpPr>
          <p:cNvPr id="4" name="Shape 2"/>
          <p:cNvSpPr/>
          <p:nvPr/>
        </p:nvSpPr>
        <p:spPr>
          <a:xfrm>
            <a:off x="640080" y="1051560"/>
            <a:ext cx="1463040" cy="3566160"/>
          </a:xfrm>
          <a:prstGeom prst="rect">
            <a:avLst/>
          </a:prstGeom>
          <a:solidFill>
            <a:srgbClr val="F7F9FC"/>
          </a:solidFill>
          <a:ln/>
          <a:effectLst>
            <a:outerShdw blurRad="76200" dist="25400" dir="8100000" algn="bl" rotWithShape="0">
              <a:srgbClr val="000000">
                <a:alpha val="6000"/>
              </a:srgbClr>
            </a:outerShdw>
          </a:effectLst>
        </p:spPr>
      </p:sp>
      <p:sp>
        <p:nvSpPr>
          <p:cNvPr id="5" name="Shape 3"/>
          <p:cNvSpPr/>
          <p:nvPr/>
        </p:nvSpPr>
        <p:spPr>
          <a:xfrm>
            <a:off x="640080" y="1051560"/>
            <a:ext cx="1463040" cy="54864"/>
          </a:xfrm>
          <a:prstGeom prst="rect">
            <a:avLst/>
          </a:prstGeom>
          <a:solidFill>
            <a:srgbClr val="4F46E5"/>
          </a:solidFill>
          <a:ln/>
        </p:spPr>
      </p:sp>
      <p:sp>
        <p:nvSpPr>
          <p:cNvPr id="6" name="Shape 4"/>
          <p:cNvSpPr/>
          <p:nvPr/>
        </p:nvSpPr>
        <p:spPr>
          <a:xfrm>
            <a:off x="1051560" y="1280160"/>
            <a:ext cx="640080" cy="640080"/>
          </a:xfrm>
          <a:prstGeom prst="ellipse">
            <a:avLst/>
          </a:prstGeom>
          <a:solidFill>
            <a:srgbClr val="F7F9FC"/>
          </a:solidFill>
          <a:ln w="19050">
            <a:solidFill>
              <a:srgbClr val="4F46E5"/>
            </a:solidFill>
            <a:prstDash val="solid"/>
          </a:ln>
        </p:spPr>
      </p:sp>
      <p:pic>
        <p:nvPicPr>
          <p:cNvPr id="7" name="Image 0" descr="preencoded.png"/>
          <p:cNvPicPr>
            <a:picLocks noChangeAspect="1"/>
          </p:cNvPicPr>
          <p:nvPr/>
        </p:nvPicPr>
        <p:blipFill>
          <a:blip r:embed="rId3"/>
          <a:stretch>
            <a:fillRect/>
          </a:stretch>
        </p:blipFill>
        <p:spPr>
          <a:xfrm>
            <a:off x="1188720" y="1417320"/>
            <a:ext cx="365760" cy="365760"/>
          </a:xfrm>
          <a:prstGeom prst="rect">
            <a:avLst/>
          </a:prstGeom>
        </p:spPr>
      </p:pic>
      <p:sp>
        <p:nvSpPr>
          <p:cNvPr id="8" name="Text 5"/>
          <p:cNvSpPr/>
          <p:nvPr/>
        </p:nvSpPr>
        <p:spPr>
          <a:xfrm>
            <a:off x="640080" y="2057400"/>
            <a:ext cx="1463040" cy="274320"/>
          </a:xfrm>
          <a:prstGeom prst="rect">
            <a:avLst/>
          </a:prstGeom>
          <a:noFill/>
          <a:ln/>
        </p:spPr>
        <p:txBody>
          <a:bodyPr wrap="square" lIns="0" tIns="0" rIns="0" bIns="0" rtlCol="0" anchor="ctr"/>
          <a:lstStyle/>
          <a:p>
            <a:pPr marL="0" indent="0" algn="ctr">
              <a:buNone/>
            </a:pPr>
            <a:r>
              <a:rPr lang="en-US" sz="1100" b="1" dirty="0">
                <a:solidFill>
                  <a:srgbClr val="4F46E5"/>
                </a:solidFill>
                <a:latin typeface="Poppins" pitchFamily="34" charset="0"/>
                <a:ea typeface="Poppins" pitchFamily="34" charset="-122"/>
                <a:cs typeface="Poppins" pitchFamily="34" charset="-120"/>
              </a:rPr>
              <a:t>Dirigeant TPE</a:t>
            </a:r>
            <a:endParaRPr lang="en-US" sz="1100" dirty="0"/>
          </a:p>
        </p:txBody>
      </p:sp>
      <p:sp>
        <p:nvSpPr>
          <p:cNvPr id="9" name="Text 6"/>
          <p:cNvSpPr/>
          <p:nvPr/>
        </p:nvSpPr>
        <p:spPr>
          <a:xfrm>
            <a:off x="640080" y="2331720"/>
            <a:ext cx="1463040" cy="411480"/>
          </a:xfrm>
          <a:prstGeom prst="rect">
            <a:avLst/>
          </a:prstGeom>
          <a:noFill/>
          <a:ln/>
        </p:spPr>
        <p:txBody>
          <a:bodyPr wrap="square" lIns="0" tIns="0" rIns="0" bIns="0" rtlCol="0" anchor="ctr"/>
          <a:lstStyle/>
          <a:p>
            <a:pPr marL="0" indent="0" algn="ctr">
              <a:lnSpc>
                <a:spcPct val="130000"/>
              </a:lnSpc>
              <a:buNone/>
            </a:pPr>
            <a:r>
              <a:rPr lang="en-US" sz="800" dirty="0">
                <a:solidFill>
                  <a:srgbClr val="6B7280"/>
                </a:solidFill>
                <a:latin typeface="Poppins" pitchFamily="34" charset="0"/>
                <a:ea typeface="Poppins" pitchFamily="34" charset="-122"/>
                <a:cs typeface="Poppins" pitchFamily="34" charset="-120"/>
              </a:rPr>
              <a:t>Auto-entrepreneur</a:t>
            </a:r>
            <a:endParaRPr lang="en-US" sz="800" dirty="0"/>
          </a:p>
          <a:p>
            <a:pPr marL="0" indent="0" algn="ctr">
              <a:lnSpc>
                <a:spcPct val="130000"/>
              </a:lnSpc>
              <a:buNone/>
            </a:pPr>
            <a:r>
              <a:rPr lang="en-US" sz="800" dirty="0">
                <a:solidFill>
                  <a:srgbClr val="6B7280"/>
                </a:solidFill>
                <a:latin typeface="Poppins" pitchFamily="34" charset="0"/>
                <a:ea typeface="Poppins" pitchFamily="34" charset="-122"/>
                <a:cs typeface="Poppins" pitchFamily="34" charset="-120"/>
              </a:rPr>
              <a:t>Petite entreprise</a:t>
            </a:r>
            <a:endParaRPr lang="en-US" sz="800" dirty="0"/>
          </a:p>
        </p:txBody>
      </p:sp>
      <p:sp>
        <p:nvSpPr>
          <p:cNvPr id="10" name="Shape 7"/>
          <p:cNvSpPr/>
          <p:nvPr/>
        </p:nvSpPr>
        <p:spPr>
          <a:xfrm>
            <a:off x="822960" y="2834640"/>
            <a:ext cx="1097280" cy="18288"/>
          </a:xfrm>
          <a:prstGeom prst="rect">
            <a:avLst/>
          </a:prstGeom>
          <a:solidFill>
            <a:srgbClr val="E5E7EB"/>
          </a:solidFill>
          <a:ln/>
        </p:spPr>
      </p:sp>
      <p:sp>
        <p:nvSpPr>
          <p:cNvPr id="11" name="Text 8"/>
          <p:cNvSpPr/>
          <p:nvPr/>
        </p:nvSpPr>
        <p:spPr>
          <a:xfrm>
            <a:off x="640080" y="2926080"/>
            <a:ext cx="1463040" cy="182880"/>
          </a:xfrm>
          <a:prstGeom prst="rect">
            <a:avLst/>
          </a:prstGeom>
          <a:noFill/>
          <a:ln/>
        </p:spPr>
        <p:txBody>
          <a:bodyPr wrap="square" lIns="0" tIns="0" rIns="0" bIns="0" rtlCol="0" anchor="ctr"/>
          <a:lstStyle/>
          <a:p>
            <a:pPr marL="0" indent="0" algn="ctr">
              <a:buNone/>
            </a:pPr>
            <a:r>
              <a:rPr lang="en-US" sz="700" b="1" dirty="0">
                <a:solidFill>
                  <a:srgbClr val="9CA3AF"/>
                </a:solidFill>
                <a:latin typeface="Poppins" pitchFamily="34" charset="0"/>
                <a:ea typeface="Poppins" pitchFamily="34" charset="-122"/>
                <a:cs typeface="Poppins" pitchFamily="34" charset="-120"/>
              </a:rPr>
              <a:t>Besoin principal</a:t>
            </a:r>
            <a:endParaRPr lang="en-US" sz="700" dirty="0"/>
          </a:p>
        </p:txBody>
      </p:sp>
      <p:sp>
        <p:nvSpPr>
          <p:cNvPr id="12" name="Text 9"/>
          <p:cNvSpPr/>
          <p:nvPr/>
        </p:nvSpPr>
        <p:spPr>
          <a:xfrm>
            <a:off x="685800" y="3154680"/>
            <a:ext cx="1371600" cy="457200"/>
          </a:xfrm>
          <a:prstGeom prst="rect">
            <a:avLst/>
          </a:prstGeom>
          <a:noFill/>
          <a:ln/>
        </p:spPr>
        <p:txBody>
          <a:bodyPr wrap="square" lIns="0" tIns="0" rIns="0" bIns="0" rtlCol="0" anchor="ctr"/>
          <a:lstStyle/>
          <a:p>
            <a:pPr marL="0" indent="0" algn="ctr">
              <a:lnSpc>
                <a:spcPct val="130000"/>
              </a:lnSpc>
              <a:buNone/>
            </a:pPr>
            <a:r>
              <a:rPr lang="en-US" sz="900" b="1" dirty="0">
                <a:solidFill>
                  <a:srgbClr val="0F172A"/>
                </a:solidFill>
                <a:latin typeface="Poppins" pitchFamily="34" charset="0"/>
                <a:ea typeface="Poppins" pitchFamily="34" charset="-122"/>
                <a:cs typeface="Poppins" pitchFamily="34" charset="-120"/>
              </a:rPr>
              <a:t>Gagner du temps</a:t>
            </a:r>
            <a:endParaRPr lang="en-US" sz="900" dirty="0"/>
          </a:p>
          <a:p>
            <a:pPr marL="0" indent="0" algn="ctr">
              <a:lnSpc>
                <a:spcPct val="130000"/>
              </a:lnSpc>
              <a:buNone/>
            </a:pPr>
            <a:r>
              <a:rPr lang="en-US" sz="900" b="1" dirty="0">
                <a:solidFill>
                  <a:srgbClr val="0F172A"/>
                </a:solidFill>
                <a:latin typeface="Poppins" pitchFamily="34" charset="0"/>
                <a:ea typeface="Poppins" pitchFamily="34" charset="-122"/>
                <a:cs typeface="Poppins" pitchFamily="34" charset="-120"/>
              </a:rPr>
              <a:t>sans développeur</a:t>
            </a:r>
            <a:endParaRPr lang="en-US" sz="900" dirty="0"/>
          </a:p>
        </p:txBody>
      </p:sp>
      <p:sp>
        <p:nvSpPr>
          <p:cNvPr id="13" name="Shape 10"/>
          <p:cNvSpPr/>
          <p:nvPr/>
        </p:nvSpPr>
        <p:spPr>
          <a:xfrm>
            <a:off x="777240" y="3840480"/>
            <a:ext cx="1188720" cy="320040"/>
          </a:xfrm>
          <a:prstGeom prst="rect">
            <a:avLst/>
          </a:prstGeom>
          <a:solidFill>
            <a:srgbClr val="4F46E5"/>
          </a:solidFill>
          <a:ln/>
        </p:spPr>
      </p:sp>
      <p:sp>
        <p:nvSpPr>
          <p:cNvPr id="14" name="Text 11"/>
          <p:cNvSpPr/>
          <p:nvPr/>
        </p:nvSpPr>
        <p:spPr>
          <a:xfrm>
            <a:off x="777240" y="3840480"/>
            <a:ext cx="118872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Poppins" pitchFamily="34" charset="0"/>
                <a:ea typeface="Poppins" pitchFamily="34" charset="-122"/>
                <a:cs typeface="Poppins" pitchFamily="34" charset="-120"/>
              </a:rPr>
              <a:t>Voir →</a:t>
            </a:r>
            <a:endParaRPr lang="en-US" sz="900" dirty="0"/>
          </a:p>
        </p:txBody>
      </p:sp>
      <p:sp>
        <p:nvSpPr>
          <p:cNvPr id="15" name="Shape 12"/>
          <p:cNvSpPr/>
          <p:nvPr/>
        </p:nvSpPr>
        <p:spPr>
          <a:xfrm>
            <a:off x="2240280" y="1051560"/>
            <a:ext cx="1463040" cy="3566160"/>
          </a:xfrm>
          <a:prstGeom prst="rect">
            <a:avLst/>
          </a:prstGeom>
          <a:solidFill>
            <a:srgbClr val="F7F9FC"/>
          </a:solidFill>
          <a:ln/>
          <a:effectLst>
            <a:outerShdw blurRad="76200" dist="25400" dir="8100000" algn="bl" rotWithShape="0">
              <a:srgbClr val="000000">
                <a:alpha val="6000"/>
              </a:srgbClr>
            </a:outerShdw>
          </a:effectLst>
        </p:spPr>
      </p:sp>
      <p:sp>
        <p:nvSpPr>
          <p:cNvPr id="16" name="Shape 13"/>
          <p:cNvSpPr/>
          <p:nvPr/>
        </p:nvSpPr>
        <p:spPr>
          <a:xfrm>
            <a:off x="2240280" y="1051560"/>
            <a:ext cx="1463040" cy="54864"/>
          </a:xfrm>
          <a:prstGeom prst="rect">
            <a:avLst/>
          </a:prstGeom>
          <a:solidFill>
            <a:srgbClr val="0891B2"/>
          </a:solidFill>
          <a:ln/>
        </p:spPr>
      </p:sp>
      <p:sp>
        <p:nvSpPr>
          <p:cNvPr id="17" name="Shape 14"/>
          <p:cNvSpPr/>
          <p:nvPr/>
        </p:nvSpPr>
        <p:spPr>
          <a:xfrm>
            <a:off x="2651760" y="1280160"/>
            <a:ext cx="640080" cy="640080"/>
          </a:xfrm>
          <a:prstGeom prst="ellipse">
            <a:avLst/>
          </a:prstGeom>
          <a:solidFill>
            <a:srgbClr val="F7F9FC"/>
          </a:solidFill>
          <a:ln w="19050">
            <a:solidFill>
              <a:srgbClr val="0891B2"/>
            </a:solidFill>
            <a:prstDash val="solid"/>
          </a:ln>
        </p:spPr>
      </p:sp>
      <p:pic>
        <p:nvPicPr>
          <p:cNvPr id="18" name="Image 1" descr="preencoded.png"/>
          <p:cNvPicPr>
            <a:picLocks noChangeAspect="1"/>
          </p:cNvPicPr>
          <p:nvPr/>
        </p:nvPicPr>
        <p:blipFill>
          <a:blip r:embed="rId4"/>
          <a:stretch>
            <a:fillRect/>
          </a:stretch>
        </p:blipFill>
        <p:spPr>
          <a:xfrm>
            <a:off x="2788920" y="1417320"/>
            <a:ext cx="365760" cy="365760"/>
          </a:xfrm>
          <a:prstGeom prst="rect">
            <a:avLst/>
          </a:prstGeom>
        </p:spPr>
      </p:pic>
      <p:sp>
        <p:nvSpPr>
          <p:cNvPr id="19" name="Text 15"/>
          <p:cNvSpPr/>
          <p:nvPr/>
        </p:nvSpPr>
        <p:spPr>
          <a:xfrm>
            <a:off x="2240280" y="2057400"/>
            <a:ext cx="1463040" cy="274320"/>
          </a:xfrm>
          <a:prstGeom prst="rect">
            <a:avLst/>
          </a:prstGeom>
          <a:noFill/>
          <a:ln/>
        </p:spPr>
        <p:txBody>
          <a:bodyPr wrap="square" lIns="0" tIns="0" rIns="0" bIns="0" rtlCol="0" anchor="ctr"/>
          <a:lstStyle/>
          <a:p>
            <a:pPr marL="0" indent="0" algn="ctr">
              <a:buNone/>
            </a:pPr>
            <a:r>
              <a:rPr lang="en-US" sz="1100" b="1" dirty="0">
                <a:solidFill>
                  <a:srgbClr val="0891B2"/>
                </a:solidFill>
                <a:latin typeface="Poppins" pitchFamily="34" charset="0"/>
                <a:ea typeface="Poppins" pitchFamily="34" charset="-122"/>
                <a:cs typeface="Poppins" pitchFamily="34" charset="-120"/>
              </a:rPr>
              <a:t>Dirigeant PME</a:t>
            </a:r>
            <a:endParaRPr lang="en-US" sz="1100" dirty="0"/>
          </a:p>
        </p:txBody>
      </p:sp>
      <p:sp>
        <p:nvSpPr>
          <p:cNvPr id="20" name="Text 16"/>
          <p:cNvSpPr/>
          <p:nvPr/>
        </p:nvSpPr>
        <p:spPr>
          <a:xfrm>
            <a:off x="2240280" y="2331720"/>
            <a:ext cx="1463040" cy="411480"/>
          </a:xfrm>
          <a:prstGeom prst="rect">
            <a:avLst/>
          </a:prstGeom>
          <a:noFill/>
          <a:ln/>
        </p:spPr>
        <p:txBody>
          <a:bodyPr wrap="square" lIns="0" tIns="0" rIns="0" bIns="0" rtlCol="0" anchor="ctr"/>
          <a:lstStyle/>
          <a:p>
            <a:pPr marL="0" indent="0" algn="ctr">
              <a:lnSpc>
                <a:spcPct val="130000"/>
              </a:lnSpc>
              <a:buNone/>
            </a:pPr>
            <a:r>
              <a:rPr lang="en-US" sz="800" dirty="0">
                <a:solidFill>
                  <a:srgbClr val="6B7280"/>
                </a:solidFill>
                <a:latin typeface="Poppins" pitchFamily="34" charset="0"/>
                <a:ea typeface="Poppins" pitchFamily="34" charset="-122"/>
                <a:cs typeface="Poppins" pitchFamily="34" charset="-120"/>
              </a:rPr>
              <a:t>25 à 250 salariés</a:t>
            </a:r>
            <a:endParaRPr lang="en-US" sz="800" dirty="0"/>
          </a:p>
          <a:p>
            <a:pPr marL="0" indent="0" algn="ctr">
              <a:lnSpc>
                <a:spcPct val="130000"/>
              </a:lnSpc>
              <a:buNone/>
            </a:pPr>
            <a:r>
              <a:rPr lang="en-US" sz="800" dirty="0">
                <a:solidFill>
                  <a:srgbClr val="6B7280"/>
                </a:solidFill>
                <a:latin typeface="Poppins" pitchFamily="34" charset="0"/>
                <a:ea typeface="Poppins" pitchFamily="34" charset="-122"/>
                <a:cs typeface="Poppins" pitchFamily="34" charset="-120"/>
              </a:rPr>
              <a:t>Multi-services</a:t>
            </a:r>
            <a:endParaRPr lang="en-US" sz="800" dirty="0"/>
          </a:p>
        </p:txBody>
      </p:sp>
      <p:sp>
        <p:nvSpPr>
          <p:cNvPr id="21" name="Shape 17"/>
          <p:cNvSpPr/>
          <p:nvPr/>
        </p:nvSpPr>
        <p:spPr>
          <a:xfrm>
            <a:off x="2423160" y="2834640"/>
            <a:ext cx="1097280" cy="18288"/>
          </a:xfrm>
          <a:prstGeom prst="rect">
            <a:avLst/>
          </a:prstGeom>
          <a:solidFill>
            <a:srgbClr val="E5E7EB"/>
          </a:solidFill>
          <a:ln/>
        </p:spPr>
      </p:sp>
      <p:sp>
        <p:nvSpPr>
          <p:cNvPr id="22" name="Text 18"/>
          <p:cNvSpPr/>
          <p:nvPr/>
        </p:nvSpPr>
        <p:spPr>
          <a:xfrm>
            <a:off x="2240280" y="2926080"/>
            <a:ext cx="1463040" cy="182880"/>
          </a:xfrm>
          <a:prstGeom prst="rect">
            <a:avLst/>
          </a:prstGeom>
          <a:noFill/>
          <a:ln/>
        </p:spPr>
        <p:txBody>
          <a:bodyPr wrap="square" lIns="0" tIns="0" rIns="0" bIns="0" rtlCol="0" anchor="ctr"/>
          <a:lstStyle/>
          <a:p>
            <a:pPr marL="0" indent="0" algn="ctr">
              <a:buNone/>
            </a:pPr>
            <a:r>
              <a:rPr lang="en-US" sz="700" b="1" dirty="0">
                <a:solidFill>
                  <a:srgbClr val="9CA3AF"/>
                </a:solidFill>
                <a:latin typeface="Poppins" pitchFamily="34" charset="0"/>
                <a:ea typeface="Poppins" pitchFamily="34" charset="-122"/>
                <a:cs typeface="Poppins" pitchFamily="34" charset="-120"/>
              </a:rPr>
              <a:t>Besoin principal</a:t>
            </a:r>
            <a:endParaRPr lang="en-US" sz="700" dirty="0"/>
          </a:p>
        </p:txBody>
      </p:sp>
      <p:sp>
        <p:nvSpPr>
          <p:cNvPr id="23" name="Text 19"/>
          <p:cNvSpPr/>
          <p:nvPr/>
        </p:nvSpPr>
        <p:spPr>
          <a:xfrm>
            <a:off x="2286000" y="3154680"/>
            <a:ext cx="1371600" cy="457200"/>
          </a:xfrm>
          <a:prstGeom prst="rect">
            <a:avLst/>
          </a:prstGeom>
          <a:noFill/>
          <a:ln/>
        </p:spPr>
        <p:txBody>
          <a:bodyPr wrap="square" lIns="0" tIns="0" rIns="0" bIns="0" rtlCol="0" anchor="ctr"/>
          <a:lstStyle/>
          <a:p>
            <a:pPr marL="0" indent="0" algn="ctr">
              <a:lnSpc>
                <a:spcPct val="130000"/>
              </a:lnSpc>
              <a:buNone/>
            </a:pPr>
            <a:r>
              <a:rPr lang="en-US" sz="900" b="1" dirty="0">
                <a:solidFill>
                  <a:srgbClr val="0F172A"/>
                </a:solidFill>
                <a:latin typeface="Poppins" pitchFamily="34" charset="0"/>
                <a:ea typeface="Poppins" pitchFamily="34" charset="-122"/>
                <a:cs typeface="Poppins" pitchFamily="34" charset="-120"/>
              </a:rPr>
              <a:t>Digitaliser et</a:t>
            </a:r>
            <a:endParaRPr lang="en-US" sz="900" dirty="0"/>
          </a:p>
          <a:p>
            <a:pPr marL="0" indent="0" algn="ctr">
              <a:lnSpc>
                <a:spcPct val="130000"/>
              </a:lnSpc>
              <a:buNone/>
            </a:pPr>
            <a:r>
              <a:rPr lang="en-US" sz="900" b="1" dirty="0">
                <a:solidFill>
                  <a:srgbClr val="0F172A"/>
                </a:solidFill>
                <a:latin typeface="Poppins" pitchFamily="34" charset="0"/>
                <a:ea typeface="Poppins" pitchFamily="34" charset="-122"/>
                <a:cs typeface="Poppins" pitchFamily="34" charset="-120"/>
              </a:rPr>
              <a:t>automatiser</a:t>
            </a:r>
            <a:endParaRPr lang="en-US" sz="900" dirty="0"/>
          </a:p>
        </p:txBody>
      </p:sp>
      <p:sp>
        <p:nvSpPr>
          <p:cNvPr id="24" name="Shape 20"/>
          <p:cNvSpPr/>
          <p:nvPr/>
        </p:nvSpPr>
        <p:spPr>
          <a:xfrm>
            <a:off x="2377440" y="3840480"/>
            <a:ext cx="1188720" cy="320040"/>
          </a:xfrm>
          <a:prstGeom prst="rect">
            <a:avLst/>
          </a:prstGeom>
          <a:solidFill>
            <a:srgbClr val="0891B2"/>
          </a:solidFill>
          <a:ln/>
        </p:spPr>
      </p:sp>
      <p:sp>
        <p:nvSpPr>
          <p:cNvPr id="25" name="Text 21"/>
          <p:cNvSpPr/>
          <p:nvPr/>
        </p:nvSpPr>
        <p:spPr>
          <a:xfrm>
            <a:off x="2377440" y="3840480"/>
            <a:ext cx="118872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Poppins" pitchFamily="34" charset="0"/>
                <a:ea typeface="Poppins" pitchFamily="34" charset="-122"/>
                <a:cs typeface="Poppins" pitchFamily="34" charset="-120"/>
              </a:rPr>
              <a:t>Voir →</a:t>
            </a:r>
            <a:endParaRPr lang="en-US" sz="900" dirty="0"/>
          </a:p>
        </p:txBody>
      </p:sp>
      <p:sp>
        <p:nvSpPr>
          <p:cNvPr id="26" name="Shape 22"/>
          <p:cNvSpPr/>
          <p:nvPr/>
        </p:nvSpPr>
        <p:spPr>
          <a:xfrm>
            <a:off x="3840480" y="1051560"/>
            <a:ext cx="1463040" cy="3566160"/>
          </a:xfrm>
          <a:prstGeom prst="rect">
            <a:avLst/>
          </a:prstGeom>
          <a:solidFill>
            <a:srgbClr val="F7F9FC"/>
          </a:solidFill>
          <a:ln/>
          <a:effectLst>
            <a:outerShdw blurRad="76200" dist="25400" dir="8100000" algn="bl" rotWithShape="0">
              <a:srgbClr val="000000">
                <a:alpha val="6000"/>
              </a:srgbClr>
            </a:outerShdw>
          </a:effectLst>
        </p:spPr>
      </p:sp>
      <p:sp>
        <p:nvSpPr>
          <p:cNvPr id="27" name="Shape 23"/>
          <p:cNvSpPr/>
          <p:nvPr/>
        </p:nvSpPr>
        <p:spPr>
          <a:xfrm>
            <a:off x="3840480" y="1051560"/>
            <a:ext cx="1463040" cy="54864"/>
          </a:xfrm>
          <a:prstGeom prst="rect">
            <a:avLst/>
          </a:prstGeom>
          <a:solidFill>
            <a:srgbClr val="7C3AED"/>
          </a:solidFill>
          <a:ln/>
        </p:spPr>
      </p:sp>
      <p:sp>
        <p:nvSpPr>
          <p:cNvPr id="28" name="Shape 24"/>
          <p:cNvSpPr/>
          <p:nvPr/>
        </p:nvSpPr>
        <p:spPr>
          <a:xfrm>
            <a:off x="4251960" y="1280160"/>
            <a:ext cx="640080" cy="640080"/>
          </a:xfrm>
          <a:prstGeom prst="ellipse">
            <a:avLst/>
          </a:prstGeom>
          <a:solidFill>
            <a:srgbClr val="F7F9FC"/>
          </a:solidFill>
          <a:ln w="19050">
            <a:solidFill>
              <a:srgbClr val="7C3AED"/>
            </a:solidFill>
            <a:prstDash val="solid"/>
          </a:ln>
        </p:spPr>
      </p:sp>
      <p:pic>
        <p:nvPicPr>
          <p:cNvPr id="29" name="Image 2" descr="preencoded.png"/>
          <p:cNvPicPr>
            <a:picLocks noChangeAspect="1"/>
          </p:cNvPicPr>
          <p:nvPr/>
        </p:nvPicPr>
        <p:blipFill>
          <a:blip r:embed="rId5"/>
          <a:stretch>
            <a:fillRect/>
          </a:stretch>
        </p:blipFill>
        <p:spPr>
          <a:xfrm>
            <a:off x="4389120" y="1417320"/>
            <a:ext cx="365760" cy="365760"/>
          </a:xfrm>
          <a:prstGeom prst="rect">
            <a:avLst/>
          </a:prstGeom>
        </p:spPr>
      </p:pic>
      <p:sp>
        <p:nvSpPr>
          <p:cNvPr id="30" name="Text 25"/>
          <p:cNvSpPr/>
          <p:nvPr/>
        </p:nvSpPr>
        <p:spPr>
          <a:xfrm>
            <a:off x="3840480" y="2057400"/>
            <a:ext cx="1463040" cy="274320"/>
          </a:xfrm>
          <a:prstGeom prst="rect">
            <a:avLst/>
          </a:prstGeom>
          <a:noFill/>
          <a:ln/>
        </p:spPr>
        <p:txBody>
          <a:bodyPr wrap="square" lIns="0" tIns="0" rIns="0" bIns="0" rtlCol="0" anchor="ctr"/>
          <a:lstStyle/>
          <a:p>
            <a:pPr marL="0" indent="0" algn="ctr">
              <a:buNone/>
            </a:pPr>
            <a:r>
              <a:rPr lang="en-US" sz="1100" b="1" dirty="0">
                <a:solidFill>
                  <a:srgbClr val="7C3AED"/>
                </a:solidFill>
                <a:latin typeface="Poppins" pitchFamily="34" charset="0"/>
                <a:ea typeface="Poppins" pitchFamily="34" charset="-122"/>
                <a:cs typeface="Poppins" pitchFamily="34" charset="-120"/>
              </a:rPr>
              <a:t>DSI interne</a:t>
            </a:r>
            <a:endParaRPr lang="en-US" sz="1100" dirty="0"/>
          </a:p>
        </p:txBody>
      </p:sp>
      <p:sp>
        <p:nvSpPr>
          <p:cNvPr id="31" name="Text 26"/>
          <p:cNvSpPr/>
          <p:nvPr/>
        </p:nvSpPr>
        <p:spPr>
          <a:xfrm>
            <a:off x="3840480" y="2331720"/>
            <a:ext cx="1463040" cy="411480"/>
          </a:xfrm>
          <a:prstGeom prst="rect">
            <a:avLst/>
          </a:prstGeom>
          <a:noFill/>
          <a:ln/>
        </p:spPr>
        <p:txBody>
          <a:bodyPr wrap="square" lIns="0" tIns="0" rIns="0" bIns="0" rtlCol="0" anchor="ctr"/>
          <a:lstStyle/>
          <a:p>
            <a:pPr marL="0" indent="0" algn="ctr">
              <a:lnSpc>
                <a:spcPct val="130000"/>
              </a:lnSpc>
              <a:buNone/>
            </a:pPr>
            <a:r>
              <a:rPr lang="en-US" sz="800" dirty="0">
                <a:solidFill>
                  <a:srgbClr val="6B7280"/>
                </a:solidFill>
                <a:latin typeface="Poppins" pitchFamily="34" charset="0"/>
                <a:ea typeface="Poppins" pitchFamily="34" charset="-122"/>
                <a:cs typeface="Poppins" pitchFamily="34" charset="-120"/>
              </a:rPr>
              <a:t>PME / ETI</a:t>
            </a:r>
            <a:endParaRPr lang="en-US" sz="800" dirty="0"/>
          </a:p>
          <a:p>
            <a:pPr marL="0" indent="0" algn="ctr">
              <a:lnSpc>
                <a:spcPct val="130000"/>
              </a:lnSpc>
              <a:buNone/>
            </a:pPr>
            <a:r>
              <a:rPr lang="en-US" sz="800" dirty="0">
                <a:solidFill>
                  <a:srgbClr val="6B7280"/>
                </a:solidFill>
                <a:latin typeface="Poppins" pitchFamily="34" charset="0"/>
                <a:ea typeface="Poppins" pitchFamily="34" charset="-122"/>
                <a:cs typeface="Poppins" pitchFamily="34" charset="-120"/>
              </a:rPr>
              <a:t>Grand compte</a:t>
            </a:r>
            <a:endParaRPr lang="en-US" sz="800" dirty="0"/>
          </a:p>
        </p:txBody>
      </p:sp>
      <p:sp>
        <p:nvSpPr>
          <p:cNvPr id="32" name="Shape 27"/>
          <p:cNvSpPr/>
          <p:nvPr/>
        </p:nvSpPr>
        <p:spPr>
          <a:xfrm>
            <a:off x="4023360" y="2834640"/>
            <a:ext cx="1097280" cy="18288"/>
          </a:xfrm>
          <a:prstGeom prst="rect">
            <a:avLst/>
          </a:prstGeom>
          <a:solidFill>
            <a:srgbClr val="E5E7EB"/>
          </a:solidFill>
          <a:ln/>
        </p:spPr>
      </p:sp>
      <p:sp>
        <p:nvSpPr>
          <p:cNvPr id="33" name="Text 28"/>
          <p:cNvSpPr/>
          <p:nvPr/>
        </p:nvSpPr>
        <p:spPr>
          <a:xfrm>
            <a:off x="3840480" y="2926080"/>
            <a:ext cx="1463040" cy="182880"/>
          </a:xfrm>
          <a:prstGeom prst="rect">
            <a:avLst/>
          </a:prstGeom>
          <a:noFill/>
          <a:ln/>
        </p:spPr>
        <p:txBody>
          <a:bodyPr wrap="square" lIns="0" tIns="0" rIns="0" bIns="0" rtlCol="0" anchor="ctr"/>
          <a:lstStyle/>
          <a:p>
            <a:pPr marL="0" indent="0" algn="ctr">
              <a:buNone/>
            </a:pPr>
            <a:r>
              <a:rPr lang="en-US" sz="700" b="1" dirty="0">
                <a:solidFill>
                  <a:srgbClr val="9CA3AF"/>
                </a:solidFill>
                <a:latin typeface="Poppins" pitchFamily="34" charset="0"/>
                <a:ea typeface="Poppins" pitchFamily="34" charset="-122"/>
                <a:cs typeface="Poppins" pitchFamily="34" charset="-120"/>
              </a:rPr>
              <a:t>Besoin principal</a:t>
            </a:r>
            <a:endParaRPr lang="en-US" sz="700" dirty="0"/>
          </a:p>
        </p:txBody>
      </p:sp>
      <p:sp>
        <p:nvSpPr>
          <p:cNvPr id="34" name="Text 29"/>
          <p:cNvSpPr/>
          <p:nvPr/>
        </p:nvSpPr>
        <p:spPr>
          <a:xfrm>
            <a:off x="3886200" y="3154680"/>
            <a:ext cx="1371600" cy="457200"/>
          </a:xfrm>
          <a:prstGeom prst="rect">
            <a:avLst/>
          </a:prstGeom>
          <a:noFill/>
          <a:ln/>
        </p:spPr>
        <p:txBody>
          <a:bodyPr wrap="square" lIns="0" tIns="0" rIns="0" bIns="0" rtlCol="0" anchor="ctr"/>
          <a:lstStyle/>
          <a:p>
            <a:pPr marL="0" indent="0" algn="ctr">
              <a:lnSpc>
                <a:spcPct val="130000"/>
              </a:lnSpc>
              <a:buNone/>
            </a:pPr>
            <a:r>
              <a:rPr lang="en-US" sz="900" b="1" dirty="0">
                <a:solidFill>
                  <a:srgbClr val="0F172A"/>
                </a:solidFill>
                <a:latin typeface="Poppins" pitchFamily="34" charset="0"/>
                <a:ea typeface="Poppins" pitchFamily="34" charset="-122"/>
                <a:cs typeface="Poppins" pitchFamily="34" charset="-120"/>
              </a:rPr>
              <a:t>Orchestrer le SI</a:t>
            </a:r>
            <a:endParaRPr lang="en-US" sz="900" dirty="0"/>
          </a:p>
          <a:p>
            <a:pPr marL="0" indent="0" algn="ctr">
              <a:lnSpc>
                <a:spcPct val="130000"/>
              </a:lnSpc>
              <a:buNone/>
            </a:pPr>
            <a:r>
              <a:rPr lang="en-US" sz="900" b="1" dirty="0">
                <a:solidFill>
                  <a:srgbClr val="0F172A"/>
                </a:solidFill>
                <a:latin typeface="Poppins" pitchFamily="34" charset="0"/>
                <a:ea typeface="Poppins" pitchFamily="34" charset="-122"/>
                <a:cs typeface="Poppins" pitchFamily="34" charset="-120"/>
              </a:rPr>
              <a:t>en toute sécurité</a:t>
            </a:r>
            <a:endParaRPr lang="en-US" sz="900" dirty="0"/>
          </a:p>
        </p:txBody>
      </p:sp>
      <p:sp>
        <p:nvSpPr>
          <p:cNvPr id="35" name="Shape 30"/>
          <p:cNvSpPr/>
          <p:nvPr/>
        </p:nvSpPr>
        <p:spPr>
          <a:xfrm>
            <a:off x="3977640" y="3840480"/>
            <a:ext cx="1188720" cy="320040"/>
          </a:xfrm>
          <a:prstGeom prst="rect">
            <a:avLst/>
          </a:prstGeom>
          <a:solidFill>
            <a:srgbClr val="7C3AED"/>
          </a:solidFill>
          <a:ln/>
        </p:spPr>
      </p:sp>
      <p:sp>
        <p:nvSpPr>
          <p:cNvPr id="36" name="Text 31"/>
          <p:cNvSpPr/>
          <p:nvPr/>
        </p:nvSpPr>
        <p:spPr>
          <a:xfrm>
            <a:off x="3977640" y="3840480"/>
            <a:ext cx="118872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Poppins" pitchFamily="34" charset="0"/>
                <a:ea typeface="Poppins" pitchFamily="34" charset="-122"/>
                <a:cs typeface="Poppins" pitchFamily="34" charset="-120"/>
              </a:rPr>
              <a:t>Voir →</a:t>
            </a:r>
            <a:endParaRPr lang="en-US" sz="900" dirty="0"/>
          </a:p>
        </p:txBody>
      </p:sp>
      <p:sp>
        <p:nvSpPr>
          <p:cNvPr id="37" name="Shape 32"/>
          <p:cNvSpPr/>
          <p:nvPr/>
        </p:nvSpPr>
        <p:spPr>
          <a:xfrm>
            <a:off x="5440680" y="1051560"/>
            <a:ext cx="1463040" cy="3566160"/>
          </a:xfrm>
          <a:prstGeom prst="rect">
            <a:avLst/>
          </a:prstGeom>
          <a:solidFill>
            <a:srgbClr val="F7F9FC"/>
          </a:solidFill>
          <a:ln/>
          <a:effectLst>
            <a:outerShdw blurRad="76200" dist="25400" dir="8100000" algn="bl" rotWithShape="0">
              <a:srgbClr val="000000">
                <a:alpha val="6000"/>
              </a:srgbClr>
            </a:outerShdw>
          </a:effectLst>
        </p:spPr>
      </p:sp>
      <p:sp>
        <p:nvSpPr>
          <p:cNvPr id="38" name="Shape 33"/>
          <p:cNvSpPr/>
          <p:nvPr/>
        </p:nvSpPr>
        <p:spPr>
          <a:xfrm>
            <a:off x="5440680" y="1051560"/>
            <a:ext cx="1463040" cy="54864"/>
          </a:xfrm>
          <a:prstGeom prst="rect">
            <a:avLst/>
          </a:prstGeom>
          <a:solidFill>
            <a:srgbClr val="EA580C"/>
          </a:solidFill>
          <a:ln/>
        </p:spPr>
      </p:sp>
      <p:sp>
        <p:nvSpPr>
          <p:cNvPr id="39" name="Shape 34"/>
          <p:cNvSpPr/>
          <p:nvPr/>
        </p:nvSpPr>
        <p:spPr>
          <a:xfrm>
            <a:off x="5852160" y="1280160"/>
            <a:ext cx="640080" cy="640080"/>
          </a:xfrm>
          <a:prstGeom prst="ellipse">
            <a:avLst/>
          </a:prstGeom>
          <a:solidFill>
            <a:srgbClr val="F7F9FC"/>
          </a:solidFill>
          <a:ln w="19050">
            <a:solidFill>
              <a:srgbClr val="EA580C"/>
            </a:solidFill>
            <a:prstDash val="solid"/>
          </a:ln>
        </p:spPr>
      </p:sp>
      <p:pic>
        <p:nvPicPr>
          <p:cNvPr id="40" name="Image 3" descr="preencoded.png"/>
          <p:cNvPicPr>
            <a:picLocks noChangeAspect="1"/>
          </p:cNvPicPr>
          <p:nvPr/>
        </p:nvPicPr>
        <p:blipFill>
          <a:blip r:embed="rId6"/>
          <a:stretch>
            <a:fillRect/>
          </a:stretch>
        </p:blipFill>
        <p:spPr>
          <a:xfrm>
            <a:off x="5989320" y="1417320"/>
            <a:ext cx="365760" cy="365760"/>
          </a:xfrm>
          <a:prstGeom prst="rect">
            <a:avLst/>
          </a:prstGeom>
        </p:spPr>
      </p:pic>
      <p:sp>
        <p:nvSpPr>
          <p:cNvPr id="41" name="Text 35"/>
          <p:cNvSpPr/>
          <p:nvPr/>
        </p:nvSpPr>
        <p:spPr>
          <a:xfrm>
            <a:off x="5440680" y="2057400"/>
            <a:ext cx="1463040" cy="274320"/>
          </a:xfrm>
          <a:prstGeom prst="rect">
            <a:avLst/>
          </a:prstGeom>
          <a:noFill/>
          <a:ln/>
        </p:spPr>
        <p:txBody>
          <a:bodyPr wrap="square" lIns="0" tIns="0" rIns="0" bIns="0" rtlCol="0" anchor="ctr"/>
          <a:lstStyle/>
          <a:p>
            <a:pPr marL="0" indent="0" algn="ctr">
              <a:buNone/>
            </a:pPr>
            <a:r>
              <a:rPr lang="en-US" sz="1100" b="1" dirty="0">
                <a:solidFill>
                  <a:srgbClr val="EA580C"/>
                </a:solidFill>
                <a:latin typeface="Poppins" pitchFamily="34" charset="0"/>
                <a:ea typeface="Poppins" pitchFamily="34" charset="-122"/>
                <a:cs typeface="Poppins" pitchFamily="34" charset="-120"/>
              </a:rPr>
              <a:t>Chef de projet</a:t>
            </a:r>
            <a:endParaRPr lang="en-US" sz="1100" dirty="0"/>
          </a:p>
        </p:txBody>
      </p:sp>
      <p:sp>
        <p:nvSpPr>
          <p:cNvPr id="42" name="Text 36"/>
          <p:cNvSpPr/>
          <p:nvPr/>
        </p:nvSpPr>
        <p:spPr>
          <a:xfrm>
            <a:off x="5440680" y="2331720"/>
            <a:ext cx="1463040" cy="411480"/>
          </a:xfrm>
          <a:prstGeom prst="rect">
            <a:avLst/>
          </a:prstGeom>
          <a:noFill/>
          <a:ln/>
        </p:spPr>
        <p:txBody>
          <a:bodyPr wrap="square" lIns="0" tIns="0" rIns="0" bIns="0" rtlCol="0" anchor="ctr"/>
          <a:lstStyle/>
          <a:p>
            <a:pPr marL="0" indent="0" algn="ctr">
              <a:lnSpc>
                <a:spcPct val="130000"/>
              </a:lnSpc>
              <a:buNone/>
            </a:pPr>
            <a:r>
              <a:rPr lang="en-US" sz="800" dirty="0">
                <a:solidFill>
                  <a:srgbClr val="6B7280"/>
                </a:solidFill>
                <a:latin typeface="Poppins" pitchFamily="34" charset="0"/>
                <a:ea typeface="Poppins" pitchFamily="34" charset="-122"/>
                <a:cs typeface="Poppins" pitchFamily="34" charset="-120"/>
              </a:rPr>
              <a:t>Industrie</a:t>
            </a:r>
            <a:endParaRPr lang="en-US" sz="800" dirty="0"/>
          </a:p>
          <a:p>
            <a:pPr marL="0" indent="0" algn="ctr">
              <a:lnSpc>
                <a:spcPct val="130000"/>
              </a:lnSpc>
              <a:buNone/>
            </a:pPr>
            <a:r>
              <a:rPr lang="en-US" sz="800" dirty="0">
                <a:solidFill>
                  <a:srgbClr val="6B7280"/>
                </a:solidFill>
                <a:latin typeface="Poppins" pitchFamily="34" charset="0"/>
                <a:ea typeface="Poppins" pitchFamily="34" charset="-122"/>
                <a:cs typeface="Poppins" pitchFamily="34" charset="-120"/>
              </a:rPr>
              <a:t>Automatisation</a:t>
            </a:r>
            <a:endParaRPr lang="en-US" sz="800" dirty="0"/>
          </a:p>
        </p:txBody>
      </p:sp>
      <p:sp>
        <p:nvSpPr>
          <p:cNvPr id="43" name="Shape 37"/>
          <p:cNvSpPr/>
          <p:nvPr/>
        </p:nvSpPr>
        <p:spPr>
          <a:xfrm>
            <a:off x="5623560" y="2834640"/>
            <a:ext cx="1097280" cy="18288"/>
          </a:xfrm>
          <a:prstGeom prst="rect">
            <a:avLst/>
          </a:prstGeom>
          <a:solidFill>
            <a:srgbClr val="E5E7EB"/>
          </a:solidFill>
          <a:ln/>
        </p:spPr>
      </p:sp>
      <p:sp>
        <p:nvSpPr>
          <p:cNvPr id="44" name="Text 38"/>
          <p:cNvSpPr/>
          <p:nvPr/>
        </p:nvSpPr>
        <p:spPr>
          <a:xfrm>
            <a:off x="5440680" y="2926080"/>
            <a:ext cx="1463040" cy="182880"/>
          </a:xfrm>
          <a:prstGeom prst="rect">
            <a:avLst/>
          </a:prstGeom>
          <a:noFill/>
          <a:ln/>
        </p:spPr>
        <p:txBody>
          <a:bodyPr wrap="square" lIns="0" tIns="0" rIns="0" bIns="0" rtlCol="0" anchor="ctr"/>
          <a:lstStyle/>
          <a:p>
            <a:pPr marL="0" indent="0" algn="ctr">
              <a:buNone/>
            </a:pPr>
            <a:r>
              <a:rPr lang="en-US" sz="700" b="1" dirty="0">
                <a:solidFill>
                  <a:srgbClr val="9CA3AF"/>
                </a:solidFill>
                <a:latin typeface="Poppins" pitchFamily="34" charset="0"/>
                <a:ea typeface="Poppins" pitchFamily="34" charset="-122"/>
                <a:cs typeface="Poppins" pitchFamily="34" charset="-120"/>
              </a:rPr>
              <a:t>Besoin principal</a:t>
            </a:r>
            <a:endParaRPr lang="en-US" sz="700" dirty="0"/>
          </a:p>
        </p:txBody>
      </p:sp>
      <p:sp>
        <p:nvSpPr>
          <p:cNvPr id="45" name="Text 39"/>
          <p:cNvSpPr/>
          <p:nvPr/>
        </p:nvSpPr>
        <p:spPr>
          <a:xfrm>
            <a:off x="5486400" y="3154680"/>
            <a:ext cx="1371600" cy="457200"/>
          </a:xfrm>
          <a:prstGeom prst="rect">
            <a:avLst/>
          </a:prstGeom>
          <a:noFill/>
          <a:ln/>
        </p:spPr>
        <p:txBody>
          <a:bodyPr wrap="square" lIns="0" tIns="0" rIns="0" bIns="0" rtlCol="0" anchor="ctr"/>
          <a:lstStyle/>
          <a:p>
            <a:pPr marL="0" indent="0" algn="ctr">
              <a:lnSpc>
                <a:spcPct val="130000"/>
              </a:lnSpc>
              <a:buNone/>
            </a:pPr>
            <a:r>
              <a:rPr lang="en-US" sz="900" b="1" dirty="0">
                <a:solidFill>
                  <a:srgbClr val="0F172A"/>
                </a:solidFill>
                <a:latin typeface="Poppins" pitchFamily="34" charset="0"/>
                <a:ea typeface="Poppins" pitchFamily="34" charset="-122"/>
                <a:cs typeface="Poppins" pitchFamily="34" charset="-120"/>
              </a:rPr>
              <a:t>Connecter systèmes</a:t>
            </a:r>
            <a:endParaRPr lang="en-US" sz="900" dirty="0"/>
          </a:p>
          <a:p>
            <a:pPr marL="0" indent="0" algn="ctr">
              <a:lnSpc>
                <a:spcPct val="130000"/>
              </a:lnSpc>
              <a:buNone/>
            </a:pPr>
            <a:r>
              <a:rPr lang="en-US" sz="900" b="1" dirty="0">
                <a:solidFill>
                  <a:srgbClr val="0F172A"/>
                </a:solidFill>
                <a:latin typeface="Poppins" pitchFamily="34" charset="0"/>
                <a:ea typeface="Poppins" pitchFamily="34" charset="-122"/>
                <a:cs typeface="Poppins" pitchFamily="34" charset="-120"/>
              </a:rPr>
              <a:t>et machines</a:t>
            </a:r>
            <a:endParaRPr lang="en-US" sz="900" dirty="0"/>
          </a:p>
        </p:txBody>
      </p:sp>
      <p:sp>
        <p:nvSpPr>
          <p:cNvPr id="46" name="Shape 40"/>
          <p:cNvSpPr/>
          <p:nvPr/>
        </p:nvSpPr>
        <p:spPr>
          <a:xfrm>
            <a:off x="5577840" y="3840480"/>
            <a:ext cx="1188720" cy="320040"/>
          </a:xfrm>
          <a:prstGeom prst="rect">
            <a:avLst/>
          </a:prstGeom>
          <a:solidFill>
            <a:srgbClr val="EA580C"/>
          </a:solidFill>
          <a:ln/>
        </p:spPr>
      </p:sp>
      <p:sp>
        <p:nvSpPr>
          <p:cNvPr id="47" name="Text 41"/>
          <p:cNvSpPr/>
          <p:nvPr/>
        </p:nvSpPr>
        <p:spPr>
          <a:xfrm>
            <a:off x="5577840" y="3840480"/>
            <a:ext cx="118872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Poppins" pitchFamily="34" charset="0"/>
                <a:ea typeface="Poppins" pitchFamily="34" charset="-122"/>
                <a:cs typeface="Poppins" pitchFamily="34" charset="-120"/>
              </a:rPr>
              <a:t>Voir →</a:t>
            </a:r>
            <a:endParaRPr lang="en-US" sz="900" dirty="0"/>
          </a:p>
        </p:txBody>
      </p:sp>
      <p:sp>
        <p:nvSpPr>
          <p:cNvPr id="48" name="Shape 42"/>
          <p:cNvSpPr/>
          <p:nvPr/>
        </p:nvSpPr>
        <p:spPr>
          <a:xfrm>
            <a:off x="7040880" y="1051560"/>
            <a:ext cx="1463040" cy="3566160"/>
          </a:xfrm>
          <a:prstGeom prst="rect">
            <a:avLst/>
          </a:prstGeom>
          <a:solidFill>
            <a:srgbClr val="F7F9FC"/>
          </a:solidFill>
          <a:ln/>
          <a:effectLst>
            <a:outerShdw blurRad="76200" dist="25400" dir="8100000" algn="bl" rotWithShape="0">
              <a:srgbClr val="000000">
                <a:alpha val="6000"/>
              </a:srgbClr>
            </a:outerShdw>
          </a:effectLst>
        </p:spPr>
      </p:sp>
      <p:sp>
        <p:nvSpPr>
          <p:cNvPr id="49" name="Shape 43"/>
          <p:cNvSpPr/>
          <p:nvPr/>
        </p:nvSpPr>
        <p:spPr>
          <a:xfrm>
            <a:off x="7040880" y="1051560"/>
            <a:ext cx="1463040" cy="54864"/>
          </a:xfrm>
          <a:prstGeom prst="rect">
            <a:avLst/>
          </a:prstGeom>
          <a:solidFill>
            <a:srgbClr val="16A34A"/>
          </a:solidFill>
          <a:ln/>
        </p:spPr>
      </p:sp>
      <p:sp>
        <p:nvSpPr>
          <p:cNvPr id="50" name="Shape 44"/>
          <p:cNvSpPr/>
          <p:nvPr/>
        </p:nvSpPr>
        <p:spPr>
          <a:xfrm>
            <a:off x="7452360" y="1280160"/>
            <a:ext cx="640080" cy="640080"/>
          </a:xfrm>
          <a:prstGeom prst="ellipse">
            <a:avLst/>
          </a:prstGeom>
          <a:solidFill>
            <a:srgbClr val="F7F9FC"/>
          </a:solidFill>
          <a:ln w="19050">
            <a:solidFill>
              <a:srgbClr val="16A34A"/>
            </a:solidFill>
            <a:prstDash val="solid"/>
          </a:ln>
        </p:spPr>
      </p:sp>
      <p:pic>
        <p:nvPicPr>
          <p:cNvPr id="51" name="Image 4" descr="preencoded.png"/>
          <p:cNvPicPr>
            <a:picLocks noChangeAspect="1"/>
          </p:cNvPicPr>
          <p:nvPr/>
        </p:nvPicPr>
        <p:blipFill>
          <a:blip r:embed="rId7"/>
          <a:stretch>
            <a:fillRect/>
          </a:stretch>
        </p:blipFill>
        <p:spPr>
          <a:xfrm>
            <a:off x="7589520" y="1417320"/>
            <a:ext cx="365760" cy="365760"/>
          </a:xfrm>
          <a:prstGeom prst="rect">
            <a:avLst/>
          </a:prstGeom>
        </p:spPr>
      </p:pic>
      <p:sp>
        <p:nvSpPr>
          <p:cNvPr id="52" name="Text 45"/>
          <p:cNvSpPr/>
          <p:nvPr/>
        </p:nvSpPr>
        <p:spPr>
          <a:xfrm>
            <a:off x="7040880" y="2057400"/>
            <a:ext cx="1463040" cy="274320"/>
          </a:xfrm>
          <a:prstGeom prst="rect">
            <a:avLst/>
          </a:prstGeom>
          <a:noFill/>
          <a:ln/>
        </p:spPr>
        <p:txBody>
          <a:bodyPr wrap="square" lIns="0" tIns="0" rIns="0" bIns="0" rtlCol="0" anchor="ctr"/>
          <a:lstStyle/>
          <a:p>
            <a:pPr marL="0" indent="0" algn="ctr">
              <a:buNone/>
            </a:pPr>
            <a:r>
              <a:rPr lang="en-US" sz="1100" b="1" dirty="0">
                <a:solidFill>
                  <a:srgbClr val="16A34A"/>
                </a:solidFill>
                <a:latin typeface="Poppins" pitchFamily="34" charset="0"/>
                <a:ea typeface="Poppins" pitchFamily="34" charset="-122"/>
                <a:cs typeface="Poppins" pitchFamily="34" charset="-120"/>
              </a:rPr>
              <a:t>Consultant IT</a:t>
            </a:r>
            <a:endParaRPr lang="en-US" sz="1100" dirty="0"/>
          </a:p>
        </p:txBody>
      </p:sp>
      <p:sp>
        <p:nvSpPr>
          <p:cNvPr id="53" name="Text 46"/>
          <p:cNvSpPr/>
          <p:nvPr/>
        </p:nvSpPr>
        <p:spPr>
          <a:xfrm>
            <a:off x="7040880" y="2331720"/>
            <a:ext cx="1463040" cy="411480"/>
          </a:xfrm>
          <a:prstGeom prst="rect">
            <a:avLst/>
          </a:prstGeom>
          <a:noFill/>
          <a:ln/>
        </p:spPr>
        <p:txBody>
          <a:bodyPr wrap="square" lIns="0" tIns="0" rIns="0" bIns="0" rtlCol="0" anchor="ctr"/>
          <a:lstStyle/>
          <a:p>
            <a:pPr marL="0" indent="0" algn="ctr">
              <a:lnSpc>
                <a:spcPct val="130000"/>
              </a:lnSpc>
              <a:buNone/>
            </a:pPr>
            <a:r>
              <a:rPr lang="en-US" sz="800" dirty="0">
                <a:solidFill>
                  <a:srgbClr val="6B7280"/>
                </a:solidFill>
                <a:latin typeface="Poppins" pitchFamily="34" charset="0"/>
                <a:ea typeface="Poppins" pitchFamily="34" charset="-122"/>
                <a:cs typeface="Poppins" pitchFamily="34" charset="-120"/>
              </a:rPr>
              <a:t>Indépendant</a:t>
            </a:r>
            <a:endParaRPr lang="en-US" sz="800" dirty="0"/>
          </a:p>
          <a:p>
            <a:pPr marL="0" indent="0" algn="ctr">
              <a:lnSpc>
                <a:spcPct val="130000"/>
              </a:lnSpc>
              <a:buNone/>
            </a:pPr>
            <a:r>
              <a:rPr lang="en-US" sz="800" dirty="0">
                <a:solidFill>
                  <a:srgbClr val="6B7280"/>
                </a:solidFill>
                <a:latin typeface="Poppins" pitchFamily="34" charset="0"/>
                <a:ea typeface="Poppins" pitchFamily="34" charset="-122"/>
                <a:cs typeface="Poppins" pitchFamily="34" charset="-120"/>
              </a:rPr>
              <a:t>ESN / Cabinet</a:t>
            </a:r>
            <a:endParaRPr lang="en-US" sz="800" dirty="0"/>
          </a:p>
        </p:txBody>
      </p:sp>
      <p:sp>
        <p:nvSpPr>
          <p:cNvPr id="54" name="Shape 47"/>
          <p:cNvSpPr/>
          <p:nvPr/>
        </p:nvSpPr>
        <p:spPr>
          <a:xfrm>
            <a:off x="7223760" y="2834640"/>
            <a:ext cx="1097280" cy="18288"/>
          </a:xfrm>
          <a:prstGeom prst="rect">
            <a:avLst/>
          </a:prstGeom>
          <a:solidFill>
            <a:srgbClr val="E5E7EB"/>
          </a:solidFill>
          <a:ln/>
        </p:spPr>
      </p:sp>
      <p:sp>
        <p:nvSpPr>
          <p:cNvPr id="55" name="Text 48"/>
          <p:cNvSpPr/>
          <p:nvPr/>
        </p:nvSpPr>
        <p:spPr>
          <a:xfrm>
            <a:off x="7040880" y="2926080"/>
            <a:ext cx="1463040" cy="182880"/>
          </a:xfrm>
          <a:prstGeom prst="rect">
            <a:avLst/>
          </a:prstGeom>
          <a:noFill/>
          <a:ln/>
        </p:spPr>
        <p:txBody>
          <a:bodyPr wrap="square" lIns="0" tIns="0" rIns="0" bIns="0" rtlCol="0" anchor="ctr"/>
          <a:lstStyle/>
          <a:p>
            <a:pPr marL="0" indent="0" algn="ctr">
              <a:buNone/>
            </a:pPr>
            <a:r>
              <a:rPr lang="en-US" sz="700" b="1" dirty="0">
                <a:solidFill>
                  <a:srgbClr val="9CA3AF"/>
                </a:solidFill>
                <a:latin typeface="Poppins" pitchFamily="34" charset="0"/>
                <a:ea typeface="Poppins" pitchFamily="34" charset="-122"/>
                <a:cs typeface="Poppins" pitchFamily="34" charset="-120"/>
              </a:rPr>
              <a:t>Besoin principal</a:t>
            </a:r>
            <a:endParaRPr lang="en-US" sz="700" dirty="0"/>
          </a:p>
        </p:txBody>
      </p:sp>
      <p:sp>
        <p:nvSpPr>
          <p:cNvPr id="56" name="Text 49"/>
          <p:cNvSpPr/>
          <p:nvPr/>
        </p:nvSpPr>
        <p:spPr>
          <a:xfrm>
            <a:off x="7086600" y="3154680"/>
            <a:ext cx="1371600" cy="457200"/>
          </a:xfrm>
          <a:prstGeom prst="rect">
            <a:avLst/>
          </a:prstGeom>
          <a:noFill/>
          <a:ln/>
        </p:spPr>
        <p:txBody>
          <a:bodyPr wrap="square" lIns="0" tIns="0" rIns="0" bIns="0" rtlCol="0" anchor="ctr"/>
          <a:lstStyle/>
          <a:p>
            <a:pPr marL="0" indent="0" algn="ctr">
              <a:lnSpc>
                <a:spcPct val="130000"/>
              </a:lnSpc>
              <a:buNone/>
            </a:pPr>
            <a:r>
              <a:rPr lang="en-US" sz="900" b="1" dirty="0">
                <a:solidFill>
                  <a:srgbClr val="0F172A"/>
                </a:solidFill>
                <a:latin typeface="Poppins" pitchFamily="34" charset="0"/>
                <a:ea typeface="Poppins" pitchFamily="34" charset="-122"/>
                <a:cs typeface="Poppins" pitchFamily="34" charset="-120"/>
              </a:rPr>
              <a:t>Trouver des clients</a:t>
            </a:r>
            <a:endParaRPr lang="en-US" sz="900" dirty="0"/>
          </a:p>
          <a:p>
            <a:pPr marL="0" indent="0" algn="ctr">
              <a:lnSpc>
                <a:spcPct val="130000"/>
              </a:lnSpc>
              <a:buNone/>
            </a:pPr>
            <a:r>
              <a:rPr lang="en-US" sz="900" b="1" dirty="0">
                <a:solidFill>
                  <a:srgbClr val="0F172A"/>
                </a:solidFill>
                <a:latin typeface="Poppins" pitchFamily="34" charset="0"/>
                <a:ea typeface="Poppins" pitchFamily="34" charset="-122"/>
                <a:cs typeface="Poppins" pitchFamily="34" charset="-120"/>
              </a:rPr>
              <a:t>et livrer vite</a:t>
            </a:r>
            <a:endParaRPr lang="en-US" sz="900" dirty="0"/>
          </a:p>
        </p:txBody>
      </p:sp>
      <p:sp>
        <p:nvSpPr>
          <p:cNvPr id="57" name="Shape 50"/>
          <p:cNvSpPr/>
          <p:nvPr/>
        </p:nvSpPr>
        <p:spPr>
          <a:xfrm>
            <a:off x="7178040" y="3840480"/>
            <a:ext cx="1188720" cy="320040"/>
          </a:xfrm>
          <a:prstGeom prst="rect">
            <a:avLst/>
          </a:prstGeom>
          <a:solidFill>
            <a:srgbClr val="16A34A"/>
          </a:solidFill>
          <a:ln/>
        </p:spPr>
      </p:sp>
      <p:sp>
        <p:nvSpPr>
          <p:cNvPr id="58" name="Text 51"/>
          <p:cNvSpPr/>
          <p:nvPr/>
        </p:nvSpPr>
        <p:spPr>
          <a:xfrm>
            <a:off x="7178040" y="3840480"/>
            <a:ext cx="118872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Poppins" pitchFamily="34" charset="0"/>
                <a:ea typeface="Poppins" pitchFamily="34" charset="-122"/>
                <a:cs typeface="Poppins" pitchFamily="34" charset="-120"/>
              </a:rPr>
              <a:t>Voir →</a:t>
            </a:r>
            <a:endParaRPr lang="en-US" sz="900" dirty="0"/>
          </a:p>
        </p:txBody>
      </p:sp>
      <p:sp>
        <p:nvSpPr>
          <p:cNvPr id="59" name="Text 52"/>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F46E5"/>
          </a:solidFill>
          <a:ln/>
        </p:spPr>
      </p:sp>
      <p:pic>
        <p:nvPicPr>
          <p:cNvPr id="3" name="Image 0" descr="preencoded.png"/>
          <p:cNvPicPr>
            <a:picLocks noChangeAspect="1"/>
          </p:cNvPicPr>
          <p:nvPr/>
        </p:nvPicPr>
        <p:blipFill>
          <a:blip r:embed="rId3"/>
          <a:stretch>
            <a:fillRect/>
          </a:stretch>
        </p:blipFill>
        <p:spPr>
          <a:xfrm>
            <a:off x="640080" y="228600"/>
            <a:ext cx="365760" cy="365760"/>
          </a:xfrm>
          <a:prstGeom prst="rect">
            <a:avLst/>
          </a:prstGeom>
        </p:spPr>
      </p:pic>
      <p:sp>
        <p:nvSpPr>
          <p:cNvPr id="4" name="Text 1"/>
          <p:cNvSpPr/>
          <p:nvPr/>
        </p:nvSpPr>
        <p:spPr>
          <a:xfrm>
            <a:off x="1097280" y="228600"/>
            <a:ext cx="4572000" cy="365760"/>
          </a:xfrm>
          <a:prstGeom prst="rect">
            <a:avLst/>
          </a:prstGeom>
          <a:noFill/>
          <a:ln/>
        </p:spPr>
        <p:txBody>
          <a:bodyPr wrap="square" lIns="0" tIns="0" rIns="0" bIns="0" rtlCol="0" anchor="ctr"/>
          <a:lstStyle/>
          <a:p>
            <a:pPr marL="0" indent="0">
              <a:buNone/>
            </a:pPr>
            <a:r>
              <a:rPr lang="en-US" sz="2400" b="1" dirty="0">
                <a:solidFill>
                  <a:srgbClr val="4F46E5"/>
                </a:solidFill>
                <a:latin typeface="Poppins" pitchFamily="34" charset="0"/>
                <a:ea typeface="Poppins" pitchFamily="34" charset="-122"/>
                <a:cs typeface="Poppins" pitchFamily="34" charset="-120"/>
              </a:rPr>
              <a:t>Dirigeant de TPE</a:t>
            </a:r>
            <a:endParaRPr lang="en-US" sz="2400" dirty="0"/>
          </a:p>
        </p:txBody>
      </p:sp>
      <p:sp>
        <p:nvSpPr>
          <p:cNvPr id="5" name="Text 2"/>
          <p:cNvSpPr/>
          <p:nvPr/>
        </p:nvSpPr>
        <p:spPr>
          <a:xfrm>
            <a:off x="1097280" y="594360"/>
            <a:ext cx="4572000" cy="228600"/>
          </a:xfrm>
          <a:prstGeom prst="rect">
            <a:avLst/>
          </a:prstGeom>
          <a:noFill/>
          <a:ln/>
        </p:spPr>
        <p:txBody>
          <a:bodyPr wrap="square" lIns="0" tIns="0" rIns="0" bIns="0" rtlCol="0" anchor="ctr"/>
          <a:lstStyle/>
          <a:p>
            <a:pPr marL="0" indent="0">
              <a:buNone/>
            </a:pPr>
            <a:r>
              <a:rPr lang="en-US" sz="1000" dirty="0">
                <a:solidFill>
                  <a:srgbClr val="6B7280"/>
                </a:solidFill>
                <a:latin typeface="Poppins" pitchFamily="34" charset="0"/>
                <a:ea typeface="Poppins" pitchFamily="34" charset="-122"/>
                <a:cs typeface="Poppins" pitchFamily="34" charset="-120"/>
              </a:rPr>
              <a:t>Auto-entrepreneur · Petite entreprise · 1 à 10 salariés</a:t>
            </a:r>
            <a:endParaRPr lang="en-US" sz="1000" dirty="0"/>
          </a:p>
        </p:txBody>
      </p:sp>
      <p:sp>
        <p:nvSpPr>
          <p:cNvPr id="6" name="Shape 3"/>
          <p:cNvSpPr/>
          <p:nvPr/>
        </p:nvSpPr>
        <p:spPr>
          <a:xfrm>
            <a:off x="365760" y="1005840"/>
            <a:ext cx="4023360" cy="1463040"/>
          </a:xfrm>
          <a:prstGeom prst="rect">
            <a:avLst/>
          </a:prstGeom>
          <a:solidFill>
            <a:srgbClr val="F7F9FC"/>
          </a:solidFill>
          <a:ln/>
        </p:spPr>
      </p:sp>
      <p:sp>
        <p:nvSpPr>
          <p:cNvPr id="7" name="Text 4"/>
          <p:cNvSpPr/>
          <p:nvPr/>
        </p:nvSpPr>
        <p:spPr>
          <a:xfrm>
            <a:off x="502920" y="1051560"/>
            <a:ext cx="3657600" cy="274320"/>
          </a:xfrm>
          <a:prstGeom prst="rect">
            <a:avLst/>
          </a:prstGeom>
          <a:noFill/>
          <a:ln/>
        </p:spPr>
        <p:txBody>
          <a:bodyPr wrap="square" lIns="0" tIns="0" rIns="0" bIns="0" rtlCol="0" anchor="ctr"/>
          <a:lstStyle/>
          <a:p>
            <a:pPr marL="0" indent="0">
              <a:buNone/>
            </a:pPr>
            <a:r>
              <a:rPr lang="en-US" sz="1200" b="1" dirty="0">
                <a:solidFill>
                  <a:srgbClr val="0F172A"/>
                </a:solidFill>
                <a:latin typeface="Poppins" pitchFamily="34" charset="0"/>
                <a:ea typeface="Poppins" pitchFamily="34" charset="-122"/>
                <a:cs typeface="Poppins" pitchFamily="34" charset="-120"/>
              </a:rPr>
              <a:t>Votre quotidien</a:t>
            </a:r>
            <a:endParaRPr lang="en-US" sz="1200" dirty="0"/>
          </a:p>
        </p:txBody>
      </p:sp>
      <p:sp>
        <p:nvSpPr>
          <p:cNvPr id="8" name="Text 5"/>
          <p:cNvSpPr/>
          <p:nvPr/>
        </p:nvSpPr>
        <p:spPr>
          <a:xfrm>
            <a:off x="548640" y="1371600"/>
            <a:ext cx="3657600" cy="228600"/>
          </a:xfrm>
          <a:prstGeom prst="rect">
            <a:avLst/>
          </a:prstGeom>
          <a:noFill/>
          <a:ln/>
        </p:spPr>
        <p:txBody>
          <a:bodyPr wrap="square" lIns="0" tIns="0" rIns="0" bIns="0" rtlCol="0" anchor="ctr"/>
          <a:lstStyle/>
          <a:p>
            <a:pPr marL="0" indent="0">
              <a:buNone/>
            </a:pPr>
            <a:r>
              <a:rPr lang="en-US" sz="850" dirty="0">
                <a:solidFill>
                  <a:srgbClr val="374151"/>
                </a:solidFill>
                <a:latin typeface="Poppins" pitchFamily="34" charset="0"/>
                <a:ea typeface="Poppins" pitchFamily="34" charset="-122"/>
                <a:cs typeface="Poppins" pitchFamily="34" charset="-120"/>
              </a:rPr>
              <a:t>•  Vous gérez tout seul : clients, devis, factures, mails</a:t>
            </a:r>
            <a:endParaRPr lang="en-US" sz="850" dirty="0"/>
          </a:p>
        </p:txBody>
      </p:sp>
      <p:sp>
        <p:nvSpPr>
          <p:cNvPr id="9" name="Text 6"/>
          <p:cNvSpPr/>
          <p:nvPr/>
        </p:nvSpPr>
        <p:spPr>
          <a:xfrm>
            <a:off x="548640" y="1618488"/>
            <a:ext cx="3657600" cy="228600"/>
          </a:xfrm>
          <a:prstGeom prst="rect">
            <a:avLst/>
          </a:prstGeom>
          <a:noFill/>
          <a:ln/>
        </p:spPr>
        <p:txBody>
          <a:bodyPr wrap="square" lIns="0" tIns="0" rIns="0" bIns="0" rtlCol="0" anchor="ctr"/>
          <a:lstStyle/>
          <a:p>
            <a:pPr marL="0" indent="0">
              <a:buNone/>
            </a:pPr>
            <a:r>
              <a:rPr lang="en-US" sz="850" dirty="0">
                <a:solidFill>
                  <a:srgbClr val="374151"/>
                </a:solidFill>
                <a:latin typeface="Poppins" pitchFamily="34" charset="0"/>
                <a:ea typeface="Poppins" pitchFamily="34" charset="-122"/>
                <a:cs typeface="Poppins" pitchFamily="34" charset="-120"/>
              </a:rPr>
              <a:t>•  Pas de service informatique ni de développeur</a:t>
            </a:r>
            <a:endParaRPr lang="en-US" sz="850" dirty="0"/>
          </a:p>
        </p:txBody>
      </p:sp>
      <p:sp>
        <p:nvSpPr>
          <p:cNvPr id="10" name="Text 7"/>
          <p:cNvSpPr/>
          <p:nvPr/>
        </p:nvSpPr>
        <p:spPr>
          <a:xfrm>
            <a:off x="548640" y="1865376"/>
            <a:ext cx="3657600" cy="228600"/>
          </a:xfrm>
          <a:prstGeom prst="rect">
            <a:avLst/>
          </a:prstGeom>
          <a:noFill/>
          <a:ln/>
        </p:spPr>
        <p:txBody>
          <a:bodyPr wrap="square" lIns="0" tIns="0" rIns="0" bIns="0" rtlCol="0" anchor="ctr"/>
          <a:lstStyle/>
          <a:p>
            <a:pPr marL="0" indent="0">
              <a:buNone/>
            </a:pPr>
            <a:r>
              <a:rPr lang="en-US" sz="850" dirty="0">
                <a:solidFill>
                  <a:srgbClr val="374151"/>
                </a:solidFill>
                <a:latin typeface="Poppins" pitchFamily="34" charset="0"/>
                <a:ea typeface="Poppins" pitchFamily="34" charset="-122"/>
                <a:cs typeface="Poppins" pitchFamily="34" charset="-120"/>
              </a:rPr>
              <a:t>•  Trop de tâches manuelles, pas assez de temps</a:t>
            </a:r>
            <a:endParaRPr lang="en-US" sz="850" dirty="0"/>
          </a:p>
        </p:txBody>
      </p:sp>
      <p:sp>
        <p:nvSpPr>
          <p:cNvPr id="11" name="Text 8"/>
          <p:cNvSpPr/>
          <p:nvPr/>
        </p:nvSpPr>
        <p:spPr>
          <a:xfrm>
            <a:off x="548640" y="2112264"/>
            <a:ext cx="3657600" cy="228600"/>
          </a:xfrm>
          <a:prstGeom prst="rect">
            <a:avLst/>
          </a:prstGeom>
          <a:noFill/>
          <a:ln/>
        </p:spPr>
        <p:txBody>
          <a:bodyPr wrap="square" lIns="0" tIns="0" rIns="0" bIns="0" rtlCol="0" anchor="ctr"/>
          <a:lstStyle/>
          <a:p>
            <a:pPr marL="0" indent="0">
              <a:buNone/>
            </a:pPr>
            <a:r>
              <a:rPr lang="en-US" sz="850" dirty="0">
                <a:solidFill>
                  <a:srgbClr val="374151"/>
                </a:solidFill>
                <a:latin typeface="Poppins" pitchFamily="34" charset="0"/>
                <a:ea typeface="Poppins" pitchFamily="34" charset="-122"/>
                <a:cs typeface="Poppins" pitchFamily="34" charset="-120"/>
              </a:rPr>
              <a:t>•  Vos outils (mail, CRM, Excel) ne sont pas connectés</a:t>
            </a:r>
            <a:endParaRPr lang="en-US" sz="850" dirty="0"/>
          </a:p>
        </p:txBody>
      </p:sp>
      <p:sp>
        <p:nvSpPr>
          <p:cNvPr id="12" name="Shape 9"/>
          <p:cNvSpPr/>
          <p:nvPr/>
        </p:nvSpPr>
        <p:spPr>
          <a:xfrm>
            <a:off x="365760" y="2606040"/>
            <a:ext cx="4023360" cy="914400"/>
          </a:xfrm>
          <a:prstGeom prst="rect">
            <a:avLst/>
          </a:prstGeom>
          <a:solidFill>
            <a:srgbClr val="FEF2F2"/>
          </a:solidFill>
          <a:ln/>
        </p:spPr>
      </p:sp>
      <p:sp>
        <p:nvSpPr>
          <p:cNvPr id="13" name="Text 10"/>
          <p:cNvSpPr/>
          <p:nvPr/>
        </p:nvSpPr>
        <p:spPr>
          <a:xfrm>
            <a:off x="502920" y="2651760"/>
            <a:ext cx="3657600" cy="274320"/>
          </a:xfrm>
          <a:prstGeom prst="rect">
            <a:avLst/>
          </a:prstGeom>
          <a:noFill/>
          <a:ln/>
        </p:spPr>
        <p:txBody>
          <a:bodyPr wrap="square" lIns="0" tIns="0" rIns="0" bIns="0" rtlCol="0" anchor="ctr"/>
          <a:lstStyle/>
          <a:p>
            <a:pPr marL="0" indent="0">
              <a:buNone/>
            </a:pPr>
            <a:r>
              <a:rPr lang="en-US" sz="1100" b="1" dirty="0">
                <a:solidFill>
                  <a:srgbClr val="EF4444"/>
                </a:solidFill>
                <a:latin typeface="Poppins" pitchFamily="34" charset="0"/>
                <a:ea typeface="Poppins" pitchFamily="34" charset="-122"/>
                <a:cs typeface="Poppins" pitchFamily="34" charset="-120"/>
              </a:rPr>
              <a:t>Ce qui vous freine</a:t>
            </a:r>
            <a:endParaRPr lang="en-US" sz="1100" dirty="0"/>
          </a:p>
        </p:txBody>
      </p:sp>
      <p:pic>
        <p:nvPicPr>
          <p:cNvPr id="14" name="Image 1" descr="preencoded.png"/>
          <p:cNvPicPr>
            <a:picLocks noChangeAspect="1"/>
          </p:cNvPicPr>
          <p:nvPr/>
        </p:nvPicPr>
        <p:blipFill>
          <a:blip r:embed="rId4"/>
          <a:stretch>
            <a:fillRect/>
          </a:stretch>
        </p:blipFill>
        <p:spPr>
          <a:xfrm>
            <a:off x="548640" y="2971800"/>
            <a:ext cx="128016" cy="128016"/>
          </a:xfrm>
          <a:prstGeom prst="rect">
            <a:avLst/>
          </a:prstGeom>
        </p:spPr>
      </p:pic>
      <p:sp>
        <p:nvSpPr>
          <p:cNvPr id="15" name="Text 11"/>
          <p:cNvSpPr/>
          <p:nvPr/>
        </p:nvSpPr>
        <p:spPr>
          <a:xfrm>
            <a:off x="731520" y="2953512"/>
            <a:ext cx="3474720" cy="18288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Peur de la complexité technique</a:t>
            </a:r>
            <a:endParaRPr lang="en-US" sz="850" dirty="0"/>
          </a:p>
        </p:txBody>
      </p:sp>
      <p:pic>
        <p:nvPicPr>
          <p:cNvPr id="16" name="Image 2" descr="preencoded.png"/>
          <p:cNvPicPr>
            <a:picLocks noChangeAspect="1"/>
          </p:cNvPicPr>
          <p:nvPr/>
        </p:nvPicPr>
        <p:blipFill>
          <a:blip r:embed="rId4"/>
          <a:stretch>
            <a:fillRect/>
          </a:stretch>
        </p:blipFill>
        <p:spPr>
          <a:xfrm>
            <a:off x="548640" y="3154680"/>
            <a:ext cx="128016" cy="128016"/>
          </a:xfrm>
          <a:prstGeom prst="rect">
            <a:avLst/>
          </a:prstGeom>
        </p:spPr>
      </p:pic>
      <p:sp>
        <p:nvSpPr>
          <p:cNvPr id="17" name="Text 12"/>
          <p:cNvSpPr/>
          <p:nvPr/>
        </p:nvSpPr>
        <p:spPr>
          <a:xfrm>
            <a:off x="731520" y="3136392"/>
            <a:ext cx="3474720" cy="18288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Coût des développeurs</a:t>
            </a:r>
            <a:endParaRPr lang="en-US" sz="850" dirty="0"/>
          </a:p>
        </p:txBody>
      </p:sp>
      <p:pic>
        <p:nvPicPr>
          <p:cNvPr id="18" name="Image 3" descr="preencoded.png"/>
          <p:cNvPicPr>
            <a:picLocks noChangeAspect="1"/>
          </p:cNvPicPr>
          <p:nvPr/>
        </p:nvPicPr>
        <p:blipFill>
          <a:blip r:embed="rId4"/>
          <a:stretch>
            <a:fillRect/>
          </a:stretch>
        </p:blipFill>
        <p:spPr>
          <a:xfrm>
            <a:off x="548640" y="3337560"/>
            <a:ext cx="128016" cy="128016"/>
          </a:xfrm>
          <a:prstGeom prst="rect">
            <a:avLst/>
          </a:prstGeom>
        </p:spPr>
      </p:pic>
      <p:sp>
        <p:nvSpPr>
          <p:cNvPr id="19" name="Text 13"/>
          <p:cNvSpPr/>
          <p:nvPr/>
        </p:nvSpPr>
        <p:spPr>
          <a:xfrm>
            <a:off x="731520" y="3319272"/>
            <a:ext cx="3474720" cy="18288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Manque de temps pour apprendre</a:t>
            </a:r>
            <a:endParaRPr lang="en-US" sz="850" dirty="0"/>
          </a:p>
        </p:txBody>
      </p:sp>
      <p:sp>
        <p:nvSpPr>
          <p:cNvPr id="20" name="Shape 14"/>
          <p:cNvSpPr/>
          <p:nvPr/>
        </p:nvSpPr>
        <p:spPr>
          <a:xfrm>
            <a:off x="4754880" y="1005840"/>
            <a:ext cx="4023360" cy="2514600"/>
          </a:xfrm>
          <a:prstGeom prst="rect">
            <a:avLst/>
          </a:prstGeom>
          <a:solidFill>
            <a:srgbClr val="EBF5FF"/>
          </a:solidFill>
          <a:ln/>
        </p:spPr>
      </p:sp>
      <p:sp>
        <p:nvSpPr>
          <p:cNvPr id="21" name="Text 15"/>
          <p:cNvSpPr/>
          <p:nvPr/>
        </p:nvSpPr>
        <p:spPr>
          <a:xfrm>
            <a:off x="4892040" y="1051560"/>
            <a:ext cx="3657600" cy="274320"/>
          </a:xfrm>
          <a:prstGeom prst="rect">
            <a:avLst/>
          </a:prstGeom>
          <a:noFill/>
          <a:ln/>
        </p:spPr>
        <p:txBody>
          <a:bodyPr wrap="square" lIns="0" tIns="0" rIns="0" bIns="0" rtlCol="0" anchor="ctr"/>
          <a:lstStyle/>
          <a:p>
            <a:pPr marL="0" indent="0">
              <a:buNone/>
            </a:pPr>
            <a:r>
              <a:rPr lang="en-US" sz="1200" b="1" dirty="0">
                <a:solidFill>
                  <a:srgbClr val="1677FF"/>
                </a:solidFill>
                <a:latin typeface="Poppins" pitchFamily="34" charset="0"/>
                <a:ea typeface="Poppins" pitchFamily="34" charset="-122"/>
                <a:cs typeface="Poppins" pitchFamily="34" charset="-120"/>
              </a:rPr>
              <a:t>KINN, votre copilote numérique</a:t>
            </a:r>
            <a:endParaRPr lang="en-US" sz="1200" dirty="0"/>
          </a:p>
        </p:txBody>
      </p:sp>
      <p:pic>
        <p:nvPicPr>
          <p:cNvPr id="22" name="Image 4" descr="preencoded.png"/>
          <p:cNvPicPr>
            <a:picLocks noChangeAspect="1"/>
          </p:cNvPicPr>
          <p:nvPr/>
        </p:nvPicPr>
        <p:blipFill>
          <a:blip r:embed="rId5"/>
          <a:stretch>
            <a:fillRect/>
          </a:stretch>
        </p:blipFill>
        <p:spPr>
          <a:xfrm>
            <a:off x="4937760" y="1417320"/>
            <a:ext cx="146304" cy="146304"/>
          </a:xfrm>
          <a:prstGeom prst="rect">
            <a:avLst/>
          </a:prstGeom>
        </p:spPr>
      </p:pic>
      <p:sp>
        <p:nvSpPr>
          <p:cNvPr id="23" name="Text 16"/>
          <p:cNvSpPr/>
          <p:nvPr/>
        </p:nvSpPr>
        <p:spPr>
          <a:xfrm>
            <a:off x="5166360" y="1389888"/>
            <a:ext cx="1463040" cy="18288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Form builder intelligent</a:t>
            </a:r>
            <a:endParaRPr lang="en-US" sz="900" dirty="0"/>
          </a:p>
        </p:txBody>
      </p:sp>
      <p:sp>
        <p:nvSpPr>
          <p:cNvPr id="24" name="Text 17"/>
          <p:cNvSpPr/>
          <p:nvPr/>
        </p:nvSpPr>
        <p:spPr>
          <a:xfrm>
            <a:off x="6583680" y="1389888"/>
            <a:ext cx="2011680" cy="182880"/>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Créez une interface métier en quelques minutes</a:t>
            </a:r>
            <a:endParaRPr lang="en-US" sz="800" dirty="0"/>
          </a:p>
        </p:txBody>
      </p:sp>
      <p:pic>
        <p:nvPicPr>
          <p:cNvPr id="25" name="Image 5" descr="preencoded.png"/>
          <p:cNvPicPr>
            <a:picLocks noChangeAspect="1"/>
          </p:cNvPicPr>
          <p:nvPr/>
        </p:nvPicPr>
        <p:blipFill>
          <a:blip r:embed="rId5"/>
          <a:stretch>
            <a:fillRect/>
          </a:stretch>
        </p:blipFill>
        <p:spPr>
          <a:xfrm>
            <a:off x="4937760" y="1755648"/>
            <a:ext cx="146304" cy="146304"/>
          </a:xfrm>
          <a:prstGeom prst="rect">
            <a:avLst/>
          </a:prstGeom>
        </p:spPr>
      </p:pic>
      <p:sp>
        <p:nvSpPr>
          <p:cNvPr id="26" name="Text 18"/>
          <p:cNvSpPr/>
          <p:nvPr/>
        </p:nvSpPr>
        <p:spPr>
          <a:xfrm>
            <a:off x="5166360" y="1728216"/>
            <a:ext cx="1463040" cy="18288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Automatisation visuelle</a:t>
            </a:r>
            <a:endParaRPr lang="en-US" sz="900" dirty="0"/>
          </a:p>
        </p:txBody>
      </p:sp>
      <p:sp>
        <p:nvSpPr>
          <p:cNvPr id="27" name="Text 19"/>
          <p:cNvSpPr/>
          <p:nvPr/>
        </p:nvSpPr>
        <p:spPr>
          <a:xfrm>
            <a:off x="6583680" y="1728216"/>
            <a:ext cx="2011680" cy="182880"/>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Créez des workflows sans coder</a:t>
            </a:r>
            <a:endParaRPr lang="en-US" sz="800" dirty="0"/>
          </a:p>
        </p:txBody>
      </p:sp>
      <p:pic>
        <p:nvPicPr>
          <p:cNvPr id="28" name="Image 6" descr="preencoded.png"/>
          <p:cNvPicPr>
            <a:picLocks noChangeAspect="1"/>
          </p:cNvPicPr>
          <p:nvPr/>
        </p:nvPicPr>
        <p:blipFill>
          <a:blip r:embed="rId5"/>
          <a:stretch>
            <a:fillRect/>
          </a:stretch>
        </p:blipFill>
        <p:spPr>
          <a:xfrm>
            <a:off x="4937760" y="2093976"/>
            <a:ext cx="146304" cy="146304"/>
          </a:xfrm>
          <a:prstGeom prst="rect">
            <a:avLst/>
          </a:prstGeom>
        </p:spPr>
      </p:pic>
      <p:sp>
        <p:nvSpPr>
          <p:cNvPr id="29" name="Text 20"/>
          <p:cNvSpPr/>
          <p:nvPr/>
        </p:nvSpPr>
        <p:spPr>
          <a:xfrm>
            <a:off x="5166360" y="2066544"/>
            <a:ext cx="1463040" cy="18288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Connecteurs intégrés</a:t>
            </a:r>
            <a:endParaRPr lang="en-US" sz="900" dirty="0"/>
          </a:p>
        </p:txBody>
      </p:sp>
      <p:sp>
        <p:nvSpPr>
          <p:cNvPr id="30" name="Text 21"/>
          <p:cNvSpPr/>
          <p:nvPr/>
        </p:nvSpPr>
        <p:spPr>
          <a:xfrm>
            <a:off x="6583680" y="2066544"/>
            <a:ext cx="2011680" cy="182880"/>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Gmail, ERP, Google Drive, API...</a:t>
            </a:r>
            <a:endParaRPr lang="en-US" sz="800" dirty="0"/>
          </a:p>
        </p:txBody>
      </p:sp>
      <p:pic>
        <p:nvPicPr>
          <p:cNvPr id="31" name="Image 7" descr="preencoded.png"/>
          <p:cNvPicPr>
            <a:picLocks noChangeAspect="1"/>
          </p:cNvPicPr>
          <p:nvPr/>
        </p:nvPicPr>
        <p:blipFill>
          <a:blip r:embed="rId5"/>
          <a:stretch>
            <a:fillRect/>
          </a:stretch>
        </p:blipFill>
        <p:spPr>
          <a:xfrm>
            <a:off x="4937760" y="2432304"/>
            <a:ext cx="146304" cy="146304"/>
          </a:xfrm>
          <a:prstGeom prst="rect">
            <a:avLst/>
          </a:prstGeom>
        </p:spPr>
      </p:pic>
      <p:sp>
        <p:nvSpPr>
          <p:cNvPr id="32" name="Text 22"/>
          <p:cNvSpPr/>
          <p:nvPr/>
        </p:nvSpPr>
        <p:spPr>
          <a:xfrm>
            <a:off x="5166360" y="2404872"/>
            <a:ext cx="1463040" cy="18288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IA intégrée</a:t>
            </a:r>
            <a:endParaRPr lang="en-US" sz="900" dirty="0"/>
          </a:p>
        </p:txBody>
      </p:sp>
      <p:sp>
        <p:nvSpPr>
          <p:cNvPr id="33" name="Text 23"/>
          <p:cNvSpPr/>
          <p:nvPr/>
        </p:nvSpPr>
        <p:spPr>
          <a:xfrm>
            <a:off x="6583680" y="2404872"/>
            <a:ext cx="2011680" cy="182880"/>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Génération de texte, analyse de documents</a:t>
            </a:r>
            <a:endParaRPr lang="en-US" sz="800" dirty="0"/>
          </a:p>
        </p:txBody>
      </p:sp>
      <p:pic>
        <p:nvPicPr>
          <p:cNvPr id="34" name="Image 8" descr="preencoded.png"/>
          <p:cNvPicPr>
            <a:picLocks noChangeAspect="1"/>
          </p:cNvPicPr>
          <p:nvPr/>
        </p:nvPicPr>
        <p:blipFill>
          <a:blip r:embed="rId5"/>
          <a:stretch>
            <a:fillRect/>
          </a:stretch>
        </p:blipFill>
        <p:spPr>
          <a:xfrm>
            <a:off x="4937760" y="2770632"/>
            <a:ext cx="146304" cy="146304"/>
          </a:xfrm>
          <a:prstGeom prst="rect">
            <a:avLst/>
          </a:prstGeom>
        </p:spPr>
      </p:pic>
      <p:sp>
        <p:nvSpPr>
          <p:cNvPr id="35" name="Text 24"/>
          <p:cNvSpPr/>
          <p:nvPr/>
        </p:nvSpPr>
        <p:spPr>
          <a:xfrm>
            <a:off x="5166360" y="2743200"/>
            <a:ext cx="1463040" cy="18288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Templates métiers</a:t>
            </a:r>
            <a:endParaRPr lang="en-US" sz="900" dirty="0"/>
          </a:p>
        </p:txBody>
      </p:sp>
      <p:sp>
        <p:nvSpPr>
          <p:cNvPr id="36" name="Text 25"/>
          <p:cNvSpPr/>
          <p:nvPr/>
        </p:nvSpPr>
        <p:spPr>
          <a:xfrm>
            <a:off x="6583680" y="2743200"/>
            <a:ext cx="2011680" cy="182880"/>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Gestion clients, devis, tickets, projets</a:t>
            </a:r>
            <a:endParaRPr lang="en-US" sz="800" dirty="0"/>
          </a:p>
        </p:txBody>
      </p:sp>
      <p:pic>
        <p:nvPicPr>
          <p:cNvPr id="37" name="Image 9" descr="preencoded.png"/>
          <p:cNvPicPr>
            <a:picLocks noChangeAspect="1"/>
          </p:cNvPicPr>
          <p:nvPr/>
        </p:nvPicPr>
        <p:blipFill>
          <a:blip r:embed="rId5"/>
          <a:stretch>
            <a:fillRect/>
          </a:stretch>
        </p:blipFill>
        <p:spPr>
          <a:xfrm>
            <a:off x="4937760" y="3108960"/>
            <a:ext cx="146304" cy="146304"/>
          </a:xfrm>
          <a:prstGeom prst="rect">
            <a:avLst/>
          </a:prstGeom>
        </p:spPr>
      </p:pic>
      <p:sp>
        <p:nvSpPr>
          <p:cNvPr id="38" name="Text 26"/>
          <p:cNvSpPr/>
          <p:nvPr/>
        </p:nvSpPr>
        <p:spPr>
          <a:xfrm>
            <a:off x="5166360" y="3081528"/>
            <a:ext cx="1463040" cy="18288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Assistant IA</a:t>
            </a:r>
            <a:endParaRPr lang="en-US" sz="900" dirty="0"/>
          </a:p>
        </p:txBody>
      </p:sp>
      <p:sp>
        <p:nvSpPr>
          <p:cNvPr id="39" name="Text 27"/>
          <p:cNvSpPr/>
          <p:nvPr/>
        </p:nvSpPr>
        <p:spPr>
          <a:xfrm>
            <a:off x="6583680" y="3081528"/>
            <a:ext cx="2011680" cy="182880"/>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"Crée un workflow qui génère un devis"</a:t>
            </a:r>
            <a:endParaRPr lang="en-US" sz="800" dirty="0"/>
          </a:p>
        </p:txBody>
      </p:sp>
      <p:sp>
        <p:nvSpPr>
          <p:cNvPr id="40" name="Shape 28"/>
          <p:cNvSpPr/>
          <p:nvPr/>
        </p:nvSpPr>
        <p:spPr>
          <a:xfrm>
            <a:off x="365760" y="3749040"/>
            <a:ext cx="8412480" cy="914400"/>
          </a:xfrm>
          <a:prstGeom prst="rect">
            <a:avLst/>
          </a:prstGeom>
          <a:solidFill>
            <a:srgbClr val="4F46E5"/>
          </a:solidFill>
          <a:ln/>
        </p:spPr>
      </p:sp>
      <p:sp>
        <p:nvSpPr>
          <p:cNvPr id="41" name="Text 29"/>
          <p:cNvSpPr/>
          <p:nvPr/>
        </p:nvSpPr>
        <p:spPr>
          <a:xfrm>
            <a:off x="548640" y="3794760"/>
            <a:ext cx="914400" cy="274320"/>
          </a:xfrm>
          <a:prstGeom prst="rect">
            <a:avLst/>
          </a:prstGeom>
          <a:noFill/>
          <a:ln/>
        </p:spPr>
        <p:txBody>
          <a:bodyPr wrap="square" lIns="0" tIns="0" rIns="0" bIns="0" rtlCol="0" anchor="ctr"/>
          <a:lstStyle/>
          <a:p>
            <a:pPr marL="0" indent="0">
              <a:buNone/>
            </a:pPr>
            <a:r>
              <a:rPr lang="en-US" sz="1000" b="1" dirty="0">
                <a:solidFill>
                  <a:srgbClr val="FFFFFF"/>
                </a:solidFill>
                <a:latin typeface="Poppins" pitchFamily="34" charset="0"/>
                <a:ea typeface="Poppins" pitchFamily="34" charset="-122"/>
                <a:cs typeface="Poppins" pitchFamily="34" charset="-120"/>
              </a:rPr>
              <a:t>Résultat</a:t>
            </a:r>
            <a:endParaRPr lang="en-US" sz="1000" dirty="0"/>
          </a:p>
        </p:txBody>
      </p:sp>
      <p:sp>
        <p:nvSpPr>
          <p:cNvPr id="42" name="Text 30"/>
          <p:cNvSpPr/>
          <p:nvPr/>
        </p:nvSpPr>
        <p:spPr>
          <a:xfrm>
            <a:off x="754380" y="4023360"/>
            <a:ext cx="1737360" cy="274320"/>
          </a:xfrm>
          <a:prstGeom prst="rect">
            <a:avLst/>
          </a:prstGeom>
          <a:noFill/>
          <a:ln/>
        </p:spPr>
        <p:txBody>
          <a:bodyPr wrap="square" lIns="0" tIns="0" rIns="0" bIns="0" rtlCol="0" anchor="ctr"/>
          <a:lstStyle/>
          <a:p>
            <a:pPr marL="0" indent="0" algn="ctr">
              <a:buNone/>
            </a:pPr>
            <a:r>
              <a:rPr lang="en-US" sz="1800" b="1" dirty="0">
                <a:solidFill>
                  <a:srgbClr val="FFFFFF"/>
                </a:solidFill>
                <a:latin typeface="Poppins" pitchFamily="34" charset="0"/>
                <a:ea typeface="Poppins" pitchFamily="34" charset="-122"/>
                <a:cs typeface="Poppins" pitchFamily="34" charset="-120"/>
              </a:rPr>
              <a:t>5-10h</a:t>
            </a:r>
            <a:endParaRPr lang="en-US" sz="1800" dirty="0"/>
          </a:p>
        </p:txBody>
      </p:sp>
      <p:sp>
        <p:nvSpPr>
          <p:cNvPr id="43" name="Text 31"/>
          <p:cNvSpPr/>
          <p:nvPr/>
        </p:nvSpPr>
        <p:spPr>
          <a:xfrm>
            <a:off x="754380" y="4297680"/>
            <a:ext cx="1737360" cy="228600"/>
          </a:xfrm>
          <a:prstGeom prst="rect">
            <a:avLst/>
          </a:prstGeom>
          <a:noFill/>
          <a:ln/>
        </p:spPr>
        <p:txBody>
          <a:bodyPr wrap="square" lIns="0" tIns="0" rIns="0" bIns="0" rtlCol="0" anchor="ctr"/>
          <a:lstStyle/>
          <a:p>
            <a:pPr marL="0" indent="0" algn="ctr">
              <a:buNone/>
            </a:pPr>
            <a:r>
              <a:rPr lang="en-US" sz="850" dirty="0">
                <a:solidFill>
                  <a:srgbClr val="D6EBFF"/>
                </a:solidFill>
                <a:latin typeface="Poppins" pitchFamily="34" charset="0"/>
                <a:ea typeface="Poppins" pitchFamily="34" charset="-122"/>
                <a:cs typeface="Poppins" pitchFamily="34" charset="-120"/>
              </a:rPr>
              <a:t>gagnées / semaine</a:t>
            </a:r>
            <a:endParaRPr lang="en-US" sz="850" dirty="0"/>
          </a:p>
        </p:txBody>
      </p:sp>
      <p:sp>
        <p:nvSpPr>
          <p:cNvPr id="44" name="Text 32"/>
          <p:cNvSpPr/>
          <p:nvPr/>
        </p:nvSpPr>
        <p:spPr>
          <a:xfrm>
            <a:off x="2720340" y="4023360"/>
            <a:ext cx="1737360" cy="274320"/>
          </a:xfrm>
          <a:prstGeom prst="rect">
            <a:avLst/>
          </a:prstGeom>
          <a:noFill/>
          <a:ln/>
        </p:spPr>
        <p:txBody>
          <a:bodyPr wrap="square" lIns="0" tIns="0" rIns="0" bIns="0" rtlCol="0" anchor="ctr"/>
          <a:lstStyle/>
          <a:p>
            <a:pPr marL="0" indent="0" algn="ctr">
              <a:buNone/>
            </a:pPr>
            <a:r>
              <a:rPr lang="en-US" sz="1800" b="1" dirty="0">
                <a:solidFill>
                  <a:srgbClr val="FFFFFF"/>
                </a:solidFill>
                <a:latin typeface="Poppins" pitchFamily="34" charset="0"/>
                <a:ea typeface="Poppins" pitchFamily="34" charset="-122"/>
                <a:cs typeface="Poppins" pitchFamily="34" charset="-120"/>
              </a:rPr>
              <a:t>-80%</a:t>
            </a:r>
            <a:endParaRPr lang="en-US" sz="1800" dirty="0"/>
          </a:p>
        </p:txBody>
      </p:sp>
      <p:sp>
        <p:nvSpPr>
          <p:cNvPr id="45" name="Text 33"/>
          <p:cNvSpPr/>
          <p:nvPr/>
        </p:nvSpPr>
        <p:spPr>
          <a:xfrm>
            <a:off x="2720340" y="4297680"/>
            <a:ext cx="1737360" cy="228600"/>
          </a:xfrm>
          <a:prstGeom prst="rect">
            <a:avLst/>
          </a:prstGeom>
          <a:noFill/>
          <a:ln/>
        </p:spPr>
        <p:txBody>
          <a:bodyPr wrap="square" lIns="0" tIns="0" rIns="0" bIns="0" rtlCol="0" anchor="ctr"/>
          <a:lstStyle/>
          <a:p>
            <a:pPr marL="0" indent="0" algn="ctr">
              <a:buNone/>
            </a:pPr>
            <a:r>
              <a:rPr lang="en-US" sz="850" dirty="0">
                <a:solidFill>
                  <a:srgbClr val="D6EBFF"/>
                </a:solidFill>
                <a:latin typeface="Poppins" pitchFamily="34" charset="0"/>
                <a:ea typeface="Poppins" pitchFamily="34" charset="-122"/>
                <a:cs typeface="Poppins" pitchFamily="34" charset="-120"/>
              </a:rPr>
              <a:t>d'erreurs manuelles</a:t>
            </a:r>
            <a:endParaRPr lang="en-US" sz="850" dirty="0"/>
          </a:p>
        </p:txBody>
      </p:sp>
      <p:sp>
        <p:nvSpPr>
          <p:cNvPr id="46" name="Text 34"/>
          <p:cNvSpPr/>
          <p:nvPr/>
        </p:nvSpPr>
        <p:spPr>
          <a:xfrm>
            <a:off x="4686300" y="4023360"/>
            <a:ext cx="1737360" cy="274320"/>
          </a:xfrm>
          <a:prstGeom prst="rect">
            <a:avLst/>
          </a:prstGeom>
          <a:noFill/>
          <a:ln/>
        </p:spPr>
        <p:txBody>
          <a:bodyPr wrap="square" lIns="0" tIns="0" rIns="0" bIns="0" rtlCol="0" anchor="ctr"/>
          <a:lstStyle/>
          <a:p>
            <a:pPr marL="0" indent="0" algn="ctr">
              <a:buNone/>
            </a:pPr>
            <a:r>
              <a:rPr lang="en-US" sz="1800" b="1" dirty="0">
                <a:solidFill>
                  <a:srgbClr val="FFFFFF"/>
                </a:solidFill>
                <a:latin typeface="Poppins" pitchFamily="34" charset="0"/>
                <a:ea typeface="Poppins" pitchFamily="34" charset="-122"/>
                <a:cs typeface="Poppins" pitchFamily="34" charset="-120"/>
              </a:rPr>
              <a:t>100%</a:t>
            </a:r>
            <a:endParaRPr lang="en-US" sz="1800" dirty="0"/>
          </a:p>
        </p:txBody>
      </p:sp>
      <p:sp>
        <p:nvSpPr>
          <p:cNvPr id="47" name="Text 35"/>
          <p:cNvSpPr/>
          <p:nvPr/>
        </p:nvSpPr>
        <p:spPr>
          <a:xfrm>
            <a:off x="4686300" y="4297680"/>
            <a:ext cx="1737360" cy="228600"/>
          </a:xfrm>
          <a:prstGeom prst="rect">
            <a:avLst/>
          </a:prstGeom>
          <a:noFill/>
          <a:ln/>
        </p:spPr>
        <p:txBody>
          <a:bodyPr wrap="square" lIns="0" tIns="0" rIns="0" bIns="0" rtlCol="0" anchor="ctr"/>
          <a:lstStyle/>
          <a:p>
            <a:pPr marL="0" indent="0" algn="ctr">
              <a:buNone/>
            </a:pPr>
            <a:r>
              <a:rPr lang="en-US" sz="850" dirty="0">
                <a:solidFill>
                  <a:srgbClr val="D6EBFF"/>
                </a:solidFill>
                <a:latin typeface="Poppins" pitchFamily="34" charset="0"/>
                <a:ea typeface="Poppins" pitchFamily="34" charset="-122"/>
                <a:cs typeface="Poppins" pitchFamily="34" charset="-120"/>
              </a:rPr>
              <a:t>autonomie numérique</a:t>
            </a:r>
            <a:endParaRPr lang="en-US" sz="850" dirty="0"/>
          </a:p>
        </p:txBody>
      </p:sp>
      <p:sp>
        <p:nvSpPr>
          <p:cNvPr id="48" name="Text 36"/>
          <p:cNvSpPr/>
          <p:nvPr/>
        </p:nvSpPr>
        <p:spPr>
          <a:xfrm>
            <a:off x="6652260" y="4023360"/>
            <a:ext cx="1737360" cy="274320"/>
          </a:xfrm>
          <a:prstGeom prst="rect">
            <a:avLst/>
          </a:prstGeom>
          <a:noFill/>
          <a:ln/>
        </p:spPr>
        <p:txBody>
          <a:bodyPr wrap="square" lIns="0" tIns="0" rIns="0" bIns="0" rtlCol="0" anchor="ctr"/>
          <a:lstStyle/>
          <a:p>
            <a:pPr marL="0" indent="0" algn="ctr">
              <a:buNone/>
            </a:pPr>
            <a:r>
              <a:rPr lang="en-US" sz="1800" b="1" dirty="0">
                <a:solidFill>
                  <a:srgbClr val="FFFFFF"/>
                </a:solidFill>
                <a:latin typeface="Poppins" pitchFamily="34" charset="0"/>
                <a:ea typeface="Poppins" pitchFamily="34" charset="-122"/>
                <a:cs typeface="Poppins" pitchFamily="34" charset="-120"/>
              </a:rPr>
              <a:t>0€</a:t>
            </a:r>
            <a:endParaRPr lang="en-US" sz="1800" dirty="0"/>
          </a:p>
        </p:txBody>
      </p:sp>
      <p:sp>
        <p:nvSpPr>
          <p:cNvPr id="49" name="Text 37"/>
          <p:cNvSpPr/>
          <p:nvPr/>
        </p:nvSpPr>
        <p:spPr>
          <a:xfrm>
            <a:off x="6652260" y="4297680"/>
            <a:ext cx="1737360" cy="228600"/>
          </a:xfrm>
          <a:prstGeom prst="rect">
            <a:avLst/>
          </a:prstGeom>
          <a:noFill/>
          <a:ln/>
        </p:spPr>
        <p:txBody>
          <a:bodyPr wrap="square" lIns="0" tIns="0" rIns="0" bIns="0" rtlCol="0" anchor="ctr"/>
          <a:lstStyle/>
          <a:p>
            <a:pPr marL="0" indent="0" algn="ctr">
              <a:buNone/>
            </a:pPr>
            <a:r>
              <a:rPr lang="en-US" sz="850" dirty="0">
                <a:solidFill>
                  <a:srgbClr val="D6EBFF"/>
                </a:solidFill>
                <a:latin typeface="Poppins" pitchFamily="34" charset="0"/>
                <a:ea typeface="Poppins" pitchFamily="34" charset="-122"/>
                <a:cs typeface="Poppins" pitchFamily="34" charset="-120"/>
              </a:rPr>
              <a:t>de développeur</a:t>
            </a:r>
            <a:endParaRPr lang="en-US" sz="850" dirty="0"/>
          </a:p>
        </p:txBody>
      </p:sp>
      <p:sp>
        <p:nvSpPr>
          <p:cNvPr id="50" name="Text 38"/>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pic>
        <p:nvPicPr>
          <p:cNvPr id="3" name="Image 0" descr="preencoded.png"/>
          <p:cNvPicPr>
            <a:picLocks noChangeAspect="1"/>
          </p:cNvPicPr>
          <p:nvPr/>
        </p:nvPicPr>
        <p:blipFill>
          <a:blip r:embed="rId3"/>
          <a:stretch>
            <a:fillRect/>
          </a:stretch>
        </p:blipFill>
        <p:spPr>
          <a:xfrm>
            <a:off x="640080" y="228600"/>
            <a:ext cx="365760" cy="365760"/>
          </a:xfrm>
          <a:prstGeom prst="rect">
            <a:avLst/>
          </a:prstGeom>
        </p:spPr>
      </p:pic>
      <p:sp>
        <p:nvSpPr>
          <p:cNvPr id="4" name="Text 1"/>
          <p:cNvSpPr/>
          <p:nvPr/>
        </p:nvSpPr>
        <p:spPr>
          <a:xfrm>
            <a:off x="1097280" y="228600"/>
            <a:ext cx="4572000" cy="365760"/>
          </a:xfrm>
          <a:prstGeom prst="rect">
            <a:avLst/>
          </a:prstGeom>
          <a:noFill/>
          <a:ln/>
        </p:spPr>
        <p:txBody>
          <a:bodyPr wrap="square" lIns="0" tIns="0" rIns="0" bIns="0" rtlCol="0" anchor="ctr"/>
          <a:lstStyle/>
          <a:p>
            <a:pPr marL="0" indent="0">
              <a:buNone/>
            </a:pPr>
            <a:r>
              <a:rPr lang="en-US" sz="2400" b="1" dirty="0">
                <a:solidFill>
                  <a:srgbClr val="0891B2"/>
                </a:solidFill>
                <a:latin typeface="Poppins" pitchFamily="34" charset="0"/>
                <a:ea typeface="Poppins" pitchFamily="34" charset="-122"/>
                <a:cs typeface="Poppins" pitchFamily="34" charset="-120"/>
              </a:rPr>
              <a:t>Dirigeant de PME</a:t>
            </a:r>
            <a:endParaRPr lang="en-US" sz="2400" dirty="0"/>
          </a:p>
        </p:txBody>
      </p:sp>
      <p:sp>
        <p:nvSpPr>
          <p:cNvPr id="5" name="Text 2"/>
          <p:cNvSpPr/>
          <p:nvPr/>
        </p:nvSpPr>
        <p:spPr>
          <a:xfrm>
            <a:off x="1097280" y="594360"/>
            <a:ext cx="4572000" cy="228600"/>
          </a:xfrm>
          <a:prstGeom prst="rect">
            <a:avLst/>
          </a:prstGeom>
          <a:noFill/>
          <a:ln/>
        </p:spPr>
        <p:txBody>
          <a:bodyPr wrap="square" lIns="0" tIns="0" rIns="0" bIns="0" rtlCol="0" anchor="ctr"/>
          <a:lstStyle/>
          <a:p>
            <a:pPr marL="0" indent="0">
              <a:buNone/>
            </a:pPr>
            <a:r>
              <a:rPr lang="en-US" sz="1000" dirty="0">
                <a:solidFill>
                  <a:srgbClr val="6B7280"/>
                </a:solidFill>
                <a:latin typeface="Poppins" pitchFamily="34" charset="0"/>
                <a:ea typeface="Poppins" pitchFamily="34" charset="-122"/>
                <a:cs typeface="Poppins" pitchFamily="34" charset="-120"/>
              </a:rPr>
              <a:t>25 à 250 salariés · Multi-services · En croissance</a:t>
            </a:r>
            <a:endParaRPr lang="en-US" sz="1000" dirty="0"/>
          </a:p>
        </p:txBody>
      </p:sp>
      <p:sp>
        <p:nvSpPr>
          <p:cNvPr id="6" name="Shape 3"/>
          <p:cNvSpPr/>
          <p:nvPr/>
        </p:nvSpPr>
        <p:spPr>
          <a:xfrm>
            <a:off x="365760" y="1005840"/>
            <a:ext cx="4023360" cy="1463040"/>
          </a:xfrm>
          <a:prstGeom prst="rect">
            <a:avLst/>
          </a:prstGeom>
          <a:solidFill>
            <a:srgbClr val="F7F9FC"/>
          </a:solidFill>
          <a:ln/>
        </p:spPr>
      </p:sp>
      <p:sp>
        <p:nvSpPr>
          <p:cNvPr id="7" name="Text 4"/>
          <p:cNvSpPr/>
          <p:nvPr/>
        </p:nvSpPr>
        <p:spPr>
          <a:xfrm>
            <a:off x="502920" y="1051560"/>
            <a:ext cx="3657600" cy="274320"/>
          </a:xfrm>
          <a:prstGeom prst="rect">
            <a:avLst/>
          </a:prstGeom>
          <a:noFill/>
          <a:ln/>
        </p:spPr>
        <p:txBody>
          <a:bodyPr wrap="square" lIns="0" tIns="0" rIns="0" bIns="0" rtlCol="0" anchor="ctr"/>
          <a:lstStyle/>
          <a:p>
            <a:pPr marL="0" indent="0">
              <a:buNone/>
            </a:pPr>
            <a:r>
              <a:rPr lang="en-US" sz="1200" b="1" dirty="0">
                <a:solidFill>
                  <a:srgbClr val="0F172A"/>
                </a:solidFill>
                <a:latin typeface="Poppins" pitchFamily="34" charset="0"/>
                <a:ea typeface="Poppins" pitchFamily="34" charset="-122"/>
                <a:cs typeface="Poppins" pitchFamily="34" charset="-120"/>
              </a:rPr>
              <a:t>Votre situation</a:t>
            </a:r>
            <a:endParaRPr lang="en-US" sz="1200" dirty="0"/>
          </a:p>
        </p:txBody>
      </p:sp>
      <p:sp>
        <p:nvSpPr>
          <p:cNvPr id="8" name="Text 5"/>
          <p:cNvSpPr/>
          <p:nvPr/>
        </p:nvSpPr>
        <p:spPr>
          <a:xfrm>
            <a:off x="548640" y="1371600"/>
            <a:ext cx="3657600" cy="228600"/>
          </a:xfrm>
          <a:prstGeom prst="rect">
            <a:avLst/>
          </a:prstGeom>
          <a:noFill/>
          <a:ln/>
        </p:spPr>
        <p:txBody>
          <a:bodyPr wrap="square" lIns="0" tIns="0" rIns="0" bIns="0" rtlCol="0" anchor="ctr"/>
          <a:lstStyle/>
          <a:p>
            <a:pPr marL="0" indent="0">
              <a:buNone/>
            </a:pPr>
            <a:r>
              <a:rPr lang="en-US" sz="850" dirty="0">
                <a:solidFill>
                  <a:srgbClr val="374151"/>
                </a:solidFill>
                <a:latin typeface="Poppins" pitchFamily="34" charset="0"/>
                <a:ea typeface="Poppins" pitchFamily="34" charset="-122"/>
                <a:cs typeface="Poppins" pitchFamily="34" charset="-120"/>
              </a:rPr>
              <a:t>•  Vous comprenez l'intérêt de l'automatisation</a:t>
            </a:r>
            <a:endParaRPr lang="en-US" sz="850" dirty="0"/>
          </a:p>
        </p:txBody>
      </p:sp>
      <p:sp>
        <p:nvSpPr>
          <p:cNvPr id="9" name="Text 6"/>
          <p:cNvSpPr/>
          <p:nvPr/>
        </p:nvSpPr>
        <p:spPr>
          <a:xfrm>
            <a:off x="548640" y="1618488"/>
            <a:ext cx="3657600" cy="228600"/>
          </a:xfrm>
          <a:prstGeom prst="rect">
            <a:avLst/>
          </a:prstGeom>
          <a:noFill/>
          <a:ln/>
        </p:spPr>
        <p:txBody>
          <a:bodyPr wrap="square" lIns="0" tIns="0" rIns="0" bIns="0" rtlCol="0" anchor="ctr"/>
          <a:lstStyle/>
          <a:p>
            <a:pPr marL="0" indent="0">
              <a:buNone/>
            </a:pPr>
            <a:r>
              <a:rPr lang="en-US" sz="850" dirty="0">
                <a:solidFill>
                  <a:srgbClr val="374151"/>
                </a:solidFill>
                <a:latin typeface="Poppins" pitchFamily="34" charset="0"/>
                <a:ea typeface="Poppins" pitchFamily="34" charset="-122"/>
                <a:cs typeface="Poppins" pitchFamily="34" charset="-120"/>
              </a:rPr>
              <a:t>•  Mais vous ne savez pas par où commencer</a:t>
            </a:r>
            <a:endParaRPr lang="en-US" sz="850" dirty="0"/>
          </a:p>
        </p:txBody>
      </p:sp>
      <p:sp>
        <p:nvSpPr>
          <p:cNvPr id="10" name="Text 7"/>
          <p:cNvSpPr/>
          <p:nvPr/>
        </p:nvSpPr>
        <p:spPr>
          <a:xfrm>
            <a:off x="548640" y="1865376"/>
            <a:ext cx="3657600" cy="228600"/>
          </a:xfrm>
          <a:prstGeom prst="rect">
            <a:avLst/>
          </a:prstGeom>
          <a:noFill/>
          <a:ln/>
        </p:spPr>
        <p:txBody>
          <a:bodyPr wrap="square" lIns="0" tIns="0" rIns="0" bIns="0" rtlCol="0" anchor="ctr"/>
          <a:lstStyle/>
          <a:p>
            <a:pPr marL="0" indent="0">
              <a:buNone/>
            </a:pPr>
            <a:r>
              <a:rPr lang="en-US" sz="850" dirty="0">
                <a:solidFill>
                  <a:srgbClr val="374151"/>
                </a:solidFill>
                <a:latin typeface="Poppins" pitchFamily="34" charset="0"/>
                <a:ea typeface="Poppins" pitchFamily="34" charset="-122"/>
                <a:cs typeface="Poppins" pitchFamily="34" charset="-120"/>
              </a:rPr>
              <a:t>•  Vous voulez des résultats rapides et mesurables</a:t>
            </a:r>
            <a:endParaRPr lang="en-US" sz="850" dirty="0"/>
          </a:p>
        </p:txBody>
      </p:sp>
      <p:sp>
        <p:nvSpPr>
          <p:cNvPr id="11" name="Text 8"/>
          <p:cNvSpPr/>
          <p:nvPr/>
        </p:nvSpPr>
        <p:spPr>
          <a:xfrm>
            <a:off x="548640" y="2112264"/>
            <a:ext cx="3657600" cy="228600"/>
          </a:xfrm>
          <a:prstGeom prst="rect">
            <a:avLst/>
          </a:prstGeom>
          <a:noFill/>
          <a:ln/>
        </p:spPr>
        <p:txBody>
          <a:bodyPr wrap="square" lIns="0" tIns="0" rIns="0" bIns="0" rtlCol="0" anchor="ctr"/>
          <a:lstStyle/>
          <a:p>
            <a:pPr marL="0" indent="0">
              <a:buNone/>
            </a:pPr>
            <a:r>
              <a:rPr lang="en-US" sz="850" dirty="0">
                <a:solidFill>
                  <a:srgbClr val="374151"/>
                </a:solidFill>
                <a:latin typeface="Poppins" pitchFamily="34" charset="0"/>
                <a:ea typeface="Poppins" pitchFamily="34" charset="-122"/>
                <a:cs typeface="Poppins" pitchFamily="34" charset="-120"/>
              </a:rPr>
              <a:t>•  Les projets informatiques vous semblent lourds et coûteux</a:t>
            </a:r>
            <a:endParaRPr lang="en-US" sz="850" dirty="0"/>
          </a:p>
        </p:txBody>
      </p:sp>
      <p:sp>
        <p:nvSpPr>
          <p:cNvPr id="12" name="Shape 9"/>
          <p:cNvSpPr/>
          <p:nvPr/>
        </p:nvSpPr>
        <p:spPr>
          <a:xfrm>
            <a:off x="365760" y="2606040"/>
            <a:ext cx="4023360" cy="914400"/>
          </a:xfrm>
          <a:prstGeom prst="rect">
            <a:avLst/>
          </a:prstGeom>
          <a:solidFill>
            <a:srgbClr val="FEF2F2"/>
          </a:solidFill>
          <a:ln/>
        </p:spPr>
      </p:sp>
      <p:sp>
        <p:nvSpPr>
          <p:cNvPr id="13" name="Text 10"/>
          <p:cNvSpPr/>
          <p:nvPr/>
        </p:nvSpPr>
        <p:spPr>
          <a:xfrm>
            <a:off x="502920" y="2651760"/>
            <a:ext cx="3657600" cy="274320"/>
          </a:xfrm>
          <a:prstGeom prst="rect">
            <a:avLst/>
          </a:prstGeom>
          <a:noFill/>
          <a:ln/>
        </p:spPr>
        <p:txBody>
          <a:bodyPr wrap="square" lIns="0" tIns="0" rIns="0" bIns="0" rtlCol="0" anchor="ctr"/>
          <a:lstStyle/>
          <a:p>
            <a:pPr marL="0" indent="0">
              <a:buNone/>
            </a:pPr>
            <a:r>
              <a:rPr lang="en-US" sz="1100" b="1" dirty="0">
                <a:solidFill>
                  <a:srgbClr val="EF4444"/>
                </a:solidFill>
                <a:latin typeface="Poppins" pitchFamily="34" charset="0"/>
                <a:ea typeface="Poppins" pitchFamily="34" charset="-122"/>
                <a:cs typeface="Poppins" pitchFamily="34" charset="-120"/>
              </a:rPr>
              <a:t>Ce qui vous freine</a:t>
            </a:r>
            <a:endParaRPr lang="en-US" sz="1100" dirty="0"/>
          </a:p>
        </p:txBody>
      </p:sp>
      <p:pic>
        <p:nvPicPr>
          <p:cNvPr id="14" name="Image 1" descr="preencoded.png"/>
          <p:cNvPicPr>
            <a:picLocks noChangeAspect="1"/>
          </p:cNvPicPr>
          <p:nvPr/>
        </p:nvPicPr>
        <p:blipFill>
          <a:blip r:embed="rId4"/>
          <a:stretch>
            <a:fillRect/>
          </a:stretch>
        </p:blipFill>
        <p:spPr>
          <a:xfrm>
            <a:off x="548640" y="2971800"/>
            <a:ext cx="128016" cy="128016"/>
          </a:xfrm>
          <a:prstGeom prst="rect">
            <a:avLst/>
          </a:prstGeom>
        </p:spPr>
      </p:pic>
      <p:sp>
        <p:nvSpPr>
          <p:cNvPr id="15" name="Text 11"/>
          <p:cNvSpPr/>
          <p:nvPr/>
        </p:nvSpPr>
        <p:spPr>
          <a:xfrm>
            <a:off x="731520" y="2953512"/>
            <a:ext cx="3474720" cy="18288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Peur des projets informatiques lourds</a:t>
            </a:r>
            <a:endParaRPr lang="en-US" sz="850" dirty="0"/>
          </a:p>
        </p:txBody>
      </p:sp>
      <p:pic>
        <p:nvPicPr>
          <p:cNvPr id="16" name="Image 2" descr="preencoded.png"/>
          <p:cNvPicPr>
            <a:picLocks noChangeAspect="1"/>
          </p:cNvPicPr>
          <p:nvPr/>
        </p:nvPicPr>
        <p:blipFill>
          <a:blip r:embed="rId4"/>
          <a:stretch>
            <a:fillRect/>
          </a:stretch>
        </p:blipFill>
        <p:spPr>
          <a:xfrm>
            <a:off x="548640" y="3154680"/>
            <a:ext cx="128016" cy="128016"/>
          </a:xfrm>
          <a:prstGeom prst="rect">
            <a:avLst/>
          </a:prstGeom>
        </p:spPr>
      </p:pic>
      <p:sp>
        <p:nvSpPr>
          <p:cNvPr id="17" name="Text 12"/>
          <p:cNvSpPr/>
          <p:nvPr/>
        </p:nvSpPr>
        <p:spPr>
          <a:xfrm>
            <a:off x="731520" y="3136392"/>
            <a:ext cx="3474720" cy="18288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Difficulté à définir le besoin</a:t>
            </a:r>
            <a:endParaRPr lang="en-US" sz="850" dirty="0"/>
          </a:p>
        </p:txBody>
      </p:sp>
      <p:pic>
        <p:nvPicPr>
          <p:cNvPr id="18" name="Image 3" descr="preencoded.png"/>
          <p:cNvPicPr>
            <a:picLocks noChangeAspect="1"/>
          </p:cNvPicPr>
          <p:nvPr/>
        </p:nvPicPr>
        <p:blipFill>
          <a:blip r:embed="rId4"/>
          <a:stretch>
            <a:fillRect/>
          </a:stretch>
        </p:blipFill>
        <p:spPr>
          <a:xfrm>
            <a:off x="548640" y="3337560"/>
            <a:ext cx="128016" cy="128016"/>
          </a:xfrm>
          <a:prstGeom prst="rect">
            <a:avLst/>
          </a:prstGeom>
        </p:spPr>
      </p:pic>
      <p:sp>
        <p:nvSpPr>
          <p:cNvPr id="19" name="Text 13"/>
          <p:cNvSpPr/>
          <p:nvPr/>
        </p:nvSpPr>
        <p:spPr>
          <a:xfrm>
            <a:off x="731520" y="3319272"/>
            <a:ext cx="3474720" cy="18288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Budget limité pour la digitalisation</a:t>
            </a:r>
            <a:endParaRPr lang="en-US" sz="850" dirty="0"/>
          </a:p>
        </p:txBody>
      </p:sp>
      <p:sp>
        <p:nvSpPr>
          <p:cNvPr id="20" name="Shape 14"/>
          <p:cNvSpPr/>
          <p:nvPr/>
        </p:nvSpPr>
        <p:spPr>
          <a:xfrm>
            <a:off x="4754880" y="1005840"/>
            <a:ext cx="4023360" cy="2514600"/>
          </a:xfrm>
          <a:prstGeom prst="rect">
            <a:avLst/>
          </a:prstGeom>
          <a:solidFill>
            <a:srgbClr val="EBF5FF"/>
          </a:solidFill>
          <a:ln/>
        </p:spPr>
      </p:sp>
      <p:sp>
        <p:nvSpPr>
          <p:cNvPr id="21" name="Text 15"/>
          <p:cNvSpPr/>
          <p:nvPr/>
        </p:nvSpPr>
        <p:spPr>
          <a:xfrm>
            <a:off x="4892040" y="1051560"/>
            <a:ext cx="3657600" cy="274320"/>
          </a:xfrm>
          <a:prstGeom prst="rect">
            <a:avLst/>
          </a:prstGeom>
          <a:noFill/>
          <a:ln/>
        </p:spPr>
        <p:txBody>
          <a:bodyPr wrap="square" lIns="0" tIns="0" rIns="0" bIns="0" rtlCol="0" anchor="ctr"/>
          <a:lstStyle/>
          <a:p>
            <a:pPr marL="0" indent="0">
              <a:buNone/>
            </a:pPr>
            <a:r>
              <a:rPr lang="en-US" sz="1200" b="1" dirty="0">
                <a:solidFill>
                  <a:srgbClr val="1677FF"/>
                </a:solidFill>
                <a:latin typeface="Poppins" pitchFamily="34" charset="0"/>
                <a:ea typeface="Poppins" pitchFamily="34" charset="-122"/>
                <a:cs typeface="Poppins" pitchFamily="34" charset="-120"/>
              </a:rPr>
              <a:t>KINN accélère votre digitalisation</a:t>
            </a:r>
            <a:endParaRPr lang="en-US" sz="1200" dirty="0"/>
          </a:p>
        </p:txBody>
      </p:sp>
      <p:pic>
        <p:nvPicPr>
          <p:cNvPr id="22" name="Image 4" descr="preencoded.png"/>
          <p:cNvPicPr>
            <a:picLocks noChangeAspect="1"/>
          </p:cNvPicPr>
          <p:nvPr/>
        </p:nvPicPr>
        <p:blipFill>
          <a:blip r:embed="rId5"/>
          <a:stretch>
            <a:fillRect/>
          </a:stretch>
        </p:blipFill>
        <p:spPr>
          <a:xfrm>
            <a:off x="4937760" y="1417320"/>
            <a:ext cx="146304" cy="146304"/>
          </a:xfrm>
          <a:prstGeom prst="rect">
            <a:avLst/>
          </a:prstGeom>
        </p:spPr>
      </p:pic>
      <p:sp>
        <p:nvSpPr>
          <p:cNvPr id="23" name="Text 16"/>
          <p:cNvSpPr/>
          <p:nvPr/>
        </p:nvSpPr>
        <p:spPr>
          <a:xfrm>
            <a:off x="5166360" y="1389888"/>
            <a:ext cx="1463040" cy="18288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Diagnostic automatisation</a:t>
            </a:r>
            <a:endParaRPr lang="en-US" sz="900" dirty="0"/>
          </a:p>
        </p:txBody>
      </p:sp>
      <p:sp>
        <p:nvSpPr>
          <p:cNvPr id="24" name="Text 17"/>
          <p:cNvSpPr/>
          <p:nvPr/>
        </p:nvSpPr>
        <p:spPr>
          <a:xfrm>
            <a:off x="6583680" y="1389888"/>
            <a:ext cx="2011680" cy="182880"/>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Analyse de vos processus existants</a:t>
            </a:r>
            <a:endParaRPr lang="en-US" sz="800" dirty="0"/>
          </a:p>
        </p:txBody>
      </p:sp>
      <p:pic>
        <p:nvPicPr>
          <p:cNvPr id="25" name="Image 5" descr="preencoded.png"/>
          <p:cNvPicPr>
            <a:picLocks noChangeAspect="1"/>
          </p:cNvPicPr>
          <p:nvPr/>
        </p:nvPicPr>
        <p:blipFill>
          <a:blip r:embed="rId5"/>
          <a:stretch>
            <a:fillRect/>
          </a:stretch>
        </p:blipFill>
        <p:spPr>
          <a:xfrm>
            <a:off x="4937760" y="1755648"/>
            <a:ext cx="146304" cy="146304"/>
          </a:xfrm>
          <a:prstGeom prst="rect">
            <a:avLst/>
          </a:prstGeom>
        </p:spPr>
      </p:pic>
      <p:sp>
        <p:nvSpPr>
          <p:cNvPr id="26" name="Text 18"/>
          <p:cNvSpPr/>
          <p:nvPr/>
        </p:nvSpPr>
        <p:spPr>
          <a:xfrm>
            <a:off x="5166360" y="1728216"/>
            <a:ext cx="1463040" cy="18288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Création rapide d'outils</a:t>
            </a:r>
            <a:endParaRPr lang="en-US" sz="900" dirty="0"/>
          </a:p>
        </p:txBody>
      </p:sp>
      <p:sp>
        <p:nvSpPr>
          <p:cNvPr id="27" name="Text 19"/>
          <p:cNvSpPr/>
          <p:nvPr/>
        </p:nvSpPr>
        <p:spPr>
          <a:xfrm>
            <a:off x="6583680" y="1728216"/>
            <a:ext cx="2011680" cy="182880"/>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Formulaires, dashboards, automatisations</a:t>
            </a:r>
            <a:endParaRPr lang="en-US" sz="800" dirty="0"/>
          </a:p>
        </p:txBody>
      </p:sp>
      <p:pic>
        <p:nvPicPr>
          <p:cNvPr id="28" name="Image 6" descr="preencoded.png"/>
          <p:cNvPicPr>
            <a:picLocks noChangeAspect="1"/>
          </p:cNvPicPr>
          <p:nvPr/>
        </p:nvPicPr>
        <p:blipFill>
          <a:blip r:embed="rId5"/>
          <a:stretch>
            <a:fillRect/>
          </a:stretch>
        </p:blipFill>
        <p:spPr>
          <a:xfrm>
            <a:off x="4937760" y="2093976"/>
            <a:ext cx="146304" cy="146304"/>
          </a:xfrm>
          <a:prstGeom prst="rect">
            <a:avLst/>
          </a:prstGeom>
        </p:spPr>
      </p:pic>
      <p:sp>
        <p:nvSpPr>
          <p:cNvPr id="29" name="Text 20"/>
          <p:cNvSpPr/>
          <p:nvPr/>
        </p:nvSpPr>
        <p:spPr>
          <a:xfrm>
            <a:off x="5166360" y="2066544"/>
            <a:ext cx="1463040" cy="18288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Pilotage en temps réel</a:t>
            </a:r>
            <a:endParaRPr lang="en-US" sz="900" dirty="0"/>
          </a:p>
        </p:txBody>
      </p:sp>
      <p:sp>
        <p:nvSpPr>
          <p:cNvPr id="30" name="Text 21"/>
          <p:cNvSpPr/>
          <p:nvPr/>
        </p:nvSpPr>
        <p:spPr>
          <a:xfrm>
            <a:off x="6583680" y="2066544"/>
            <a:ext cx="2011680" cy="182880"/>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Suivi workflows et indicateurs performance</a:t>
            </a:r>
            <a:endParaRPr lang="en-US" sz="800" dirty="0"/>
          </a:p>
        </p:txBody>
      </p:sp>
      <p:pic>
        <p:nvPicPr>
          <p:cNvPr id="31" name="Image 7" descr="preencoded.png"/>
          <p:cNvPicPr>
            <a:picLocks noChangeAspect="1"/>
          </p:cNvPicPr>
          <p:nvPr/>
        </p:nvPicPr>
        <p:blipFill>
          <a:blip r:embed="rId5"/>
          <a:stretch>
            <a:fillRect/>
          </a:stretch>
        </p:blipFill>
        <p:spPr>
          <a:xfrm>
            <a:off x="4937760" y="2432304"/>
            <a:ext cx="146304" cy="146304"/>
          </a:xfrm>
          <a:prstGeom prst="rect">
            <a:avLst/>
          </a:prstGeom>
        </p:spPr>
      </p:pic>
      <p:sp>
        <p:nvSpPr>
          <p:cNvPr id="32" name="Text 22"/>
          <p:cNvSpPr/>
          <p:nvPr/>
        </p:nvSpPr>
        <p:spPr>
          <a:xfrm>
            <a:off x="5166360" y="2404872"/>
            <a:ext cx="1463040" cy="18288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Accompagnement consultant</a:t>
            </a:r>
            <a:endParaRPr lang="en-US" sz="900" dirty="0"/>
          </a:p>
        </p:txBody>
      </p:sp>
      <p:sp>
        <p:nvSpPr>
          <p:cNvPr id="33" name="Text 23"/>
          <p:cNvSpPr/>
          <p:nvPr/>
        </p:nvSpPr>
        <p:spPr>
          <a:xfrm>
            <a:off x="6583680" y="2404872"/>
            <a:ext cx="2011680" cy="182880"/>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Un expert KINN vous guide pas à pas</a:t>
            </a:r>
            <a:endParaRPr lang="en-US" sz="800" dirty="0"/>
          </a:p>
        </p:txBody>
      </p:sp>
      <p:pic>
        <p:nvPicPr>
          <p:cNvPr id="34" name="Image 8" descr="preencoded.png"/>
          <p:cNvPicPr>
            <a:picLocks noChangeAspect="1"/>
          </p:cNvPicPr>
          <p:nvPr/>
        </p:nvPicPr>
        <p:blipFill>
          <a:blip r:embed="rId5"/>
          <a:stretch>
            <a:fillRect/>
          </a:stretch>
        </p:blipFill>
        <p:spPr>
          <a:xfrm>
            <a:off x="4937760" y="2770632"/>
            <a:ext cx="146304" cy="146304"/>
          </a:xfrm>
          <a:prstGeom prst="rect">
            <a:avLst/>
          </a:prstGeom>
        </p:spPr>
      </p:pic>
      <p:sp>
        <p:nvSpPr>
          <p:cNvPr id="35" name="Text 24"/>
          <p:cNvSpPr/>
          <p:nvPr/>
        </p:nvSpPr>
        <p:spPr>
          <a:xfrm>
            <a:off x="5166360" y="2743200"/>
            <a:ext cx="1463040" cy="18288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ROI mesurable</a:t>
            </a:r>
            <a:endParaRPr lang="en-US" sz="900" dirty="0"/>
          </a:p>
        </p:txBody>
      </p:sp>
      <p:sp>
        <p:nvSpPr>
          <p:cNvPr id="36" name="Text 25"/>
          <p:cNvSpPr/>
          <p:nvPr/>
        </p:nvSpPr>
        <p:spPr>
          <a:xfrm>
            <a:off x="6583680" y="2743200"/>
            <a:ext cx="2011680" cy="182880"/>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Résultats visibles dès les premières semaines</a:t>
            </a:r>
            <a:endParaRPr lang="en-US" sz="800" dirty="0"/>
          </a:p>
        </p:txBody>
      </p:sp>
      <p:pic>
        <p:nvPicPr>
          <p:cNvPr id="37" name="Image 9" descr="preencoded.png"/>
          <p:cNvPicPr>
            <a:picLocks noChangeAspect="1"/>
          </p:cNvPicPr>
          <p:nvPr/>
        </p:nvPicPr>
        <p:blipFill>
          <a:blip r:embed="rId5"/>
          <a:stretch>
            <a:fillRect/>
          </a:stretch>
        </p:blipFill>
        <p:spPr>
          <a:xfrm>
            <a:off x="4937760" y="3108960"/>
            <a:ext cx="146304" cy="146304"/>
          </a:xfrm>
          <a:prstGeom prst="rect">
            <a:avLst/>
          </a:prstGeom>
        </p:spPr>
      </p:pic>
      <p:sp>
        <p:nvSpPr>
          <p:cNvPr id="38" name="Text 26"/>
          <p:cNvSpPr/>
          <p:nvPr/>
        </p:nvSpPr>
        <p:spPr>
          <a:xfrm>
            <a:off x="5166360" y="3081528"/>
            <a:ext cx="1463040" cy="18288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Évolutif</a:t>
            </a:r>
            <a:endParaRPr lang="en-US" sz="900" dirty="0"/>
          </a:p>
        </p:txBody>
      </p:sp>
      <p:sp>
        <p:nvSpPr>
          <p:cNvPr id="39" name="Text 27"/>
          <p:cNvSpPr/>
          <p:nvPr/>
        </p:nvSpPr>
        <p:spPr>
          <a:xfrm>
            <a:off x="6583680" y="3081528"/>
            <a:ext cx="2011680" cy="182880"/>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Commence simple, monte en puissance</a:t>
            </a:r>
            <a:endParaRPr lang="en-US" sz="800" dirty="0"/>
          </a:p>
        </p:txBody>
      </p:sp>
      <p:sp>
        <p:nvSpPr>
          <p:cNvPr id="40" name="Shape 28"/>
          <p:cNvSpPr/>
          <p:nvPr/>
        </p:nvSpPr>
        <p:spPr>
          <a:xfrm>
            <a:off x="365760" y="3749040"/>
            <a:ext cx="8412480" cy="914400"/>
          </a:xfrm>
          <a:prstGeom prst="rect">
            <a:avLst/>
          </a:prstGeom>
          <a:solidFill>
            <a:srgbClr val="0891B2"/>
          </a:solidFill>
          <a:ln/>
        </p:spPr>
      </p:sp>
      <p:sp>
        <p:nvSpPr>
          <p:cNvPr id="41" name="Text 29"/>
          <p:cNvSpPr/>
          <p:nvPr/>
        </p:nvSpPr>
        <p:spPr>
          <a:xfrm>
            <a:off x="548640" y="3794760"/>
            <a:ext cx="914400" cy="274320"/>
          </a:xfrm>
          <a:prstGeom prst="rect">
            <a:avLst/>
          </a:prstGeom>
          <a:noFill/>
          <a:ln/>
        </p:spPr>
        <p:txBody>
          <a:bodyPr wrap="square" lIns="0" tIns="0" rIns="0" bIns="0" rtlCol="0" anchor="ctr"/>
          <a:lstStyle/>
          <a:p>
            <a:pPr marL="0" indent="0">
              <a:buNone/>
            </a:pPr>
            <a:r>
              <a:rPr lang="en-US" sz="1000" b="1" dirty="0">
                <a:solidFill>
                  <a:srgbClr val="FFFFFF"/>
                </a:solidFill>
                <a:latin typeface="Poppins" pitchFamily="34" charset="0"/>
                <a:ea typeface="Poppins" pitchFamily="34" charset="-122"/>
                <a:cs typeface="Poppins" pitchFamily="34" charset="-120"/>
              </a:rPr>
              <a:t>Résultat</a:t>
            </a:r>
            <a:endParaRPr lang="en-US" sz="1000" dirty="0"/>
          </a:p>
        </p:txBody>
      </p:sp>
      <p:sp>
        <p:nvSpPr>
          <p:cNvPr id="42" name="Text 30"/>
          <p:cNvSpPr/>
          <p:nvPr/>
        </p:nvSpPr>
        <p:spPr>
          <a:xfrm>
            <a:off x="754380" y="4023360"/>
            <a:ext cx="1737360" cy="274320"/>
          </a:xfrm>
          <a:prstGeom prst="rect">
            <a:avLst/>
          </a:prstGeom>
          <a:noFill/>
          <a:ln/>
        </p:spPr>
        <p:txBody>
          <a:bodyPr wrap="square" lIns="0" tIns="0" rIns="0" bIns="0" rtlCol="0" anchor="ctr"/>
          <a:lstStyle/>
          <a:p>
            <a:pPr marL="0" indent="0" algn="ctr">
              <a:buNone/>
            </a:pPr>
            <a:r>
              <a:rPr lang="en-US" sz="1800" b="1" dirty="0">
                <a:solidFill>
                  <a:srgbClr val="FFFFFF"/>
                </a:solidFill>
                <a:latin typeface="Poppins" pitchFamily="34" charset="0"/>
                <a:ea typeface="Poppins" pitchFamily="34" charset="-122"/>
                <a:cs typeface="Poppins" pitchFamily="34" charset="-120"/>
              </a:rPr>
              <a:t>-40%</a:t>
            </a:r>
            <a:endParaRPr lang="en-US" sz="1800" dirty="0"/>
          </a:p>
        </p:txBody>
      </p:sp>
      <p:sp>
        <p:nvSpPr>
          <p:cNvPr id="43" name="Text 31"/>
          <p:cNvSpPr/>
          <p:nvPr/>
        </p:nvSpPr>
        <p:spPr>
          <a:xfrm>
            <a:off x="754380" y="4297680"/>
            <a:ext cx="1737360" cy="228600"/>
          </a:xfrm>
          <a:prstGeom prst="rect">
            <a:avLst/>
          </a:prstGeom>
          <a:noFill/>
          <a:ln/>
        </p:spPr>
        <p:txBody>
          <a:bodyPr wrap="square" lIns="0" tIns="0" rIns="0" bIns="0" rtlCol="0" anchor="ctr"/>
          <a:lstStyle/>
          <a:p>
            <a:pPr marL="0" indent="0" algn="ctr">
              <a:buNone/>
            </a:pPr>
            <a:r>
              <a:rPr lang="en-US" sz="850" dirty="0">
                <a:solidFill>
                  <a:srgbClr val="D6EBFF"/>
                </a:solidFill>
                <a:latin typeface="Poppins" pitchFamily="34" charset="0"/>
                <a:ea typeface="Poppins" pitchFamily="34" charset="-122"/>
                <a:cs typeface="Poppins" pitchFamily="34" charset="-120"/>
              </a:rPr>
              <a:t>coûts administratifs</a:t>
            </a:r>
            <a:endParaRPr lang="en-US" sz="850" dirty="0"/>
          </a:p>
        </p:txBody>
      </p:sp>
      <p:sp>
        <p:nvSpPr>
          <p:cNvPr id="44" name="Text 32"/>
          <p:cNvSpPr/>
          <p:nvPr/>
        </p:nvSpPr>
        <p:spPr>
          <a:xfrm>
            <a:off x="2720340" y="4023360"/>
            <a:ext cx="1737360" cy="274320"/>
          </a:xfrm>
          <a:prstGeom prst="rect">
            <a:avLst/>
          </a:prstGeom>
          <a:noFill/>
          <a:ln/>
        </p:spPr>
        <p:txBody>
          <a:bodyPr wrap="square" lIns="0" tIns="0" rIns="0" bIns="0" rtlCol="0" anchor="ctr"/>
          <a:lstStyle/>
          <a:p>
            <a:pPr marL="0" indent="0" algn="ctr">
              <a:buNone/>
            </a:pPr>
            <a:r>
              <a:rPr lang="en-US" sz="1800" b="1" dirty="0">
                <a:solidFill>
                  <a:srgbClr val="FFFFFF"/>
                </a:solidFill>
                <a:latin typeface="Poppins" pitchFamily="34" charset="0"/>
                <a:ea typeface="Poppins" pitchFamily="34" charset="-122"/>
                <a:cs typeface="Poppins" pitchFamily="34" charset="-120"/>
              </a:rPr>
              <a:t>+35%</a:t>
            </a:r>
            <a:endParaRPr lang="en-US" sz="1800" dirty="0"/>
          </a:p>
        </p:txBody>
      </p:sp>
      <p:sp>
        <p:nvSpPr>
          <p:cNvPr id="45" name="Text 33"/>
          <p:cNvSpPr/>
          <p:nvPr/>
        </p:nvSpPr>
        <p:spPr>
          <a:xfrm>
            <a:off x="2720340" y="4297680"/>
            <a:ext cx="1737360" cy="228600"/>
          </a:xfrm>
          <a:prstGeom prst="rect">
            <a:avLst/>
          </a:prstGeom>
          <a:noFill/>
          <a:ln/>
        </p:spPr>
        <p:txBody>
          <a:bodyPr wrap="square" lIns="0" tIns="0" rIns="0" bIns="0" rtlCol="0" anchor="ctr"/>
          <a:lstStyle/>
          <a:p>
            <a:pPr marL="0" indent="0" algn="ctr">
              <a:buNone/>
            </a:pPr>
            <a:r>
              <a:rPr lang="en-US" sz="850" dirty="0">
                <a:solidFill>
                  <a:srgbClr val="D6EBFF"/>
                </a:solidFill>
                <a:latin typeface="Poppins" pitchFamily="34" charset="0"/>
                <a:ea typeface="Poppins" pitchFamily="34" charset="-122"/>
                <a:cs typeface="Poppins" pitchFamily="34" charset="-120"/>
              </a:rPr>
              <a:t>productivité</a:t>
            </a:r>
            <a:endParaRPr lang="en-US" sz="850" dirty="0"/>
          </a:p>
        </p:txBody>
      </p:sp>
      <p:sp>
        <p:nvSpPr>
          <p:cNvPr id="46" name="Text 34"/>
          <p:cNvSpPr/>
          <p:nvPr/>
        </p:nvSpPr>
        <p:spPr>
          <a:xfrm>
            <a:off x="4686300" y="4023360"/>
            <a:ext cx="1737360" cy="274320"/>
          </a:xfrm>
          <a:prstGeom prst="rect">
            <a:avLst/>
          </a:prstGeom>
          <a:noFill/>
          <a:ln/>
        </p:spPr>
        <p:txBody>
          <a:bodyPr wrap="square" lIns="0" tIns="0" rIns="0" bIns="0" rtlCol="0" anchor="ctr"/>
          <a:lstStyle/>
          <a:p>
            <a:pPr marL="0" indent="0" algn="ctr">
              <a:buNone/>
            </a:pPr>
            <a:r>
              <a:rPr lang="en-US" sz="1800" b="1" dirty="0">
                <a:solidFill>
                  <a:srgbClr val="FFFFFF"/>
                </a:solidFill>
                <a:latin typeface="Poppins" pitchFamily="34" charset="0"/>
                <a:ea typeface="Poppins" pitchFamily="34" charset="-122"/>
                <a:cs typeface="Poppins" pitchFamily="34" charset="-120"/>
              </a:rPr>
              <a:t>2x</a:t>
            </a:r>
            <a:endParaRPr lang="en-US" sz="1800" dirty="0"/>
          </a:p>
        </p:txBody>
      </p:sp>
      <p:sp>
        <p:nvSpPr>
          <p:cNvPr id="47" name="Text 35"/>
          <p:cNvSpPr/>
          <p:nvPr/>
        </p:nvSpPr>
        <p:spPr>
          <a:xfrm>
            <a:off x="4686300" y="4297680"/>
            <a:ext cx="1737360" cy="228600"/>
          </a:xfrm>
          <a:prstGeom prst="rect">
            <a:avLst/>
          </a:prstGeom>
          <a:noFill/>
          <a:ln/>
        </p:spPr>
        <p:txBody>
          <a:bodyPr wrap="square" lIns="0" tIns="0" rIns="0" bIns="0" rtlCol="0" anchor="ctr"/>
          <a:lstStyle/>
          <a:p>
            <a:pPr marL="0" indent="0" algn="ctr">
              <a:buNone/>
            </a:pPr>
            <a:r>
              <a:rPr lang="en-US" sz="850" dirty="0">
                <a:solidFill>
                  <a:srgbClr val="D6EBFF"/>
                </a:solidFill>
                <a:latin typeface="Poppins" pitchFamily="34" charset="0"/>
                <a:ea typeface="Poppins" pitchFamily="34" charset="-122"/>
                <a:cs typeface="Poppins" pitchFamily="34" charset="-120"/>
              </a:rPr>
              <a:t>plus agile</a:t>
            </a:r>
            <a:endParaRPr lang="en-US" sz="850" dirty="0"/>
          </a:p>
        </p:txBody>
      </p:sp>
      <p:sp>
        <p:nvSpPr>
          <p:cNvPr id="48" name="Text 36"/>
          <p:cNvSpPr/>
          <p:nvPr/>
        </p:nvSpPr>
        <p:spPr>
          <a:xfrm>
            <a:off x="6652260" y="4023360"/>
            <a:ext cx="1737360" cy="274320"/>
          </a:xfrm>
          <a:prstGeom prst="rect">
            <a:avLst/>
          </a:prstGeom>
          <a:noFill/>
          <a:ln/>
        </p:spPr>
        <p:txBody>
          <a:bodyPr wrap="square" lIns="0" tIns="0" rIns="0" bIns="0" rtlCol="0" anchor="ctr"/>
          <a:lstStyle/>
          <a:p>
            <a:pPr marL="0" indent="0" algn="ctr">
              <a:buNone/>
            </a:pPr>
            <a:r>
              <a:rPr lang="en-US" sz="1800" b="1" dirty="0">
                <a:solidFill>
                  <a:srgbClr val="FFFFFF"/>
                </a:solidFill>
                <a:latin typeface="Poppins" pitchFamily="34" charset="0"/>
                <a:ea typeface="Poppins" pitchFamily="34" charset="-122"/>
                <a:cs typeface="Poppins" pitchFamily="34" charset="-120"/>
              </a:rPr>
              <a:t>&lt; 1 mois</a:t>
            </a:r>
            <a:endParaRPr lang="en-US" sz="1800" dirty="0"/>
          </a:p>
        </p:txBody>
      </p:sp>
      <p:sp>
        <p:nvSpPr>
          <p:cNvPr id="49" name="Text 37"/>
          <p:cNvSpPr/>
          <p:nvPr/>
        </p:nvSpPr>
        <p:spPr>
          <a:xfrm>
            <a:off x="6652260" y="4297680"/>
            <a:ext cx="1737360" cy="228600"/>
          </a:xfrm>
          <a:prstGeom prst="rect">
            <a:avLst/>
          </a:prstGeom>
          <a:noFill/>
          <a:ln/>
        </p:spPr>
        <p:txBody>
          <a:bodyPr wrap="square" lIns="0" tIns="0" rIns="0" bIns="0" rtlCol="0" anchor="ctr"/>
          <a:lstStyle/>
          <a:p>
            <a:pPr marL="0" indent="0" algn="ctr">
              <a:buNone/>
            </a:pPr>
            <a:r>
              <a:rPr lang="en-US" sz="850" dirty="0">
                <a:solidFill>
                  <a:srgbClr val="D6EBFF"/>
                </a:solidFill>
                <a:latin typeface="Poppins" pitchFamily="34" charset="0"/>
                <a:ea typeface="Poppins" pitchFamily="34" charset="-122"/>
                <a:cs typeface="Poppins" pitchFamily="34" charset="-120"/>
              </a:rPr>
              <a:t>premiers résultats</a:t>
            </a:r>
            <a:endParaRPr lang="en-US" sz="850" dirty="0"/>
          </a:p>
        </p:txBody>
      </p:sp>
      <p:sp>
        <p:nvSpPr>
          <p:cNvPr id="50" name="Text 38"/>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C3AED"/>
          </a:solidFill>
          <a:ln/>
        </p:spPr>
      </p:sp>
      <p:pic>
        <p:nvPicPr>
          <p:cNvPr id="3" name="Image 0" descr="preencoded.png"/>
          <p:cNvPicPr>
            <a:picLocks noChangeAspect="1"/>
          </p:cNvPicPr>
          <p:nvPr/>
        </p:nvPicPr>
        <p:blipFill>
          <a:blip r:embed="rId3"/>
          <a:stretch>
            <a:fillRect/>
          </a:stretch>
        </p:blipFill>
        <p:spPr>
          <a:xfrm>
            <a:off x="640080" y="228600"/>
            <a:ext cx="365760" cy="365760"/>
          </a:xfrm>
          <a:prstGeom prst="rect">
            <a:avLst/>
          </a:prstGeom>
        </p:spPr>
      </p:pic>
      <p:sp>
        <p:nvSpPr>
          <p:cNvPr id="4" name="Text 1"/>
          <p:cNvSpPr/>
          <p:nvPr/>
        </p:nvSpPr>
        <p:spPr>
          <a:xfrm>
            <a:off x="1097280" y="228600"/>
            <a:ext cx="4572000" cy="365760"/>
          </a:xfrm>
          <a:prstGeom prst="rect">
            <a:avLst/>
          </a:prstGeom>
          <a:noFill/>
          <a:ln/>
        </p:spPr>
        <p:txBody>
          <a:bodyPr wrap="square" lIns="0" tIns="0" rIns="0" bIns="0" rtlCol="0" anchor="ctr"/>
          <a:lstStyle/>
          <a:p>
            <a:pPr marL="0" indent="0">
              <a:buNone/>
            </a:pPr>
            <a:r>
              <a:rPr lang="en-US" sz="2400" b="1" dirty="0">
                <a:solidFill>
                  <a:srgbClr val="7C3AED"/>
                </a:solidFill>
                <a:latin typeface="Poppins" pitchFamily="34" charset="0"/>
                <a:ea typeface="Poppins" pitchFamily="34" charset="-122"/>
                <a:cs typeface="Poppins" pitchFamily="34" charset="-120"/>
              </a:rPr>
              <a:t>DSI interne</a:t>
            </a:r>
            <a:endParaRPr lang="en-US" sz="2400" dirty="0"/>
          </a:p>
        </p:txBody>
      </p:sp>
      <p:sp>
        <p:nvSpPr>
          <p:cNvPr id="5" name="Text 2"/>
          <p:cNvSpPr/>
          <p:nvPr/>
        </p:nvSpPr>
        <p:spPr>
          <a:xfrm>
            <a:off x="1097280" y="594360"/>
            <a:ext cx="4572000" cy="228600"/>
          </a:xfrm>
          <a:prstGeom prst="rect">
            <a:avLst/>
          </a:prstGeom>
          <a:noFill/>
          <a:ln/>
        </p:spPr>
        <p:txBody>
          <a:bodyPr wrap="square" lIns="0" tIns="0" rIns="0" bIns="0" rtlCol="0" anchor="ctr"/>
          <a:lstStyle/>
          <a:p>
            <a:pPr marL="0" indent="0">
              <a:buNone/>
            </a:pPr>
            <a:r>
              <a:rPr lang="en-US" sz="1000" dirty="0">
                <a:solidFill>
                  <a:srgbClr val="6B7280"/>
                </a:solidFill>
                <a:latin typeface="Poppins" pitchFamily="34" charset="0"/>
                <a:ea typeface="Poppins" pitchFamily="34" charset="-122"/>
                <a:cs typeface="Poppins" pitchFamily="34" charset="-120"/>
              </a:rPr>
              <a:t>PME · ETI · Grand compte · Responsable du SI</a:t>
            </a:r>
            <a:endParaRPr lang="en-US" sz="1000" dirty="0"/>
          </a:p>
        </p:txBody>
      </p:sp>
      <p:sp>
        <p:nvSpPr>
          <p:cNvPr id="6" name="Shape 3"/>
          <p:cNvSpPr/>
          <p:nvPr/>
        </p:nvSpPr>
        <p:spPr>
          <a:xfrm>
            <a:off x="365760" y="1005840"/>
            <a:ext cx="4023360" cy="1463040"/>
          </a:xfrm>
          <a:prstGeom prst="rect">
            <a:avLst/>
          </a:prstGeom>
          <a:solidFill>
            <a:srgbClr val="F7F9FC"/>
          </a:solidFill>
          <a:ln/>
        </p:spPr>
      </p:sp>
      <p:sp>
        <p:nvSpPr>
          <p:cNvPr id="7" name="Text 4"/>
          <p:cNvSpPr/>
          <p:nvPr/>
        </p:nvSpPr>
        <p:spPr>
          <a:xfrm>
            <a:off x="502920" y="1051560"/>
            <a:ext cx="3657600" cy="274320"/>
          </a:xfrm>
          <a:prstGeom prst="rect">
            <a:avLst/>
          </a:prstGeom>
          <a:noFill/>
          <a:ln/>
        </p:spPr>
        <p:txBody>
          <a:bodyPr wrap="square" lIns="0" tIns="0" rIns="0" bIns="0" rtlCol="0" anchor="ctr"/>
          <a:lstStyle/>
          <a:p>
            <a:pPr marL="0" indent="0">
              <a:buNone/>
            </a:pPr>
            <a:r>
              <a:rPr lang="en-US" sz="1200" b="1" dirty="0">
                <a:solidFill>
                  <a:srgbClr val="0F172A"/>
                </a:solidFill>
                <a:latin typeface="Poppins" pitchFamily="34" charset="0"/>
                <a:ea typeface="Poppins" pitchFamily="34" charset="-122"/>
                <a:cs typeface="Poppins" pitchFamily="34" charset="-120"/>
              </a:rPr>
              <a:t>Vos défis</a:t>
            </a:r>
            <a:endParaRPr lang="en-US" sz="1200" dirty="0"/>
          </a:p>
        </p:txBody>
      </p:sp>
      <p:sp>
        <p:nvSpPr>
          <p:cNvPr id="8" name="Text 5"/>
          <p:cNvSpPr/>
          <p:nvPr/>
        </p:nvSpPr>
        <p:spPr>
          <a:xfrm>
            <a:off x="548640" y="1371600"/>
            <a:ext cx="3657600" cy="228600"/>
          </a:xfrm>
          <a:prstGeom prst="rect">
            <a:avLst/>
          </a:prstGeom>
          <a:noFill/>
          <a:ln/>
        </p:spPr>
        <p:txBody>
          <a:bodyPr wrap="square" lIns="0" tIns="0" rIns="0" bIns="0" rtlCol="0" anchor="ctr"/>
          <a:lstStyle/>
          <a:p>
            <a:pPr marL="0" indent="0">
              <a:buNone/>
            </a:pPr>
            <a:r>
              <a:rPr lang="en-US" sz="850" dirty="0">
                <a:solidFill>
                  <a:srgbClr val="374151"/>
                </a:solidFill>
                <a:latin typeface="Poppins" pitchFamily="34" charset="0"/>
                <a:ea typeface="Poppins" pitchFamily="34" charset="-122"/>
                <a:cs typeface="Poppins" pitchFamily="34" charset="-120"/>
              </a:rPr>
              <a:t>•  Digitaliser l'entreprise avec des ressources limitées</a:t>
            </a:r>
            <a:endParaRPr lang="en-US" sz="850" dirty="0"/>
          </a:p>
        </p:txBody>
      </p:sp>
      <p:sp>
        <p:nvSpPr>
          <p:cNvPr id="9" name="Text 6"/>
          <p:cNvSpPr/>
          <p:nvPr/>
        </p:nvSpPr>
        <p:spPr>
          <a:xfrm>
            <a:off x="548640" y="1618488"/>
            <a:ext cx="3657600" cy="228600"/>
          </a:xfrm>
          <a:prstGeom prst="rect">
            <a:avLst/>
          </a:prstGeom>
          <a:noFill/>
          <a:ln/>
        </p:spPr>
        <p:txBody>
          <a:bodyPr wrap="square" lIns="0" tIns="0" rIns="0" bIns="0" rtlCol="0" anchor="ctr"/>
          <a:lstStyle/>
          <a:p>
            <a:pPr marL="0" indent="0">
              <a:buNone/>
            </a:pPr>
            <a:r>
              <a:rPr lang="en-US" sz="850" dirty="0">
                <a:solidFill>
                  <a:srgbClr val="374151"/>
                </a:solidFill>
                <a:latin typeface="Poppins" pitchFamily="34" charset="0"/>
                <a:ea typeface="Poppins" pitchFamily="34" charset="-122"/>
                <a:cs typeface="Poppins" pitchFamily="34" charset="-120"/>
              </a:rPr>
              <a:t>•  Répondre aux demandes métiers de plus en plus nombreuses</a:t>
            </a:r>
            <a:endParaRPr lang="en-US" sz="850" dirty="0"/>
          </a:p>
        </p:txBody>
      </p:sp>
      <p:sp>
        <p:nvSpPr>
          <p:cNvPr id="10" name="Text 7"/>
          <p:cNvSpPr/>
          <p:nvPr/>
        </p:nvSpPr>
        <p:spPr>
          <a:xfrm>
            <a:off x="548640" y="1865376"/>
            <a:ext cx="3657600" cy="228600"/>
          </a:xfrm>
          <a:prstGeom prst="rect">
            <a:avLst/>
          </a:prstGeom>
          <a:noFill/>
          <a:ln/>
        </p:spPr>
        <p:txBody>
          <a:bodyPr wrap="square" lIns="0" tIns="0" rIns="0" bIns="0" rtlCol="0" anchor="ctr"/>
          <a:lstStyle/>
          <a:p>
            <a:pPr marL="0" indent="0">
              <a:buNone/>
            </a:pPr>
            <a:r>
              <a:rPr lang="en-US" sz="850" dirty="0">
                <a:solidFill>
                  <a:srgbClr val="374151"/>
                </a:solidFill>
                <a:latin typeface="Poppins" pitchFamily="34" charset="0"/>
                <a:ea typeface="Poppins" pitchFamily="34" charset="-122"/>
                <a:cs typeface="Poppins" pitchFamily="34" charset="-120"/>
              </a:rPr>
              <a:t>•  Maintenir la sécurité et la cohérence du SI</a:t>
            </a:r>
            <a:endParaRPr lang="en-US" sz="850" dirty="0"/>
          </a:p>
        </p:txBody>
      </p:sp>
      <p:sp>
        <p:nvSpPr>
          <p:cNvPr id="11" name="Text 8"/>
          <p:cNvSpPr/>
          <p:nvPr/>
        </p:nvSpPr>
        <p:spPr>
          <a:xfrm>
            <a:off x="548640" y="2112264"/>
            <a:ext cx="3657600" cy="228600"/>
          </a:xfrm>
          <a:prstGeom prst="rect">
            <a:avLst/>
          </a:prstGeom>
          <a:noFill/>
          <a:ln/>
        </p:spPr>
        <p:txBody>
          <a:bodyPr wrap="square" lIns="0" tIns="0" rIns="0" bIns="0" rtlCol="0" anchor="ctr"/>
          <a:lstStyle/>
          <a:p>
            <a:pPr marL="0" indent="0">
              <a:buNone/>
            </a:pPr>
            <a:r>
              <a:rPr lang="en-US" sz="850" dirty="0">
                <a:solidFill>
                  <a:srgbClr val="374151"/>
                </a:solidFill>
                <a:latin typeface="Poppins" pitchFamily="34" charset="0"/>
                <a:ea typeface="Poppins" pitchFamily="34" charset="-122"/>
                <a:cs typeface="Poppins" pitchFamily="34" charset="-120"/>
              </a:rPr>
              <a:t>•  Lutter contre le shadow IT (outils non contrôlés)</a:t>
            </a:r>
            <a:endParaRPr lang="en-US" sz="850" dirty="0"/>
          </a:p>
        </p:txBody>
      </p:sp>
      <p:sp>
        <p:nvSpPr>
          <p:cNvPr id="12" name="Shape 9"/>
          <p:cNvSpPr/>
          <p:nvPr/>
        </p:nvSpPr>
        <p:spPr>
          <a:xfrm>
            <a:off x="365760" y="2606040"/>
            <a:ext cx="4023360" cy="914400"/>
          </a:xfrm>
          <a:prstGeom prst="rect">
            <a:avLst/>
          </a:prstGeom>
          <a:solidFill>
            <a:srgbClr val="FEF2F2"/>
          </a:solidFill>
          <a:ln/>
        </p:spPr>
      </p:sp>
      <p:sp>
        <p:nvSpPr>
          <p:cNvPr id="13" name="Text 10"/>
          <p:cNvSpPr/>
          <p:nvPr/>
        </p:nvSpPr>
        <p:spPr>
          <a:xfrm>
            <a:off x="502920" y="2651760"/>
            <a:ext cx="3657600" cy="274320"/>
          </a:xfrm>
          <a:prstGeom prst="rect">
            <a:avLst/>
          </a:prstGeom>
          <a:noFill/>
          <a:ln/>
        </p:spPr>
        <p:txBody>
          <a:bodyPr wrap="square" lIns="0" tIns="0" rIns="0" bIns="0" rtlCol="0" anchor="ctr"/>
          <a:lstStyle/>
          <a:p>
            <a:pPr marL="0" indent="0">
              <a:buNone/>
            </a:pPr>
            <a:r>
              <a:rPr lang="en-US" sz="1100" b="1" dirty="0">
                <a:solidFill>
                  <a:srgbClr val="EF4444"/>
                </a:solidFill>
                <a:latin typeface="Poppins" pitchFamily="34" charset="0"/>
                <a:ea typeface="Poppins" pitchFamily="34" charset="-122"/>
                <a:cs typeface="Poppins" pitchFamily="34" charset="-120"/>
              </a:rPr>
              <a:t>Ce qui vous freine</a:t>
            </a:r>
            <a:endParaRPr lang="en-US" sz="1100" dirty="0"/>
          </a:p>
        </p:txBody>
      </p:sp>
      <p:pic>
        <p:nvPicPr>
          <p:cNvPr id="14" name="Image 1" descr="preencoded.png"/>
          <p:cNvPicPr>
            <a:picLocks noChangeAspect="1"/>
          </p:cNvPicPr>
          <p:nvPr/>
        </p:nvPicPr>
        <p:blipFill>
          <a:blip r:embed="rId4"/>
          <a:stretch>
            <a:fillRect/>
          </a:stretch>
        </p:blipFill>
        <p:spPr>
          <a:xfrm>
            <a:off x="548640" y="2971800"/>
            <a:ext cx="128016" cy="128016"/>
          </a:xfrm>
          <a:prstGeom prst="rect">
            <a:avLst/>
          </a:prstGeom>
        </p:spPr>
      </p:pic>
      <p:sp>
        <p:nvSpPr>
          <p:cNvPr id="15" name="Text 11"/>
          <p:cNvSpPr/>
          <p:nvPr/>
        </p:nvSpPr>
        <p:spPr>
          <a:xfrm>
            <a:off x="731520" y="2953512"/>
            <a:ext cx="3474720" cy="18288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Explosion des outils no-code non contrôlés</a:t>
            </a:r>
            <a:endParaRPr lang="en-US" sz="850" dirty="0"/>
          </a:p>
        </p:txBody>
      </p:sp>
      <p:pic>
        <p:nvPicPr>
          <p:cNvPr id="16" name="Image 2" descr="preencoded.png"/>
          <p:cNvPicPr>
            <a:picLocks noChangeAspect="1"/>
          </p:cNvPicPr>
          <p:nvPr/>
        </p:nvPicPr>
        <p:blipFill>
          <a:blip r:embed="rId4"/>
          <a:stretch>
            <a:fillRect/>
          </a:stretch>
        </p:blipFill>
        <p:spPr>
          <a:xfrm>
            <a:off x="548640" y="3154680"/>
            <a:ext cx="128016" cy="128016"/>
          </a:xfrm>
          <a:prstGeom prst="rect">
            <a:avLst/>
          </a:prstGeom>
        </p:spPr>
      </p:pic>
      <p:sp>
        <p:nvSpPr>
          <p:cNvPr id="17" name="Text 12"/>
          <p:cNvSpPr/>
          <p:nvPr/>
        </p:nvSpPr>
        <p:spPr>
          <a:xfrm>
            <a:off x="731520" y="3136392"/>
            <a:ext cx="3474720" cy="18288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Complexité des intégrations SI</a:t>
            </a:r>
            <a:endParaRPr lang="en-US" sz="850" dirty="0"/>
          </a:p>
        </p:txBody>
      </p:sp>
      <p:pic>
        <p:nvPicPr>
          <p:cNvPr id="18" name="Image 3" descr="preencoded.png"/>
          <p:cNvPicPr>
            <a:picLocks noChangeAspect="1"/>
          </p:cNvPicPr>
          <p:nvPr/>
        </p:nvPicPr>
        <p:blipFill>
          <a:blip r:embed="rId4"/>
          <a:stretch>
            <a:fillRect/>
          </a:stretch>
        </p:blipFill>
        <p:spPr>
          <a:xfrm>
            <a:off x="548640" y="3337560"/>
            <a:ext cx="128016" cy="128016"/>
          </a:xfrm>
          <a:prstGeom prst="rect">
            <a:avLst/>
          </a:prstGeom>
        </p:spPr>
      </p:pic>
      <p:sp>
        <p:nvSpPr>
          <p:cNvPr id="19" name="Text 13"/>
          <p:cNvSpPr/>
          <p:nvPr/>
        </p:nvSpPr>
        <p:spPr>
          <a:xfrm>
            <a:off x="731520" y="3319272"/>
            <a:ext cx="3474720" cy="18288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Manque de gouvernance sur les automatisations</a:t>
            </a:r>
            <a:endParaRPr lang="en-US" sz="850" dirty="0"/>
          </a:p>
        </p:txBody>
      </p:sp>
      <p:sp>
        <p:nvSpPr>
          <p:cNvPr id="20" name="Shape 14"/>
          <p:cNvSpPr/>
          <p:nvPr/>
        </p:nvSpPr>
        <p:spPr>
          <a:xfrm>
            <a:off x="4754880" y="1005840"/>
            <a:ext cx="4023360" cy="2514600"/>
          </a:xfrm>
          <a:prstGeom prst="rect">
            <a:avLst/>
          </a:prstGeom>
          <a:solidFill>
            <a:srgbClr val="EBF5FF"/>
          </a:solidFill>
          <a:ln/>
        </p:spPr>
      </p:sp>
      <p:sp>
        <p:nvSpPr>
          <p:cNvPr id="21" name="Text 15"/>
          <p:cNvSpPr/>
          <p:nvPr/>
        </p:nvSpPr>
        <p:spPr>
          <a:xfrm>
            <a:off x="4892040" y="1051560"/>
            <a:ext cx="3657600" cy="274320"/>
          </a:xfrm>
          <a:prstGeom prst="rect">
            <a:avLst/>
          </a:prstGeom>
          <a:noFill/>
          <a:ln/>
        </p:spPr>
        <p:txBody>
          <a:bodyPr wrap="square" lIns="0" tIns="0" rIns="0" bIns="0" rtlCol="0" anchor="ctr"/>
          <a:lstStyle/>
          <a:p>
            <a:pPr marL="0" indent="0">
              <a:buNone/>
            </a:pPr>
            <a:r>
              <a:rPr lang="en-US" sz="1200" b="1" dirty="0">
                <a:solidFill>
                  <a:srgbClr val="1677FF"/>
                </a:solidFill>
                <a:latin typeface="Poppins" pitchFamily="34" charset="0"/>
                <a:ea typeface="Poppins" pitchFamily="34" charset="-122"/>
                <a:cs typeface="Poppins" pitchFamily="34" charset="-120"/>
              </a:rPr>
              <a:t>KINN, plateforme d'orchestration SI</a:t>
            </a:r>
            <a:endParaRPr lang="en-US" sz="1200" dirty="0"/>
          </a:p>
        </p:txBody>
      </p:sp>
      <p:pic>
        <p:nvPicPr>
          <p:cNvPr id="22" name="Image 4" descr="preencoded.png"/>
          <p:cNvPicPr>
            <a:picLocks noChangeAspect="1"/>
          </p:cNvPicPr>
          <p:nvPr/>
        </p:nvPicPr>
        <p:blipFill>
          <a:blip r:embed="rId5"/>
          <a:stretch>
            <a:fillRect/>
          </a:stretch>
        </p:blipFill>
        <p:spPr>
          <a:xfrm>
            <a:off x="4937760" y="1417320"/>
            <a:ext cx="146304" cy="146304"/>
          </a:xfrm>
          <a:prstGeom prst="rect">
            <a:avLst/>
          </a:prstGeom>
        </p:spPr>
      </p:pic>
      <p:sp>
        <p:nvSpPr>
          <p:cNvPr id="23" name="Text 16"/>
          <p:cNvSpPr/>
          <p:nvPr/>
        </p:nvSpPr>
        <p:spPr>
          <a:xfrm>
            <a:off x="5166360" y="1389888"/>
            <a:ext cx="1463040" cy="18288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Plateforme low-code centralisée</a:t>
            </a:r>
            <a:endParaRPr lang="en-US" sz="900" dirty="0"/>
          </a:p>
        </p:txBody>
      </p:sp>
      <p:sp>
        <p:nvSpPr>
          <p:cNvPr id="24" name="Text 17"/>
          <p:cNvSpPr/>
          <p:nvPr/>
        </p:nvSpPr>
        <p:spPr>
          <a:xfrm>
            <a:off x="6583680" y="1389888"/>
            <a:ext cx="2011680" cy="182880"/>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Un seul outil pour tous les métiers</a:t>
            </a:r>
            <a:endParaRPr lang="en-US" sz="800" dirty="0"/>
          </a:p>
        </p:txBody>
      </p:sp>
      <p:pic>
        <p:nvPicPr>
          <p:cNvPr id="25" name="Image 5" descr="preencoded.png"/>
          <p:cNvPicPr>
            <a:picLocks noChangeAspect="1"/>
          </p:cNvPicPr>
          <p:nvPr/>
        </p:nvPicPr>
        <p:blipFill>
          <a:blip r:embed="rId5"/>
          <a:stretch>
            <a:fillRect/>
          </a:stretch>
        </p:blipFill>
        <p:spPr>
          <a:xfrm>
            <a:off x="4937760" y="1755648"/>
            <a:ext cx="146304" cy="146304"/>
          </a:xfrm>
          <a:prstGeom prst="rect">
            <a:avLst/>
          </a:prstGeom>
        </p:spPr>
      </p:pic>
      <p:sp>
        <p:nvSpPr>
          <p:cNvPr id="26" name="Text 18"/>
          <p:cNvSpPr/>
          <p:nvPr/>
        </p:nvSpPr>
        <p:spPr>
          <a:xfrm>
            <a:off x="5166360" y="1728216"/>
            <a:ext cx="1463040" cy="18288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Gouvernance des workflows</a:t>
            </a:r>
            <a:endParaRPr lang="en-US" sz="900" dirty="0"/>
          </a:p>
        </p:txBody>
      </p:sp>
      <p:sp>
        <p:nvSpPr>
          <p:cNvPr id="27" name="Text 19"/>
          <p:cNvSpPr/>
          <p:nvPr/>
        </p:nvSpPr>
        <p:spPr>
          <a:xfrm>
            <a:off x="6583680" y="1728216"/>
            <a:ext cx="2011680" cy="182880"/>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Contrôle, logs, audit trail</a:t>
            </a:r>
            <a:endParaRPr lang="en-US" sz="800" dirty="0"/>
          </a:p>
        </p:txBody>
      </p:sp>
      <p:pic>
        <p:nvPicPr>
          <p:cNvPr id="28" name="Image 6" descr="preencoded.png"/>
          <p:cNvPicPr>
            <a:picLocks noChangeAspect="1"/>
          </p:cNvPicPr>
          <p:nvPr/>
        </p:nvPicPr>
        <p:blipFill>
          <a:blip r:embed="rId5"/>
          <a:stretch>
            <a:fillRect/>
          </a:stretch>
        </p:blipFill>
        <p:spPr>
          <a:xfrm>
            <a:off x="4937760" y="2093976"/>
            <a:ext cx="146304" cy="146304"/>
          </a:xfrm>
          <a:prstGeom prst="rect">
            <a:avLst/>
          </a:prstGeom>
        </p:spPr>
      </p:pic>
      <p:sp>
        <p:nvSpPr>
          <p:cNvPr id="29" name="Text 20"/>
          <p:cNvSpPr/>
          <p:nvPr/>
        </p:nvSpPr>
        <p:spPr>
          <a:xfrm>
            <a:off x="5166360" y="2066544"/>
            <a:ext cx="1463040" cy="18288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Gestion des rôles</a:t>
            </a:r>
            <a:endParaRPr lang="en-US" sz="900" dirty="0"/>
          </a:p>
        </p:txBody>
      </p:sp>
      <p:sp>
        <p:nvSpPr>
          <p:cNvPr id="30" name="Text 21"/>
          <p:cNvSpPr/>
          <p:nvPr/>
        </p:nvSpPr>
        <p:spPr>
          <a:xfrm>
            <a:off x="6583680" y="2066544"/>
            <a:ext cx="2011680" cy="182880"/>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Accès utilisateurs granulaires</a:t>
            </a:r>
            <a:endParaRPr lang="en-US" sz="800" dirty="0"/>
          </a:p>
        </p:txBody>
      </p:sp>
      <p:pic>
        <p:nvPicPr>
          <p:cNvPr id="31" name="Image 7" descr="preencoded.png"/>
          <p:cNvPicPr>
            <a:picLocks noChangeAspect="1"/>
          </p:cNvPicPr>
          <p:nvPr/>
        </p:nvPicPr>
        <p:blipFill>
          <a:blip r:embed="rId5"/>
          <a:stretch>
            <a:fillRect/>
          </a:stretch>
        </p:blipFill>
        <p:spPr>
          <a:xfrm>
            <a:off x="4937760" y="2432304"/>
            <a:ext cx="146304" cy="146304"/>
          </a:xfrm>
          <a:prstGeom prst="rect">
            <a:avLst/>
          </a:prstGeom>
        </p:spPr>
      </p:pic>
      <p:sp>
        <p:nvSpPr>
          <p:cNvPr id="32" name="Text 22"/>
          <p:cNvSpPr/>
          <p:nvPr/>
        </p:nvSpPr>
        <p:spPr>
          <a:xfrm>
            <a:off x="5166360" y="2404872"/>
            <a:ext cx="1463040" cy="18288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Connecteurs API internes</a:t>
            </a:r>
            <a:endParaRPr lang="en-US" sz="900" dirty="0"/>
          </a:p>
        </p:txBody>
      </p:sp>
      <p:sp>
        <p:nvSpPr>
          <p:cNvPr id="33" name="Text 23"/>
          <p:cNvSpPr/>
          <p:nvPr/>
        </p:nvSpPr>
        <p:spPr>
          <a:xfrm>
            <a:off x="6583680" y="2404872"/>
            <a:ext cx="2011680" cy="182880"/>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ERP, CRM, MES, bases de données</a:t>
            </a:r>
            <a:endParaRPr lang="en-US" sz="800" dirty="0"/>
          </a:p>
        </p:txBody>
      </p:sp>
      <p:pic>
        <p:nvPicPr>
          <p:cNvPr id="34" name="Image 8" descr="preencoded.png"/>
          <p:cNvPicPr>
            <a:picLocks noChangeAspect="1"/>
          </p:cNvPicPr>
          <p:nvPr/>
        </p:nvPicPr>
        <p:blipFill>
          <a:blip r:embed="rId5"/>
          <a:stretch>
            <a:fillRect/>
          </a:stretch>
        </p:blipFill>
        <p:spPr>
          <a:xfrm>
            <a:off x="4937760" y="2770632"/>
            <a:ext cx="146304" cy="146304"/>
          </a:xfrm>
          <a:prstGeom prst="rect">
            <a:avLst/>
          </a:prstGeom>
        </p:spPr>
      </p:pic>
      <p:sp>
        <p:nvSpPr>
          <p:cNvPr id="35" name="Text 24"/>
          <p:cNvSpPr/>
          <p:nvPr/>
        </p:nvSpPr>
        <p:spPr>
          <a:xfrm>
            <a:off x="5166360" y="2743200"/>
            <a:ext cx="1463040" cy="18288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Monitoring &amp; logs</a:t>
            </a:r>
            <a:endParaRPr lang="en-US" sz="900" dirty="0"/>
          </a:p>
        </p:txBody>
      </p:sp>
      <p:sp>
        <p:nvSpPr>
          <p:cNvPr id="36" name="Text 25"/>
          <p:cNvSpPr/>
          <p:nvPr/>
        </p:nvSpPr>
        <p:spPr>
          <a:xfrm>
            <a:off x="6583680" y="2743200"/>
            <a:ext cx="2011680" cy="182880"/>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Supervision de toutes les automatisations</a:t>
            </a:r>
            <a:endParaRPr lang="en-US" sz="800" dirty="0"/>
          </a:p>
        </p:txBody>
      </p:sp>
      <p:pic>
        <p:nvPicPr>
          <p:cNvPr id="37" name="Image 9" descr="preencoded.png"/>
          <p:cNvPicPr>
            <a:picLocks noChangeAspect="1"/>
          </p:cNvPicPr>
          <p:nvPr/>
        </p:nvPicPr>
        <p:blipFill>
          <a:blip r:embed="rId5"/>
          <a:stretch>
            <a:fillRect/>
          </a:stretch>
        </p:blipFill>
        <p:spPr>
          <a:xfrm>
            <a:off x="4937760" y="3108960"/>
            <a:ext cx="146304" cy="146304"/>
          </a:xfrm>
          <a:prstGeom prst="rect">
            <a:avLst/>
          </a:prstGeom>
        </p:spPr>
      </p:pic>
      <p:sp>
        <p:nvSpPr>
          <p:cNvPr id="38" name="Text 26"/>
          <p:cNvSpPr/>
          <p:nvPr/>
        </p:nvSpPr>
        <p:spPr>
          <a:xfrm>
            <a:off x="5166360" y="3081528"/>
            <a:ext cx="1463040" cy="18288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Cloud ou on-premise</a:t>
            </a:r>
            <a:endParaRPr lang="en-US" sz="900" dirty="0"/>
          </a:p>
        </p:txBody>
      </p:sp>
      <p:sp>
        <p:nvSpPr>
          <p:cNvPr id="39" name="Text 27"/>
          <p:cNvSpPr/>
          <p:nvPr/>
        </p:nvSpPr>
        <p:spPr>
          <a:xfrm>
            <a:off x="6583680" y="3081528"/>
            <a:ext cx="2011680" cy="182880"/>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Déploiement selon vos contraintes</a:t>
            </a:r>
            <a:endParaRPr lang="en-US" sz="800" dirty="0"/>
          </a:p>
        </p:txBody>
      </p:sp>
      <p:sp>
        <p:nvSpPr>
          <p:cNvPr id="40" name="Shape 28"/>
          <p:cNvSpPr/>
          <p:nvPr/>
        </p:nvSpPr>
        <p:spPr>
          <a:xfrm>
            <a:off x="365760" y="3749040"/>
            <a:ext cx="8412480" cy="914400"/>
          </a:xfrm>
          <a:prstGeom prst="rect">
            <a:avLst/>
          </a:prstGeom>
          <a:solidFill>
            <a:srgbClr val="7C3AED"/>
          </a:solidFill>
          <a:ln/>
        </p:spPr>
      </p:sp>
      <p:sp>
        <p:nvSpPr>
          <p:cNvPr id="41" name="Text 29"/>
          <p:cNvSpPr/>
          <p:nvPr/>
        </p:nvSpPr>
        <p:spPr>
          <a:xfrm>
            <a:off x="548640" y="3794760"/>
            <a:ext cx="914400" cy="274320"/>
          </a:xfrm>
          <a:prstGeom prst="rect">
            <a:avLst/>
          </a:prstGeom>
          <a:noFill/>
          <a:ln/>
        </p:spPr>
        <p:txBody>
          <a:bodyPr wrap="square" lIns="0" tIns="0" rIns="0" bIns="0" rtlCol="0" anchor="ctr"/>
          <a:lstStyle/>
          <a:p>
            <a:pPr marL="0" indent="0">
              <a:buNone/>
            </a:pPr>
            <a:r>
              <a:rPr lang="en-US" sz="1000" b="1" dirty="0">
                <a:solidFill>
                  <a:srgbClr val="FFFFFF"/>
                </a:solidFill>
                <a:latin typeface="Poppins" pitchFamily="34" charset="0"/>
                <a:ea typeface="Poppins" pitchFamily="34" charset="-122"/>
                <a:cs typeface="Poppins" pitchFamily="34" charset="-120"/>
              </a:rPr>
              <a:t>Résultat</a:t>
            </a:r>
            <a:endParaRPr lang="en-US" sz="1000" dirty="0"/>
          </a:p>
        </p:txBody>
      </p:sp>
      <p:sp>
        <p:nvSpPr>
          <p:cNvPr id="42" name="Text 30"/>
          <p:cNvSpPr/>
          <p:nvPr/>
        </p:nvSpPr>
        <p:spPr>
          <a:xfrm>
            <a:off x="754380" y="4023360"/>
            <a:ext cx="1737360" cy="274320"/>
          </a:xfrm>
          <a:prstGeom prst="rect">
            <a:avLst/>
          </a:prstGeom>
          <a:noFill/>
          <a:ln/>
        </p:spPr>
        <p:txBody>
          <a:bodyPr wrap="square" lIns="0" tIns="0" rIns="0" bIns="0" rtlCol="0" anchor="ctr"/>
          <a:lstStyle/>
          <a:p>
            <a:pPr marL="0" indent="0" algn="ctr">
              <a:buNone/>
            </a:pPr>
            <a:r>
              <a:rPr lang="en-US" sz="1800" b="1" dirty="0">
                <a:solidFill>
                  <a:srgbClr val="FFFFFF"/>
                </a:solidFill>
                <a:latin typeface="Poppins" pitchFamily="34" charset="0"/>
                <a:ea typeface="Poppins" pitchFamily="34" charset="-122"/>
                <a:cs typeface="Poppins" pitchFamily="34" charset="-120"/>
              </a:rPr>
              <a:t>-60%</a:t>
            </a:r>
            <a:endParaRPr lang="en-US" sz="1800" dirty="0"/>
          </a:p>
        </p:txBody>
      </p:sp>
      <p:sp>
        <p:nvSpPr>
          <p:cNvPr id="43" name="Text 31"/>
          <p:cNvSpPr/>
          <p:nvPr/>
        </p:nvSpPr>
        <p:spPr>
          <a:xfrm>
            <a:off x="754380" y="4297680"/>
            <a:ext cx="1737360" cy="228600"/>
          </a:xfrm>
          <a:prstGeom prst="rect">
            <a:avLst/>
          </a:prstGeom>
          <a:noFill/>
          <a:ln/>
        </p:spPr>
        <p:txBody>
          <a:bodyPr wrap="square" lIns="0" tIns="0" rIns="0" bIns="0" rtlCol="0" anchor="ctr"/>
          <a:lstStyle/>
          <a:p>
            <a:pPr marL="0" indent="0" algn="ctr">
              <a:buNone/>
            </a:pPr>
            <a:r>
              <a:rPr lang="en-US" sz="850" dirty="0">
                <a:solidFill>
                  <a:srgbClr val="D6EBFF"/>
                </a:solidFill>
                <a:latin typeface="Poppins" pitchFamily="34" charset="0"/>
                <a:ea typeface="Poppins" pitchFamily="34" charset="-122"/>
                <a:cs typeface="Poppins" pitchFamily="34" charset="-120"/>
              </a:rPr>
              <a:t>développements spécifiques</a:t>
            </a:r>
            <a:endParaRPr lang="en-US" sz="850" dirty="0"/>
          </a:p>
        </p:txBody>
      </p:sp>
      <p:sp>
        <p:nvSpPr>
          <p:cNvPr id="44" name="Text 32"/>
          <p:cNvSpPr/>
          <p:nvPr/>
        </p:nvSpPr>
        <p:spPr>
          <a:xfrm>
            <a:off x="2720340" y="4023360"/>
            <a:ext cx="1737360" cy="274320"/>
          </a:xfrm>
          <a:prstGeom prst="rect">
            <a:avLst/>
          </a:prstGeom>
          <a:noFill/>
          <a:ln/>
        </p:spPr>
        <p:txBody>
          <a:bodyPr wrap="square" lIns="0" tIns="0" rIns="0" bIns="0" rtlCol="0" anchor="ctr"/>
          <a:lstStyle/>
          <a:p>
            <a:pPr marL="0" indent="0" algn="ctr">
              <a:buNone/>
            </a:pPr>
            <a:r>
              <a:rPr lang="en-US" sz="1800" b="1" dirty="0">
                <a:solidFill>
                  <a:srgbClr val="FFFFFF"/>
                </a:solidFill>
                <a:latin typeface="Poppins" pitchFamily="34" charset="0"/>
                <a:ea typeface="Poppins" pitchFamily="34" charset="-122"/>
                <a:cs typeface="Poppins" pitchFamily="34" charset="-120"/>
              </a:rPr>
              <a:t>100%</a:t>
            </a:r>
            <a:endParaRPr lang="en-US" sz="1800" dirty="0"/>
          </a:p>
        </p:txBody>
      </p:sp>
      <p:sp>
        <p:nvSpPr>
          <p:cNvPr id="45" name="Text 33"/>
          <p:cNvSpPr/>
          <p:nvPr/>
        </p:nvSpPr>
        <p:spPr>
          <a:xfrm>
            <a:off x="2720340" y="4297680"/>
            <a:ext cx="1737360" cy="228600"/>
          </a:xfrm>
          <a:prstGeom prst="rect">
            <a:avLst/>
          </a:prstGeom>
          <a:noFill/>
          <a:ln/>
        </p:spPr>
        <p:txBody>
          <a:bodyPr wrap="square" lIns="0" tIns="0" rIns="0" bIns="0" rtlCol="0" anchor="ctr"/>
          <a:lstStyle/>
          <a:p>
            <a:pPr marL="0" indent="0" algn="ctr">
              <a:buNone/>
            </a:pPr>
            <a:r>
              <a:rPr lang="en-US" sz="850" dirty="0">
                <a:solidFill>
                  <a:srgbClr val="D6EBFF"/>
                </a:solidFill>
                <a:latin typeface="Poppins" pitchFamily="34" charset="0"/>
                <a:ea typeface="Poppins" pitchFamily="34" charset="-122"/>
                <a:cs typeface="Poppins" pitchFamily="34" charset="-120"/>
              </a:rPr>
              <a:t>gouvernance SI</a:t>
            </a:r>
            <a:endParaRPr lang="en-US" sz="850" dirty="0"/>
          </a:p>
        </p:txBody>
      </p:sp>
      <p:sp>
        <p:nvSpPr>
          <p:cNvPr id="46" name="Text 34"/>
          <p:cNvSpPr/>
          <p:nvPr/>
        </p:nvSpPr>
        <p:spPr>
          <a:xfrm>
            <a:off x="4686300" y="4023360"/>
            <a:ext cx="1737360" cy="274320"/>
          </a:xfrm>
          <a:prstGeom prst="rect">
            <a:avLst/>
          </a:prstGeom>
          <a:noFill/>
          <a:ln/>
        </p:spPr>
        <p:txBody>
          <a:bodyPr wrap="square" lIns="0" tIns="0" rIns="0" bIns="0" rtlCol="0" anchor="ctr"/>
          <a:lstStyle/>
          <a:p>
            <a:pPr marL="0" indent="0" algn="ctr">
              <a:buNone/>
            </a:pPr>
            <a:r>
              <a:rPr lang="en-US" sz="1800" b="1" dirty="0">
                <a:solidFill>
                  <a:srgbClr val="FFFFFF"/>
                </a:solidFill>
                <a:latin typeface="Poppins" pitchFamily="34" charset="0"/>
                <a:ea typeface="Poppins" pitchFamily="34" charset="-122"/>
                <a:cs typeface="Poppins" pitchFamily="34" charset="-120"/>
              </a:rPr>
              <a:t>3x</a:t>
            </a:r>
            <a:endParaRPr lang="en-US" sz="1800" dirty="0"/>
          </a:p>
        </p:txBody>
      </p:sp>
      <p:sp>
        <p:nvSpPr>
          <p:cNvPr id="47" name="Text 35"/>
          <p:cNvSpPr/>
          <p:nvPr/>
        </p:nvSpPr>
        <p:spPr>
          <a:xfrm>
            <a:off x="4686300" y="4297680"/>
            <a:ext cx="1737360" cy="228600"/>
          </a:xfrm>
          <a:prstGeom prst="rect">
            <a:avLst/>
          </a:prstGeom>
          <a:noFill/>
          <a:ln/>
        </p:spPr>
        <p:txBody>
          <a:bodyPr wrap="square" lIns="0" tIns="0" rIns="0" bIns="0" rtlCol="0" anchor="ctr"/>
          <a:lstStyle/>
          <a:p>
            <a:pPr marL="0" indent="0" algn="ctr">
              <a:buNone/>
            </a:pPr>
            <a:r>
              <a:rPr lang="en-US" sz="850" dirty="0">
                <a:solidFill>
                  <a:srgbClr val="D6EBFF"/>
                </a:solidFill>
                <a:latin typeface="Poppins" pitchFamily="34" charset="0"/>
                <a:ea typeface="Poppins" pitchFamily="34" charset="-122"/>
                <a:cs typeface="Poppins" pitchFamily="34" charset="-120"/>
              </a:rPr>
              <a:t>plus agile</a:t>
            </a:r>
            <a:endParaRPr lang="en-US" sz="850" dirty="0"/>
          </a:p>
        </p:txBody>
      </p:sp>
      <p:sp>
        <p:nvSpPr>
          <p:cNvPr id="48" name="Text 36"/>
          <p:cNvSpPr/>
          <p:nvPr/>
        </p:nvSpPr>
        <p:spPr>
          <a:xfrm>
            <a:off x="6652260" y="4023360"/>
            <a:ext cx="1737360" cy="274320"/>
          </a:xfrm>
          <a:prstGeom prst="rect">
            <a:avLst/>
          </a:prstGeom>
          <a:noFill/>
          <a:ln/>
        </p:spPr>
        <p:txBody>
          <a:bodyPr wrap="square" lIns="0" tIns="0" rIns="0" bIns="0" rtlCol="0" anchor="ctr"/>
          <a:lstStyle/>
          <a:p>
            <a:pPr marL="0" indent="0" algn="ctr">
              <a:buNone/>
            </a:pPr>
            <a:r>
              <a:rPr lang="en-US" sz="1800" b="1" dirty="0">
                <a:solidFill>
                  <a:srgbClr val="FFFFFF"/>
                </a:solidFill>
                <a:latin typeface="Poppins" pitchFamily="34" charset="0"/>
                <a:ea typeface="Poppins" pitchFamily="34" charset="-122"/>
                <a:cs typeface="Poppins" pitchFamily="34" charset="-120"/>
              </a:rPr>
              <a:t>0</a:t>
            </a:r>
            <a:endParaRPr lang="en-US" sz="1800" dirty="0"/>
          </a:p>
        </p:txBody>
      </p:sp>
      <p:sp>
        <p:nvSpPr>
          <p:cNvPr id="49" name="Text 37"/>
          <p:cNvSpPr/>
          <p:nvPr/>
        </p:nvSpPr>
        <p:spPr>
          <a:xfrm>
            <a:off x="6652260" y="4297680"/>
            <a:ext cx="1737360" cy="228600"/>
          </a:xfrm>
          <a:prstGeom prst="rect">
            <a:avLst/>
          </a:prstGeom>
          <a:noFill/>
          <a:ln/>
        </p:spPr>
        <p:txBody>
          <a:bodyPr wrap="square" lIns="0" tIns="0" rIns="0" bIns="0" rtlCol="0" anchor="ctr"/>
          <a:lstStyle/>
          <a:p>
            <a:pPr marL="0" indent="0" algn="ctr">
              <a:buNone/>
            </a:pPr>
            <a:r>
              <a:rPr lang="en-US" sz="850" dirty="0">
                <a:solidFill>
                  <a:srgbClr val="D6EBFF"/>
                </a:solidFill>
                <a:latin typeface="Poppins" pitchFamily="34" charset="0"/>
                <a:ea typeface="Poppins" pitchFamily="34" charset="-122"/>
                <a:cs typeface="Poppins" pitchFamily="34" charset="-120"/>
              </a:rPr>
              <a:t>shadow IT</a:t>
            </a:r>
            <a:endParaRPr lang="en-US" sz="850" dirty="0"/>
          </a:p>
        </p:txBody>
      </p:sp>
      <p:sp>
        <p:nvSpPr>
          <p:cNvPr id="50" name="Text 38"/>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A580C"/>
          </a:solidFill>
          <a:ln/>
        </p:spPr>
      </p:sp>
      <p:pic>
        <p:nvPicPr>
          <p:cNvPr id="3" name="Image 0" descr="preencoded.png"/>
          <p:cNvPicPr>
            <a:picLocks noChangeAspect="1"/>
          </p:cNvPicPr>
          <p:nvPr/>
        </p:nvPicPr>
        <p:blipFill>
          <a:blip r:embed="rId3"/>
          <a:stretch>
            <a:fillRect/>
          </a:stretch>
        </p:blipFill>
        <p:spPr>
          <a:xfrm>
            <a:off x="640080" y="228600"/>
            <a:ext cx="365760" cy="365760"/>
          </a:xfrm>
          <a:prstGeom prst="rect">
            <a:avLst/>
          </a:prstGeom>
        </p:spPr>
      </p:pic>
      <p:sp>
        <p:nvSpPr>
          <p:cNvPr id="4" name="Text 1"/>
          <p:cNvSpPr/>
          <p:nvPr/>
        </p:nvSpPr>
        <p:spPr>
          <a:xfrm>
            <a:off x="1097280" y="228600"/>
            <a:ext cx="4572000" cy="365760"/>
          </a:xfrm>
          <a:prstGeom prst="rect">
            <a:avLst/>
          </a:prstGeom>
          <a:noFill/>
          <a:ln/>
        </p:spPr>
        <p:txBody>
          <a:bodyPr wrap="square" lIns="0" tIns="0" rIns="0" bIns="0" rtlCol="0" anchor="ctr"/>
          <a:lstStyle/>
          <a:p>
            <a:pPr marL="0" indent="0">
              <a:buNone/>
            </a:pPr>
            <a:r>
              <a:rPr lang="en-US" sz="2400" b="1" dirty="0">
                <a:solidFill>
                  <a:srgbClr val="EA580C"/>
                </a:solidFill>
                <a:latin typeface="Poppins" pitchFamily="34" charset="0"/>
                <a:ea typeface="Poppins" pitchFamily="34" charset="-122"/>
                <a:cs typeface="Poppins" pitchFamily="34" charset="-120"/>
              </a:rPr>
              <a:t>Chef de projet industrie</a:t>
            </a:r>
            <a:endParaRPr lang="en-US" sz="2400" dirty="0"/>
          </a:p>
        </p:txBody>
      </p:sp>
      <p:sp>
        <p:nvSpPr>
          <p:cNvPr id="5" name="Text 2"/>
          <p:cNvSpPr/>
          <p:nvPr/>
        </p:nvSpPr>
        <p:spPr>
          <a:xfrm>
            <a:off x="1097280" y="594360"/>
            <a:ext cx="4572000" cy="228600"/>
          </a:xfrm>
          <a:prstGeom prst="rect">
            <a:avLst/>
          </a:prstGeom>
          <a:noFill/>
          <a:ln/>
        </p:spPr>
        <p:txBody>
          <a:bodyPr wrap="square" lIns="0" tIns="0" rIns="0" bIns="0" rtlCol="0" anchor="ctr"/>
          <a:lstStyle/>
          <a:p>
            <a:pPr marL="0" indent="0">
              <a:buNone/>
            </a:pPr>
            <a:r>
              <a:rPr lang="en-US" sz="1000" dirty="0">
                <a:solidFill>
                  <a:srgbClr val="6B7280"/>
                </a:solidFill>
                <a:latin typeface="Poppins" pitchFamily="34" charset="0"/>
                <a:ea typeface="Poppins" pitchFamily="34" charset="-122"/>
                <a:cs typeface="Poppins" pitchFamily="34" charset="-120"/>
              </a:rPr>
              <a:t>Automatisation · Intégration · Production · Logistique</a:t>
            </a:r>
            <a:endParaRPr lang="en-US" sz="1000" dirty="0"/>
          </a:p>
        </p:txBody>
      </p:sp>
      <p:sp>
        <p:nvSpPr>
          <p:cNvPr id="6" name="Shape 3"/>
          <p:cNvSpPr/>
          <p:nvPr/>
        </p:nvSpPr>
        <p:spPr>
          <a:xfrm>
            <a:off x="365760" y="1005840"/>
            <a:ext cx="4023360" cy="1463040"/>
          </a:xfrm>
          <a:prstGeom prst="rect">
            <a:avLst/>
          </a:prstGeom>
          <a:solidFill>
            <a:srgbClr val="F7F9FC"/>
          </a:solidFill>
          <a:ln/>
        </p:spPr>
      </p:sp>
      <p:sp>
        <p:nvSpPr>
          <p:cNvPr id="7" name="Text 4"/>
          <p:cNvSpPr/>
          <p:nvPr/>
        </p:nvSpPr>
        <p:spPr>
          <a:xfrm>
            <a:off x="502920" y="1051560"/>
            <a:ext cx="3657600" cy="274320"/>
          </a:xfrm>
          <a:prstGeom prst="rect">
            <a:avLst/>
          </a:prstGeom>
          <a:noFill/>
          <a:ln/>
        </p:spPr>
        <p:txBody>
          <a:bodyPr wrap="square" lIns="0" tIns="0" rIns="0" bIns="0" rtlCol="0" anchor="ctr"/>
          <a:lstStyle/>
          <a:p>
            <a:pPr marL="0" indent="0">
              <a:buNone/>
            </a:pPr>
            <a:r>
              <a:rPr lang="en-US" sz="1200" b="1" dirty="0">
                <a:solidFill>
                  <a:srgbClr val="0F172A"/>
                </a:solidFill>
                <a:latin typeface="Poppins" pitchFamily="34" charset="0"/>
                <a:ea typeface="Poppins" pitchFamily="34" charset="-122"/>
                <a:cs typeface="Poppins" pitchFamily="34" charset="-120"/>
              </a:rPr>
              <a:t>Votre environnement</a:t>
            </a:r>
            <a:endParaRPr lang="en-US" sz="1200" dirty="0"/>
          </a:p>
        </p:txBody>
      </p:sp>
      <p:sp>
        <p:nvSpPr>
          <p:cNvPr id="8" name="Text 5"/>
          <p:cNvSpPr/>
          <p:nvPr/>
        </p:nvSpPr>
        <p:spPr>
          <a:xfrm>
            <a:off x="548640" y="1371600"/>
            <a:ext cx="3657600" cy="228600"/>
          </a:xfrm>
          <a:prstGeom prst="rect">
            <a:avLst/>
          </a:prstGeom>
          <a:noFill/>
          <a:ln/>
        </p:spPr>
        <p:txBody>
          <a:bodyPr wrap="square" lIns="0" tIns="0" rIns="0" bIns="0" rtlCol="0" anchor="ctr"/>
          <a:lstStyle/>
          <a:p>
            <a:pPr marL="0" indent="0">
              <a:buNone/>
            </a:pPr>
            <a:r>
              <a:rPr lang="en-US" sz="850" dirty="0">
                <a:solidFill>
                  <a:srgbClr val="374151"/>
                </a:solidFill>
                <a:latin typeface="Poppins" pitchFamily="34" charset="0"/>
                <a:ea typeface="Poppins" pitchFamily="34" charset="-122"/>
                <a:cs typeface="Poppins" pitchFamily="34" charset="-120"/>
              </a:rPr>
              <a:t>•  Projets impliquant ERP, MES, machines, flux logistiques</a:t>
            </a:r>
            <a:endParaRPr lang="en-US" sz="850" dirty="0"/>
          </a:p>
        </p:txBody>
      </p:sp>
      <p:sp>
        <p:nvSpPr>
          <p:cNvPr id="9" name="Text 6"/>
          <p:cNvSpPr/>
          <p:nvPr/>
        </p:nvSpPr>
        <p:spPr>
          <a:xfrm>
            <a:off x="548640" y="1618488"/>
            <a:ext cx="3657600" cy="228600"/>
          </a:xfrm>
          <a:prstGeom prst="rect">
            <a:avLst/>
          </a:prstGeom>
          <a:noFill/>
          <a:ln/>
        </p:spPr>
        <p:txBody>
          <a:bodyPr wrap="square" lIns="0" tIns="0" rIns="0" bIns="0" rtlCol="0" anchor="ctr"/>
          <a:lstStyle/>
          <a:p>
            <a:pPr marL="0" indent="0">
              <a:buNone/>
            </a:pPr>
            <a:r>
              <a:rPr lang="en-US" sz="850" dirty="0">
                <a:solidFill>
                  <a:srgbClr val="374151"/>
                </a:solidFill>
                <a:latin typeface="Poppins" pitchFamily="34" charset="0"/>
                <a:ea typeface="Poppins" pitchFamily="34" charset="-122"/>
                <a:cs typeface="Poppins" pitchFamily="34" charset="-120"/>
              </a:rPr>
              <a:t>•  Intégrations longues et complexes avec de nombreux systèmes</a:t>
            </a:r>
            <a:endParaRPr lang="en-US" sz="850" dirty="0"/>
          </a:p>
        </p:txBody>
      </p:sp>
      <p:sp>
        <p:nvSpPr>
          <p:cNvPr id="10" name="Text 7"/>
          <p:cNvSpPr/>
          <p:nvPr/>
        </p:nvSpPr>
        <p:spPr>
          <a:xfrm>
            <a:off x="548640" y="1865376"/>
            <a:ext cx="3657600" cy="228600"/>
          </a:xfrm>
          <a:prstGeom prst="rect">
            <a:avLst/>
          </a:prstGeom>
          <a:noFill/>
          <a:ln/>
        </p:spPr>
        <p:txBody>
          <a:bodyPr wrap="square" lIns="0" tIns="0" rIns="0" bIns="0" rtlCol="0" anchor="ctr"/>
          <a:lstStyle/>
          <a:p>
            <a:pPr marL="0" indent="0">
              <a:buNone/>
            </a:pPr>
            <a:r>
              <a:rPr lang="en-US" sz="850" dirty="0">
                <a:solidFill>
                  <a:srgbClr val="374151"/>
                </a:solidFill>
                <a:latin typeface="Poppins" pitchFamily="34" charset="0"/>
                <a:ea typeface="Poppins" pitchFamily="34" charset="-122"/>
                <a:cs typeface="Poppins" pitchFamily="34" charset="-120"/>
              </a:rPr>
              <a:t>•  Besoin d'interfaces opérateurs terrain (tablettes, scanners)</a:t>
            </a:r>
            <a:endParaRPr lang="en-US" sz="850" dirty="0"/>
          </a:p>
        </p:txBody>
      </p:sp>
      <p:sp>
        <p:nvSpPr>
          <p:cNvPr id="11" name="Text 8"/>
          <p:cNvSpPr/>
          <p:nvPr/>
        </p:nvSpPr>
        <p:spPr>
          <a:xfrm>
            <a:off x="548640" y="2112264"/>
            <a:ext cx="3657600" cy="228600"/>
          </a:xfrm>
          <a:prstGeom prst="rect">
            <a:avLst/>
          </a:prstGeom>
          <a:noFill/>
          <a:ln/>
        </p:spPr>
        <p:txBody>
          <a:bodyPr wrap="square" lIns="0" tIns="0" rIns="0" bIns="0" rtlCol="0" anchor="ctr"/>
          <a:lstStyle/>
          <a:p>
            <a:pPr marL="0" indent="0">
              <a:buNone/>
            </a:pPr>
            <a:r>
              <a:rPr lang="en-US" sz="850" dirty="0">
                <a:solidFill>
                  <a:srgbClr val="374151"/>
                </a:solidFill>
                <a:latin typeface="Poppins" pitchFamily="34" charset="0"/>
                <a:ea typeface="Poppins" pitchFamily="34" charset="-122"/>
                <a:cs typeface="Poppins" pitchFamily="34" charset="-120"/>
              </a:rPr>
              <a:t>•  Données de production à analyser en temps réel</a:t>
            </a:r>
            <a:endParaRPr lang="en-US" sz="850" dirty="0"/>
          </a:p>
        </p:txBody>
      </p:sp>
      <p:sp>
        <p:nvSpPr>
          <p:cNvPr id="12" name="Shape 9"/>
          <p:cNvSpPr/>
          <p:nvPr/>
        </p:nvSpPr>
        <p:spPr>
          <a:xfrm>
            <a:off x="365760" y="2606040"/>
            <a:ext cx="4023360" cy="914400"/>
          </a:xfrm>
          <a:prstGeom prst="rect">
            <a:avLst/>
          </a:prstGeom>
          <a:solidFill>
            <a:srgbClr val="FEF2F2"/>
          </a:solidFill>
          <a:ln/>
        </p:spPr>
      </p:sp>
      <p:sp>
        <p:nvSpPr>
          <p:cNvPr id="13" name="Text 10"/>
          <p:cNvSpPr/>
          <p:nvPr/>
        </p:nvSpPr>
        <p:spPr>
          <a:xfrm>
            <a:off x="502920" y="2651760"/>
            <a:ext cx="3657600" cy="274320"/>
          </a:xfrm>
          <a:prstGeom prst="rect">
            <a:avLst/>
          </a:prstGeom>
          <a:noFill/>
          <a:ln/>
        </p:spPr>
        <p:txBody>
          <a:bodyPr wrap="square" lIns="0" tIns="0" rIns="0" bIns="0" rtlCol="0" anchor="ctr"/>
          <a:lstStyle/>
          <a:p>
            <a:pPr marL="0" indent="0">
              <a:buNone/>
            </a:pPr>
            <a:r>
              <a:rPr lang="en-US" sz="1100" b="1" dirty="0">
                <a:solidFill>
                  <a:srgbClr val="EF4444"/>
                </a:solidFill>
                <a:latin typeface="Poppins" pitchFamily="34" charset="0"/>
                <a:ea typeface="Poppins" pitchFamily="34" charset="-122"/>
                <a:cs typeface="Poppins" pitchFamily="34" charset="-120"/>
              </a:rPr>
              <a:t>Ce qui vous freine</a:t>
            </a:r>
            <a:endParaRPr lang="en-US" sz="1100" dirty="0"/>
          </a:p>
        </p:txBody>
      </p:sp>
      <p:pic>
        <p:nvPicPr>
          <p:cNvPr id="14" name="Image 1" descr="preencoded.png"/>
          <p:cNvPicPr>
            <a:picLocks noChangeAspect="1"/>
          </p:cNvPicPr>
          <p:nvPr/>
        </p:nvPicPr>
        <p:blipFill>
          <a:blip r:embed="rId4"/>
          <a:stretch>
            <a:fillRect/>
          </a:stretch>
        </p:blipFill>
        <p:spPr>
          <a:xfrm>
            <a:off x="548640" y="2971800"/>
            <a:ext cx="128016" cy="128016"/>
          </a:xfrm>
          <a:prstGeom prst="rect">
            <a:avLst/>
          </a:prstGeom>
        </p:spPr>
      </p:pic>
      <p:sp>
        <p:nvSpPr>
          <p:cNvPr id="15" name="Text 11"/>
          <p:cNvSpPr/>
          <p:nvPr/>
        </p:nvSpPr>
        <p:spPr>
          <a:xfrm>
            <a:off x="731520" y="2953512"/>
            <a:ext cx="3474720" cy="18288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Complexité des intégrations multi-systèmes</a:t>
            </a:r>
            <a:endParaRPr lang="en-US" sz="850" dirty="0"/>
          </a:p>
        </p:txBody>
      </p:sp>
      <p:pic>
        <p:nvPicPr>
          <p:cNvPr id="16" name="Image 2" descr="preencoded.png"/>
          <p:cNvPicPr>
            <a:picLocks noChangeAspect="1"/>
          </p:cNvPicPr>
          <p:nvPr/>
        </p:nvPicPr>
        <p:blipFill>
          <a:blip r:embed="rId4"/>
          <a:stretch>
            <a:fillRect/>
          </a:stretch>
        </p:blipFill>
        <p:spPr>
          <a:xfrm>
            <a:off x="548640" y="3154680"/>
            <a:ext cx="128016" cy="128016"/>
          </a:xfrm>
          <a:prstGeom prst="rect">
            <a:avLst/>
          </a:prstGeom>
        </p:spPr>
      </p:pic>
      <p:sp>
        <p:nvSpPr>
          <p:cNvPr id="17" name="Text 12"/>
          <p:cNvSpPr/>
          <p:nvPr/>
        </p:nvSpPr>
        <p:spPr>
          <a:xfrm>
            <a:off x="731520" y="3136392"/>
            <a:ext cx="3474720" cy="18288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Dépendance aux développeurs externes</a:t>
            </a:r>
            <a:endParaRPr lang="en-US" sz="850" dirty="0"/>
          </a:p>
        </p:txBody>
      </p:sp>
      <p:pic>
        <p:nvPicPr>
          <p:cNvPr id="18" name="Image 3" descr="preencoded.png"/>
          <p:cNvPicPr>
            <a:picLocks noChangeAspect="1"/>
          </p:cNvPicPr>
          <p:nvPr/>
        </p:nvPicPr>
        <p:blipFill>
          <a:blip r:embed="rId4"/>
          <a:stretch>
            <a:fillRect/>
          </a:stretch>
        </p:blipFill>
        <p:spPr>
          <a:xfrm>
            <a:off x="548640" y="3337560"/>
            <a:ext cx="128016" cy="128016"/>
          </a:xfrm>
          <a:prstGeom prst="rect">
            <a:avLst/>
          </a:prstGeom>
        </p:spPr>
      </p:pic>
      <p:sp>
        <p:nvSpPr>
          <p:cNvPr id="19" name="Text 13"/>
          <p:cNvSpPr/>
          <p:nvPr/>
        </p:nvSpPr>
        <p:spPr>
          <a:xfrm>
            <a:off x="731520" y="3319272"/>
            <a:ext cx="3474720" cy="18288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Délais de développement trop longs</a:t>
            </a:r>
            <a:endParaRPr lang="en-US" sz="850" dirty="0"/>
          </a:p>
        </p:txBody>
      </p:sp>
      <p:sp>
        <p:nvSpPr>
          <p:cNvPr id="20" name="Shape 14"/>
          <p:cNvSpPr/>
          <p:nvPr/>
        </p:nvSpPr>
        <p:spPr>
          <a:xfrm>
            <a:off x="4754880" y="1005840"/>
            <a:ext cx="4023360" cy="2514600"/>
          </a:xfrm>
          <a:prstGeom prst="rect">
            <a:avLst/>
          </a:prstGeom>
          <a:solidFill>
            <a:srgbClr val="EBF5FF"/>
          </a:solidFill>
          <a:ln/>
        </p:spPr>
      </p:sp>
      <p:sp>
        <p:nvSpPr>
          <p:cNvPr id="21" name="Text 15"/>
          <p:cNvSpPr/>
          <p:nvPr/>
        </p:nvSpPr>
        <p:spPr>
          <a:xfrm>
            <a:off x="4892040" y="1051560"/>
            <a:ext cx="3657600" cy="274320"/>
          </a:xfrm>
          <a:prstGeom prst="rect">
            <a:avLst/>
          </a:prstGeom>
          <a:noFill/>
          <a:ln/>
        </p:spPr>
        <p:txBody>
          <a:bodyPr wrap="square" lIns="0" tIns="0" rIns="0" bIns="0" rtlCol="0" anchor="ctr"/>
          <a:lstStyle/>
          <a:p>
            <a:pPr marL="0" indent="0">
              <a:buNone/>
            </a:pPr>
            <a:r>
              <a:rPr lang="en-US" sz="1100" b="1" dirty="0">
                <a:solidFill>
                  <a:srgbClr val="1677FF"/>
                </a:solidFill>
                <a:latin typeface="Poppins" pitchFamily="34" charset="0"/>
                <a:ea typeface="Poppins" pitchFamily="34" charset="-122"/>
                <a:cs typeface="Poppins" pitchFamily="34" charset="-120"/>
              </a:rPr>
              <a:t>KINN, couche d'orchestration industrielle</a:t>
            </a:r>
            <a:endParaRPr lang="en-US" sz="1100" dirty="0"/>
          </a:p>
        </p:txBody>
      </p:sp>
      <p:pic>
        <p:nvPicPr>
          <p:cNvPr id="22" name="Image 4" descr="preencoded.png"/>
          <p:cNvPicPr>
            <a:picLocks noChangeAspect="1"/>
          </p:cNvPicPr>
          <p:nvPr/>
        </p:nvPicPr>
        <p:blipFill>
          <a:blip r:embed="rId5"/>
          <a:stretch>
            <a:fillRect/>
          </a:stretch>
        </p:blipFill>
        <p:spPr>
          <a:xfrm>
            <a:off x="4937760" y="1417320"/>
            <a:ext cx="146304" cy="146304"/>
          </a:xfrm>
          <a:prstGeom prst="rect">
            <a:avLst/>
          </a:prstGeom>
        </p:spPr>
      </p:pic>
      <p:sp>
        <p:nvSpPr>
          <p:cNvPr id="23" name="Text 16"/>
          <p:cNvSpPr/>
          <p:nvPr/>
        </p:nvSpPr>
        <p:spPr>
          <a:xfrm>
            <a:off x="5166360" y="1389888"/>
            <a:ext cx="1463040" cy="18288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Connecteurs API universels</a:t>
            </a:r>
            <a:endParaRPr lang="en-US" sz="900" dirty="0"/>
          </a:p>
        </p:txBody>
      </p:sp>
      <p:sp>
        <p:nvSpPr>
          <p:cNvPr id="24" name="Text 17"/>
          <p:cNvSpPr/>
          <p:nvPr/>
        </p:nvSpPr>
        <p:spPr>
          <a:xfrm>
            <a:off x="6583680" y="1389888"/>
            <a:ext cx="2011680" cy="182880"/>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ERP, MES, machines, IoT</a:t>
            </a:r>
            <a:endParaRPr lang="en-US" sz="800" dirty="0"/>
          </a:p>
        </p:txBody>
      </p:sp>
      <p:pic>
        <p:nvPicPr>
          <p:cNvPr id="25" name="Image 5" descr="preencoded.png"/>
          <p:cNvPicPr>
            <a:picLocks noChangeAspect="1"/>
          </p:cNvPicPr>
          <p:nvPr/>
        </p:nvPicPr>
        <p:blipFill>
          <a:blip r:embed="rId5"/>
          <a:stretch>
            <a:fillRect/>
          </a:stretch>
        </p:blipFill>
        <p:spPr>
          <a:xfrm>
            <a:off x="4937760" y="1755648"/>
            <a:ext cx="146304" cy="146304"/>
          </a:xfrm>
          <a:prstGeom prst="rect">
            <a:avLst/>
          </a:prstGeom>
        </p:spPr>
      </p:pic>
      <p:sp>
        <p:nvSpPr>
          <p:cNvPr id="26" name="Text 18"/>
          <p:cNvSpPr/>
          <p:nvPr/>
        </p:nvSpPr>
        <p:spPr>
          <a:xfrm>
            <a:off x="5166360" y="1728216"/>
            <a:ext cx="1463040" cy="18288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Workflows complexes</a:t>
            </a:r>
            <a:endParaRPr lang="en-US" sz="900" dirty="0"/>
          </a:p>
        </p:txBody>
      </p:sp>
      <p:sp>
        <p:nvSpPr>
          <p:cNvPr id="27" name="Text 19"/>
          <p:cNvSpPr/>
          <p:nvPr/>
        </p:nvSpPr>
        <p:spPr>
          <a:xfrm>
            <a:off x="6583680" y="1728216"/>
            <a:ext cx="2011680" cy="182880"/>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Conditions, boucles, parallélisme</a:t>
            </a:r>
            <a:endParaRPr lang="en-US" sz="800" dirty="0"/>
          </a:p>
        </p:txBody>
      </p:sp>
      <p:pic>
        <p:nvPicPr>
          <p:cNvPr id="28" name="Image 6" descr="preencoded.png"/>
          <p:cNvPicPr>
            <a:picLocks noChangeAspect="1"/>
          </p:cNvPicPr>
          <p:nvPr/>
        </p:nvPicPr>
        <p:blipFill>
          <a:blip r:embed="rId5"/>
          <a:stretch>
            <a:fillRect/>
          </a:stretch>
        </p:blipFill>
        <p:spPr>
          <a:xfrm>
            <a:off x="4937760" y="2093976"/>
            <a:ext cx="146304" cy="146304"/>
          </a:xfrm>
          <a:prstGeom prst="rect">
            <a:avLst/>
          </a:prstGeom>
        </p:spPr>
      </p:pic>
      <p:sp>
        <p:nvSpPr>
          <p:cNvPr id="29" name="Text 20"/>
          <p:cNvSpPr/>
          <p:nvPr/>
        </p:nvSpPr>
        <p:spPr>
          <a:xfrm>
            <a:off x="5166360" y="2066544"/>
            <a:ext cx="1463040" cy="18288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Traitement de données</a:t>
            </a:r>
            <a:endParaRPr lang="en-US" sz="900" dirty="0"/>
          </a:p>
        </p:txBody>
      </p:sp>
      <p:sp>
        <p:nvSpPr>
          <p:cNvPr id="30" name="Text 21"/>
          <p:cNvSpPr/>
          <p:nvPr/>
        </p:nvSpPr>
        <p:spPr>
          <a:xfrm>
            <a:off x="6583680" y="2066544"/>
            <a:ext cx="2011680" cy="182880"/>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Analyse, transformation, agrégation</a:t>
            </a:r>
            <a:endParaRPr lang="en-US" sz="800" dirty="0"/>
          </a:p>
        </p:txBody>
      </p:sp>
      <p:pic>
        <p:nvPicPr>
          <p:cNvPr id="31" name="Image 7" descr="preencoded.png"/>
          <p:cNvPicPr>
            <a:picLocks noChangeAspect="1"/>
          </p:cNvPicPr>
          <p:nvPr/>
        </p:nvPicPr>
        <p:blipFill>
          <a:blip r:embed="rId5"/>
          <a:stretch>
            <a:fillRect/>
          </a:stretch>
        </p:blipFill>
        <p:spPr>
          <a:xfrm>
            <a:off x="4937760" y="2432304"/>
            <a:ext cx="146304" cy="146304"/>
          </a:xfrm>
          <a:prstGeom prst="rect">
            <a:avLst/>
          </a:prstGeom>
        </p:spPr>
      </p:pic>
      <p:sp>
        <p:nvSpPr>
          <p:cNvPr id="32" name="Text 22"/>
          <p:cNvSpPr/>
          <p:nvPr/>
        </p:nvSpPr>
        <p:spPr>
          <a:xfrm>
            <a:off x="5166360" y="2404872"/>
            <a:ext cx="1463040" cy="18288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Interfaces opérateurs</a:t>
            </a:r>
            <a:endParaRPr lang="en-US" sz="900" dirty="0"/>
          </a:p>
        </p:txBody>
      </p:sp>
      <p:sp>
        <p:nvSpPr>
          <p:cNvPr id="33" name="Text 23"/>
          <p:cNvSpPr/>
          <p:nvPr/>
        </p:nvSpPr>
        <p:spPr>
          <a:xfrm>
            <a:off x="6583680" y="2404872"/>
            <a:ext cx="2011680" cy="182880"/>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Tablettes et scanners terrain</a:t>
            </a:r>
            <a:endParaRPr lang="en-US" sz="800" dirty="0"/>
          </a:p>
        </p:txBody>
      </p:sp>
      <p:pic>
        <p:nvPicPr>
          <p:cNvPr id="34" name="Image 8" descr="preencoded.png"/>
          <p:cNvPicPr>
            <a:picLocks noChangeAspect="1"/>
          </p:cNvPicPr>
          <p:nvPr/>
        </p:nvPicPr>
        <p:blipFill>
          <a:blip r:embed="rId5"/>
          <a:stretch>
            <a:fillRect/>
          </a:stretch>
        </p:blipFill>
        <p:spPr>
          <a:xfrm>
            <a:off x="4937760" y="2770632"/>
            <a:ext cx="146304" cy="146304"/>
          </a:xfrm>
          <a:prstGeom prst="rect">
            <a:avLst/>
          </a:prstGeom>
        </p:spPr>
      </p:pic>
      <p:sp>
        <p:nvSpPr>
          <p:cNvPr id="35" name="Text 24"/>
          <p:cNvSpPr/>
          <p:nvPr/>
        </p:nvSpPr>
        <p:spPr>
          <a:xfrm>
            <a:off x="5166360" y="2743200"/>
            <a:ext cx="1463040" cy="18288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Gestion événements machines</a:t>
            </a:r>
            <a:endParaRPr lang="en-US" sz="900" dirty="0"/>
          </a:p>
        </p:txBody>
      </p:sp>
      <p:sp>
        <p:nvSpPr>
          <p:cNvPr id="36" name="Text 25"/>
          <p:cNvSpPr/>
          <p:nvPr/>
        </p:nvSpPr>
        <p:spPr>
          <a:xfrm>
            <a:off x="6583680" y="2743200"/>
            <a:ext cx="2011680" cy="182880"/>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Réaction temps réel aux alertes</a:t>
            </a:r>
            <a:endParaRPr lang="en-US" sz="800" dirty="0"/>
          </a:p>
        </p:txBody>
      </p:sp>
      <p:pic>
        <p:nvPicPr>
          <p:cNvPr id="37" name="Image 9" descr="preencoded.png"/>
          <p:cNvPicPr>
            <a:picLocks noChangeAspect="1"/>
          </p:cNvPicPr>
          <p:nvPr/>
        </p:nvPicPr>
        <p:blipFill>
          <a:blip r:embed="rId5"/>
          <a:stretch>
            <a:fillRect/>
          </a:stretch>
        </p:blipFill>
        <p:spPr>
          <a:xfrm>
            <a:off x="4937760" y="3108960"/>
            <a:ext cx="146304" cy="146304"/>
          </a:xfrm>
          <a:prstGeom prst="rect">
            <a:avLst/>
          </a:prstGeom>
        </p:spPr>
      </p:pic>
      <p:sp>
        <p:nvSpPr>
          <p:cNvPr id="38" name="Text 26"/>
          <p:cNvSpPr/>
          <p:nvPr/>
        </p:nvSpPr>
        <p:spPr>
          <a:xfrm>
            <a:off x="5166360" y="3081528"/>
            <a:ext cx="1463040" cy="18288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IA pour analyse données</a:t>
            </a:r>
            <a:endParaRPr lang="en-US" sz="900" dirty="0"/>
          </a:p>
        </p:txBody>
      </p:sp>
      <p:sp>
        <p:nvSpPr>
          <p:cNvPr id="39" name="Text 27"/>
          <p:cNvSpPr/>
          <p:nvPr/>
        </p:nvSpPr>
        <p:spPr>
          <a:xfrm>
            <a:off x="6583680" y="3081528"/>
            <a:ext cx="2011680" cy="182880"/>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Anomalies, prédictions, optimisation</a:t>
            </a:r>
            <a:endParaRPr lang="en-US" sz="800" dirty="0"/>
          </a:p>
        </p:txBody>
      </p:sp>
      <p:sp>
        <p:nvSpPr>
          <p:cNvPr id="40" name="Shape 28"/>
          <p:cNvSpPr/>
          <p:nvPr/>
        </p:nvSpPr>
        <p:spPr>
          <a:xfrm>
            <a:off x="365760" y="3749040"/>
            <a:ext cx="8412480" cy="914400"/>
          </a:xfrm>
          <a:prstGeom prst="rect">
            <a:avLst/>
          </a:prstGeom>
          <a:solidFill>
            <a:srgbClr val="EA580C"/>
          </a:solidFill>
          <a:ln/>
        </p:spPr>
      </p:sp>
      <p:sp>
        <p:nvSpPr>
          <p:cNvPr id="41" name="Text 29"/>
          <p:cNvSpPr/>
          <p:nvPr/>
        </p:nvSpPr>
        <p:spPr>
          <a:xfrm>
            <a:off x="548640" y="3794760"/>
            <a:ext cx="914400" cy="274320"/>
          </a:xfrm>
          <a:prstGeom prst="rect">
            <a:avLst/>
          </a:prstGeom>
          <a:noFill/>
          <a:ln/>
        </p:spPr>
        <p:txBody>
          <a:bodyPr wrap="square" lIns="0" tIns="0" rIns="0" bIns="0" rtlCol="0" anchor="ctr"/>
          <a:lstStyle/>
          <a:p>
            <a:pPr marL="0" indent="0">
              <a:buNone/>
            </a:pPr>
            <a:r>
              <a:rPr lang="en-US" sz="1000" b="1" dirty="0">
                <a:solidFill>
                  <a:srgbClr val="FFFFFF"/>
                </a:solidFill>
                <a:latin typeface="Poppins" pitchFamily="34" charset="0"/>
                <a:ea typeface="Poppins" pitchFamily="34" charset="-122"/>
                <a:cs typeface="Poppins" pitchFamily="34" charset="-120"/>
              </a:rPr>
              <a:t>Résultat</a:t>
            </a:r>
            <a:endParaRPr lang="en-US" sz="1000" dirty="0"/>
          </a:p>
        </p:txBody>
      </p:sp>
      <p:sp>
        <p:nvSpPr>
          <p:cNvPr id="42" name="Text 30"/>
          <p:cNvSpPr/>
          <p:nvPr/>
        </p:nvSpPr>
        <p:spPr>
          <a:xfrm>
            <a:off x="754380" y="4023360"/>
            <a:ext cx="1737360" cy="274320"/>
          </a:xfrm>
          <a:prstGeom prst="rect">
            <a:avLst/>
          </a:prstGeom>
          <a:noFill/>
          <a:ln/>
        </p:spPr>
        <p:txBody>
          <a:bodyPr wrap="square" lIns="0" tIns="0" rIns="0" bIns="0" rtlCol="0" anchor="ctr"/>
          <a:lstStyle/>
          <a:p>
            <a:pPr marL="0" indent="0" algn="ctr">
              <a:buNone/>
            </a:pPr>
            <a:r>
              <a:rPr lang="en-US" sz="1800" b="1" dirty="0">
                <a:solidFill>
                  <a:srgbClr val="FFFFFF"/>
                </a:solidFill>
                <a:latin typeface="Poppins" pitchFamily="34" charset="0"/>
                <a:ea typeface="Poppins" pitchFamily="34" charset="-122"/>
                <a:cs typeface="Poppins" pitchFamily="34" charset="-120"/>
              </a:rPr>
              <a:t>3x</a:t>
            </a:r>
            <a:endParaRPr lang="en-US" sz="1800" dirty="0"/>
          </a:p>
        </p:txBody>
      </p:sp>
      <p:sp>
        <p:nvSpPr>
          <p:cNvPr id="43" name="Text 31"/>
          <p:cNvSpPr/>
          <p:nvPr/>
        </p:nvSpPr>
        <p:spPr>
          <a:xfrm>
            <a:off x="754380" y="4297680"/>
            <a:ext cx="1737360" cy="228600"/>
          </a:xfrm>
          <a:prstGeom prst="rect">
            <a:avLst/>
          </a:prstGeom>
          <a:noFill/>
          <a:ln/>
        </p:spPr>
        <p:txBody>
          <a:bodyPr wrap="square" lIns="0" tIns="0" rIns="0" bIns="0" rtlCol="0" anchor="ctr"/>
          <a:lstStyle/>
          <a:p>
            <a:pPr marL="0" indent="0" algn="ctr">
              <a:buNone/>
            </a:pPr>
            <a:r>
              <a:rPr lang="en-US" sz="850" dirty="0">
                <a:solidFill>
                  <a:srgbClr val="D6EBFF"/>
                </a:solidFill>
                <a:latin typeface="Poppins" pitchFamily="34" charset="0"/>
                <a:ea typeface="Poppins" pitchFamily="34" charset="-122"/>
                <a:cs typeface="Poppins" pitchFamily="34" charset="-120"/>
              </a:rPr>
              <a:t>intégration plus rapide</a:t>
            </a:r>
            <a:endParaRPr lang="en-US" sz="850" dirty="0"/>
          </a:p>
        </p:txBody>
      </p:sp>
      <p:sp>
        <p:nvSpPr>
          <p:cNvPr id="44" name="Text 32"/>
          <p:cNvSpPr/>
          <p:nvPr/>
        </p:nvSpPr>
        <p:spPr>
          <a:xfrm>
            <a:off x="2720340" y="4023360"/>
            <a:ext cx="1737360" cy="274320"/>
          </a:xfrm>
          <a:prstGeom prst="rect">
            <a:avLst/>
          </a:prstGeom>
          <a:noFill/>
          <a:ln/>
        </p:spPr>
        <p:txBody>
          <a:bodyPr wrap="square" lIns="0" tIns="0" rIns="0" bIns="0" rtlCol="0" anchor="ctr"/>
          <a:lstStyle/>
          <a:p>
            <a:pPr marL="0" indent="0" algn="ctr">
              <a:buNone/>
            </a:pPr>
            <a:r>
              <a:rPr lang="en-US" sz="1800" b="1" dirty="0">
                <a:solidFill>
                  <a:srgbClr val="FFFFFF"/>
                </a:solidFill>
                <a:latin typeface="Poppins" pitchFamily="34" charset="0"/>
                <a:ea typeface="Poppins" pitchFamily="34" charset="-122"/>
                <a:cs typeface="Poppins" pitchFamily="34" charset="-120"/>
              </a:rPr>
              <a:t>-50%</a:t>
            </a:r>
            <a:endParaRPr lang="en-US" sz="1800" dirty="0"/>
          </a:p>
        </p:txBody>
      </p:sp>
      <p:sp>
        <p:nvSpPr>
          <p:cNvPr id="45" name="Text 33"/>
          <p:cNvSpPr/>
          <p:nvPr/>
        </p:nvSpPr>
        <p:spPr>
          <a:xfrm>
            <a:off x="2720340" y="4297680"/>
            <a:ext cx="1737360" cy="228600"/>
          </a:xfrm>
          <a:prstGeom prst="rect">
            <a:avLst/>
          </a:prstGeom>
          <a:noFill/>
          <a:ln/>
        </p:spPr>
        <p:txBody>
          <a:bodyPr wrap="square" lIns="0" tIns="0" rIns="0" bIns="0" rtlCol="0" anchor="ctr"/>
          <a:lstStyle/>
          <a:p>
            <a:pPr marL="0" indent="0" algn="ctr">
              <a:buNone/>
            </a:pPr>
            <a:r>
              <a:rPr lang="en-US" sz="850" dirty="0">
                <a:solidFill>
                  <a:srgbClr val="D6EBFF"/>
                </a:solidFill>
                <a:latin typeface="Poppins" pitchFamily="34" charset="0"/>
                <a:ea typeface="Poppins" pitchFamily="34" charset="-122"/>
                <a:cs typeface="Poppins" pitchFamily="34" charset="-120"/>
              </a:rPr>
              <a:t>délais projets</a:t>
            </a:r>
            <a:endParaRPr lang="en-US" sz="850" dirty="0"/>
          </a:p>
        </p:txBody>
      </p:sp>
      <p:sp>
        <p:nvSpPr>
          <p:cNvPr id="46" name="Text 34"/>
          <p:cNvSpPr/>
          <p:nvPr/>
        </p:nvSpPr>
        <p:spPr>
          <a:xfrm>
            <a:off x="4686300" y="4023360"/>
            <a:ext cx="1737360" cy="274320"/>
          </a:xfrm>
          <a:prstGeom prst="rect">
            <a:avLst/>
          </a:prstGeom>
          <a:noFill/>
          <a:ln/>
        </p:spPr>
        <p:txBody>
          <a:bodyPr wrap="square" lIns="0" tIns="0" rIns="0" bIns="0" rtlCol="0" anchor="ctr"/>
          <a:lstStyle/>
          <a:p>
            <a:pPr marL="0" indent="0" algn="ctr">
              <a:buNone/>
            </a:pPr>
            <a:r>
              <a:rPr lang="en-US" sz="1800" b="1" dirty="0">
                <a:solidFill>
                  <a:srgbClr val="FFFFFF"/>
                </a:solidFill>
                <a:latin typeface="Poppins" pitchFamily="34" charset="0"/>
                <a:ea typeface="Poppins" pitchFamily="34" charset="-122"/>
                <a:cs typeface="Poppins" pitchFamily="34" charset="-120"/>
              </a:rPr>
              <a:t>0</a:t>
            </a:r>
            <a:endParaRPr lang="en-US" sz="1800" dirty="0"/>
          </a:p>
        </p:txBody>
      </p:sp>
      <p:sp>
        <p:nvSpPr>
          <p:cNvPr id="47" name="Text 35"/>
          <p:cNvSpPr/>
          <p:nvPr/>
        </p:nvSpPr>
        <p:spPr>
          <a:xfrm>
            <a:off x="4686300" y="4297680"/>
            <a:ext cx="1737360" cy="228600"/>
          </a:xfrm>
          <a:prstGeom prst="rect">
            <a:avLst/>
          </a:prstGeom>
          <a:noFill/>
          <a:ln/>
        </p:spPr>
        <p:txBody>
          <a:bodyPr wrap="square" lIns="0" tIns="0" rIns="0" bIns="0" rtlCol="0" anchor="ctr"/>
          <a:lstStyle/>
          <a:p>
            <a:pPr marL="0" indent="0" algn="ctr">
              <a:buNone/>
            </a:pPr>
            <a:r>
              <a:rPr lang="en-US" sz="850" dirty="0">
                <a:solidFill>
                  <a:srgbClr val="D6EBFF"/>
                </a:solidFill>
                <a:latin typeface="Poppins" pitchFamily="34" charset="0"/>
                <a:ea typeface="Poppins" pitchFamily="34" charset="-122"/>
                <a:cs typeface="Poppins" pitchFamily="34" charset="-120"/>
              </a:rPr>
              <a:t>code à maintenir</a:t>
            </a:r>
            <a:endParaRPr lang="en-US" sz="850" dirty="0"/>
          </a:p>
        </p:txBody>
      </p:sp>
      <p:sp>
        <p:nvSpPr>
          <p:cNvPr id="48" name="Text 36"/>
          <p:cNvSpPr/>
          <p:nvPr/>
        </p:nvSpPr>
        <p:spPr>
          <a:xfrm>
            <a:off x="6652260" y="4023360"/>
            <a:ext cx="1737360" cy="274320"/>
          </a:xfrm>
          <a:prstGeom prst="rect">
            <a:avLst/>
          </a:prstGeom>
          <a:noFill/>
          <a:ln/>
        </p:spPr>
        <p:txBody>
          <a:bodyPr wrap="square" lIns="0" tIns="0" rIns="0" bIns="0" rtlCol="0" anchor="ctr"/>
          <a:lstStyle/>
          <a:p>
            <a:pPr marL="0" indent="0" algn="ctr">
              <a:buNone/>
            </a:pPr>
            <a:r>
              <a:rPr lang="en-US" sz="1800" b="1" dirty="0">
                <a:solidFill>
                  <a:srgbClr val="FFFFFF"/>
                </a:solidFill>
                <a:latin typeface="Poppins" pitchFamily="34" charset="0"/>
                <a:ea typeface="Poppins" pitchFamily="34" charset="-122"/>
                <a:cs typeface="Poppins" pitchFamily="34" charset="-120"/>
              </a:rPr>
              <a:t>24/7</a:t>
            </a:r>
            <a:endParaRPr lang="en-US" sz="1800" dirty="0"/>
          </a:p>
        </p:txBody>
      </p:sp>
      <p:sp>
        <p:nvSpPr>
          <p:cNvPr id="49" name="Text 37"/>
          <p:cNvSpPr/>
          <p:nvPr/>
        </p:nvSpPr>
        <p:spPr>
          <a:xfrm>
            <a:off x="6652260" y="4297680"/>
            <a:ext cx="1737360" cy="228600"/>
          </a:xfrm>
          <a:prstGeom prst="rect">
            <a:avLst/>
          </a:prstGeom>
          <a:noFill/>
          <a:ln/>
        </p:spPr>
        <p:txBody>
          <a:bodyPr wrap="square" lIns="0" tIns="0" rIns="0" bIns="0" rtlCol="0" anchor="ctr"/>
          <a:lstStyle/>
          <a:p>
            <a:pPr marL="0" indent="0" algn="ctr">
              <a:buNone/>
            </a:pPr>
            <a:r>
              <a:rPr lang="en-US" sz="850" dirty="0">
                <a:solidFill>
                  <a:srgbClr val="D6EBFF"/>
                </a:solidFill>
                <a:latin typeface="Poppins" pitchFamily="34" charset="0"/>
                <a:ea typeface="Poppins" pitchFamily="34" charset="-122"/>
                <a:cs typeface="Poppins" pitchFamily="34" charset="-120"/>
              </a:rPr>
              <a:t>monitoring temps réel</a:t>
            </a:r>
            <a:endParaRPr lang="en-US" sz="850" dirty="0"/>
          </a:p>
        </p:txBody>
      </p:sp>
      <p:sp>
        <p:nvSpPr>
          <p:cNvPr id="50" name="Text 38"/>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6A34A"/>
          </a:solidFill>
          <a:ln/>
        </p:spPr>
      </p:sp>
      <p:pic>
        <p:nvPicPr>
          <p:cNvPr id="3" name="Image 0" descr="preencoded.png"/>
          <p:cNvPicPr>
            <a:picLocks noChangeAspect="1"/>
          </p:cNvPicPr>
          <p:nvPr/>
        </p:nvPicPr>
        <p:blipFill>
          <a:blip r:embed="rId3"/>
          <a:stretch>
            <a:fillRect/>
          </a:stretch>
        </p:blipFill>
        <p:spPr>
          <a:xfrm>
            <a:off x="640080" y="228600"/>
            <a:ext cx="365760" cy="365760"/>
          </a:xfrm>
          <a:prstGeom prst="rect">
            <a:avLst/>
          </a:prstGeom>
        </p:spPr>
      </p:pic>
      <p:sp>
        <p:nvSpPr>
          <p:cNvPr id="4" name="Text 1"/>
          <p:cNvSpPr/>
          <p:nvPr/>
        </p:nvSpPr>
        <p:spPr>
          <a:xfrm>
            <a:off x="1097280" y="228600"/>
            <a:ext cx="4572000" cy="365760"/>
          </a:xfrm>
          <a:prstGeom prst="rect">
            <a:avLst/>
          </a:prstGeom>
          <a:noFill/>
          <a:ln/>
        </p:spPr>
        <p:txBody>
          <a:bodyPr wrap="square" lIns="0" tIns="0" rIns="0" bIns="0" rtlCol="0" anchor="ctr"/>
          <a:lstStyle/>
          <a:p>
            <a:pPr marL="0" indent="0">
              <a:buNone/>
            </a:pPr>
            <a:r>
              <a:rPr lang="en-US" sz="2200" b="1" dirty="0">
                <a:solidFill>
                  <a:srgbClr val="16A34A"/>
                </a:solidFill>
                <a:latin typeface="Poppins" pitchFamily="34" charset="0"/>
                <a:ea typeface="Poppins" pitchFamily="34" charset="-122"/>
                <a:cs typeface="Poppins" pitchFamily="34" charset="-120"/>
              </a:rPr>
              <a:t>Consultant IT / automatisation</a:t>
            </a:r>
            <a:endParaRPr lang="en-US" sz="2200" dirty="0"/>
          </a:p>
        </p:txBody>
      </p:sp>
      <p:sp>
        <p:nvSpPr>
          <p:cNvPr id="5" name="Text 2"/>
          <p:cNvSpPr/>
          <p:nvPr/>
        </p:nvSpPr>
        <p:spPr>
          <a:xfrm>
            <a:off x="1097280" y="594360"/>
            <a:ext cx="4572000" cy="228600"/>
          </a:xfrm>
          <a:prstGeom prst="rect">
            <a:avLst/>
          </a:prstGeom>
          <a:noFill/>
          <a:ln/>
        </p:spPr>
        <p:txBody>
          <a:bodyPr wrap="square" lIns="0" tIns="0" rIns="0" bIns="0" rtlCol="0" anchor="ctr"/>
          <a:lstStyle/>
          <a:p>
            <a:pPr marL="0" indent="0">
              <a:buNone/>
            </a:pPr>
            <a:r>
              <a:rPr lang="en-US" sz="1000" dirty="0">
                <a:solidFill>
                  <a:srgbClr val="6B7280"/>
                </a:solidFill>
                <a:latin typeface="Poppins" pitchFamily="34" charset="0"/>
                <a:ea typeface="Poppins" pitchFamily="34" charset="-122"/>
                <a:cs typeface="Poppins" pitchFamily="34" charset="-120"/>
              </a:rPr>
              <a:t>Indépendant · ESN · Cabinet conseil · Freelance</a:t>
            </a:r>
            <a:endParaRPr lang="en-US" sz="1000" dirty="0"/>
          </a:p>
        </p:txBody>
      </p:sp>
      <p:sp>
        <p:nvSpPr>
          <p:cNvPr id="6" name="Shape 3"/>
          <p:cNvSpPr/>
          <p:nvPr/>
        </p:nvSpPr>
        <p:spPr>
          <a:xfrm>
            <a:off x="365760" y="1005840"/>
            <a:ext cx="4023360" cy="1463040"/>
          </a:xfrm>
          <a:prstGeom prst="rect">
            <a:avLst/>
          </a:prstGeom>
          <a:solidFill>
            <a:srgbClr val="F7F9FC"/>
          </a:solidFill>
          <a:ln/>
        </p:spPr>
      </p:sp>
      <p:sp>
        <p:nvSpPr>
          <p:cNvPr id="7" name="Text 4"/>
          <p:cNvSpPr/>
          <p:nvPr/>
        </p:nvSpPr>
        <p:spPr>
          <a:xfrm>
            <a:off x="502920" y="1051560"/>
            <a:ext cx="3657600" cy="274320"/>
          </a:xfrm>
          <a:prstGeom prst="rect">
            <a:avLst/>
          </a:prstGeom>
          <a:noFill/>
          <a:ln/>
        </p:spPr>
        <p:txBody>
          <a:bodyPr wrap="square" lIns="0" tIns="0" rIns="0" bIns="0" rtlCol="0" anchor="ctr"/>
          <a:lstStyle/>
          <a:p>
            <a:pPr marL="0" indent="0">
              <a:buNone/>
            </a:pPr>
            <a:r>
              <a:rPr lang="en-US" sz="1200" b="1" dirty="0">
                <a:solidFill>
                  <a:srgbClr val="0F172A"/>
                </a:solidFill>
                <a:latin typeface="Poppins" pitchFamily="34" charset="0"/>
                <a:ea typeface="Poppins" pitchFamily="34" charset="-122"/>
                <a:cs typeface="Poppins" pitchFamily="34" charset="-120"/>
              </a:rPr>
              <a:t>Vos enjeux</a:t>
            </a:r>
            <a:endParaRPr lang="en-US" sz="1200" dirty="0"/>
          </a:p>
        </p:txBody>
      </p:sp>
      <p:sp>
        <p:nvSpPr>
          <p:cNvPr id="8" name="Text 5"/>
          <p:cNvSpPr/>
          <p:nvPr/>
        </p:nvSpPr>
        <p:spPr>
          <a:xfrm>
            <a:off x="548640" y="1371600"/>
            <a:ext cx="3657600" cy="228600"/>
          </a:xfrm>
          <a:prstGeom prst="rect">
            <a:avLst/>
          </a:prstGeom>
          <a:noFill/>
          <a:ln/>
        </p:spPr>
        <p:txBody>
          <a:bodyPr wrap="square" lIns="0" tIns="0" rIns="0" bIns="0" rtlCol="0" anchor="ctr"/>
          <a:lstStyle/>
          <a:p>
            <a:pPr marL="0" indent="0">
              <a:buNone/>
            </a:pPr>
            <a:r>
              <a:rPr lang="en-US" sz="850" dirty="0">
                <a:solidFill>
                  <a:srgbClr val="374151"/>
                </a:solidFill>
                <a:latin typeface="Poppins" pitchFamily="34" charset="0"/>
                <a:ea typeface="Poppins" pitchFamily="34" charset="-122"/>
                <a:cs typeface="Poppins" pitchFamily="34" charset="-120"/>
              </a:rPr>
              <a:t>•  Vous cherchez de nouveaux clients et des missions régulières</a:t>
            </a:r>
            <a:endParaRPr lang="en-US" sz="850" dirty="0"/>
          </a:p>
        </p:txBody>
      </p:sp>
      <p:sp>
        <p:nvSpPr>
          <p:cNvPr id="9" name="Text 6"/>
          <p:cNvSpPr/>
          <p:nvPr/>
        </p:nvSpPr>
        <p:spPr>
          <a:xfrm>
            <a:off x="548640" y="1618488"/>
            <a:ext cx="3657600" cy="228600"/>
          </a:xfrm>
          <a:prstGeom prst="rect">
            <a:avLst/>
          </a:prstGeom>
          <a:noFill/>
          <a:ln/>
        </p:spPr>
        <p:txBody>
          <a:bodyPr wrap="square" lIns="0" tIns="0" rIns="0" bIns="0" rtlCol="0" anchor="ctr"/>
          <a:lstStyle/>
          <a:p>
            <a:pPr marL="0" indent="0">
              <a:buNone/>
            </a:pPr>
            <a:r>
              <a:rPr lang="en-US" sz="850" dirty="0">
                <a:solidFill>
                  <a:srgbClr val="374151"/>
                </a:solidFill>
                <a:latin typeface="Poppins" pitchFamily="34" charset="0"/>
                <a:ea typeface="Poppins" pitchFamily="34" charset="-122"/>
                <a:cs typeface="Poppins" pitchFamily="34" charset="-120"/>
              </a:rPr>
              <a:t>•  Vous passez trop de temps à développer des solutions sur mesure</a:t>
            </a:r>
            <a:endParaRPr lang="en-US" sz="850" dirty="0"/>
          </a:p>
        </p:txBody>
      </p:sp>
      <p:sp>
        <p:nvSpPr>
          <p:cNvPr id="10" name="Text 7"/>
          <p:cNvSpPr/>
          <p:nvPr/>
        </p:nvSpPr>
        <p:spPr>
          <a:xfrm>
            <a:off x="548640" y="1865376"/>
            <a:ext cx="3657600" cy="228600"/>
          </a:xfrm>
          <a:prstGeom prst="rect">
            <a:avLst/>
          </a:prstGeom>
          <a:noFill/>
          <a:ln/>
        </p:spPr>
        <p:txBody>
          <a:bodyPr wrap="square" lIns="0" tIns="0" rIns="0" bIns="0" rtlCol="0" anchor="ctr"/>
          <a:lstStyle/>
          <a:p>
            <a:pPr marL="0" indent="0">
              <a:buNone/>
            </a:pPr>
            <a:r>
              <a:rPr lang="en-US" sz="850" dirty="0">
                <a:solidFill>
                  <a:srgbClr val="374151"/>
                </a:solidFill>
                <a:latin typeface="Poppins" pitchFamily="34" charset="0"/>
                <a:ea typeface="Poppins" pitchFamily="34" charset="-122"/>
                <a:cs typeface="Poppins" pitchFamily="34" charset="-120"/>
              </a:rPr>
              <a:t>•  Vous voulez standardiser vos livrables pour livrer plus vite</a:t>
            </a:r>
            <a:endParaRPr lang="en-US" sz="850" dirty="0"/>
          </a:p>
        </p:txBody>
      </p:sp>
      <p:sp>
        <p:nvSpPr>
          <p:cNvPr id="11" name="Text 8"/>
          <p:cNvSpPr/>
          <p:nvPr/>
        </p:nvSpPr>
        <p:spPr>
          <a:xfrm>
            <a:off x="548640" y="2112264"/>
            <a:ext cx="3657600" cy="228600"/>
          </a:xfrm>
          <a:prstGeom prst="rect">
            <a:avLst/>
          </a:prstGeom>
          <a:noFill/>
          <a:ln/>
        </p:spPr>
        <p:txBody>
          <a:bodyPr wrap="square" lIns="0" tIns="0" rIns="0" bIns="0" rtlCol="0" anchor="ctr"/>
          <a:lstStyle/>
          <a:p>
            <a:pPr marL="0" indent="0">
              <a:buNone/>
            </a:pPr>
            <a:r>
              <a:rPr lang="en-US" sz="850" dirty="0">
                <a:solidFill>
                  <a:srgbClr val="374151"/>
                </a:solidFill>
                <a:latin typeface="Poppins" pitchFamily="34" charset="0"/>
                <a:ea typeface="Poppins" pitchFamily="34" charset="-122"/>
                <a:cs typeface="Poppins" pitchFamily="34" charset="-120"/>
              </a:rPr>
              <a:t>•  Vous souhaitez générer du revenu récurrent</a:t>
            </a:r>
            <a:endParaRPr lang="en-US" sz="850" dirty="0"/>
          </a:p>
        </p:txBody>
      </p:sp>
      <p:sp>
        <p:nvSpPr>
          <p:cNvPr id="12" name="Shape 9"/>
          <p:cNvSpPr/>
          <p:nvPr/>
        </p:nvSpPr>
        <p:spPr>
          <a:xfrm>
            <a:off x="365760" y="2606040"/>
            <a:ext cx="4023360" cy="914400"/>
          </a:xfrm>
          <a:prstGeom prst="rect">
            <a:avLst/>
          </a:prstGeom>
          <a:solidFill>
            <a:srgbClr val="FEF2F2"/>
          </a:solidFill>
          <a:ln/>
        </p:spPr>
      </p:sp>
      <p:sp>
        <p:nvSpPr>
          <p:cNvPr id="13" name="Text 10"/>
          <p:cNvSpPr/>
          <p:nvPr/>
        </p:nvSpPr>
        <p:spPr>
          <a:xfrm>
            <a:off x="502920" y="2651760"/>
            <a:ext cx="3657600" cy="274320"/>
          </a:xfrm>
          <a:prstGeom prst="rect">
            <a:avLst/>
          </a:prstGeom>
          <a:noFill/>
          <a:ln/>
        </p:spPr>
        <p:txBody>
          <a:bodyPr wrap="square" lIns="0" tIns="0" rIns="0" bIns="0" rtlCol="0" anchor="ctr"/>
          <a:lstStyle/>
          <a:p>
            <a:pPr marL="0" indent="0">
              <a:buNone/>
            </a:pPr>
            <a:r>
              <a:rPr lang="en-US" sz="1100" b="1" dirty="0">
                <a:solidFill>
                  <a:srgbClr val="EF4444"/>
                </a:solidFill>
                <a:latin typeface="Poppins" pitchFamily="34" charset="0"/>
                <a:ea typeface="Poppins" pitchFamily="34" charset="-122"/>
                <a:cs typeface="Poppins" pitchFamily="34" charset="-120"/>
              </a:rPr>
              <a:t>Ce qui vous freine</a:t>
            </a:r>
            <a:endParaRPr lang="en-US" sz="1100" dirty="0"/>
          </a:p>
        </p:txBody>
      </p:sp>
      <p:pic>
        <p:nvPicPr>
          <p:cNvPr id="14" name="Image 1" descr="preencoded.png"/>
          <p:cNvPicPr>
            <a:picLocks noChangeAspect="1"/>
          </p:cNvPicPr>
          <p:nvPr/>
        </p:nvPicPr>
        <p:blipFill>
          <a:blip r:embed="rId4"/>
          <a:stretch>
            <a:fillRect/>
          </a:stretch>
        </p:blipFill>
        <p:spPr>
          <a:xfrm>
            <a:off x="548640" y="2971800"/>
            <a:ext cx="128016" cy="128016"/>
          </a:xfrm>
          <a:prstGeom prst="rect">
            <a:avLst/>
          </a:prstGeom>
        </p:spPr>
      </p:pic>
      <p:sp>
        <p:nvSpPr>
          <p:cNvPr id="15" name="Text 11"/>
          <p:cNvSpPr/>
          <p:nvPr/>
        </p:nvSpPr>
        <p:spPr>
          <a:xfrm>
            <a:off x="731520" y="2953512"/>
            <a:ext cx="3474720" cy="18288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Prospection difficile et chronophage</a:t>
            </a:r>
            <a:endParaRPr lang="en-US" sz="850" dirty="0"/>
          </a:p>
        </p:txBody>
      </p:sp>
      <p:pic>
        <p:nvPicPr>
          <p:cNvPr id="16" name="Image 2" descr="preencoded.png"/>
          <p:cNvPicPr>
            <a:picLocks noChangeAspect="1"/>
          </p:cNvPicPr>
          <p:nvPr/>
        </p:nvPicPr>
        <p:blipFill>
          <a:blip r:embed="rId4"/>
          <a:stretch>
            <a:fillRect/>
          </a:stretch>
        </p:blipFill>
        <p:spPr>
          <a:xfrm>
            <a:off x="548640" y="3154680"/>
            <a:ext cx="128016" cy="128016"/>
          </a:xfrm>
          <a:prstGeom prst="rect">
            <a:avLst/>
          </a:prstGeom>
        </p:spPr>
      </p:pic>
      <p:sp>
        <p:nvSpPr>
          <p:cNvPr id="17" name="Text 12"/>
          <p:cNvSpPr/>
          <p:nvPr/>
        </p:nvSpPr>
        <p:spPr>
          <a:xfrm>
            <a:off x="731520" y="3136392"/>
            <a:ext cx="3474720" cy="18288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Projets longs à développer from scratch</a:t>
            </a:r>
            <a:endParaRPr lang="en-US" sz="850" dirty="0"/>
          </a:p>
        </p:txBody>
      </p:sp>
      <p:pic>
        <p:nvPicPr>
          <p:cNvPr id="18" name="Image 3" descr="preencoded.png"/>
          <p:cNvPicPr>
            <a:picLocks noChangeAspect="1"/>
          </p:cNvPicPr>
          <p:nvPr/>
        </p:nvPicPr>
        <p:blipFill>
          <a:blip r:embed="rId4"/>
          <a:stretch>
            <a:fillRect/>
          </a:stretch>
        </p:blipFill>
        <p:spPr>
          <a:xfrm>
            <a:off x="548640" y="3337560"/>
            <a:ext cx="128016" cy="128016"/>
          </a:xfrm>
          <a:prstGeom prst="rect">
            <a:avLst/>
          </a:prstGeom>
        </p:spPr>
      </p:pic>
      <p:sp>
        <p:nvSpPr>
          <p:cNvPr id="19" name="Text 13"/>
          <p:cNvSpPr/>
          <p:nvPr/>
        </p:nvSpPr>
        <p:spPr>
          <a:xfrm>
            <a:off x="731520" y="3319272"/>
            <a:ext cx="3474720" cy="18288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Manque d'outils standards réutilisables</a:t>
            </a:r>
            <a:endParaRPr lang="en-US" sz="850" dirty="0"/>
          </a:p>
        </p:txBody>
      </p:sp>
      <p:sp>
        <p:nvSpPr>
          <p:cNvPr id="20" name="Shape 14"/>
          <p:cNvSpPr/>
          <p:nvPr/>
        </p:nvSpPr>
        <p:spPr>
          <a:xfrm>
            <a:off x="4754880" y="1005840"/>
            <a:ext cx="4023360" cy="2514600"/>
          </a:xfrm>
          <a:prstGeom prst="rect">
            <a:avLst/>
          </a:prstGeom>
          <a:solidFill>
            <a:srgbClr val="EBF5FF"/>
          </a:solidFill>
          <a:ln/>
        </p:spPr>
      </p:sp>
      <p:sp>
        <p:nvSpPr>
          <p:cNvPr id="21" name="Text 15"/>
          <p:cNvSpPr/>
          <p:nvPr/>
        </p:nvSpPr>
        <p:spPr>
          <a:xfrm>
            <a:off x="4892040" y="1051560"/>
            <a:ext cx="3657600" cy="274320"/>
          </a:xfrm>
          <a:prstGeom prst="rect">
            <a:avLst/>
          </a:prstGeom>
          <a:noFill/>
          <a:ln/>
        </p:spPr>
        <p:txBody>
          <a:bodyPr wrap="square" lIns="0" tIns="0" rIns="0" bIns="0" rtlCol="0" anchor="ctr"/>
          <a:lstStyle/>
          <a:p>
            <a:pPr marL="0" indent="0">
              <a:buNone/>
            </a:pPr>
            <a:r>
              <a:rPr lang="en-US" sz="1100" b="1" dirty="0">
                <a:solidFill>
                  <a:srgbClr val="1677FF"/>
                </a:solidFill>
                <a:latin typeface="Poppins" pitchFamily="34" charset="0"/>
                <a:ea typeface="Poppins" pitchFamily="34" charset="-122"/>
                <a:cs typeface="Poppins" pitchFamily="34" charset="-120"/>
              </a:rPr>
              <a:t>KINN, plateforme business pour consultants</a:t>
            </a:r>
            <a:endParaRPr lang="en-US" sz="1100" dirty="0"/>
          </a:p>
        </p:txBody>
      </p:sp>
      <p:pic>
        <p:nvPicPr>
          <p:cNvPr id="22" name="Image 4" descr="preencoded.png"/>
          <p:cNvPicPr>
            <a:picLocks noChangeAspect="1"/>
          </p:cNvPicPr>
          <p:nvPr/>
        </p:nvPicPr>
        <p:blipFill>
          <a:blip r:embed="rId5"/>
          <a:stretch>
            <a:fillRect/>
          </a:stretch>
        </p:blipFill>
        <p:spPr>
          <a:xfrm>
            <a:off x="4937760" y="1417320"/>
            <a:ext cx="146304" cy="146304"/>
          </a:xfrm>
          <a:prstGeom prst="rect">
            <a:avLst/>
          </a:prstGeom>
        </p:spPr>
      </p:pic>
      <p:sp>
        <p:nvSpPr>
          <p:cNvPr id="23" name="Text 16"/>
          <p:cNvSpPr/>
          <p:nvPr/>
        </p:nvSpPr>
        <p:spPr>
          <a:xfrm>
            <a:off x="5166360" y="1389888"/>
            <a:ext cx="1463040" cy="18288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Marketplace de projets</a:t>
            </a:r>
            <a:endParaRPr lang="en-US" sz="900" dirty="0"/>
          </a:p>
        </p:txBody>
      </p:sp>
      <p:sp>
        <p:nvSpPr>
          <p:cNvPr id="24" name="Text 17"/>
          <p:cNvSpPr/>
          <p:nvPr/>
        </p:nvSpPr>
        <p:spPr>
          <a:xfrm>
            <a:off x="6583680" y="1389888"/>
            <a:ext cx="2011680" cy="182880"/>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Les entreprises publient leurs besoins</a:t>
            </a:r>
            <a:endParaRPr lang="en-US" sz="800" dirty="0"/>
          </a:p>
        </p:txBody>
      </p:sp>
      <p:pic>
        <p:nvPicPr>
          <p:cNvPr id="25" name="Image 5" descr="preencoded.png"/>
          <p:cNvPicPr>
            <a:picLocks noChangeAspect="1"/>
          </p:cNvPicPr>
          <p:nvPr/>
        </p:nvPicPr>
        <p:blipFill>
          <a:blip r:embed="rId5"/>
          <a:stretch>
            <a:fillRect/>
          </a:stretch>
        </p:blipFill>
        <p:spPr>
          <a:xfrm>
            <a:off x="4937760" y="1755648"/>
            <a:ext cx="146304" cy="146304"/>
          </a:xfrm>
          <a:prstGeom prst="rect">
            <a:avLst/>
          </a:prstGeom>
        </p:spPr>
      </p:pic>
      <p:sp>
        <p:nvSpPr>
          <p:cNvPr id="26" name="Text 18"/>
          <p:cNvSpPr/>
          <p:nvPr/>
        </p:nvSpPr>
        <p:spPr>
          <a:xfrm>
            <a:off x="5166360" y="1728216"/>
            <a:ext cx="1463040" cy="18288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Développement rapide</a:t>
            </a:r>
            <a:endParaRPr lang="en-US" sz="900" dirty="0"/>
          </a:p>
        </p:txBody>
      </p:sp>
      <p:sp>
        <p:nvSpPr>
          <p:cNvPr id="27" name="Text 19"/>
          <p:cNvSpPr/>
          <p:nvPr/>
        </p:nvSpPr>
        <p:spPr>
          <a:xfrm>
            <a:off x="6583680" y="1728216"/>
            <a:ext cx="2011680" cy="182880"/>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Construisez la solution sur KINN</a:t>
            </a:r>
            <a:endParaRPr lang="en-US" sz="800" dirty="0"/>
          </a:p>
        </p:txBody>
      </p:sp>
      <p:pic>
        <p:nvPicPr>
          <p:cNvPr id="28" name="Image 6" descr="preencoded.png"/>
          <p:cNvPicPr>
            <a:picLocks noChangeAspect="1"/>
          </p:cNvPicPr>
          <p:nvPr/>
        </p:nvPicPr>
        <p:blipFill>
          <a:blip r:embed="rId5"/>
          <a:stretch>
            <a:fillRect/>
          </a:stretch>
        </p:blipFill>
        <p:spPr>
          <a:xfrm>
            <a:off x="4937760" y="2093976"/>
            <a:ext cx="146304" cy="146304"/>
          </a:xfrm>
          <a:prstGeom prst="rect">
            <a:avLst/>
          </a:prstGeom>
        </p:spPr>
      </p:pic>
      <p:sp>
        <p:nvSpPr>
          <p:cNvPr id="29" name="Text 20"/>
          <p:cNvSpPr/>
          <p:nvPr/>
        </p:nvSpPr>
        <p:spPr>
          <a:xfrm>
            <a:off x="5166360" y="2066544"/>
            <a:ext cx="1463040" cy="18288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Templates réutilisables</a:t>
            </a:r>
            <a:endParaRPr lang="en-US" sz="900" dirty="0"/>
          </a:p>
        </p:txBody>
      </p:sp>
      <p:sp>
        <p:nvSpPr>
          <p:cNvPr id="30" name="Text 21"/>
          <p:cNvSpPr/>
          <p:nvPr/>
        </p:nvSpPr>
        <p:spPr>
          <a:xfrm>
            <a:off x="6583680" y="2066544"/>
            <a:ext cx="2011680" cy="182880"/>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Créez et vendez vos automatisations</a:t>
            </a:r>
            <a:endParaRPr lang="en-US" sz="800" dirty="0"/>
          </a:p>
        </p:txBody>
      </p:sp>
      <p:pic>
        <p:nvPicPr>
          <p:cNvPr id="31" name="Image 7" descr="preencoded.png"/>
          <p:cNvPicPr>
            <a:picLocks noChangeAspect="1"/>
          </p:cNvPicPr>
          <p:nvPr/>
        </p:nvPicPr>
        <p:blipFill>
          <a:blip r:embed="rId5"/>
          <a:stretch>
            <a:fillRect/>
          </a:stretch>
        </p:blipFill>
        <p:spPr>
          <a:xfrm>
            <a:off x="4937760" y="2432304"/>
            <a:ext cx="146304" cy="146304"/>
          </a:xfrm>
          <a:prstGeom prst="rect">
            <a:avLst/>
          </a:prstGeom>
        </p:spPr>
      </p:pic>
      <p:sp>
        <p:nvSpPr>
          <p:cNvPr id="32" name="Text 22"/>
          <p:cNvSpPr/>
          <p:nvPr/>
        </p:nvSpPr>
        <p:spPr>
          <a:xfrm>
            <a:off x="5166360" y="2404872"/>
            <a:ext cx="1463040" cy="18288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Gestion clients intégrée</a:t>
            </a:r>
            <a:endParaRPr lang="en-US" sz="900" dirty="0"/>
          </a:p>
        </p:txBody>
      </p:sp>
      <p:sp>
        <p:nvSpPr>
          <p:cNvPr id="33" name="Text 23"/>
          <p:cNvSpPr/>
          <p:nvPr/>
        </p:nvSpPr>
        <p:spPr>
          <a:xfrm>
            <a:off x="6583680" y="2404872"/>
            <a:ext cx="2011680" cy="182880"/>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Suivi projets, facturation, support</a:t>
            </a:r>
            <a:endParaRPr lang="en-US" sz="800" dirty="0"/>
          </a:p>
        </p:txBody>
      </p:sp>
      <p:pic>
        <p:nvPicPr>
          <p:cNvPr id="34" name="Image 8" descr="preencoded.png"/>
          <p:cNvPicPr>
            <a:picLocks noChangeAspect="1"/>
          </p:cNvPicPr>
          <p:nvPr/>
        </p:nvPicPr>
        <p:blipFill>
          <a:blip r:embed="rId5"/>
          <a:stretch>
            <a:fillRect/>
          </a:stretch>
        </p:blipFill>
        <p:spPr>
          <a:xfrm>
            <a:off x="4937760" y="2770632"/>
            <a:ext cx="146304" cy="146304"/>
          </a:xfrm>
          <a:prstGeom prst="rect">
            <a:avLst/>
          </a:prstGeom>
        </p:spPr>
      </p:pic>
      <p:sp>
        <p:nvSpPr>
          <p:cNvPr id="35" name="Text 24"/>
          <p:cNvSpPr/>
          <p:nvPr/>
        </p:nvSpPr>
        <p:spPr>
          <a:xfrm>
            <a:off x="5166360" y="2743200"/>
            <a:ext cx="1463040" cy="18288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Revenus récurrents</a:t>
            </a:r>
            <a:endParaRPr lang="en-US" sz="900" dirty="0"/>
          </a:p>
        </p:txBody>
      </p:sp>
      <p:sp>
        <p:nvSpPr>
          <p:cNvPr id="36" name="Text 25"/>
          <p:cNvSpPr/>
          <p:nvPr/>
        </p:nvSpPr>
        <p:spPr>
          <a:xfrm>
            <a:off x="6583680" y="2743200"/>
            <a:ext cx="2011680" cy="182880"/>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Maintenance, évolutions, abonnements</a:t>
            </a:r>
            <a:endParaRPr lang="en-US" sz="800" dirty="0"/>
          </a:p>
        </p:txBody>
      </p:sp>
      <p:pic>
        <p:nvPicPr>
          <p:cNvPr id="37" name="Image 9" descr="preencoded.png"/>
          <p:cNvPicPr>
            <a:picLocks noChangeAspect="1"/>
          </p:cNvPicPr>
          <p:nvPr/>
        </p:nvPicPr>
        <p:blipFill>
          <a:blip r:embed="rId5"/>
          <a:stretch>
            <a:fillRect/>
          </a:stretch>
        </p:blipFill>
        <p:spPr>
          <a:xfrm>
            <a:off x="4937760" y="3108960"/>
            <a:ext cx="146304" cy="146304"/>
          </a:xfrm>
          <a:prstGeom prst="rect">
            <a:avLst/>
          </a:prstGeom>
        </p:spPr>
      </p:pic>
      <p:sp>
        <p:nvSpPr>
          <p:cNvPr id="38" name="Text 26"/>
          <p:cNvSpPr/>
          <p:nvPr/>
        </p:nvSpPr>
        <p:spPr>
          <a:xfrm>
            <a:off x="5166360" y="3081528"/>
            <a:ext cx="1463040" cy="18288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Communauté d'experts</a:t>
            </a:r>
            <a:endParaRPr lang="en-US" sz="900" dirty="0"/>
          </a:p>
        </p:txBody>
      </p:sp>
      <p:sp>
        <p:nvSpPr>
          <p:cNvPr id="39" name="Text 27"/>
          <p:cNvSpPr/>
          <p:nvPr/>
        </p:nvSpPr>
        <p:spPr>
          <a:xfrm>
            <a:off x="6583680" y="3081528"/>
            <a:ext cx="2011680" cy="182880"/>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Réseau de consultants KINN certifiés</a:t>
            </a:r>
            <a:endParaRPr lang="en-US" sz="800" dirty="0"/>
          </a:p>
        </p:txBody>
      </p:sp>
      <p:sp>
        <p:nvSpPr>
          <p:cNvPr id="40" name="Shape 28"/>
          <p:cNvSpPr/>
          <p:nvPr/>
        </p:nvSpPr>
        <p:spPr>
          <a:xfrm>
            <a:off x="365760" y="3749040"/>
            <a:ext cx="8412480" cy="914400"/>
          </a:xfrm>
          <a:prstGeom prst="rect">
            <a:avLst/>
          </a:prstGeom>
          <a:solidFill>
            <a:srgbClr val="16A34A"/>
          </a:solidFill>
          <a:ln/>
        </p:spPr>
      </p:sp>
      <p:sp>
        <p:nvSpPr>
          <p:cNvPr id="41" name="Text 29"/>
          <p:cNvSpPr/>
          <p:nvPr/>
        </p:nvSpPr>
        <p:spPr>
          <a:xfrm>
            <a:off x="548640" y="3794760"/>
            <a:ext cx="914400" cy="274320"/>
          </a:xfrm>
          <a:prstGeom prst="rect">
            <a:avLst/>
          </a:prstGeom>
          <a:noFill/>
          <a:ln/>
        </p:spPr>
        <p:txBody>
          <a:bodyPr wrap="square" lIns="0" tIns="0" rIns="0" bIns="0" rtlCol="0" anchor="ctr"/>
          <a:lstStyle/>
          <a:p>
            <a:pPr marL="0" indent="0">
              <a:buNone/>
            </a:pPr>
            <a:r>
              <a:rPr lang="en-US" sz="1000" b="1" dirty="0">
                <a:solidFill>
                  <a:srgbClr val="FFFFFF"/>
                </a:solidFill>
                <a:latin typeface="Poppins" pitchFamily="34" charset="0"/>
                <a:ea typeface="Poppins" pitchFamily="34" charset="-122"/>
                <a:cs typeface="Poppins" pitchFamily="34" charset="-120"/>
              </a:rPr>
              <a:t>Résultat</a:t>
            </a:r>
            <a:endParaRPr lang="en-US" sz="1000" dirty="0"/>
          </a:p>
        </p:txBody>
      </p:sp>
      <p:sp>
        <p:nvSpPr>
          <p:cNvPr id="42" name="Text 30"/>
          <p:cNvSpPr/>
          <p:nvPr/>
        </p:nvSpPr>
        <p:spPr>
          <a:xfrm>
            <a:off x="754380" y="4023360"/>
            <a:ext cx="1737360" cy="274320"/>
          </a:xfrm>
          <a:prstGeom prst="rect">
            <a:avLst/>
          </a:prstGeom>
          <a:noFill/>
          <a:ln/>
        </p:spPr>
        <p:txBody>
          <a:bodyPr wrap="square" lIns="0" tIns="0" rIns="0" bIns="0" rtlCol="0" anchor="ctr"/>
          <a:lstStyle/>
          <a:p>
            <a:pPr marL="0" indent="0" algn="ctr">
              <a:buNone/>
            </a:pPr>
            <a:r>
              <a:rPr lang="en-US" sz="1800" b="1" dirty="0">
                <a:solidFill>
                  <a:srgbClr val="FFFFFF"/>
                </a:solidFill>
                <a:latin typeface="Poppins" pitchFamily="34" charset="0"/>
                <a:ea typeface="Poppins" pitchFamily="34" charset="-122"/>
                <a:cs typeface="Poppins" pitchFamily="34" charset="-120"/>
              </a:rPr>
              <a:t>3x</a:t>
            </a:r>
            <a:endParaRPr lang="en-US" sz="1800" dirty="0"/>
          </a:p>
        </p:txBody>
      </p:sp>
      <p:sp>
        <p:nvSpPr>
          <p:cNvPr id="43" name="Text 31"/>
          <p:cNvSpPr/>
          <p:nvPr/>
        </p:nvSpPr>
        <p:spPr>
          <a:xfrm>
            <a:off x="754380" y="4297680"/>
            <a:ext cx="1737360" cy="228600"/>
          </a:xfrm>
          <a:prstGeom prst="rect">
            <a:avLst/>
          </a:prstGeom>
          <a:noFill/>
          <a:ln/>
        </p:spPr>
        <p:txBody>
          <a:bodyPr wrap="square" lIns="0" tIns="0" rIns="0" bIns="0" rtlCol="0" anchor="ctr"/>
          <a:lstStyle/>
          <a:p>
            <a:pPr marL="0" indent="0" algn="ctr">
              <a:buNone/>
            </a:pPr>
            <a:r>
              <a:rPr lang="en-US" sz="850" dirty="0">
                <a:solidFill>
                  <a:srgbClr val="D6EBFF"/>
                </a:solidFill>
                <a:latin typeface="Poppins" pitchFamily="34" charset="0"/>
                <a:ea typeface="Poppins" pitchFamily="34" charset="-122"/>
                <a:cs typeface="Poppins" pitchFamily="34" charset="-120"/>
              </a:rPr>
              <a:t>plus de clients</a:t>
            </a:r>
            <a:endParaRPr lang="en-US" sz="850" dirty="0"/>
          </a:p>
        </p:txBody>
      </p:sp>
      <p:sp>
        <p:nvSpPr>
          <p:cNvPr id="44" name="Text 32"/>
          <p:cNvSpPr/>
          <p:nvPr/>
        </p:nvSpPr>
        <p:spPr>
          <a:xfrm>
            <a:off x="2720340" y="4023360"/>
            <a:ext cx="1737360" cy="274320"/>
          </a:xfrm>
          <a:prstGeom prst="rect">
            <a:avLst/>
          </a:prstGeom>
          <a:noFill/>
          <a:ln/>
        </p:spPr>
        <p:txBody>
          <a:bodyPr wrap="square" lIns="0" tIns="0" rIns="0" bIns="0" rtlCol="0" anchor="ctr"/>
          <a:lstStyle/>
          <a:p>
            <a:pPr marL="0" indent="0" algn="ctr">
              <a:buNone/>
            </a:pPr>
            <a:r>
              <a:rPr lang="en-US" sz="1800" b="1" dirty="0">
                <a:solidFill>
                  <a:srgbClr val="FFFFFF"/>
                </a:solidFill>
                <a:latin typeface="Poppins" pitchFamily="34" charset="0"/>
                <a:ea typeface="Poppins" pitchFamily="34" charset="-122"/>
                <a:cs typeface="Poppins" pitchFamily="34" charset="-120"/>
              </a:rPr>
              <a:t>-70%</a:t>
            </a:r>
            <a:endParaRPr lang="en-US" sz="1800" dirty="0"/>
          </a:p>
        </p:txBody>
      </p:sp>
      <p:sp>
        <p:nvSpPr>
          <p:cNvPr id="45" name="Text 33"/>
          <p:cNvSpPr/>
          <p:nvPr/>
        </p:nvSpPr>
        <p:spPr>
          <a:xfrm>
            <a:off x="2720340" y="4297680"/>
            <a:ext cx="1737360" cy="228600"/>
          </a:xfrm>
          <a:prstGeom prst="rect">
            <a:avLst/>
          </a:prstGeom>
          <a:noFill/>
          <a:ln/>
        </p:spPr>
        <p:txBody>
          <a:bodyPr wrap="square" lIns="0" tIns="0" rIns="0" bIns="0" rtlCol="0" anchor="ctr"/>
          <a:lstStyle/>
          <a:p>
            <a:pPr marL="0" indent="0" algn="ctr">
              <a:buNone/>
            </a:pPr>
            <a:r>
              <a:rPr lang="en-US" sz="850" dirty="0">
                <a:solidFill>
                  <a:srgbClr val="D6EBFF"/>
                </a:solidFill>
                <a:latin typeface="Poppins" pitchFamily="34" charset="0"/>
                <a:ea typeface="Poppins" pitchFamily="34" charset="-122"/>
                <a:cs typeface="Poppins" pitchFamily="34" charset="-120"/>
              </a:rPr>
              <a:t>temps de livraison</a:t>
            </a:r>
            <a:endParaRPr lang="en-US" sz="850" dirty="0"/>
          </a:p>
        </p:txBody>
      </p:sp>
      <p:sp>
        <p:nvSpPr>
          <p:cNvPr id="46" name="Text 34"/>
          <p:cNvSpPr/>
          <p:nvPr/>
        </p:nvSpPr>
        <p:spPr>
          <a:xfrm>
            <a:off x="4686300" y="4023360"/>
            <a:ext cx="1737360" cy="274320"/>
          </a:xfrm>
          <a:prstGeom prst="rect">
            <a:avLst/>
          </a:prstGeom>
          <a:noFill/>
          <a:ln/>
        </p:spPr>
        <p:txBody>
          <a:bodyPr wrap="square" lIns="0" tIns="0" rIns="0" bIns="0" rtlCol="0" anchor="ctr"/>
          <a:lstStyle/>
          <a:p>
            <a:pPr marL="0" indent="0" algn="ctr">
              <a:buNone/>
            </a:pPr>
            <a:r>
              <a:rPr lang="en-US" sz="1800" b="1" dirty="0">
                <a:solidFill>
                  <a:srgbClr val="FFFFFF"/>
                </a:solidFill>
                <a:latin typeface="Poppins" pitchFamily="34" charset="0"/>
                <a:ea typeface="Poppins" pitchFamily="34" charset="-122"/>
                <a:cs typeface="Poppins" pitchFamily="34" charset="-120"/>
              </a:rPr>
              <a:t>MRR</a:t>
            </a:r>
            <a:endParaRPr lang="en-US" sz="1800" dirty="0"/>
          </a:p>
        </p:txBody>
      </p:sp>
      <p:sp>
        <p:nvSpPr>
          <p:cNvPr id="47" name="Text 35"/>
          <p:cNvSpPr/>
          <p:nvPr/>
        </p:nvSpPr>
        <p:spPr>
          <a:xfrm>
            <a:off x="4686300" y="4297680"/>
            <a:ext cx="1737360" cy="228600"/>
          </a:xfrm>
          <a:prstGeom prst="rect">
            <a:avLst/>
          </a:prstGeom>
          <a:noFill/>
          <a:ln/>
        </p:spPr>
        <p:txBody>
          <a:bodyPr wrap="square" lIns="0" tIns="0" rIns="0" bIns="0" rtlCol="0" anchor="ctr"/>
          <a:lstStyle/>
          <a:p>
            <a:pPr marL="0" indent="0" algn="ctr">
              <a:buNone/>
            </a:pPr>
            <a:r>
              <a:rPr lang="en-US" sz="850" dirty="0">
                <a:solidFill>
                  <a:srgbClr val="D6EBFF"/>
                </a:solidFill>
                <a:latin typeface="Poppins" pitchFamily="34" charset="0"/>
                <a:ea typeface="Poppins" pitchFamily="34" charset="-122"/>
                <a:cs typeface="Poppins" pitchFamily="34" charset="-120"/>
              </a:rPr>
              <a:t>revenus récurrents</a:t>
            </a:r>
            <a:endParaRPr lang="en-US" sz="850" dirty="0"/>
          </a:p>
        </p:txBody>
      </p:sp>
      <p:sp>
        <p:nvSpPr>
          <p:cNvPr id="48" name="Text 36"/>
          <p:cNvSpPr/>
          <p:nvPr/>
        </p:nvSpPr>
        <p:spPr>
          <a:xfrm>
            <a:off x="6652260" y="4023360"/>
            <a:ext cx="1737360" cy="274320"/>
          </a:xfrm>
          <a:prstGeom prst="rect">
            <a:avLst/>
          </a:prstGeom>
          <a:noFill/>
          <a:ln/>
        </p:spPr>
        <p:txBody>
          <a:bodyPr wrap="square" lIns="0" tIns="0" rIns="0" bIns="0" rtlCol="0" anchor="ctr"/>
          <a:lstStyle/>
          <a:p>
            <a:pPr marL="0" indent="0" algn="ctr">
              <a:buNone/>
            </a:pPr>
            <a:r>
              <a:rPr lang="en-US" sz="1800" b="1" dirty="0">
                <a:solidFill>
                  <a:srgbClr val="FFFFFF"/>
                </a:solidFill>
                <a:latin typeface="Poppins" pitchFamily="34" charset="0"/>
                <a:ea typeface="Poppins" pitchFamily="34" charset="-122"/>
                <a:cs typeface="Poppins" pitchFamily="34" charset="-120"/>
              </a:rPr>
              <a:t>∞</a:t>
            </a:r>
            <a:endParaRPr lang="en-US" sz="1800" dirty="0"/>
          </a:p>
        </p:txBody>
      </p:sp>
      <p:sp>
        <p:nvSpPr>
          <p:cNvPr id="49" name="Text 37"/>
          <p:cNvSpPr/>
          <p:nvPr/>
        </p:nvSpPr>
        <p:spPr>
          <a:xfrm>
            <a:off x="6652260" y="4297680"/>
            <a:ext cx="1737360" cy="228600"/>
          </a:xfrm>
          <a:prstGeom prst="rect">
            <a:avLst/>
          </a:prstGeom>
          <a:noFill/>
          <a:ln/>
        </p:spPr>
        <p:txBody>
          <a:bodyPr wrap="square" lIns="0" tIns="0" rIns="0" bIns="0" rtlCol="0" anchor="ctr"/>
          <a:lstStyle/>
          <a:p>
            <a:pPr marL="0" indent="0" algn="ctr">
              <a:buNone/>
            </a:pPr>
            <a:r>
              <a:rPr lang="en-US" sz="850" dirty="0">
                <a:solidFill>
                  <a:srgbClr val="D6EBFF"/>
                </a:solidFill>
                <a:latin typeface="Poppins" pitchFamily="34" charset="0"/>
                <a:ea typeface="Poppins" pitchFamily="34" charset="-122"/>
                <a:cs typeface="Poppins" pitchFamily="34" charset="-120"/>
              </a:rPr>
              <a:t>templates réutilisables</a:t>
            </a:r>
            <a:endParaRPr lang="en-US" sz="850" dirty="0"/>
          </a:p>
        </p:txBody>
      </p:sp>
      <p:sp>
        <p:nvSpPr>
          <p:cNvPr id="50" name="Text 38"/>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marL="0" indent="0">
              <a:buNone/>
            </a:pPr>
            <a:r>
              <a:rPr lang="en-US" sz="2800" b="1" dirty="0">
                <a:solidFill>
                  <a:srgbClr val="0F172A"/>
                </a:solidFill>
                <a:latin typeface="Poppins" pitchFamily="34" charset="0"/>
                <a:ea typeface="Poppins" pitchFamily="34" charset="-122"/>
                <a:cs typeface="Poppins" pitchFamily="34" charset="-120"/>
              </a:rPr>
              <a:t>L'écosystème KINN</a:t>
            </a:r>
            <a:endParaRPr lang="en-US" sz="2800" dirty="0"/>
          </a:p>
        </p:txBody>
      </p:sp>
      <p:sp>
        <p:nvSpPr>
          <p:cNvPr id="3" name="Text 1"/>
          <p:cNvSpPr/>
          <p:nvPr/>
        </p:nvSpPr>
        <p:spPr>
          <a:xfrm>
            <a:off x="640080" y="640080"/>
            <a:ext cx="7315200" cy="228600"/>
          </a:xfrm>
          <a:prstGeom prst="rect">
            <a:avLst/>
          </a:prstGeom>
          <a:noFill/>
          <a:ln/>
        </p:spPr>
        <p:txBody>
          <a:bodyPr wrap="square" lIns="0" tIns="0" rIns="0" bIns="0" rtlCol="0" anchor="ctr"/>
          <a:lstStyle/>
          <a:p>
            <a:pPr marL="0" indent="0">
              <a:buNone/>
            </a:pPr>
            <a:r>
              <a:rPr lang="en-US" sz="1100" dirty="0">
                <a:solidFill>
                  <a:srgbClr val="6B7280"/>
                </a:solidFill>
                <a:latin typeface="Poppins" pitchFamily="34" charset="0"/>
                <a:ea typeface="Poppins" pitchFamily="34" charset="-122"/>
                <a:cs typeface="Poppins" pitchFamily="34" charset="-120"/>
              </a:rPr>
              <a:t>KINN connecte 3 mondes</a:t>
            </a:r>
            <a:endParaRPr lang="en-US" sz="1100" dirty="0"/>
          </a:p>
        </p:txBody>
      </p:sp>
      <p:sp>
        <p:nvSpPr>
          <p:cNvPr id="4" name="Shape 2"/>
          <p:cNvSpPr/>
          <p:nvPr/>
        </p:nvSpPr>
        <p:spPr>
          <a:xfrm>
            <a:off x="457200" y="1097280"/>
            <a:ext cx="2286000" cy="3474720"/>
          </a:xfrm>
          <a:prstGeom prst="rect">
            <a:avLst/>
          </a:prstGeom>
          <a:solidFill>
            <a:srgbClr val="F7F9FC"/>
          </a:solidFill>
          <a:ln/>
          <a:effectLst>
            <a:outerShdw blurRad="76200" dist="25400" dir="8100000" algn="bl" rotWithShape="0">
              <a:srgbClr val="000000">
                <a:alpha val="6000"/>
              </a:srgbClr>
            </a:outerShdw>
          </a:effectLst>
        </p:spPr>
      </p:sp>
      <p:sp>
        <p:nvSpPr>
          <p:cNvPr id="5" name="Shape 3"/>
          <p:cNvSpPr/>
          <p:nvPr/>
        </p:nvSpPr>
        <p:spPr>
          <a:xfrm>
            <a:off x="457200" y="1097280"/>
            <a:ext cx="2286000" cy="54864"/>
          </a:xfrm>
          <a:prstGeom prst="rect">
            <a:avLst/>
          </a:prstGeom>
          <a:solidFill>
            <a:srgbClr val="1677FF"/>
          </a:solidFill>
          <a:ln/>
        </p:spPr>
      </p:sp>
      <p:pic>
        <p:nvPicPr>
          <p:cNvPr id="6" name="Image 0" descr="preencoded.png"/>
          <p:cNvPicPr>
            <a:picLocks noChangeAspect="1"/>
          </p:cNvPicPr>
          <p:nvPr/>
        </p:nvPicPr>
        <p:blipFill>
          <a:blip r:embed="rId3"/>
          <a:stretch>
            <a:fillRect/>
          </a:stretch>
        </p:blipFill>
        <p:spPr>
          <a:xfrm>
            <a:off x="1325880" y="1280160"/>
            <a:ext cx="457200" cy="457200"/>
          </a:xfrm>
          <a:prstGeom prst="rect">
            <a:avLst/>
          </a:prstGeom>
        </p:spPr>
      </p:pic>
      <p:sp>
        <p:nvSpPr>
          <p:cNvPr id="7" name="Text 4"/>
          <p:cNvSpPr/>
          <p:nvPr/>
        </p:nvSpPr>
        <p:spPr>
          <a:xfrm>
            <a:off x="457200" y="1783080"/>
            <a:ext cx="2286000" cy="274320"/>
          </a:xfrm>
          <a:prstGeom prst="rect">
            <a:avLst/>
          </a:prstGeom>
          <a:noFill/>
          <a:ln/>
        </p:spPr>
        <p:txBody>
          <a:bodyPr wrap="square" lIns="0" tIns="0" rIns="0" bIns="0" rtlCol="0" anchor="ctr"/>
          <a:lstStyle/>
          <a:p>
            <a:pPr marL="0" indent="0" algn="ctr">
              <a:buNone/>
            </a:pPr>
            <a:r>
              <a:rPr lang="en-US" sz="1400" b="1" dirty="0">
                <a:solidFill>
                  <a:srgbClr val="1677FF"/>
                </a:solidFill>
                <a:latin typeface="Poppins" pitchFamily="34" charset="0"/>
                <a:ea typeface="Poppins" pitchFamily="34" charset="-122"/>
                <a:cs typeface="Poppins" pitchFamily="34" charset="-120"/>
              </a:rPr>
              <a:t>Entreprises</a:t>
            </a:r>
            <a:endParaRPr lang="en-US" sz="1400" dirty="0"/>
          </a:p>
        </p:txBody>
      </p:sp>
      <p:sp>
        <p:nvSpPr>
          <p:cNvPr id="8" name="Text 5"/>
          <p:cNvSpPr/>
          <p:nvPr/>
        </p:nvSpPr>
        <p:spPr>
          <a:xfrm>
            <a:off x="640080" y="2194560"/>
            <a:ext cx="1920240" cy="274320"/>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  Besoins automatisation</a:t>
            </a:r>
            <a:endParaRPr lang="en-US" sz="900" dirty="0"/>
          </a:p>
        </p:txBody>
      </p:sp>
      <p:sp>
        <p:nvSpPr>
          <p:cNvPr id="9" name="Text 6"/>
          <p:cNvSpPr/>
          <p:nvPr/>
        </p:nvSpPr>
        <p:spPr>
          <a:xfrm>
            <a:off x="640080" y="2514600"/>
            <a:ext cx="1920240" cy="274320"/>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  Processus métiers</a:t>
            </a:r>
            <a:endParaRPr lang="en-US" sz="900" dirty="0"/>
          </a:p>
        </p:txBody>
      </p:sp>
      <p:sp>
        <p:nvSpPr>
          <p:cNvPr id="10" name="Text 7"/>
          <p:cNvSpPr/>
          <p:nvPr/>
        </p:nvSpPr>
        <p:spPr>
          <a:xfrm>
            <a:off x="640080" y="2834640"/>
            <a:ext cx="1920240" cy="274320"/>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  Données à connecter</a:t>
            </a:r>
            <a:endParaRPr lang="en-US" sz="900" dirty="0"/>
          </a:p>
        </p:txBody>
      </p:sp>
      <p:sp>
        <p:nvSpPr>
          <p:cNvPr id="11" name="Text 8"/>
          <p:cNvSpPr/>
          <p:nvPr/>
        </p:nvSpPr>
        <p:spPr>
          <a:xfrm>
            <a:off x="640080" y="3154680"/>
            <a:ext cx="1920240" cy="274320"/>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  Projets à publier</a:t>
            </a:r>
            <a:endParaRPr lang="en-US" sz="900" dirty="0"/>
          </a:p>
        </p:txBody>
      </p:sp>
      <p:sp>
        <p:nvSpPr>
          <p:cNvPr id="12" name="Text 9"/>
          <p:cNvSpPr/>
          <p:nvPr/>
        </p:nvSpPr>
        <p:spPr>
          <a:xfrm>
            <a:off x="640080" y="3474720"/>
            <a:ext cx="1920240" cy="274320"/>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  Cahiers des charges</a:t>
            </a:r>
            <a:endParaRPr lang="en-US" sz="900" dirty="0"/>
          </a:p>
        </p:txBody>
      </p:sp>
      <p:sp>
        <p:nvSpPr>
          <p:cNvPr id="13" name="Shape 10"/>
          <p:cNvSpPr/>
          <p:nvPr/>
        </p:nvSpPr>
        <p:spPr>
          <a:xfrm>
            <a:off x="3246120" y="1097280"/>
            <a:ext cx="2651760" cy="3474720"/>
          </a:xfrm>
          <a:prstGeom prst="rect">
            <a:avLst/>
          </a:prstGeom>
          <a:solidFill>
            <a:srgbClr val="EBF5FF"/>
          </a:solidFill>
          <a:ln w="25400">
            <a:solidFill>
              <a:srgbClr val="1677FF"/>
            </a:solidFill>
            <a:prstDash val="solid"/>
          </a:ln>
        </p:spPr>
      </p:sp>
      <p:pic>
        <p:nvPicPr>
          <p:cNvPr id="14" name="Image 1" descr="preencoded.png"/>
          <p:cNvPicPr>
            <a:picLocks noChangeAspect="1"/>
          </p:cNvPicPr>
          <p:nvPr/>
        </p:nvPicPr>
        <p:blipFill>
          <a:blip r:embed="rId4"/>
          <a:stretch>
            <a:fillRect/>
          </a:stretch>
        </p:blipFill>
        <p:spPr>
          <a:xfrm>
            <a:off x="4160520" y="1234440"/>
            <a:ext cx="731520" cy="457200"/>
          </a:xfrm>
          <a:prstGeom prst="rect">
            <a:avLst/>
          </a:prstGeom>
        </p:spPr>
      </p:pic>
      <p:sp>
        <p:nvSpPr>
          <p:cNvPr id="15" name="Text 11"/>
          <p:cNvSpPr/>
          <p:nvPr/>
        </p:nvSpPr>
        <p:spPr>
          <a:xfrm>
            <a:off x="3246120" y="1737360"/>
            <a:ext cx="2651760" cy="274320"/>
          </a:xfrm>
          <a:prstGeom prst="rect">
            <a:avLst/>
          </a:prstGeom>
          <a:noFill/>
          <a:ln/>
        </p:spPr>
        <p:txBody>
          <a:bodyPr wrap="square" lIns="0" tIns="0" rIns="0" bIns="0" rtlCol="0" anchor="ctr"/>
          <a:lstStyle/>
          <a:p>
            <a:pPr marL="0" indent="0" algn="ctr">
              <a:buNone/>
            </a:pPr>
            <a:r>
              <a:rPr lang="en-US" sz="1400" b="1" dirty="0">
                <a:solidFill>
                  <a:srgbClr val="1677FF"/>
                </a:solidFill>
                <a:latin typeface="Poppins" pitchFamily="34" charset="0"/>
                <a:ea typeface="Poppins" pitchFamily="34" charset="-122"/>
                <a:cs typeface="Poppins" pitchFamily="34" charset="-120"/>
              </a:rPr>
              <a:t>Plateforme KINN</a:t>
            </a:r>
            <a:endParaRPr lang="en-US" sz="1400" dirty="0"/>
          </a:p>
        </p:txBody>
      </p:sp>
      <p:pic>
        <p:nvPicPr>
          <p:cNvPr id="16" name="Image 2" descr="preencoded.png"/>
          <p:cNvPicPr>
            <a:picLocks noChangeAspect="1"/>
          </p:cNvPicPr>
          <p:nvPr/>
        </p:nvPicPr>
        <p:blipFill>
          <a:blip r:embed="rId5"/>
          <a:stretch>
            <a:fillRect/>
          </a:stretch>
        </p:blipFill>
        <p:spPr>
          <a:xfrm>
            <a:off x="3474720" y="2194560"/>
            <a:ext cx="182880" cy="182880"/>
          </a:xfrm>
          <a:prstGeom prst="rect">
            <a:avLst/>
          </a:prstGeom>
        </p:spPr>
      </p:pic>
      <p:sp>
        <p:nvSpPr>
          <p:cNvPr id="17" name="Text 12"/>
          <p:cNvSpPr/>
          <p:nvPr/>
        </p:nvSpPr>
        <p:spPr>
          <a:xfrm>
            <a:off x="3749040" y="2176272"/>
            <a:ext cx="1920240" cy="22860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Low-code + IA</a:t>
            </a:r>
            <a:endParaRPr lang="en-US" sz="900" dirty="0"/>
          </a:p>
        </p:txBody>
      </p:sp>
      <p:pic>
        <p:nvPicPr>
          <p:cNvPr id="18" name="Image 3" descr="preencoded.png"/>
          <p:cNvPicPr>
            <a:picLocks noChangeAspect="1"/>
          </p:cNvPicPr>
          <p:nvPr/>
        </p:nvPicPr>
        <p:blipFill>
          <a:blip r:embed="rId6"/>
          <a:stretch>
            <a:fillRect/>
          </a:stretch>
        </p:blipFill>
        <p:spPr>
          <a:xfrm>
            <a:off x="3474720" y="2514600"/>
            <a:ext cx="182880" cy="182880"/>
          </a:xfrm>
          <a:prstGeom prst="rect">
            <a:avLst/>
          </a:prstGeom>
        </p:spPr>
      </p:pic>
      <p:sp>
        <p:nvSpPr>
          <p:cNvPr id="19" name="Text 13"/>
          <p:cNvSpPr/>
          <p:nvPr/>
        </p:nvSpPr>
        <p:spPr>
          <a:xfrm>
            <a:off x="3749040" y="2496312"/>
            <a:ext cx="1920240" cy="22860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Workflows visuels</a:t>
            </a:r>
            <a:endParaRPr lang="en-US" sz="900" dirty="0"/>
          </a:p>
        </p:txBody>
      </p:sp>
      <p:pic>
        <p:nvPicPr>
          <p:cNvPr id="20" name="Image 4" descr="preencoded.png"/>
          <p:cNvPicPr>
            <a:picLocks noChangeAspect="1"/>
          </p:cNvPicPr>
          <p:nvPr/>
        </p:nvPicPr>
        <p:blipFill>
          <a:blip r:embed="rId7"/>
          <a:stretch>
            <a:fillRect/>
          </a:stretch>
        </p:blipFill>
        <p:spPr>
          <a:xfrm>
            <a:off x="3474720" y="2834640"/>
            <a:ext cx="182880" cy="182880"/>
          </a:xfrm>
          <a:prstGeom prst="rect">
            <a:avLst/>
          </a:prstGeom>
        </p:spPr>
      </p:pic>
      <p:sp>
        <p:nvSpPr>
          <p:cNvPr id="21" name="Text 14"/>
          <p:cNvSpPr/>
          <p:nvPr/>
        </p:nvSpPr>
        <p:spPr>
          <a:xfrm>
            <a:off x="3749040" y="2816352"/>
            <a:ext cx="1920240" cy="22860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Connecteurs API</a:t>
            </a:r>
            <a:endParaRPr lang="en-US" sz="900" dirty="0"/>
          </a:p>
        </p:txBody>
      </p:sp>
      <p:pic>
        <p:nvPicPr>
          <p:cNvPr id="22" name="Image 5" descr="preencoded.png"/>
          <p:cNvPicPr>
            <a:picLocks noChangeAspect="1"/>
          </p:cNvPicPr>
          <p:nvPr/>
        </p:nvPicPr>
        <p:blipFill>
          <a:blip r:embed="rId8"/>
          <a:stretch>
            <a:fillRect/>
          </a:stretch>
        </p:blipFill>
        <p:spPr>
          <a:xfrm>
            <a:off x="3474720" y="3154680"/>
            <a:ext cx="182880" cy="182880"/>
          </a:xfrm>
          <a:prstGeom prst="rect">
            <a:avLst/>
          </a:prstGeom>
        </p:spPr>
      </p:pic>
      <p:sp>
        <p:nvSpPr>
          <p:cNvPr id="23" name="Text 15"/>
          <p:cNvSpPr/>
          <p:nvPr/>
        </p:nvSpPr>
        <p:spPr>
          <a:xfrm>
            <a:off x="3749040" y="3136392"/>
            <a:ext cx="1920240" cy="22860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Form builder</a:t>
            </a:r>
            <a:endParaRPr lang="en-US" sz="900" dirty="0"/>
          </a:p>
        </p:txBody>
      </p:sp>
      <p:pic>
        <p:nvPicPr>
          <p:cNvPr id="24" name="Image 6" descr="preencoded.png"/>
          <p:cNvPicPr>
            <a:picLocks noChangeAspect="1"/>
          </p:cNvPicPr>
          <p:nvPr/>
        </p:nvPicPr>
        <p:blipFill>
          <a:blip r:embed="rId9"/>
          <a:stretch>
            <a:fillRect/>
          </a:stretch>
        </p:blipFill>
        <p:spPr>
          <a:xfrm>
            <a:off x="3474720" y="3474720"/>
            <a:ext cx="182880" cy="182880"/>
          </a:xfrm>
          <a:prstGeom prst="rect">
            <a:avLst/>
          </a:prstGeom>
        </p:spPr>
      </p:pic>
      <p:sp>
        <p:nvSpPr>
          <p:cNvPr id="25" name="Text 16"/>
          <p:cNvSpPr/>
          <p:nvPr/>
        </p:nvSpPr>
        <p:spPr>
          <a:xfrm>
            <a:off x="3749040" y="3456432"/>
            <a:ext cx="1920240" cy="228600"/>
          </a:xfrm>
          <a:prstGeom prst="rect">
            <a:avLst/>
          </a:prstGeom>
          <a:noFill/>
          <a:ln/>
        </p:spPr>
        <p:txBody>
          <a:bodyPr wrap="square" lIns="0" tIns="0" rIns="0" bIns="0" rtlCol="0" anchor="ctr"/>
          <a:lstStyle/>
          <a:p>
            <a:pPr marL="0" indent="0">
              <a:buNone/>
            </a:pPr>
            <a:r>
              <a:rPr lang="en-US" sz="900" b="1" dirty="0">
                <a:solidFill>
                  <a:srgbClr val="0F172A"/>
                </a:solidFill>
                <a:latin typeface="Poppins" pitchFamily="34" charset="0"/>
                <a:ea typeface="Poppins" pitchFamily="34" charset="-122"/>
                <a:cs typeface="Poppins" pitchFamily="34" charset="-120"/>
              </a:rPr>
              <a:t>Marketplace</a:t>
            </a:r>
            <a:endParaRPr lang="en-US" sz="900" dirty="0"/>
          </a:p>
        </p:txBody>
      </p:sp>
      <p:sp>
        <p:nvSpPr>
          <p:cNvPr id="26" name="Shape 17"/>
          <p:cNvSpPr/>
          <p:nvPr/>
        </p:nvSpPr>
        <p:spPr>
          <a:xfrm>
            <a:off x="6400800" y="1097280"/>
            <a:ext cx="2286000" cy="3474720"/>
          </a:xfrm>
          <a:prstGeom prst="rect">
            <a:avLst/>
          </a:prstGeom>
          <a:solidFill>
            <a:srgbClr val="F7F9FC"/>
          </a:solidFill>
          <a:ln/>
          <a:effectLst>
            <a:outerShdw blurRad="76200" dist="25400" dir="8100000" algn="bl" rotWithShape="0">
              <a:srgbClr val="000000">
                <a:alpha val="6000"/>
              </a:srgbClr>
            </a:outerShdw>
          </a:effectLst>
        </p:spPr>
      </p:sp>
      <p:sp>
        <p:nvSpPr>
          <p:cNvPr id="27" name="Shape 18"/>
          <p:cNvSpPr/>
          <p:nvPr/>
        </p:nvSpPr>
        <p:spPr>
          <a:xfrm>
            <a:off x="6400800" y="1097280"/>
            <a:ext cx="2286000" cy="54864"/>
          </a:xfrm>
          <a:prstGeom prst="rect">
            <a:avLst/>
          </a:prstGeom>
          <a:solidFill>
            <a:srgbClr val="16A34A"/>
          </a:solidFill>
          <a:ln/>
        </p:spPr>
      </p:sp>
      <p:pic>
        <p:nvPicPr>
          <p:cNvPr id="28" name="Image 7" descr="preencoded.png"/>
          <p:cNvPicPr>
            <a:picLocks noChangeAspect="1"/>
          </p:cNvPicPr>
          <p:nvPr/>
        </p:nvPicPr>
        <p:blipFill>
          <a:blip r:embed="rId10"/>
          <a:stretch>
            <a:fillRect/>
          </a:stretch>
        </p:blipFill>
        <p:spPr>
          <a:xfrm>
            <a:off x="7269480" y="1280160"/>
            <a:ext cx="457200" cy="457200"/>
          </a:xfrm>
          <a:prstGeom prst="rect">
            <a:avLst/>
          </a:prstGeom>
        </p:spPr>
      </p:pic>
      <p:sp>
        <p:nvSpPr>
          <p:cNvPr id="29" name="Text 19"/>
          <p:cNvSpPr/>
          <p:nvPr/>
        </p:nvSpPr>
        <p:spPr>
          <a:xfrm>
            <a:off x="6400800" y="1783080"/>
            <a:ext cx="2286000" cy="274320"/>
          </a:xfrm>
          <a:prstGeom prst="rect">
            <a:avLst/>
          </a:prstGeom>
          <a:noFill/>
          <a:ln/>
        </p:spPr>
        <p:txBody>
          <a:bodyPr wrap="square" lIns="0" tIns="0" rIns="0" bIns="0" rtlCol="0" anchor="ctr"/>
          <a:lstStyle/>
          <a:p>
            <a:pPr marL="0" indent="0" algn="ctr">
              <a:buNone/>
            </a:pPr>
            <a:r>
              <a:rPr lang="en-US" sz="1400" b="1" dirty="0">
                <a:solidFill>
                  <a:srgbClr val="16A34A"/>
                </a:solidFill>
                <a:latin typeface="Poppins" pitchFamily="34" charset="0"/>
                <a:ea typeface="Poppins" pitchFamily="34" charset="-122"/>
                <a:cs typeface="Poppins" pitchFamily="34" charset="-120"/>
              </a:rPr>
              <a:t>Experts</a:t>
            </a:r>
            <a:endParaRPr lang="en-US" sz="1400" dirty="0"/>
          </a:p>
        </p:txBody>
      </p:sp>
      <p:sp>
        <p:nvSpPr>
          <p:cNvPr id="30" name="Text 20"/>
          <p:cNvSpPr/>
          <p:nvPr/>
        </p:nvSpPr>
        <p:spPr>
          <a:xfrm>
            <a:off x="6583680" y="2194560"/>
            <a:ext cx="1920240" cy="274320"/>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  Consultants certifiés</a:t>
            </a:r>
            <a:endParaRPr lang="en-US" sz="900" dirty="0"/>
          </a:p>
        </p:txBody>
      </p:sp>
      <p:sp>
        <p:nvSpPr>
          <p:cNvPr id="31" name="Text 21"/>
          <p:cNvSpPr/>
          <p:nvPr/>
        </p:nvSpPr>
        <p:spPr>
          <a:xfrm>
            <a:off x="6583680" y="2514600"/>
            <a:ext cx="1920240" cy="274320"/>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  Intégrateurs</a:t>
            </a:r>
            <a:endParaRPr lang="en-US" sz="900" dirty="0"/>
          </a:p>
        </p:txBody>
      </p:sp>
      <p:sp>
        <p:nvSpPr>
          <p:cNvPr id="32" name="Text 22"/>
          <p:cNvSpPr/>
          <p:nvPr/>
        </p:nvSpPr>
        <p:spPr>
          <a:xfrm>
            <a:off x="6583680" y="2834640"/>
            <a:ext cx="1920240" cy="274320"/>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  Experts IT</a:t>
            </a:r>
            <a:endParaRPr lang="en-US" sz="900" dirty="0"/>
          </a:p>
        </p:txBody>
      </p:sp>
      <p:sp>
        <p:nvSpPr>
          <p:cNvPr id="33" name="Text 23"/>
          <p:cNvSpPr/>
          <p:nvPr/>
        </p:nvSpPr>
        <p:spPr>
          <a:xfrm>
            <a:off x="6583680" y="3154680"/>
            <a:ext cx="1920240" cy="274320"/>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  Développeurs no-code</a:t>
            </a:r>
            <a:endParaRPr lang="en-US" sz="900" dirty="0"/>
          </a:p>
        </p:txBody>
      </p:sp>
      <p:sp>
        <p:nvSpPr>
          <p:cNvPr id="34" name="Text 24"/>
          <p:cNvSpPr/>
          <p:nvPr/>
        </p:nvSpPr>
        <p:spPr>
          <a:xfrm>
            <a:off x="6583680" y="3474720"/>
            <a:ext cx="1920240" cy="274320"/>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  Partenaires spécialisés</a:t>
            </a:r>
            <a:endParaRPr lang="en-US" sz="900" dirty="0"/>
          </a:p>
        </p:txBody>
      </p:sp>
      <p:sp>
        <p:nvSpPr>
          <p:cNvPr id="35" name="Text 25"/>
          <p:cNvSpPr/>
          <p:nvPr/>
        </p:nvSpPr>
        <p:spPr>
          <a:xfrm>
            <a:off x="2743200" y="2560320"/>
            <a:ext cx="457200" cy="457200"/>
          </a:xfrm>
          <a:prstGeom prst="rect">
            <a:avLst/>
          </a:prstGeom>
          <a:noFill/>
          <a:ln/>
        </p:spPr>
        <p:txBody>
          <a:bodyPr wrap="square" lIns="0" tIns="0" rIns="0" bIns="0" rtlCol="0" anchor="ctr"/>
          <a:lstStyle/>
          <a:p>
            <a:pPr marL="0" indent="0" algn="ctr">
              <a:buNone/>
            </a:pPr>
            <a:r>
              <a:rPr lang="en-US" sz="2200" b="1" dirty="0">
                <a:solidFill>
                  <a:srgbClr val="1677FF"/>
                </a:solidFill>
                <a:latin typeface="Poppins" pitchFamily="34" charset="0"/>
                <a:ea typeface="Poppins" pitchFamily="34" charset="-122"/>
                <a:cs typeface="Poppins" pitchFamily="34" charset="-120"/>
              </a:rPr>
              <a:t>→</a:t>
            </a:r>
            <a:endParaRPr lang="en-US" sz="2200" dirty="0"/>
          </a:p>
        </p:txBody>
      </p:sp>
      <p:sp>
        <p:nvSpPr>
          <p:cNvPr id="36" name="Text 26"/>
          <p:cNvSpPr/>
          <p:nvPr/>
        </p:nvSpPr>
        <p:spPr>
          <a:xfrm>
            <a:off x="5897880" y="2560320"/>
            <a:ext cx="457200" cy="457200"/>
          </a:xfrm>
          <a:prstGeom prst="rect">
            <a:avLst/>
          </a:prstGeom>
          <a:noFill/>
          <a:ln/>
        </p:spPr>
        <p:txBody>
          <a:bodyPr wrap="square" lIns="0" tIns="0" rIns="0" bIns="0" rtlCol="0" anchor="ctr"/>
          <a:lstStyle/>
          <a:p>
            <a:pPr marL="0" indent="0" algn="ctr">
              <a:buNone/>
            </a:pPr>
            <a:r>
              <a:rPr lang="en-US" sz="2200" b="1" dirty="0">
                <a:solidFill>
                  <a:srgbClr val="16A34A"/>
                </a:solidFill>
                <a:latin typeface="Poppins" pitchFamily="34" charset="0"/>
                <a:ea typeface="Poppins" pitchFamily="34" charset="-122"/>
                <a:cs typeface="Poppins" pitchFamily="34" charset="-120"/>
              </a:rPr>
              <a:t>←</a:t>
            </a:r>
            <a:endParaRPr lang="en-US" sz="2200" dirty="0"/>
          </a:p>
        </p:txBody>
      </p:sp>
      <p:sp>
        <p:nvSpPr>
          <p:cNvPr id="37" name="Text 27"/>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marL="0" indent="0">
              <a:buNone/>
            </a:pPr>
            <a:r>
              <a:rPr lang="en-US" sz="2800" b="1" dirty="0">
                <a:solidFill>
                  <a:srgbClr val="0F172A"/>
                </a:solidFill>
                <a:latin typeface="Poppins" pitchFamily="34" charset="0"/>
                <a:ea typeface="Poppins" pitchFamily="34" charset="-122"/>
                <a:cs typeface="Poppins" pitchFamily="34" charset="-120"/>
              </a:rPr>
              <a:t>Cas d'usage concrets</a:t>
            </a:r>
            <a:endParaRPr lang="en-US" sz="2800" dirty="0"/>
          </a:p>
        </p:txBody>
      </p:sp>
      <p:sp>
        <p:nvSpPr>
          <p:cNvPr id="3" name="Text 1"/>
          <p:cNvSpPr/>
          <p:nvPr/>
        </p:nvSpPr>
        <p:spPr>
          <a:xfrm>
            <a:off x="640080" y="640080"/>
            <a:ext cx="7315200" cy="228600"/>
          </a:xfrm>
          <a:prstGeom prst="rect">
            <a:avLst/>
          </a:prstGeom>
          <a:noFill/>
          <a:ln/>
        </p:spPr>
        <p:txBody>
          <a:bodyPr wrap="square" lIns="0" tIns="0" rIns="0" bIns="0" rtlCol="0" anchor="ctr"/>
          <a:lstStyle/>
          <a:p>
            <a:pPr marL="0" indent="0">
              <a:buNone/>
            </a:pPr>
            <a:r>
              <a:rPr lang="en-US" sz="1100" dirty="0">
                <a:solidFill>
                  <a:srgbClr val="6B7280"/>
                </a:solidFill>
                <a:latin typeface="Poppins" pitchFamily="34" charset="0"/>
                <a:ea typeface="Poppins" pitchFamily="34" charset="-122"/>
                <a:cs typeface="Poppins" pitchFamily="34" charset="-120"/>
              </a:rPr>
              <a:t>Des exemples réels d'automatisation avec KINN</a:t>
            </a:r>
            <a:endParaRPr lang="en-US" sz="1100" dirty="0"/>
          </a:p>
        </p:txBody>
      </p:sp>
      <p:sp>
        <p:nvSpPr>
          <p:cNvPr id="4" name="Shape 2"/>
          <p:cNvSpPr/>
          <p:nvPr/>
        </p:nvSpPr>
        <p:spPr>
          <a:xfrm>
            <a:off x="457200" y="1005840"/>
            <a:ext cx="2560320" cy="3657600"/>
          </a:xfrm>
          <a:prstGeom prst="rect">
            <a:avLst/>
          </a:prstGeom>
          <a:solidFill>
            <a:srgbClr val="F7F9FC"/>
          </a:solidFill>
          <a:ln/>
          <a:effectLst>
            <a:outerShdw blurRad="76200" dist="25400" dir="8100000" algn="bl" rotWithShape="0">
              <a:srgbClr val="000000">
                <a:alpha val="6000"/>
              </a:srgbClr>
            </a:outerShdw>
          </a:effectLst>
        </p:spPr>
      </p:sp>
      <p:sp>
        <p:nvSpPr>
          <p:cNvPr id="5" name="Shape 3"/>
          <p:cNvSpPr/>
          <p:nvPr/>
        </p:nvSpPr>
        <p:spPr>
          <a:xfrm>
            <a:off x="457200" y="1005840"/>
            <a:ext cx="2560320" cy="54864"/>
          </a:xfrm>
          <a:prstGeom prst="rect">
            <a:avLst/>
          </a:prstGeom>
          <a:solidFill>
            <a:srgbClr val="1677FF"/>
          </a:solidFill>
          <a:ln/>
        </p:spPr>
      </p:sp>
      <p:sp>
        <p:nvSpPr>
          <p:cNvPr id="6" name="Shape 4"/>
          <p:cNvSpPr/>
          <p:nvPr/>
        </p:nvSpPr>
        <p:spPr>
          <a:xfrm>
            <a:off x="1371600" y="1143000"/>
            <a:ext cx="640080" cy="640080"/>
          </a:xfrm>
          <a:prstGeom prst="ellipse">
            <a:avLst/>
          </a:prstGeom>
          <a:solidFill>
            <a:srgbClr val="EBF5FF"/>
          </a:solidFill>
          <a:ln/>
        </p:spPr>
      </p:sp>
      <p:pic>
        <p:nvPicPr>
          <p:cNvPr id="7" name="Image 0" descr="preencoded.png"/>
          <p:cNvPicPr>
            <a:picLocks noChangeAspect="1"/>
          </p:cNvPicPr>
          <p:nvPr/>
        </p:nvPicPr>
        <p:blipFill>
          <a:blip r:embed="rId3"/>
          <a:stretch>
            <a:fillRect/>
          </a:stretch>
        </p:blipFill>
        <p:spPr>
          <a:xfrm>
            <a:off x="1508760" y="1280160"/>
            <a:ext cx="365760" cy="365760"/>
          </a:xfrm>
          <a:prstGeom prst="rect">
            <a:avLst/>
          </a:prstGeom>
        </p:spPr>
      </p:pic>
      <p:sp>
        <p:nvSpPr>
          <p:cNvPr id="8" name="Text 5"/>
          <p:cNvSpPr/>
          <p:nvPr/>
        </p:nvSpPr>
        <p:spPr>
          <a:xfrm>
            <a:off x="457200" y="1874520"/>
            <a:ext cx="2560320" cy="457200"/>
          </a:xfrm>
          <a:prstGeom prst="rect">
            <a:avLst/>
          </a:prstGeom>
          <a:noFill/>
          <a:ln/>
        </p:spPr>
        <p:txBody>
          <a:bodyPr wrap="square" lIns="0" tIns="0" rIns="0" bIns="0" rtlCol="0" anchor="ctr"/>
          <a:lstStyle/>
          <a:p>
            <a:pPr marL="0" indent="0" algn="ctr">
              <a:lnSpc>
                <a:spcPct val="120000"/>
              </a:lnSpc>
              <a:buNone/>
            </a:pPr>
            <a:r>
              <a:rPr lang="en-US" sz="1200" b="1" dirty="0">
                <a:solidFill>
                  <a:srgbClr val="1677FF"/>
                </a:solidFill>
                <a:latin typeface="Poppins" pitchFamily="34" charset="0"/>
                <a:ea typeface="Poppins" pitchFamily="34" charset="-122"/>
                <a:cs typeface="Poppins" pitchFamily="34" charset="-120"/>
              </a:rPr>
              <a:t>Automatisation</a:t>
            </a:r>
            <a:endParaRPr lang="en-US" sz="1200" dirty="0"/>
          </a:p>
          <a:p>
            <a:pPr marL="0" indent="0" algn="ctr">
              <a:lnSpc>
                <a:spcPct val="120000"/>
              </a:lnSpc>
              <a:buNone/>
            </a:pPr>
            <a:r>
              <a:rPr lang="en-US" sz="1200" b="1" dirty="0">
                <a:solidFill>
                  <a:srgbClr val="1677FF"/>
                </a:solidFill>
                <a:latin typeface="Poppins" pitchFamily="34" charset="0"/>
                <a:ea typeface="Poppins" pitchFamily="34" charset="-122"/>
                <a:cs typeface="Poppins" pitchFamily="34" charset="-120"/>
              </a:rPr>
              <a:t>commerciale</a:t>
            </a:r>
            <a:endParaRPr lang="en-US" sz="1200" dirty="0"/>
          </a:p>
        </p:txBody>
      </p:sp>
      <p:sp>
        <p:nvSpPr>
          <p:cNvPr id="9" name="Shape 6"/>
          <p:cNvSpPr/>
          <p:nvPr/>
        </p:nvSpPr>
        <p:spPr>
          <a:xfrm>
            <a:off x="640080" y="2423160"/>
            <a:ext cx="2194560" cy="256032"/>
          </a:xfrm>
          <a:prstGeom prst="rect">
            <a:avLst/>
          </a:prstGeom>
          <a:solidFill>
            <a:srgbClr val="FFFFFF"/>
          </a:solidFill>
          <a:ln w="6350">
            <a:solidFill>
              <a:srgbClr val="E5E7EB"/>
            </a:solidFill>
            <a:prstDash val="solid"/>
          </a:ln>
        </p:spPr>
      </p:sp>
      <p:sp>
        <p:nvSpPr>
          <p:cNvPr id="10" name="Text 7"/>
          <p:cNvSpPr/>
          <p:nvPr/>
        </p:nvSpPr>
        <p:spPr>
          <a:xfrm>
            <a:off x="685800" y="2423160"/>
            <a:ext cx="2103120" cy="256032"/>
          </a:xfrm>
          <a:prstGeom prst="rect">
            <a:avLst/>
          </a:prstGeom>
          <a:noFill/>
          <a:ln/>
        </p:spPr>
        <p:txBody>
          <a:bodyPr wrap="square" lIns="0" tIns="0" rIns="0" bIns="0" rtlCol="0" anchor="ctr"/>
          <a:lstStyle/>
          <a:p>
            <a:pPr marL="0" indent="0">
              <a:buNone/>
            </a:pPr>
            <a:r>
              <a:rPr lang="en-US" sz="800" dirty="0">
                <a:solidFill>
                  <a:srgbClr val="0F172A"/>
                </a:solidFill>
                <a:latin typeface="Poppins" pitchFamily="34" charset="0"/>
                <a:ea typeface="Poppins" pitchFamily="34" charset="-122"/>
                <a:cs typeface="Poppins" pitchFamily="34" charset="-120"/>
              </a:rPr>
              <a:t>1. Formulaire client</a:t>
            </a:r>
            <a:endParaRPr lang="en-US" sz="800" dirty="0"/>
          </a:p>
        </p:txBody>
      </p:sp>
      <p:sp>
        <p:nvSpPr>
          <p:cNvPr id="11" name="Text 8"/>
          <p:cNvSpPr/>
          <p:nvPr/>
        </p:nvSpPr>
        <p:spPr>
          <a:xfrm>
            <a:off x="1554480" y="2651760"/>
            <a:ext cx="365760" cy="137160"/>
          </a:xfrm>
          <a:prstGeom prst="rect">
            <a:avLst/>
          </a:prstGeom>
          <a:noFill/>
          <a:ln/>
        </p:spPr>
        <p:txBody>
          <a:bodyPr wrap="square" lIns="0" tIns="0" rIns="0" bIns="0" rtlCol="0" anchor="ctr"/>
          <a:lstStyle/>
          <a:p>
            <a:pPr marL="0" indent="0" algn="ctr">
              <a:buNone/>
            </a:pPr>
            <a:r>
              <a:rPr lang="en-US" sz="800" dirty="0">
                <a:solidFill>
                  <a:srgbClr val="9CA3AF"/>
                </a:solidFill>
                <a:latin typeface="Poppins" pitchFamily="34" charset="0"/>
                <a:ea typeface="Poppins" pitchFamily="34" charset="-122"/>
                <a:cs typeface="Poppins" pitchFamily="34" charset="-120"/>
              </a:rPr>
              <a:t>↓</a:t>
            </a:r>
            <a:endParaRPr lang="en-US" sz="800" dirty="0"/>
          </a:p>
        </p:txBody>
      </p:sp>
      <p:sp>
        <p:nvSpPr>
          <p:cNvPr id="12" name="Shape 9"/>
          <p:cNvSpPr/>
          <p:nvPr/>
        </p:nvSpPr>
        <p:spPr>
          <a:xfrm>
            <a:off x="640080" y="2770632"/>
            <a:ext cx="2194560" cy="256032"/>
          </a:xfrm>
          <a:prstGeom prst="rect">
            <a:avLst/>
          </a:prstGeom>
          <a:solidFill>
            <a:srgbClr val="FFFFFF"/>
          </a:solidFill>
          <a:ln w="6350">
            <a:solidFill>
              <a:srgbClr val="E5E7EB"/>
            </a:solidFill>
            <a:prstDash val="solid"/>
          </a:ln>
        </p:spPr>
      </p:sp>
      <p:sp>
        <p:nvSpPr>
          <p:cNvPr id="13" name="Text 10"/>
          <p:cNvSpPr/>
          <p:nvPr/>
        </p:nvSpPr>
        <p:spPr>
          <a:xfrm>
            <a:off x="685800" y="2770632"/>
            <a:ext cx="2103120" cy="256032"/>
          </a:xfrm>
          <a:prstGeom prst="rect">
            <a:avLst/>
          </a:prstGeom>
          <a:noFill/>
          <a:ln/>
        </p:spPr>
        <p:txBody>
          <a:bodyPr wrap="square" lIns="0" tIns="0" rIns="0" bIns="0" rtlCol="0" anchor="ctr"/>
          <a:lstStyle/>
          <a:p>
            <a:pPr marL="0" indent="0">
              <a:buNone/>
            </a:pPr>
            <a:r>
              <a:rPr lang="en-US" sz="800" dirty="0">
                <a:solidFill>
                  <a:srgbClr val="0F172A"/>
                </a:solidFill>
                <a:latin typeface="Poppins" pitchFamily="34" charset="0"/>
                <a:ea typeface="Poppins" pitchFamily="34" charset="-122"/>
                <a:cs typeface="Poppins" pitchFamily="34" charset="-120"/>
              </a:rPr>
              <a:t>2. Analyse IA</a:t>
            </a:r>
            <a:endParaRPr lang="en-US" sz="800" dirty="0"/>
          </a:p>
        </p:txBody>
      </p:sp>
      <p:sp>
        <p:nvSpPr>
          <p:cNvPr id="14" name="Text 11"/>
          <p:cNvSpPr/>
          <p:nvPr/>
        </p:nvSpPr>
        <p:spPr>
          <a:xfrm>
            <a:off x="1554480" y="2999232"/>
            <a:ext cx="365760" cy="137160"/>
          </a:xfrm>
          <a:prstGeom prst="rect">
            <a:avLst/>
          </a:prstGeom>
          <a:noFill/>
          <a:ln/>
        </p:spPr>
        <p:txBody>
          <a:bodyPr wrap="square" lIns="0" tIns="0" rIns="0" bIns="0" rtlCol="0" anchor="ctr"/>
          <a:lstStyle/>
          <a:p>
            <a:pPr marL="0" indent="0" algn="ctr">
              <a:buNone/>
            </a:pPr>
            <a:r>
              <a:rPr lang="en-US" sz="800" dirty="0">
                <a:solidFill>
                  <a:srgbClr val="9CA3AF"/>
                </a:solidFill>
                <a:latin typeface="Poppins" pitchFamily="34" charset="0"/>
                <a:ea typeface="Poppins" pitchFamily="34" charset="-122"/>
                <a:cs typeface="Poppins" pitchFamily="34" charset="-120"/>
              </a:rPr>
              <a:t>↓</a:t>
            </a:r>
            <a:endParaRPr lang="en-US" sz="800" dirty="0"/>
          </a:p>
        </p:txBody>
      </p:sp>
      <p:sp>
        <p:nvSpPr>
          <p:cNvPr id="15" name="Shape 12"/>
          <p:cNvSpPr/>
          <p:nvPr/>
        </p:nvSpPr>
        <p:spPr>
          <a:xfrm>
            <a:off x="640080" y="3118104"/>
            <a:ext cx="2194560" cy="256032"/>
          </a:xfrm>
          <a:prstGeom prst="rect">
            <a:avLst/>
          </a:prstGeom>
          <a:solidFill>
            <a:srgbClr val="FFFFFF"/>
          </a:solidFill>
          <a:ln w="6350">
            <a:solidFill>
              <a:srgbClr val="E5E7EB"/>
            </a:solidFill>
            <a:prstDash val="solid"/>
          </a:ln>
        </p:spPr>
      </p:sp>
      <p:sp>
        <p:nvSpPr>
          <p:cNvPr id="16" name="Text 13"/>
          <p:cNvSpPr/>
          <p:nvPr/>
        </p:nvSpPr>
        <p:spPr>
          <a:xfrm>
            <a:off x="685800" y="3118104"/>
            <a:ext cx="2103120" cy="256032"/>
          </a:xfrm>
          <a:prstGeom prst="rect">
            <a:avLst/>
          </a:prstGeom>
          <a:noFill/>
          <a:ln/>
        </p:spPr>
        <p:txBody>
          <a:bodyPr wrap="square" lIns="0" tIns="0" rIns="0" bIns="0" rtlCol="0" anchor="ctr"/>
          <a:lstStyle/>
          <a:p>
            <a:pPr marL="0" indent="0">
              <a:buNone/>
            </a:pPr>
            <a:r>
              <a:rPr lang="en-US" sz="800" dirty="0">
                <a:solidFill>
                  <a:srgbClr val="0F172A"/>
                </a:solidFill>
                <a:latin typeface="Poppins" pitchFamily="34" charset="0"/>
                <a:ea typeface="Poppins" pitchFamily="34" charset="-122"/>
                <a:cs typeface="Poppins" pitchFamily="34" charset="-120"/>
              </a:rPr>
              <a:t>3. Création devis</a:t>
            </a:r>
            <a:endParaRPr lang="en-US" sz="800" dirty="0"/>
          </a:p>
        </p:txBody>
      </p:sp>
      <p:sp>
        <p:nvSpPr>
          <p:cNvPr id="17" name="Text 14"/>
          <p:cNvSpPr/>
          <p:nvPr/>
        </p:nvSpPr>
        <p:spPr>
          <a:xfrm>
            <a:off x="1554480" y="3346704"/>
            <a:ext cx="365760" cy="137160"/>
          </a:xfrm>
          <a:prstGeom prst="rect">
            <a:avLst/>
          </a:prstGeom>
          <a:noFill/>
          <a:ln/>
        </p:spPr>
        <p:txBody>
          <a:bodyPr wrap="square" lIns="0" tIns="0" rIns="0" bIns="0" rtlCol="0" anchor="ctr"/>
          <a:lstStyle/>
          <a:p>
            <a:pPr marL="0" indent="0" algn="ctr">
              <a:buNone/>
            </a:pPr>
            <a:r>
              <a:rPr lang="en-US" sz="800" dirty="0">
                <a:solidFill>
                  <a:srgbClr val="9CA3AF"/>
                </a:solidFill>
                <a:latin typeface="Poppins" pitchFamily="34" charset="0"/>
                <a:ea typeface="Poppins" pitchFamily="34" charset="-122"/>
                <a:cs typeface="Poppins" pitchFamily="34" charset="-120"/>
              </a:rPr>
              <a:t>↓</a:t>
            </a:r>
            <a:endParaRPr lang="en-US" sz="800" dirty="0"/>
          </a:p>
        </p:txBody>
      </p:sp>
      <p:sp>
        <p:nvSpPr>
          <p:cNvPr id="18" name="Shape 15"/>
          <p:cNvSpPr/>
          <p:nvPr/>
        </p:nvSpPr>
        <p:spPr>
          <a:xfrm>
            <a:off x="640080" y="3465576"/>
            <a:ext cx="2194560" cy="256032"/>
          </a:xfrm>
          <a:prstGeom prst="rect">
            <a:avLst/>
          </a:prstGeom>
          <a:solidFill>
            <a:srgbClr val="FFFFFF"/>
          </a:solidFill>
          <a:ln w="6350">
            <a:solidFill>
              <a:srgbClr val="E5E7EB"/>
            </a:solidFill>
            <a:prstDash val="solid"/>
          </a:ln>
        </p:spPr>
      </p:sp>
      <p:sp>
        <p:nvSpPr>
          <p:cNvPr id="19" name="Text 16"/>
          <p:cNvSpPr/>
          <p:nvPr/>
        </p:nvSpPr>
        <p:spPr>
          <a:xfrm>
            <a:off x="685800" y="3465576"/>
            <a:ext cx="2103120" cy="256032"/>
          </a:xfrm>
          <a:prstGeom prst="rect">
            <a:avLst/>
          </a:prstGeom>
          <a:noFill/>
          <a:ln/>
        </p:spPr>
        <p:txBody>
          <a:bodyPr wrap="square" lIns="0" tIns="0" rIns="0" bIns="0" rtlCol="0" anchor="ctr"/>
          <a:lstStyle/>
          <a:p>
            <a:pPr marL="0" indent="0">
              <a:buNone/>
            </a:pPr>
            <a:r>
              <a:rPr lang="en-US" sz="800" dirty="0">
                <a:solidFill>
                  <a:srgbClr val="0F172A"/>
                </a:solidFill>
                <a:latin typeface="Poppins" pitchFamily="34" charset="0"/>
                <a:ea typeface="Poppins" pitchFamily="34" charset="-122"/>
                <a:cs typeface="Poppins" pitchFamily="34" charset="-120"/>
              </a:rPr>
              <a:t>4. Envoi ERP</a:t>
            </a:r>
            <a:endParaRPr lang="en-US" sz="800" dirty="0"/>
          </a:p>
        </p:txBody>
      </p:sp>
      <p:sp>
        <p:nvSpPr>
          <p:cNvPr id="20" name="Text 17"/>
          <p:cNvSpPr/>
          <p:nvPr/>
        </p:nvSpPr>
        <p:spPr>
          <a:xfrm>
            <a:off x="1554480" y="3694176"/>
            <a:ext cx="365760" cy="137160"/>
          </a:xfrm>
          <a:prstGeom prst="rect">
            <a:avLst/>
          </a:prstGeom>
          <a:noFill/>
          <a:ln/>
        </p:spPr>
        <p:txBody>
          <a:bodyPr wrap="square" lIns="0" tIns="0" rIns="0" bIns="0" rtlCol="0" anchor="ctr"/>
          <a:lstStyle/>
          <a:p>
            <a:pPr marL="0" indent="0" algn="ctr">
              <a:buNone/>
            </a:pPr>
            <a:r>
              <a:rPr lang="en-US" sz="800" dirty="0">
                <a:solidFill>
                  <a:srgbClr val="9CA3AF"/>
                </a:solidFill>
                <a:latin typeface="Poppins" pitchFamily="34" charset="0"/>
                <a:ea typeface="Poppins" pitchFamily="34" charset="-122"/>
                <a:cs typeface="Poppins" pitchFamily="34" charset="-120"/>
              </a:rPr>
              <a:t>↓</a:t>
            </a:r>
            <a:endParaRPr lang="en-US" sz="800" dirty="0"/>
          </a:p>
        </p:txBody>
      </p:sp>
      <p:sp>
        <p:nvSpPr>
          <p:cNvPr id="21" name="Shape 18"/>
          <p:cNvSpPr/>
          <p:nvPr/>
        </p:nvSpPr>
        <p:spPr>
          <a:xfrm>
            <a:off x="640080" y="3813048"/>
            <a:ext cx="2194560" cy="256032"/>
          </a:xfrm>
          <a:prstGeom prst="rect">
            <a:avLst/>
          </a:prstGeom>
          <a:solidFill>
            <a:srgbClr val="FFFFFF"/>
          </a:solidFill>
          <a:ln w="6350">
            <a:solidFill>
              <a:srgbClr val="E5E7EB"/>
            </a:solidFill>
            <a:prstDash val="solid"/>
          </a:ln>
        </p:spPr>
      </p:sp>
      <p:sp>
        <p:nvSpPr>
          <p:cNvPr id="22" name="Text 19"/>
          <p:cNvSpPr/>
          <p:nvPr/>
        </p:nvSpPr>
        <p:spPr>
          <a:xfrm>
            <a:off x="685800" y="3813048"/>
            <a:ext cx="2103120" cy="256032"/>
          </a:xfrm>
          <a:prstGeom prst="rect">
            <a:avLst/>
          </a:prstGeom>
          <a:noFill/>
          <a:ln/>
        </p:spPr>
        <p:txBody>
          <a:bodyPr wrap="square" lIns="0" tIns="0" rIns="0" bIns="0" rtlCol="0" anchor="ctr"/>
          <a:lstStyle/>
          <a:p>
            <a:pPr marL="0" indent="0">
              <a:buNone/>
            </a:pPr>
            <a:r>
              <a:rPr lang="en-US" sz="800" dirty="0">
                <a:solidFill>
                  <a:srgbClr val="0F172A"/>
                </a:solidFill>
                <a:latin typeface="Poppins" pitchFamily="34" charset="0"/>
                <a:ea typeface="Poppins" pitchFamily="34" charset="-122"/>
                <a:cs typeface="Poppins" pitchFamily="34" charset="-120"/>
              </a:rPr>
              <a:t>5. Facture générée</a:t>
            </a:r>
            <a:endParaRPr lang="en-US" sz="800" dirty="0"/>
          </a:p>
        </p:txBody>
      </p:sp>
      <p:sp>
        <p:nvSpPr>
          <p:cNvPr id="23" name="Shape 20"/>
          <p:cNvSpPr/>
          <p:nvPr/>
        </p:nvSpPr>
        <p:spPr>
          <a:xfrm>
            <a:off x="731520" y="4251960"/>
            <a:ext cx="2011680" cy="292608"/>
          </a:xfrm>
          <a:prstGeom prst="rect">
            <a:avLst/>
          </a:prstGeom>
          <a:solidFill>
            <a:srgbClr val="1677FF"/>
          </a:solidFill>
          <a:ln/>
        </p:spPr>
      </p:sp>
      <p:sp>
        <p:nvSpPr>
          <p:cNvPr id="24" name="Text 21"/>
          <p:cNvSpPr/>
          <p:nvPr/>
        </p:nvSpPr>
        <p:spPr>
          <a:xfrm>
            <a:off x="731520" y="4251960"/>
            <a:ext cx="2011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Poppins" pitchFamily="34" charset="0"/>
                <a:ea typeface="Poppins" pitchFamily="34" charset="-122"/>
                <a:cs typeface="Poppins" pitchFamily="34" charset="-120"/>
              </a:rPr>
              <a:t>-70% temps devis</a:t>
            </a:r>
            <a:endParaRPr lang="en-US" sz="1000" dirty="0"/>
          </a:p>
        </p:txBody>
      </p:sp>
      <p:sp>
        <p:nvSpPr>
          <p:cNvPr id="25" name="Shape 22"/>
          <p:cNvSpPr/>
          <p:nvPr/>
        </p:nvSpPr>
        <p:spPr>
          <a:xfrm>
            <a:off x="3291840" y="1005840"/>
            <a:ext cx="2560320" cy="3657600"/>
          </a:xfrm>
          <a:prstGeom prst="rect">
            <a:avLst/>
          </a:prstGeom>
          <a:solidFill>
            <a:srgbClr val="F7F9FC"/>
          </a:solidFill>
          <a:ln/>
          <a:effectLst>
            <a:outerShdw blurRad="76200" dist="25400" dir="8100000" algn="bl" rotWithShape="0">
              <a:srgbClr val="000000">
                <a:alpha val="6000"/>
              </a:srgbClr>
            </a:outerShdw>
          </a:effectLst>
        </p:spPr>
      </p:sp>
      <p:sp>
        <p:nvSpPr>
          <p:cNvPr id="26" name="Shape 23"/>
          <p:cNvSpPr/>
          <p:nvPr/>
        </p:nvSpPr>
        <p:spPr>
          <a:xfrm>
            <a:off x="3291840" y="1005840"/>
            <a:ext cx="2560320" cy="54864"/>
          </a:xfrm>
          <a:prstGeom prst="rect">
            <a:avLst/>
          </a:prstGeom>
          <a:solidFill>
            <a:srgbClr val="0891B2"/>
          </a:solidFill>
          <a:ln/>
        </p:spPr>
      </p:sp>
      <p:sp>
        <p:nvSpPr>
          <p:cNvPr id="27" name="Shape 24"/>
          <p:cNvSpPr/>
          <p:nvPr/>
        </p:nvSpPr>
        <p:spPr>
          <a:xfrm>
            <a:off x="4206240" y="1143000"/>
            <a:ext cx="640080" cy="640080"/>
          </a:xfrm>
          <a:prstGeom prst="ellipse">
            <a:avLst/>
          </a:prstGeom>
          <a:solidFill>
            <a:srgbClr val="EBF5FF"/>
          </a:solidFill>
          <a:ln/>
        </p:spPr>
      </p:sp>
      <p:pic>
        <p:nvPicPr>
          <p:cNvPr id="28" name="Image 1" descr="preencoded.png"/>
          <p:cNvPicPr>
            <a:picLocks noChangeAspect="1"/>
          </p:cNvPicPr>
          <p:nvPr/>
        </p:nvPicPr>
        <p:blipFill>
          <a:blip r:embed="rId4"/>
          <a:stretch>
            <a:fillRect/>
          </a:stretch>
        </p:blipFill>
        <p:spPr>
          <a:xfrm>
            <a:off x="4343400" y="1280160"/>
            <a:ext cx="365760" cy="365760"/>
          </a:xfrm>
          <a:prstGeom prst="rect">
            <a:avLst/>
          </a:prstGeom>
        </p:spPr>
      </p:pic>
      <p:sp>
        <p:nvSpPr>
          <p:cNvPr id="29" name="Text 25"/>
          <p:cNvSpPr/>
          <p:nvPr/>
        </p:nvSpPr>
        <p:spPr>
          <a:xfrm>
            <a:off x="3291840" y="1874520"/>
            <a:ext cx="2560320" cy="457200"/>
          </a:xfrm>
          <a:prstGeom prst="rect">
            <a:avLst/>
          </a:prstGeom>
          <a:noFill/>
          <a:ln/>
        </p:spPr>
        <p:txBody>
          <a:bodyPr wrap="square" lIns="0" tIns="0" rIns="0" bIns="0" rtlCol="0" anchor="ctr"/>
          <a:lstStyle/>
          <a:p>
            <a:pPr marL="0" indent="0" algn="ctr">
              <a:lnSpc>
                <a:spcPct val="120000"/>
              </a:lnSpc>
              <a:buNone/>
            </a:pPr>
            <a:r>
              <a:rPr lang="en-US" sz="1200" b="1" dirty="0">
                <a:solidFill>
                  <a:srgbClr val="0891B2"/>
                </a:solidFill>
                <a:latin typeface="Poppins" pitchFamily="34" charset="0"/>
                <a:ea typeface="Poppins" pitchFamily="34" charset="-122"/>
                <a:cs typeface="Poppins" pitchFamily="34" charset="-120"/>
              </a:rPr>
              <a:t>Gestion des</a:t>
            </a:r>
            <a:endParaRPr lang="en-US" sz="1200" dirty="0"/>
          </a:p>
          <a:p>
            <a:pPr marL="0" indent="0" algn="ctr">
              <a:lnSpc>
                <a:spcPct val="120000"/>
              </a:lnSpc>
              <a:buNone/>
            </a:pPr>
            <a:r>
              <a:rPr lang="en-US" sz="1200" b="1" dirty="0">
                <a:solidFill>
                  <a:srgbClr val="0891B2"/>
                </a:solidFill>
                <a:latin typeface="Poppins" pitchFamily="34" charset="0"/>
                <a:ea typeface="Poppins" pitchFamily="34" charset="-122"/>
                <a:cs typeface="Poppins" pitchFamily="34" charset="-120"/>
              </a:rPr>
              <a:t>tickets support</a:t>
            </a:r>
            <a:endParaRPr lang="en-US" sz="1200" dirty="0"/>
          </a:p>
        </p:txBody>
      </p:sp>
      <p:sp>
        <p:nvSpPr>
          <p:cNvPr id="30" name="Shape 26"/>
          <p:cNvSpPr/>
          <p:nvPr/>
        </p:nvSpPr>
        <p:spPr>
          <a:xfrm>
            <a:off x="3474720" y="2423160"/>
            <a:ext cx="2194560" cy="256032"/>
          </a:xfrm>
          <a:prstGeom prst="rect">
            <a:avLst/>
          </a:prstGeom>
          <a:solidFill>
            <a:srgbClr val="FFFFFF"/>
          </a:solidFill>
          <a:ln w="6350">
            <a:solidFill>
              <a:srgbClr val="E5E7EB"/>
            </a:solidFill>
            <a:prstDash val="solid"/>
          </a:ln>
        </p:spPr>
      </p:sp>
      <p:sp>
        <p:nvSpPr>
          <p:cNvPr id="31" name="Text 27"/>
          <p:cNvSpPr/>
          <p:nvPr/>
        </p:nvSpPr>
        <p:spPr>
          <a:xfrm>
            <a:off x="3520440" y="2423160"/>
            <a:ext cx="2103120" cy="256032"/>
          </a:xfrm>
          <a:prstGeom prst="rect">
            <a:avLst/>
          </a:prstGeom>
          <a:noFill/>
          <a:ln/>
        </p:spPr>
        <p:txBody>
          <a:bodyPr wrap="square" lIns="0" tIns="0" rIns="0" bIns="0" rtlCol="0" anchor="ctr"/>
          <a:lstStyle/>
          <a:p>
            <a:pPr marL="0" indent="0">
              <a:buNone/>
            </a:pPr>
            <a:r>
              <a:rPr lang="en-US" sz="800" dirty="0">
                <a:solidFill>
                  <a:srgbClr val="0F172A"/>
                </a:solidFill>
                <a:latin typeface="Poppins" pitchFamily="34" charset="0"/>
                <a:ea typeface="Poppins" pitchFamily="34" charset="-122"/>
                <a:cs typeface="Poppins" pitchFamily="34" charset="-120"/>
              </a:rPr>
              <a:t>1. Réception email</a:t>
            </a:r>
            <a:endParaRPr lang="en-US" sz="800" dirty="0"/>
          </a:p>
        </p:txBody>
      </p:sp>
      <p:sp>
        <p:nvSpPr>
          <p:cNvPr id="32" name="Text 28"/>
          <p:cNvSpPr/>
          <p:nvPr/>
        </p:nvSpPr>
        <p:spPr>
          <a:xfrm>
            <a:off x="4389120" y="2651760"/>
            <a:ext cx="365760" cy="137160"/>
          </a:xfrm>
          <a:prstGeom prst="rect">
            <a:avLst/>
          </a:prstGeom>
          <a:noFill/>
          <a:ln/>
        </p:spPr>
        <p:txBody>
          <a:bodyPr wrap="square" lIns="0" tIns="0" rIns="0" bIns="0" rtlCol="0" anchor="ctr"/>
          <a:lstStyle/>
          <a:p>
            <a:pPr marL="0" indent="0" algn="ctr">
              <a:buNone/>
            </a:pPr>
            <a:r>
              <a:rPr lang="en-US" sz="800" dirty="0">
                <a:solidFill>
                  <a:srgbClr val="9CA3AF"/>
                </a:solidFill>
                <a:latin typeface="Poppins" pitchFamily="34" charset="0"/>
                <a:ea typeface="Poppins" pitchFamily="34" charset="-122"/>
                <a:cs typeface="Poppins" pitchFamily="34" charset="-120"/>
              </a:rPr>
              <a:t>↓</a:t>
            </a:r>
            <a:endParaRPr lang="en-US" sz="800" dirty="0"/>
          </a:p>
        </p:txBody>
      </p:sp>
      <p:sp>
        <p:nvSpPr>
          <p:cNvPr id="33" name="Shape 29"/>
          <p:cNvSpPr/>
          <p:nvPr/>
        </p:nvSpPr>
        <p:spPr>
          <a:xfrm>
            <a:off x="3474720" y="2770632"/>
            <a:ext cx="2194560" cy="256032"/>
          </a:xfrm>
          <a:prstGeom prst="rect">
            <a:avLst/>
          </a:prstGeom>
          <a:solidFill>
            <a:srgbClr val="FFFFFF"/>
          </a:solidFill>
          <a:ln w="6350">
            <a:solidFill>
              <a:srgbClr val="E5E7EB"/>
            </a:solidFill>
            <a:prstDash val="solid"/>
          </a:ln>
        </p:spPr>
      </p:sp>
      <p:sp>
        <p:nvSpPr>
          <p:cNvPr id="34" name="Text 30"/>
          <p:cNvSpPr/>
          <p:nvPr/>
        </p:nvSpPr>
        <p:spPr>
          <a:xfrm>
            <a:off x="3520440" y="2770632"/>
            <a:ext cx="2103120" cy="256032"/>
          </a:xfrm>
          <a:prstGeom prst="rect">
            <a:avLst/>
          </a:prstGeom>
          <a:noFill/>
          <a:ln/>
        </p:spPr>
        <p:txBody>
          <a:bodyPr wrap="square" lIns="0" tIns="0" rIns="0" bIns="0" rtlCol="0" anchor="ctr"/>
          <a:lstStyle/>
          <a:p>
            <a:pPr marL="0" indent="0">
              <a:buNone/>
            </a:pPr>
            <a:r>
              <a:rPr lang="en-US" sz="800" dirty="0">
                <a:solidFill>
                  <a:srgbClr val="0F172A"/>
                </a:solidFill>
                <a:latin typeface="Poppins" pitchFamily="34" charset="0"/>
                <a:ea typeface="Poppins" pitchFamily="34" charset="-122"/>
                <a:cs typeface="Poppins" pitchFamily="34" charset="-120"/>
              </a:rPr>
              <a:t>2. Classification IA</a:t>
            </a:r>
            <a:endParaRPr lang="en-US" sz="800" dirty="0"/>
          </a:p>
        </p:txBody>
      </p:sp>
      <p:sp>
        <p:nvSpPr>
          <p:cNvPr id="35" name="Text 31"/>
          <p:cNvSpPr/>
          <p:nvPr/>
        </p:nvSpPr>
        <p:spPr>
          <a:xfrm>
            <a:off x="4389120" y="2999232"/>
            <a:ext cx="365760" cy="137160"/>
          </a:xfrm>
          <a:prstGeom prst="rect">
            <a:avLst/>
          </a:prstGeom>
          <a:noFill/>
          <a:ln/>
        </p:spPr>
        <p:txBody>
          <a:bodyPr wrap="square" lIns="0" tIns="0" rIns="0" bIns="0" rtlCol="0" anchor="ctr"/>
          <a:lstStyle/>
          <a:p>
            <a:pPr marL="0" indent="0" algn="ctr">
              <a:buNone/>
            </a:pPr>
            <a:r>
              <a:rPr lang="en-US" sz="800" dirty="0">
                <a:solidFill>
                  <a:srgbClr val="9CA3AF"/>
                </a:solidFill>
                <a:latin typeface="Poppins" pitchFamily="34" charset="0"/>
                <a:ea typeface="Poppins" pitchFamily="34" charset="-122"/>
                <a:cs typeface="Poppins" pitchFamily="34" charset="-120"/>
              </a:rPr>
              <a:t>↓</a:t>
            </a:r>
            <a:endParaRPr lang="en-US" sz="800" dirty="0"/>
          </a:p>
        </p:txBody>
      </p:sp>
      <p:sp>
        <p:nvSpPr>
          <p:cNvPr id="36" name="Shape 32"/>
          <p:cNvSpPr/>
          <p:nvPr/>
        </p:nvSpPr>
        <p:spPr>
          <a:xfrm>
            <a:off x="3474720" y="3118104"/>
            <a:ext cx="2194560" cy="256032"/>
          </a:xfrm>
          <a:prstGeom prst="rect">
            <a:avLst/>
          </a:prstGeom>
          <a:solidFill>
            <a:srgbClr val="FFFFFF"/>
          </a:solidFill>
          <a:ln w="6350">
            <a:solidFill>
              <a:srgbClr val="E5E7EB"/>
            </a:solidFill>
            <a:prstDash val="solid"/>
          </a:ln>
        </p:spPr>
      </p:sp>
      <p:sp>
        <p:nvSpPr>
          <p:cNvPr id="37" name="Text 33"/>
          <p:cNvSpPr/>
          <p:nvPr/>
        </p:nvSpPr>
        <p:spPr>
          <a:xfrm>
            <a:off x="3520440" y="3118104"/>
            <a:ext cx="2103120" cy="256032"/>
          </a:xfrm>
          <a:prstGeom prst="rect">
            <a:avLst/>
          </a:prstGeom>
          <a:noFill/>
          <a:ln/>
        </p:spPr>
        <p:txBody>
          <a:bodyPr wrap="square" lIns="0" tIns="0" rIns="0" bIns="0" rtlCol="0" anchor="ctr"/>
          <a:lstStyle/>
          <a:p>
            <a:pPr marL="0" indent="0">
              <a:buNone/>
            </a:pPr>
            <a:r>
              <a:rPr lang="en-US" sz="800" dirty="0">
                <a:solidFill>
                  <a:srgbClr val="0F172A"/>
                </a:solidFill>
                <a:latin typeface="Poppins" pitchFamily="34" charset="0"/>
                <a:ea typeface="Poppins" pitchFamily="34" charset="-122"/>
                <a:cs typeface="Poppins" pitchFamily="34" charset="-120"/>
              </a:rPr>
              <a:t>3. Création ticket</a:t>
            </a:r>
            <a:endParaRPr lang="en-US" sz="800" dirty="0"/>
          </a:p>
        </p:txBody>
      </p:sp>
      <p:sp>
        <p:nvSpPr>
          <p:cNvPr id="38" name="Text 34"/>
          <p:cNvSpPr/>
          <p:nvPr/>
        </p:nvSpPr>
        <p:spPr>
          <a:xfrm>
            <a:off x="4389120" y="3346704"/>
            <a:ext cx="365760" cy="137160"/>
          </a:xfrm>
          <a:prstGeom prst="rect">
            <a:avLst/>
          </a:prstGeom>
          <a:noFill/>
          <a:ln/>
        </p:spPr>
        <p:txBody>
          <a:bodyPr wrap="square" lIns="0" tIns="0" rIns="0" bIns="0" rtlCol="0" anchor="ctr"/>
          <a:lstStyle/>
          <a:p>
            <a:pPr marL="0" indent="0" algn="ctr">
              <a:buNone/>
            </a:pPr>
            <a:r>
              <a:rPr lang="en-US" sz="800" dirty="0">
                <a:solidFill>
                  <a:srgbClr val="9CA3AF"/>
                </a:solidFill>
                <a:latin typeface="Poppins" pitchFamily="34" charset="0"/>
                <a:ea typeface="Poppins" pitchFamily="34" charset="-122"/>
                <a:cs typeface="Poppins" pitchFamily="34" charset="-120"/>
              </a:rPr>
              <a:t>↓</a:t>
            </a:r>
            <a:endParaRPr lang="en-US" sz="800" dirty="0"/>
          </a:p>
        </p:txBody>
      </p:sp>
      <p:sp>
        <p:nvSpPr>
          <p:cNvPr id="39" name="Shape 35"/>
          <p:cNvSpPr/>
          <p:nvPr/>
        </p:nvSpPr>
        <p:spPr>
          <a:xfrm>
            <a:off x="3474720" y="3465576"/>
            <a:ext cx="2194560" cy="256032"/>
          </a:xfrm>
          <a:prstGeom prst="rect">
            <a:avLst/>
          </a:prstGeom>
          <a:solidFill>
            <a:srgbClr val="FFFFFF"/>
          </a:solidFill>
          <a:ln w="6350">
            <a:solidFill>
              <a:srgbClr val="E5E7EB"/>
            </a:solidFill>
            <a:prstDash val="solid"/>
          </a:ln>
        </p:spPr>
      </p:sp>
      <p:sp>
        <p:nvSpPr>
          <p:cNvPr id="40" name="Text 36"/>
          <p:cNvSpPr/>
          <p:nvPr/>
        </p:nvSpPr>
        <p:spPr>
          <a:xfrm>
            <a:off x="3520440" y="3465576"/>
            <a:ext cx="2103120" cy="256032"/>
          </a:xfrm>
          <a:prstGeom prst="rect">
            <a:avLst/>
          </a:prstGeom>
          <a:noFill/>
          <a:ln/>
        </p:spPr>
        <p:txBody>
          <a:bodyPr wrap="square" lIns="0" tIns="0" rIns="0" bIns="0" rtlCol="0" anchor="ctr"/>
          <a:lstStyle/>
          <a:p>
            <a:pPr marL="0" indent="0">
              <a:buNone/>
            </a:pPr>
            <a:r>
              <a:rPr lang="en-US" sz="800" dirty="0">
                <a:solidFill>
                  <a:srgbClr val="0F172A"/>
                </a:solidFill>
                <a:latin typeface="Poppins" pitchFamily="34" charset="0"/>
                <a:ea typeface="Poppins" pitchFamily="34" charset="-122"/>
                <a:cs typeface="Poppins" pitchFamily="34" charset="-120"/>
              </a:rPr>
              <a:t>4. Assignation auto</a:t>
            </a:r>
            <a:endParaRPr lang="en-US" sz="800" dirty="0"/>
          </a:p>
        </p:txBody>
      </p:sp>
      <p:sp>
        <p:nvSpPr>
          <p:cNvPr id="41" name="Text 37"/>
          <p:cNvSpPr/>
          <p:nvPr/>
        </p:nvSpPr>
        <p:spPr>
          <a:xfrm>
            <a:off x="4389120" y="3694176"/>
            <a:ext cx="365760" cy="137160"/>
          </a:xfrm>
          <a:prstGeom prst="rect">
            <a:avLst/>
          </a:prstGeom>
          <a:noFill/>
          <a:ln/>
        </p:spPr>
        <p:txBody>
          <a:bodyPr wrap="square" lIns="0" tIns="0" rIns="0" bIns="0" rtlCol="0" anchor="ctr"/>
          <a:lstStyle/>
          <a:p>
            <a:pPr marL="0" indent="0" algn="ctr">
              <a:buNone/>
            </a:pPr>
            <a:r>
              <a:rPr lang="en-US" sz="800" dirty="0">
                <a:solidFill>
                  <a:srgbClr val="9CA3AF"/>
                </a:solidFill>
                <a:latin typeface="Poppins" pitchFamily="34" charset="0"/>
                <a:ea typeface="Poppins" pitchFamily="34" charset="-122"/>
                <a:cs typeface="Poppins" pitchFamily="34" charset="-120"/>
              </a:rPr>
              <a:t>↓</a:t>
            </a:r>
            <a:endParaRPr lang="en-US" sz="800" dirty="0"/>
          </a:p>
        </p:txBody>
      </p:sp>
      <p:sp>
        <p:nvSpPr>
          <p:cNvPr id="42" name="Shape 38"/>
          <p:cNvSpPr/>
          <p:nvPr/>
        </p:nvSpPr>
        <p:spPr>
          <a:xfrm>
            <a:off x="3474720" y="3813048"/>
            <a:ext cx="2194560" cy="256032"/>
          </a:xfrm>
          <a:prstGeom prst="rect">
            <a:avLst/>
          </a:prstGeom>
          <a:solidFill>
            <a:srgbClr val="FFFFFF"/>
          </a:solidFill>
          <a:ln w="6350">
            <a:solidFill>
              <a:srgbClr val="E5E7EB"/>
            </a:solidFill>
            <a:prstDash val="solid"/>
          </a:ln>
        </p:spPr>
      </p:sp>
      <p:sp>
        <p:nvSpPr>
          <p:cNvPr id="43" name="Text 39"/>
          <p:cNvSpPr/>
          <p:nvPr/>
        </p:nvSpPr>
        <p:spPr>
          <a:xfrm>
            <a:off x="3520440" y="3813048"/>
            <a:ext cx="2103120" cy="256032"/>
          </a:xfrm>
          <a:prstGeom prst="rect">
            <a:avLst/>
          </a:prstGeom>
          <a:noFill/>
          <a:ln/>
        </p:spPr>
        <p:txBody>
          <a:bodyPr wrap="square" lIns="0" tIns="0" rIns="0" bIns="0" rtlCol="0" anchor="ctr"/>
          <a:lstStyle/>
          <a:p>
            <a:pPr marL="0" indent="0">
              <a:buNone/>
            </a:pPr>
            <a:r>
              <a:rPr lang="en-US" sz="800" dirty="0">
                <a:solidFill>
                  <a:srgbClr val="0F172A"/>
                </a:solidFill>
                <a:latin typeface="Poppins" pitchFamily="34" charset="0"/>
                <a:ea typeface="Poppins" pitchFamily="34" charset="-122"/>
                <a:cs typeface="Poppins" pitchFamily="34" charset="-120"/>
              </a:rPr>
              <a:t>5. Suivi résolution</a:t>
            </a:r>
            <a:endParaRPr lang="en-US" sz="800" dirty="0"/>
          </a:p>
        </p:txBody>
      </p:sp>
      <p:sp>
        <p:nvSpPr>
          <p:cNvPr id="44" name="Shape 40"/>
          <p:cNvSpPr/>
          <p:nvPr/>
        </p:nvSpPr>
        <p:spPr>
          <a:xfrm>
            <a:off x="3566160" y="4251960"/>
            <a:ext cx="2011680" cy="292608"/>
          </a:xfrm>
          <a:prstGeom prst="rect">
            <a:avLst/>
          </a:prstGeom>
          <a:solidFill>
            <a:srgbClr val="0891B2"/>
          </a:solidFill>
          <a:ln/>
        </p:spPr>
      </p:sp>
      <p:sp>
        <p:nvSpPr>
          <p:cNvPr id="45" name="Text 41"/>
          <p:cNvSpPr/>
          <p:nvPr/>
        </p:nvSpPr>
        <p:spPr>
          <a:xfrm>
            <a:off x="3566160" y="4251960"/>
            <a:ext cx="2011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Poppins" pitchFamily="34" charset="0"/>
                <a:ea typeface="Poppins" pitchFamily="34" charset="-122"/>
                <a:cs typeface="Poppins" pitchFamily="34" charset="-120"/>
              </a:rPr>
              <a:t>-50% temps réponse</a:t>
            </a:r>
            <a:endParaRPr lang="en-US" sz="1000" dirty="0"/>
          </a:p>
        </p:txBody>
      </p:sp>
      <p:sp>
        <p:nvSpPr>
          <p:cNvPr id="46" name="Shape 42"/>
          <p:cNvSpPr/>
          <p:nvPr/>
        </p:nvSpPr>
        <p:spPr>
          <a:xfrm>
            <a:off x="6126480" y="1005840"/>
            <a:ext cx="2560320" cy="3657600"/>
          </a:xfrm>
          <a:prstGeom prst="rect">
            <a:avLst/>
          </a:prstGeom>
          <a:solidFill>
            <a:srgbClr val="F7F9FC"/>
          </a:solidFill>
          <a:ln/>
          <a:effectLst>
            <a:outerShdw blurRad="76200" dist="25400" dir="8100000" algn="bl" rotWithShape="0">
              <a:srgbClr val="000000">
                <a:alpha val="6000"/>
              </a:srgbClr>
            </a:outerShdw>
          </a:effectLst>
        </p:spPr>
      </p:sp>
      <p:sp>
        <p:nvSpPr>
          <p:cNvPr id="47" name="Shape 43"/>
          <p:cNvSpPr/>
          <p:nvPr/>
        </p:nvSpPr>
        <p:spPr>
          <a:xfrm>
            <a:off x="6126480" y="1005840"/>
            <a:ext cx="2560320" cy="54864"/>
          </a:xfrm>
          <a:prstGeom prst="rect">
            <a:avLst/>
          </a:prstGeom>
          <a:solidFill>
            <a:srgbClr val="EA580C"/>
          </a:solidFill>
          <a:ln/>
        </p:spPr>
      </p:sp>
      <p:sp>
        <p:nvSpPr>
          <p:cNvPr id="48" name="Shape 44"/>
          <p:cNvSpPr/>
          <p:nvPr/>
        </p:nvSpPr>
        <p:spPr>
          <a:xfrm>
            <a:off x="7040880" y="1143000"/>
            <a:ext cx="640080" cy="640080"/>
          </a:xfrm>
          <a:prstGeom prst="ellipse">
            <a:avLst/>
          </a:prstGeom>
          <a:solidFill>
            <a:srgbClr val="EBF5FF"/>
          </a:solidFill>
          <a:ln/>
        </p:spPr>
      </p:sp>
      <p:pic>
        <p:nvPicPr>
          <p:cNvPr id="49" name="Image 2" descr="preencoded.png"/>
          <p:cNvPicPr>
            <a:picLocks noChangeAspect="1"/>
          </p:cNvPicPr>
          <p:nvPr/>
        </p:nvPicPr>
        <p:blipFill>
          <a:blip r:embed="rId5"/>
          <a:stretch>
            <a:fillRect/>
          </a:stretch>
        </p:blipFill>
        <p:spPr>
          <a:xfrm>
            <a:off x="7178040" y="1280160"/>
            <a:ext cx="365760" cy="365760"/>
          </a:xfrm>
          <a:prstGeom prst="rect">
            <a:avLst/>
          </a:prstGeom>
        </p:spPr>
      </p:pic>
      <p:sp>
        <p:nvSpPr>
          <p:cNvPr id="50" name="Text 45"/>
          <p:cNvSpPr/>
          <p:nvPr/>
        </p:nvSpPr>
        <p:spPr>
          <a:xfrm>
            <a:off x="6126480" y="1874520"/>
            <a:ext cx="2560320" cy="457200"/>
          </a:xfrm>
          <a:prstGeom prst="rect">
            <a:avLst/>
          </a:prstGeom>
          <a:noFill/>
          <a:ln/>
        </p:spPr>
        <p:txBody>
          <a:bodyPr wrap="square" lIns="0" tIns="0" rIns="0" bIns="0" rtlCol="0" anchor="ctr"/>
          <a:lstStyle/>
          <a:p>
            <a:pPr marL="0" indent="0" algn="ctr">
              <a:lnSpc>
                <a:spcPct val="120000"/>
              </a:lnSpc>
              <a:buNone/>
            </a:pPr>
            <a:r>
              <a:rPr lang="en-US" sz="1200" b="1" dirty="0">
                <a:solidFill>
                  <a:srgbClr val="EA580C"/>
                </a:solidFill>
                <a:latin typeface="Poppins" pitchFamily="34" charset="0"/>
                <a:ea typeface="Poppins" pitchFamily="34" charset="-122"/>
                <a:cs typeface="Poppins" pitchFamily="34" charset="-120"/>
              </a:rPr>
              <a:t>Automatisation</a:t>
            </a:r>
            <a:endParaRPr lang="en-US" sz="1200" dirty="0"/>
          </a:p>
          <a:p>
            <a:pPr marL="0" indent="0" algn="ctr">
              <a:lnSpc>
                <a:spcPct val="120000"/>
              </a:lnSpc>
              <a:buNone/>
            </a:pPr>
            <a:r>
              <a:rPr lang="en-US" sz="1200" b="1" dirty="0">
                <a:solidFill>
                  <a:srgbClr val="EA580C"/>
                </a:solidFill>
                <a:latin typeface="Poppins" pitchFamily="34" charset="0"/>
                <a:ea typeface="Poppins" pitchFamily="34" charset="-122"/>
                <a:cs typeface="Poppins" pitchFamily="34" charset="-120"/>
              </a:rPr>
              <a:t>industrielle</a:t>
            </a:r>
            <a:endParaRPr lang="en-US" sz="1200" dirty="0"/>
          </a:p>
        </p:txBody>
      </p:sp>
      <p:sp>
        <p:nvSpPr>
          <p:cNvPr id="51" name="Shape 46"/>
          <p:cNvSpPr/>
          <p:nvPr/>
        </p:nvSpPr>
        <p:spPr>
          <a:xfrm>
            <a:off x="6309360" y="2423160"/>
            <a:ext cx="2194560" cy="256032"/>
          </a:xfrm>
          <a:prstGeom prst="rect">
            <a:avLst/>
          </a:prstGeom>
          <a:solidFill>
            <a:srgbClr val="FFFFFF"/>
          </a:solidFill>
          <a:ln w="6350">
            <a:solidFill>
              <a:srgbClr val="E5E7EB"/>
            </a:solidFill>
            <a:prstDash val="solid"/>
          </a:ln>
        </p:spPr>
      </p:sp>
      <p:sp>
        <p:nvSpPr>
          <p:cNvPr id="52" name="Text 47"/>
          <p:cNvSpPr/>
          <p:nvPr/>
        </p:nvSpPr>
        <p:spPr>
          <a:xfrm>
            <a:off x="6355080" y="2423160"/>
            <a:ext cx="2103120" cy="256032"/>
          </a:xfrm>
          <a:prstGeom prst="rect">
            <a:avLst/>
          </a:prstGeom>
          <a:noFill/>
          <a:ln/>
        </p:spPr>
        <p:txBody>
          <a:bodyPr wrap="square" lIns="0" tIns="0" rIns="0" bIns="0" rtlCol="0" anchor="ctr"/>
          <a:lstStyle/>
          <a:p>
            <a:pPr marL="0" indent="0">
              <a:buNone/>
            </a:pPr>
            <a:r>
              <a:rPr lang="en-US" sz="800" dirty="0">
                <a:solidFill>
                  <a:srgbClr val="0F172A"/>
                </a:solidFill>
                <a:latin typeface="Poppins" pitchFamily="34" charset="0"/>
                <a:ea typeface="Poppins" pitchFamily="34" charset="-122"/>
                <a:cs typeface="Poppins" pitchFamily="34" charset="-120"/>
              </a:rPr>
              <a:t>1. Données machine</a:t>
            </a:r>
            <a:endParaRPr lang="en-US" sz="800" dirty="0"/>
          </a:p>
        </p:txBody>
      </p:sp>
      <p:sp>
        <p:nvSpPr>
          <p:cNvPr id="53" name="Text 48"/>
          <p:cNvSpPr/>
          <p:nvPr/>
        </p:nvSpPr>
        <p:spPr>
          <a:xfrm>
            <a:off x="7223760" y="2651760"/>
            <a:ext cx="365760" cy="137160"/>
          </a:xfrm>
          <a:prstGeom prst="rect">
            <a:avLst/>
          </a:prstGeom>
          <a:noFill/>
          <a:ln/>
        </p:spPr>
        <p:txBody>
          <a:bodyPr wrap="square" lIns="0" tIns="0" rIns="0" bIns="0" rtlCol="0" anchor="ctr"/>
          <a:lstStyle/>
          <a:p>
            <a:pPr marL="0" indent="0" algn="ctr">
              <a:buNone/>
            </a:pPr>
            <a:r>
              <a:rPr lang="en-US" sz="800" dirty="0">
                <a:solidFill>
                  <a:srgbClr val="9CA3AF"/>
                </a:solidFill>
                <a:latin typeface="Poppins" pitchFamily="34" charset="0"/>
                <a:ea typeface="Poppins" pitchFamily="34" charset="-122"/>
                <a:cs typeface="Poppins" pitchFamily="34" charset="-120"/>
              </a:rPr>
              <a:t>↓</a:t>
            </a:r>
            <a:endParaRPr lang="en-US" sz="800" dirty="0"/>
          </a:p>
        </p:txBody>
      </p:sp>
      <p:sp>
        <p:nvSpPr>
          <p:cNvPr id="54" name="Shape 49"/>
          <p:cNvSpPr/>
          <p:nvPr/>
        </p:nvSpPr>
        <p:spPr>
          <a:xfrm>
            <a:off x="6309360" y="2770632"/>
            <a:ext cx="2194560" cy="256032"/>
          </a:xfrm>
          <a:prstGeom prst="rect">
            <a:avLst/>
          </a:prstGeom>
          <a:solidFill>
            <a:srgbClr val="FFFFFF"/>
          </a:solidFill>
          <a:ln w="6350">
            <a:solidFill>
              <a:srgbClr val="E5E7EB"/>
            </a:solidFill>
            <a:prstDash val="solid"/>
          </a:ln>
        </p:spPr>
      </p:sp>
      <p:sp>
        <p:nvSpPr>
          <p:cNvPr id="55" name="Text 50"/>
          <p:cNvSpPr/>
          <p:nvPr/>
        </p:nvSpPr>
        <p:spPr>
          <a:xfrm>
            <a:off x="6355080" y="2770632"/>
            <a:ext cx="2103120" cy="256032"/>
          </a:xfrm>
          <a:prstGeom prst="rect">
            <a:avLst/>
          </a:prstGeom>
          <a:noFill/>
          <a:ln/>
        </p:spPr>
        <p:txBody>
          <a:bodyPr wrap="square" lIns="0" tIns="0" rIns="0" bIns="0" rtlCol="0" anchor="ctr"/>
          <a:lstStyle/>
          <a:p>
            <a:pPr marL="0" indent="0">
              <a:buNone/>
            </a:pPr>
            <a:r>
              <a:rPr lang="en-US" sz="800" dirty="0">
                <a:solidFill>
                  <a:srgbClr val="0F172A"/>
                </a:solidFill>
                <a:latin typeface="Poppins" pitchFamily="34" charset="0"/>
                <a:ea typeface="Poppins" pitchFamily="34" charset="-122"/>
                <a:cs typeface="Poppins" pitchFamily="34" charset="-120"/>
              </a:rPr>
              <a:t>2. Analyse anomalies</a:t>
            </a:r>
            <a:endParaRPr lang="en-US" sz="800" dirty="0"/>
          </a:p>
        </p:txBody>
      </p:sp>
      <p:sp>
        <p:nvSpPr>
          <p:cNvPr id="56" name="Text 51"/>
          <p:cNvSpPr/>
          <p:nvPr/>
        </p:nvSpPr>
        <p:spPr>
          <a:xfrm>
            <a:off x="7223760" y="2999232"/>
            <a:ext cx="365760" cy="137160"/>
          </a:xfrm>
          <a:prstGeom prst="rect">
            <a:avLst/>
          </a:prstGeom>
          <a:noFill/>
          <a:ln/>
        </p:spPr>
        <p:txBody>
          <a:bodyPr wrap="square" lIns="0" tIns="0" rIns="0" bIns="0" rtlCol="0" anchor="ctr"/>
          <a:lstStyle/>
          <a:p>
            <a:pPr marL="0" indent="0" algn="ctr">
              <a:buNone/>
            </a:pPr>
            <a:r>
              <a:rPr lang="en-US" sz="800" dirty="0">
                <a:solidFill>
                  <a:srgbClr val="9CA3AF"/>
                </a:solidFill>
                <a:latin typeface="Poppins" pitchFamily="34" charset="0"/>
                <a:ea typeface="Poppins" pitchFamily="34" charset="-122"/>
                <a:cs typeface="Poppins" pitchFamily="34" charset="-120"/>
              </a:rPr>
              <a:t>↓</a:t>
            </a:r>
            <a:endParaRPr lang="en-US" sz="800" dirty="0"/>
          </a:p>
        </p:txBody>
      </p:sp>
      <p:sp>
        <p:nvSpPr>
          <p:cNvPr id="57" name="Shape 52"/>
          <p:cNvSpPr/>
          <p:nvPr/>
        </p:nvSpPr>
        <p:spPr>
          <a:xfrm>
            <a:off x="6309360" y="3118104"/>
            <a:ext cx="2194560" cy="256032"/>
          </a:xfrm>
          <a:prstGeom prst="rect">
            <a:avLst/>
          </a:prstGeom>
          <a:solidFill>
            <a:srgbClr val="FFFFFF"/>
          </a:solidFill>
          <a:ln w="6350">
            <a:solidFill>
              <a:srgbClr val="E5E7EB"/>
            </a:solidFill>
            <a:prstDash val="solid"/>
          </a:ln>
        </p:spPr>
      </p:sp>
      <p:sp>
        <p:nvSpPr>
          <p:cNvPr id="58" name="Text 53"/>
          <p:cNvSpPr/>
          <p:nvPr/>
        </p:nvSpPr>
        <p:spPr>
          <a:xfrm>
            <a:off x="6355080" y="3118104"/>
            <a:ext cx="2103120" cy="256032"/>
          </a:xfrm>
          <a:prstGeom prst="rect">
            <a:avLst/>
          </a:prstGeom>
          <a:noFill/>
          <a:ln/>
        </p:spPr>
        <p:txBody>
          <a:bodyPr wrap="square" lIns="0" tIns="0" rIns="0" bIns="0" rtlCol="0" anchor="ctr"/>
          <a:lstStyle/>
          <a:p>
            <a:pPr marL="0" indent="0">
              <a:buNone/>
            </a:pPr>
            <a:r>
              <a:rPr lang="en-US" sz="800" dirty="0">
                <a:solidFill>
                  <a:srgbClr val="0F172A"/>
                </a:solidFill>
                <a:latin typeface="Poppins" pitchFamily="34" charset="0"/>
                <a:ea typeface="Poppins" pitchFamily="34" charset="-122"/>
                <a:cs typeface="Poppins" pitchFamily="34" charset="-120"/>
              </a:rPr>
              <a:t>3. Alerte opérateur</a:t>
            </a:r>
            <a:endParaRPr lang="en-US" sz="800" dirty="0"/>
          </a:p>
        </p:txBody>
      </p:sp>
      <p:sp>
        <p:nvSpPr>
          <p:cNvPr id="59" name="Text 54"/>
          <p:cNvSpPr/>
          <p:nvPr/>
        </p:nvSpPr>
        <p:spPr>
          <a:xfrm>
            <a:off x="7223760" y="3346704"/>
            <a:ext cx="365760" cy="137160"/>
          </a:xfrm>
          <a:prstGeom prst="rect">
            <a:avLst/>
          </a:prstGeom>
          <a:noFill/>
          <a:ln/>
        </p:spPr>
        <p:txBody>
          <a:bodyPr wrap="square" lIns="0" tIns="0" rIns="0" bIns="0" rtlCol="0" anchor="ctr"/>
          <a:lstStyle/>
          <a:p>
            <a:pPr marL="0" indent="0" algn="ctr">
              <a:buNone/>
            </a:pPr>
            <a:r>
              <a:rPr lang="en-US" sz="800" dirty="0">
                <a:solidFill>
                  <a:srgbClr val="9CA3AF"/>
                </a:solidFill>
                <a:latin typeface="Poppins" pitchFamily="34" charset="0"/>
                <a:ea typeface="Poppins" pitchFamily="34" charset="-122"/>
                <a:cs typeface="Poppins" pitchFamily="34" charset="-120"/>
              </a:rPr>
              <a:t>↓</a:t>
            </a:r>
            <a:endParaRPr lang="en-US" sz="800" dirty="0"/>
          </a:p>
        </p:txBody>
      </p:sp>
      <p:sp>
        <p:nvSpPr>
          <p:cNvPr id="60" name="Shape 55"/>
          <p:cNvSpPr/>
          <p:nvPr/>
        </p:nvSpPr>
        <p:spPr>
          <a:xfrm>
            <a:off x="6309360" y="3465576"/>
            <a:ext cx="2194560" cy="256032"/>
          </a:xfrm>
          <a:prstGeom prst="rect">
            <a:avLst/>
          </a:prstGeom>
          <a:solidFill>
            <a:srgbClr val="FFFFFF"/>
          </a:solidFill>
          <a:ln w="6350">
            <a:solidFill>
              <a:srgbClr val="E5E7EB"/>
            </a:solidFill>
            <a:prstDash val="solid"/>
          </a:ln>
        </p:spPr>
      </p:sp>
      <p:sp>
        <p:nvSpPr>
          <p:cNvPr id="61" name="Text 56"/>
          <p:cNvSpPr/>
          <p:nvPr/>
        </p:nvSpPr>
        <p:spPr>
          <a:xfrm>
            <a:off x="6355080" y="3465576"/>
            <a:ext cx="2103120" cy="256032"/>
          </a:xfrm>
          <a:prstGeom prst="rect">
            <a:avLst/>
          </a:prstGeom>
          <a:noFill/>
          <a:ln/>
        </p:spPr>
        <p:txBody>
          <a:bodyPr wrap="square" lIns="0" tIns="0" rIns="0" bIns="0" rtlCol="0" anchor="ctr"/>
          <a:lstStyle/>
          <a:p>
            <a:pPr marL="0" indent="0">
              <a:buNone/>
            </a:pPr>
            <a:r>
              <a:rPr lang="en-US" sz="800" dirty="0">
                <a:solidFill>
                  <a:srgbClr val="0F172A"/>
                </a:solidFill>
                <a:latin typeface="Poppins" pitchFamily="34" charset="0"/>
                <a:ea typeface="Poppins" pitchFamily="34" charset="-122"/>
                <a:cs typeface="Poppins" pitchFamily="34" charset="-120"/>
              </a:rPr>
              <a:t>4. Action corrective</a:t>
            </a:r>
            <a:endParaRPr lang="en-US" sz="800" dirty="0"/>
          </a:p>
        </p:txBody>
      </p:sp>
      <p:sp>
        <p:nvSpPr>
          <p:cNvPr id="62" name="Text 57"/>
          <p:cNvSpPr/>
          <p:nvPr/>
        </p:nvSpPr>
        <p:spPr>
          <a:xfrm>
            <a:off x="7223760" y="3694176"/>
            <a:ext cx="365760" cy="137160"/>
          </a:xfrm>
          <a:prstGeom prst="rect">
            <a:avLst/>
          </a:prstGeom>
          <a:noFill/>
          <a:ln/>
        </p:spPr>
        <p:txBody>
          <a:bodyPr wrap="square" lIns="0" tIns="0" rIns="0" bIns="0" rtlCol="0" anchor="ctr"/>
          <a:lstStyle/>
          <a:p>
            <a:pPr marL="0" indent="0" algn="ctr">
              <a:buNone/>
            </a:pPr>
            <a:r>
              <a:rPr lang="en-US" sz="800" dirty="0">
                <a:solidFill>
                  <a:srgbClr val="9CA3AF"/>
                </a:solidFill>
                <a:latin typeface="Poppins" pitchFamily="34" charset="0"/>
                <a:ea typeface="Poppins" pitchFamily="34" charset="-122"/>
                <a:cs typeface="Poppins" pitchFamily="34" charset="-120"/>
              </a:rPr>
              <a:t>↓</a:t>
            </a:r>
            <a:endParaRPr lang="en-US" sz="800" dirty="0"/>
          </a:p>
        </p:txBody>
      </p:sp>
      <p:sp>
        <p:nvSpPr>
          <p:cNvPr id="63" name="Shape 58"/>
          <p:cNvSpPr/>
          <p:nvPr/>
        </p:nvSpPr>
        <p:spPr>
          <a:xfrm>
            <a:off x="6309360" y="3813048"/>
            <a:ext cx="2194560" cy="256032"/>
          </a:xfrm>
          <a:prstGeom prst="rect">
            <a:avLst/>
          </a:prstGeom>
          <a:solidFill>
            <a:srgbClr val="FFFFFF"/>
          </a:solidFill>
          <a:ln w="6350">
            <a:solidFill>
              <a:srgbClr val="E5E7EB"/>
            </a:solidFill>
            <a:prstDash val="solid"/>
          </a:ln>
        </p:spPr>
      </p:sp>
      <p:sp>
        <p:nvSpPr>
          <p:cNvPr id="64" name="Text 59"/>
          <p:cNvSpPr/>
          <p:nvPr/>
        </p:nvSpPr>
        <p:spPr>
          <a:xfrm>
            <a:off x="6355080" y="3813048"/>
            <a:ext cx="2103120" cy="256032"/>
          </a:xfrm>
          <a:prstGeom prst="rect">
            <a:avLst/>
          </a:prstGeom>
          <a:noFill/>
          <a:ln/>
        </p:spPr>
        <p:txBody>
          <a:bodyPr wrap="square" lIns="0" tIns="0" rIns="0" bIns="0" rtlCol="0" anchor="ctr"/>
          <a:lstStyle/>
          <a:p>
            <a:pPr marL="0" indent="0">
              <a:buNone/>
            </a:pPr>
            <a:r>
              <a:rPr lang="en-US" sz="800" dirty="0">
                <a:solidFill>
                  <a:srgbClr val="0F172A"/>
                </a:solidFill>
                <a:latin typeface="Poppins" pitchFamily="34" charset="0"/>
                <a:ea typeface="Poppins" pitchFamily="34" charset="-122"/>
                <a:cs typeface="Poppins" pitchFamily="34" charset="-120"/>
              </a:rPr>
              <a:t>5. Rapport auto</a:t>
            </a:r>
            <a:endParaRPr lang="en-US" sz="800" dirty="0"/>
          </a:p>
        </p:txBody>
      </p:sp>
      <p:sp>
        <p:nvSpPr>
          <p:cNvPr id="65" name="Shape 60"/>
          <p:cNvSpPr/>
          <p:nvPr/>
        </p:nvSpPr>
        <p:spPr>
          <a:xfrm>
            <a:off x="6400800" y="4251960"/>
            <a:ext cx="2011680" cy="292608"/>
          </a:xfrm>
          <a:prstGeom prst="rect">
            <a:avLst/>
          </a:prstGeom>
          <a:solidFill>
            <a:srgbClr val="EA580C"/>
          </a:solidFill>
          <a:ln/>
        </p:spPr>
      </p:sp>
      <p:sp>
        <p:nvSpPr>
          <p:cNvPr id="66" name="Text 61"/>
          <p:cNvSpPr/>
          <p:nvPr/>
        </p:nvSpPr>
        <p:spPr>
          <a:xfrm>
            <a:off x="6400800" y="4251960"/>
            <a:ext cx="2011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Poppins" pitchFamily="34" charset="0"/>
                <a:ea typeface="Poppins" pitchFamily="34" charset="-122"/>
                <a:cs typeface="Poppins" pitchFamily="34" charset="-120"/>
              </a:rPr>
              <a:t>-80% d'arrêts imprévus</a:t>
            </a:r>
            <a:endParaRPr lang="en-US" sz="1000" dirty="0"/>
          </a:p>
        </p:txBody>
      </p:sp>
      <p:sp>
        <p:nvSpPr>
          <p:cNvPr id="67" name="Text 62"/>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677FF"/>
          </a:solidFill>
          <a:ln/>
        </p:spPr>
      </p:sp>
      <p:pic>
        <p:nvPicPr>
          <p:cNvPr id="3" name="Image 0" descr="preencoded.png"/>
          <p:cNvPicPr>
            <a:picLocks noChangeAspect="1"/>
          </p:cNvPicPr>
          <p:nvPr/>
        </p:nvPicPr>
        <p:blipFill>
          <a:blip r:embed="rId3"/>
          <a:stretch>
            <a:fillRect/>
          </a:stretch>
        </p:blipFill>
        <p:spPr>
          <a:xfrm>
            <a:off x="3200400" y="731520"/>
            <a:ext cx="1005840" cy="640080"/>
          </a:xfrm>
          <a:prstGeom prst="rect">
            <a:avLst/>
          </a:prstGeom>
        </p:spPr>
      </p:pic>
      <p:sp>
        <p:nvSpPr>
          <p:cNvPr id="4" name="Text 1"/>
          <p:cNvSpPr/>
          <p:nvPr/>
        </p:nvSpPr>
        <p:spPr>
          <a:xfrm>
            <a:off x="4251960" y="731520"/>
            <a:ext cx="1828800" cy="640080"/>
          </a:xfrm>
          <a:prstGeom prst="rect">
            <a:avLst/>
          </a:prstGeom>
          <a:noFill/>
          <a:ln/>
        </p:spPr>
        <p:txBody>
          <a:bodyPr wrap="square" lIns="0" tIns="0" rIns="0" bIns="0" rtlCol="0" anchor="ctr"/>
          <a:lstStyle/>
          <a:p>
            <a:pPr marL="0" indent="0">
              <a:buNone/>
            </a:pPr>
            <a:r>
              <a:rPr lang="en-US" sz="3400" b="1" dirty="0">
                <a:solidFill>
                  <a:srgbClr val="0F172A"/>
                </a:solidFill>
                <a:latin typeface="Poppins" pitchFamily="34" charset="0"/>
                <a:ea typeface="Poppins" pitchFamily="34" charset="-122"/>
                <a:cs typeface="Poppins" pitchFamily="34" charset="-120"/>
              </a:rPr>
              <a:t>KINN</a:t>
            </a:r>
            <a:endParaRPr lang="en-US" sz="3400" dirty="0"/>
          </a:p>
        </p:txBody>
      </p:sp>
      <p:sp>
        <p:nvSpPr>
          <p:cNvPr id="5" name="Text 2"/>
          <p:cNvSpPr/>
          <p:nvPr/>
        </p:nvSpPr>
        <p:spPr>
          <a:xfrm>
            <a:off x="1371600" y="1645920"/>
            <a:ext cx="6400800" cy="457200"/>
          </a:xfrm>
          <a:prstGeom prst="rect">
            <a:avLst/>
          </a:prstGeom>
          <a:noFill/>
          <a:ln/>
        </p:spPr>
        <p:txBody>
          <a:bodyPr wrap="square" lIns="0" tIns="0" rIns="0" bIns="0" rtlCol="0" anchor="ctr"/>
          <a:lstStyle/>
          <a:p>
            <a:pPr marL="0" indent="0" algn="ctr">
              <a:buNone/>
            </a:pPr>
            <a:r>
              <a:rPr lang="en-US" sz="2000" b="1" dirty="0">
                <a:solidFill>
                  <a:srgbClr val="0F172A"/>
                </a:solidFill>
                <a:latin typeface="Poppins" pitchFamily="34" charset="0"/>
                <a:ea typeface="Poppins" pitchFamily="34" charset="-122"/>
                <a:cs typeface="Poppins" pitchFamily="34" charset="-120"/>
              </a:rPr>
              <a:t>Construisez votre entreprise automatisée.</a:t>
            </a:r>
            <a:endParaRPr lang="en-US" sz="2000" dirty="0"/>
          </a:p>
        </p:txBody>
      </p:sp>
      <p:sp>
        <p:nvSpPr>
          <p:cNvPr id="6" name="Text 3"/>
          <p:cNvSpPr/>
          <p:nvPr/>
        </p:nvSpPr>
        <p:spPr>
          <a:xfrm>
            <a:off x="1371600" y="2194560"/>
            <a:ext cx="6400800" cy="731520"/>
          </a:xfrm>
          <a:prstGeom prst="rect">
            <a:avLst/>
          </a:prstGeom>
          <a:noFill/>
          <a:ln/>
        </p:spPr>
        <p:txBody>
          <a:bodyPr wrap="square" lIns="0" tIns="0" rIns="0" bIns="0" rtlCol="0" anchor="ctr"/>
          <a:lstStyle/>
          <a:p>
            <a:pPr marL="0" indent="0" algn="ctr">
              <a:lnSpc>
                <a:spcPct val="150000"/>
              </a:lnSpc>
              <a:buNone/>
            </a:pPr>
            <a:r>
              <a:rPr lang="en-US" sz="1100" dirty="0">
                <a:solidFill>
                  <a:srgbClr val="374151"/>
                </a:solidFill>
                <a:latin typeface="Poppins" pitchFamily="34" charset="0"/>
                <a:ea typeface="Poppins" pitchFamily="34" charset="-122"/>
                <a:cs typeface="Poppins" pitchFamily="34" charset="-120"/>
              </a:rPr>
              <a:t>KINN n'est pas seulement un outil.</a:t>
            </a:r>
            <a:endParaRPr lang="en-US" sz="1100" dirty="0"/>
          </a:p>
          <a:p>
            <a:pPr marL="0" indent="0" algn="ctr">
              <a:lnSpc>
                <a:spcPct val="150000"/>
              </a:lnSpc>
              <a:buNone/>
            </a:pPr>
            <a:r>
              <a:rPr lang="en-US" sz="1100" dirty="0">
                <a:solidFill>
                  <a:srgbClr val="374151"/>
                </a:solidFill>
                <a:latin typeface="Poppins" pitchFamily="34" charset="0"/>
                <a:ea typeface="Poppins" pitchFamily="34" charset="-122"/>
                <a:cs typeface="Poppins" pitchFamily="34" charset="-120"/>
              </a:rPr>
              <a:t>C'est une plateforme d'automatisation, une marketplace d'experts</a:t>
            </a:r>
            <a:endParaRPr lang="en-US" sz="1100" dirty="0"/>
          </a:p>
          <a:p>
            <a:pPr marL="0" indent="0" algn="ctr">
              <a:lnSpc>
                <a:spcPct val="150000"/>
              </a:lnSpc>
              <a:buNone/>
            </a:pPr>
            <a:r>
              <a:rPr lang="en-US" sz="1100" dirty="0">
                <a:solidFill>
                  <a:srgbClr val="374151"/>
                </a:solidFill>
                <a:latin typeface="Poppins" pitchFamily="34" charset="0"/>
                <a:ea typeface="Poppins" pitchFamily="34" charset="-122"/>
                <a:cs typeface="Poppins" pitchFamily="34" charset="-120"/>
              </a:rPr>
              <a:t>et un copilote IA pour créer vos outils métiers.</a:t>
            </a:r>
            <a:endParaRPr lang="en-US" sz="1100" dirty="0"/>
          </a:p>
        </p:txBody>
      </p:sp>
      <p:sp>
        <p:nvSpPr>
          <p:cNvPr id="7" name="Shape 4"/>
          <p:cNvSpPr/>
          <p:nvPr/>
        </p:nvSpPr>
        <p:spPr>
          <a:xfrm>
            <a:off x="685800" y="3200400"/>
            <a:ext cx="2377440" cy="1188720"/>
          </a:xfrm>
          <a:prstGeom prst="rect">
            <a:avLst/>
          </a:prstGeom>
          <a:solidFill>
            <a:srgbClr val="1677FF"/>
          </a:solidFill>
          <a:ln/>
          <a:effectLst>
            <a:outerShdw blurRad="76200" dist="25400" dir="8100000" algn="bl" rotWithShape="0">
              <a:srgbClr val="000000">
                <a:alpha val="6000"/>
              </a:srgbClr>
            </a:outerShdw>
          </a:effectLst>
        </p:spPr>
      </p:sp>
      <p:pic>
        <p:nvPicPr>
          <p:cNvPr id="8" name="Image 1" descr="preencoded.png"/>
          <p:cNvPicPr>
            <a:picLocks noChangeAspect="1"/>
          </p:cNvPicPr>
          <p:nvPr/>
        </p:nvPicPr>
        <p:blipFill>
          <a:blip r:embed="rId4"/>
          <a:stretch>
            <a:fillRect/>
          </a:stretch>
        </p:blipFill>
        <p:spPr>
          <a:xfrm>
            <a:off x="822960" y="3383280"/>
            <a:ext cx="365760" cy="365760"/>
          </a:xfrm>
          <a:prstGeom prst="rect">
            <a:avLst/>
          </a:prstGeom>
        </p:spPr>
      </p:pic>
      <p:sp>
        <p:nvSpPr>
          <p:cNvPr id="9" name="Text 5"/>
          <p:cNvSpPr/>
          <p:nvPr/>
        </p:nvSpPr>
        <p:spPr>
          <a:xfrm>
            <a:off x="1234440" y="3291840"/>
            <a:ext cx="1645920" cy="320040"/>
          </a:xfrm>
          <a:prstGeom prst="rect">
            <a:avLst/>
          </a:prstGeom>
          <a:noFill/>
          <a:ln/>
        </p:spPr>
        <p:txBody>
          <a:bodyPr wrap="square" lIns="0" tIns="0" rIns="0" bIns="0" rtlCol="0" anchor="ctr"/>
          <a:lstStyle/>
          <a:p>
            <a:pPr marL="0" indent="0">
              <a:buNone/>
            </a:pPr>
            <a:r>
              <a:rPr lang="en-US" sz="1300" b="1" dirty="0">
                <a:solidFill>
                  <a:srgbClr val="FFFFFF"/>
                </a:solidFill>
                <a:latin typeface="Poppins" pitchFamily="34" charset="0"/>
                <a:ea typeface="Poppins" pitchFamily="34" charset="-122"/>
                <a:cs typeface="Poppins" pitchFamily="34" charset="-120"/>
              </a:rPr>
              <a:t>Tester KINN</a:t>
            </a:r>
            <a:endParaRPr lang="en-US" sz="1300" dirty="0"/>
          </a:p>
        </p:txBody>
      </p:sp>
      <p:sp>
        <p:nvSpPr>
          <p:cNvPr id="10" name="Text 6"/>
          <p:cNvSpPr/>
          <p:nvPr/>
        </p:nvSpPr>
        <p:spPr>
          <a:xfrm>
            <a:off x="1234440" y="3611880"/>
            <a:ext cx="1645920" cy="411480"/>
          </a:xfrm>
          <a:prstGeom prst="rect">
            <a:avLst/>
          </a:prstGeom>
          <a:noFill/>
          <a:ln/>
        </p:spPr>
        <p:txBody>
          <a:bodyPr wrap="square" lIns="0" tIns="0" rIns="0" bIns="0" rtlCol="0" anchor="ctr"/>
          <a:lstStyle/>
          <a:p>
            <a:pPr marL="0" indent="0">
              <a:lnSpc>
                <a:spcPct val="130000"/>
              </a:lnSpc>
              <a:buNone/>
            </a:pPr>
            <a:r>
              <a:rPr lang="en-US" sz="850" dirty="0">
                <a:solidFill>
                  <a:srgbClr val="D6EBFF"/>
                </a:solidFill>
                <a:latin typeface="Poppins" pitchFamily="34" charset="0"/>
                <a:ea typeface="Poppins" pitchFamily="34" charset="-122"/>
                <a:cs typeface="Poppins" pitchFamily="34" charset="-120"/>
              </a:rPr>
              <a:t>Essayez gratuitement</a:t>
            </a:r>
            <a:endParaRPr lang="en-US" sz="850" dirty="0"/>
          </a:p>
          <a:p>
            <a:pPr marL="0" indent="0">
              <a:lnSpc>
                <a:spcPct val="130000"/>
              </a:lnSpc>
              <a:buNone/>
            </a:pPr>
            <a:r>
              <a:rPr lang="en-US" sz="850" dirty="0">
                <a:solidFill>
                  <a:srgbClr val="D6EBFF"/>
                </a:solidFill>
                <a:latin typeface="Poppins" pitchFamily="34" charset="0"/>
                <a:ea typeface="Poppins" pitchFamily="34" charset="-122"/>
                <a:cs typeface="Poppins" pitchFamily="34" charset="-120"/>
              </a:rPr>
              <a:t>la plateforme</a:t>
            </a:r>
            <a:endParaRPr lang="en-US" sz="850" dirty="0"/>
          </a:p>
        </p:txBody>
      </p:sp>
      <p:sp>
        <p:nvSpPr>
          <p:cNvPr id="11" name="Text 7"/>
          <p:cNvSpPr/>
          <p:nvPr/>
        </p:nvSpPr>
        <p:spPr>
          <a:xfrm>
            <a:off x="2606040" y="3383280"/>
            <a:ext cx="274320" cy="274320"/>
          </a:xfrm>
          <a:prstGeom prst="rect">
            <a:avLst/>
          </a:prstGeom>
          <a:noFill/>
          <a:ln/>
        </p:spPr>
        <p:txBody>
          <a:bodyPr wrap="square" lIns="0" tIns="0" rIns="0" bIns="0" rtlCol="0" anchor="ctr"/>
          <a:lstStyle/>
          <a:p>
            <a:pPr marL="0" indent="0" algn="ctr">
              <a:buNone/>
            </a:pPr>
            <a:r>
              <a:rPr lang="en-US" sz="1600" b="1" dirty="0">
                <a:solidFill>
                  <a:srgbClr val="FFFFFF"/>
                </a:solidFill>
                <a:latin typeface="Poppins" pitchFamily="34" charset="0"/>
                <a:ea typeface="Poppins" pitchFamily="34" charset="-122"/>
                <a:cs typeface="Poppins" pitchFamily="34" charset="-120"/>
              </a:rPr>
              <a:t>→</a:t>
            </a:r>
            <a:endParaRPr lang="en-US" sz="1600" dirty="0"/>
          </a:p>
        </p:txBody>
      </p:sp>
      <p:sp>
        <p:nvSpPr>
          <p:cNvPr id="12" name="Shape 8"/>
          <p:cNvSpPr/>
          <p:nvPr/>
        </p:nvSpPr>
        <p:spPr>
          <a:xfrm>
            <a:off x="3383280" y="3200400"/>
            <a:ext cx="2377440" cy="1188720"/>
          </a:xfrm>
          <a:prstGeom prst="rect">
            <a:avLst/>
          </a:prstGeom>
          <a:solidFill>
            <a:srgbClr val="7C3AED"/>
          </a:solidFill>
          <a:ln/>
          <a:effectLst>
            <a:outerShdw blurRad="76200" dist="25400" dir="8100000" algn="bl" rotWithShape="0">
              <a:srgbClr val="000000">
                <a:alpha val="6000"/>
              </a:srgbClr>
            </a:outerShdw>
          </a:effectLst>
        </p:spPr>
      </p:sp>
      <p:pic>
        <p:nvPicPr>
          <p:cNvPr id="13" name="Image 2" descr="preencoded.png"/>
          <p:cNvPicPr>
            <a:picLocks noChangeAspect="1"/>
          </p:cNvPicPr>
          <p:nvPr/>
        </p:nvPicPr>
        <p:blipFill>
          <a:blip r:embed="rId5"/>
          <a:stretch>
            <a:fillRect/>
          </a:stretch>
        </p:blipFill>
        <p:spPr>
          <a:xfrm>
            <a:off x="3520440" y="3383280"/>
            <a:ext cx="365760" cy="365760"/>
          </a:xfrm>
          <a:prstGeom prst="rect">
            <a:avLst/>
          </a:prstGeom>
        </p:spPr>
      </p:pic>
      <p:sp>
        <p:nvSpPr>
          <p:cNvPr id="14" name="Text 9"/>
          <p:cNvSpPr/>
          <p:nvPr/>
        </p:nvSpPr>
        <p:spPr>
          <a:xfrm>
            <a:off x="3931920" y="3291840"/>
            <a:ext cx="1645920" cy="320040"/>
          </a:xfrm>
          <a:prstGeom prst="rect">
            <a:avLst/>
          </a:prstGeom>
          <a:noFill/>
          <a:ln/>
        </p:spPr>
        <p:txBody>
          <a:bodyPr wrap="square" lIns="0" tIns="0" rIns="0" bIns="0" rtlCol="0" anchor="ctr"/>
          <a:lstStyle/>
          <a:p>
            <a:pPr marL="0" indent="0">
              <a:buNone/>
            </a:pPr>
            <a:r>
              <a:rPr lang="en-US" sz="1300" b="1" dirty="0">
                <a:solidFill>
                  <a:srgbClr val="FFFFFF"/>
                </a:solidFill>
                <a:latin typeface="Poppins" pitchFamily="34" charset="0"/>
                <a:ea typeface="Poppins" pitchFamily="34" charset="-122"/>
                <a:cs typeface="Poppins" pitchFamily="34" charset="-120"/>
              </a:rPr>
              <a:t>Demander une démo</a:t>
            </a:r>
            <a:endParaRPr lang="en-US" sz="1300" dirty="0"/>
          </a:p>
        </p:txBody>
      </p:sp>
      <p:sp>
        <p:nvSpPr>
          <p:cNvPr id="15" name="Text 10"/>
          <p:cNvSpPr/>
          <p:nvPr/>
        </p:nvSpPr>
        <p:spPr>
          <a:xfrm>
            <a:off x="3931920" y="3611880"/>
            <a:ext cx="1645920" cy="411480"/>
          </a:xfrm>
          <a:prstGeom prst="rect">
            <a:avLst/>
          </a:prstGeom>
          <a:noFill/>
          <a:ln/>
        </p:spPr>
        <p:txBody>
          <a:bodyPr wrap="square" lIns="0" tIns="0" rIns="0" bIns="0" rtlCol="0" anchor="ctr"/>
          <a:lstStyle/>
          <a:p>
            <a:pPr marL="0" indent="0">
              <a:lnSpc>
                <a:spcPct val="130000"/>
              </a:lnSpc>
              <a:buNone/>
            </a:pPr>
            <a:r>
              <a:rPr lang="en-US" sz="850" dirty="0">
                <a:solidFill>
                  <a:srgbClr val="D6EBFF"/>
                </a:solidFill>
                <a:latin typeface="Poppins" pitchFamily="34" charset="0"/>
                <a:ea typeface="Poppins" pitchFamily="34" charset="-122"/>
                <a:cs typeface="Poppins" pitchFamily="34" charset="-120"/>
              </a:rPr>
              <a:t>Avec un expert</a:t>
            </a:r>
            <a:endParaRPr lang="en-US" sz="850" dirty="0"/>
          </a:p>
          <a:p>
            <a:pPr marL="0" indent="0">
              <a:lnSpc>
                <a:spcPct val="130000"/>
              </a:lnSpc>
              <a:buNone/>
            </a:pPr>
            <a:r>
              <a:rPr lang="en-US" sz="850" dirty="0">
                <a:solidFill>
                  <a:srgbClr val="D6EBFF"/>
                </a:solidFill>
                <a:latin typeface="Poppins" pitchFamily="34" charset="0"/>
                <a:ea typeface="Poppins" pitchFamily="34" charset="-122"/>
                <a:cs typeface="Poppins" pitchFamily="34" charset="-120"/>
              </a:rPr>
              <a:t>KINN dédié</a:t>
            </a:r>
            <a:endParaRPr lang="en-US" sz="850" dirty="0"/>
          </a:p>
        </p:txBody>
      </p:sp>
      <p:sp>
        <p:nvSpPr>
          <p:cNvPr id="16" name="Text 11"/>
          <p:cNvSpPr/>
          <p:nvPr/>
        </p:nvSpPr>
        <p:spPr>
          <a:xfrm>
            <a:off x="5303520" y="3383280"/>
            <a:ext cx="274320" cy="274320"/>
          </a:xfrm>
          <a:prstGeom prst="rect">
            <a:avLst/>
          </a:prstGeom>
          <a:noFill/>
          <a:ln/>
        </p:spPr>
        <p:txBody>
          <a:bodyPr wrap="square" lIns="0" tIns="0" rIns="0" bIns="0" rtlCol="0" anchor="ctr"/>
          <a:lstStyle/>
          <a:p>
            <a:pPr marL="0" indent="0" algn="ctr">
              <a:buNone/>
            </a:pPr>
            <a:r>
              <a:rPr lang="en-US" sz="1600" b="1" dirty="0">
                <a:solidFill>
                  <a:srgbClr val="FFFFFF"/>
                </a:solidFill>
                <a:latin typeface="Poppins" pitchFamily="34" charset="0"/>
                <a:ea typeface="Poppins" pitchFamily="34" charset="-122"/>
                <a:cs typeface="Poppins" pitchFamily="34" charset="-120"/>
              </a:rPr>
              <a:t>→</a:t>
            </a:r>
            <a:endParaRPr lang="en-US" sz="1600" dirty="0"/>
          </a:p>
        </p:txBody>
      </p:sp>
      <p:sp>
        <p:nvSpPr>
          <p:cNvPr id="17" name="Shape 12"/>
          <p:cNvSpPr/>
          <p:nvPr/>
        </p:nvSpPr>
        <p:spPr>
          <a:xfrm>
            <a:off x="6080760" y="3200400"/>
            <a:ext cx="2377440" cy="1188720"/>
          </a:xfrm>
          <a:prstGeom prst="rect">
            <a:avLst/>
          </a:prstGeom>
          <a:solidFill>
            <a:srgbClr val="16A34A"/>
          </a:solidFill>
          <a:ln/>
          <a:effectLst>
            <a:outerShdw blurRad="76200" dist="25400" dir="8100000" algn="bl" rotWithShape="0">
              <a:srgbClr val="000000">
                <a:alpha val="6000"/>
              </a:srgbClr>
            </a:outerShdw>
          </a:effectLst>
        </p:spPr>
      </p:sp>
      <p:pic>
        <p:nvPicPr>
          <p:cNvPr id="18" name="Image 3" descr="preencoded.png"/>
          <p:cNvPicPr>
            <a:picLocks noChangeAspect="1"/>
          </p:cNvPicPr>
          <p:nvPr/>
        </p:nvPicPr>
        <p:blipFill>
          <a:blip r:embed="rId6"/>
          <a:stretch>
            <a:fillRect/>
          </a:stretch>
        </p:blipFill>
        <p:spPr>
          <a:xfrm>
            <a:off x="6217920" y="3383280"/>
            <a:ext cx="365760" cy="365760"/>
          </a:xfrm>
          <a:prstGeom prst="rect">
            <a:avLst/>
          </a:prstGeom>
        </p:spPr>
      </p:pic>
      <p:sp>
        <p:nvSpPr>
          <p:cNvPr id="19" name="Text 13"/>
          <p:cNvSpPr/>
          <p:nvPr/>
        </p:nvSpPr>
        <p:spPr>
          <a:xfrm>
            <a:off x="6629400" y="3291840"/>
            <a:ext cx="1645920" cy="320040"/>
          </a:xfrm>
          <a:prstGeom prst="rect">
            <a:avLst/>
          </a:prstGeom>
          <a:noFill/>
          <a:ln/>
        </p:spPr>
        <p:txBody>
          <a:bodyPr wrap="square" lIns="0" tIns="0" rIns="0" bIns="0" rtlCol="0" anchor="ctr"/>
          <a:lstStyle/>
          <a:p>
            <a:pPr marL="0" indent="0">
              <a:buNone/>
            </a:pPr>
            <a:r>
              <a:rPr lang="en-US" sz="1300" b="1" dirty="0">
                <a:solidFill>
                  <a:srgbClr val="FFFFFF"/>
                </a:solidFill>
                <a:latin typeface="Poppins" pitchFamily="34" charset="0"/>
                <a:ea typeface="Poppins" pitchFamily="34" charset="-122"/>
                <a:cs typeface="Poppins" pitchFamily="34" charset="-120"/>
              </a:rPr>
              <a:t>Devenir consultant</a:t>
            </a:r>
            <a:endParaRPr lang="en-US" sz="1300" dirty="0"/>
          </a:p>
        </p:txBody>
      </p:sp>
      <p:sp>
        <p:nvSpPr>
          <p:cNvPr id="20" name="Text 14"/>
          <p:cNvSpPr/>
          <p:nvPr/>
        </p:nvSpPr>
        <p:spPr>
          <a:xfrm>
            <a:off x="6629400" y="3611880"/>
            <a:ext cx="1645920" cy="411480"/>
          </a:xfrm>
          <a:prstGeom prst="rect">
            <a:avLst/>
          </a:prstGeom>
          <a:noFill/>
          <a:ln/>
        </p:spPr>
        <p:txBody>
          <a:bodyPr wrap="square" lIns="0" tIns="0" rIns="0" bIns="0" rtlCol="0" anchor="ctr"/>
          <a:lstStyle/>
          <a:p>
            <a:pPr marL="0" indent="0">
              <a:lnSpc>
                <a:spcPct val="130000"/>
              </a:lnSpc>
              <a:buNone/>
            </a:pPr>
            <a:r>
              <a:rPr lang="en-US" sz="850" dirty="0">
                <a:solidFill>
                  <a:srgbClr val="D6EBFF"/>
                </a:solidFill>
                <a:latin typeface="Poppins" pitchFamily="34" charset="0"/>
                <a:ea typeface="Poppins" pitchFamily="34" charset="-122"/>
                <a:cs typeface="Poppins" pitchFamily="34" charset="-120"/>
              </a:rPr>
              <a:t>Rejoignez la communauté</a:t>
            </a:r>
            <a:endParaRPr lang="en-US" sz="850" dirty="0"/>
          </a:p>
          <a:p>
            <a:pPr marL="0" indent="0">
              <a:lnSpc>
                <a:spcPct val="130000"/>
              </a:lnSpc>
              <a:buNone/>
            </a:pPr>
            <a:r>
              <a:rPr lang="en-US" sz="850" dirty="0">
                <a:solidFill>
                  <a:srgbClr val="D6EBFF"/>
                </a:solidFill>
                <a:latin typeface="Poppins" pitchFamily="34" charset="0"/>
                <a:ea typeface="Poppins" pitchFamily="34" charset="-122"/>
                <a:cs typeface="Poppins" pitchFamily="34" charset="-120"/>
              </a:rPr>
              <a:t>d'experts KINN</a:t>
            </a:r>
            <a:endParaRPr lang="en-US" sz="850" dirty="0"/>
          </a:p>
        </p:txBody>
      </p:sp>
      <p:sp>
        <p:nvSpPr>
          <p:cNvPr id="21" name="Text 15"/>
          <p:cNvSpPr/>
          <p:nvPr/>
        </p:nvSpPr>
        <p:spPr>
          <a:xfrm>
            <a:off x="8001000" y="3383280"/>
            <a:ext cx="274320" cy="274320"/>
          </a:xfrm>
          <a:prstGeom prst="rect">
            <a:avLst/>
          </a:prstGeom>
          <a:noFill/>
          <a:ln/>
        </p:spPr>
        <p:txBody>
          <a:bodyPr wrap="square" lIns="0" tIns="0" rIns="0" bIns="0" rtlCol="0" anchor="ctr"/>
          <a:lstStyle/>
          <a:p>
            <a:pPr marL="0" indent="0" algn="ctr">
              <a:buNone/>
            </a:pPr>
            <a:r>
              <a:rPr lang="en-US" sz="1600" b="1" dirty="0">
                <a:solidFill>
                  <a:srgbClr val="FFFFFF"/>
                </a:solidFill>
                <a:latin typeface="Poppins" pitchFamily="34" charset="0"/>
                <a:ea typeface="Poppins" pitchFamily="34" charset="-122"/>
                <a:cs typeface="Poppins" pitchFamily="34" charset="-120"/>
              </a:rPr>
              <a:t>→</a:t>
            </a:r>
            <a:endParaRPr lang="en-US" sz="1600" dirty="0"/>
          </a:p>
        </p:txBody>
      </p:sp>
      <p:sp>
        <p:nvSpPr>
          <p:cNvPr id="22" name="Text 16"/>
          <p:cNvSpPr/>
          <p:nvPr/>
        </p:nvSpPr>
        <p:spPr>
          <a:xfrm>
            <a:off x="1828800" y="4617720"/>
            <a:ext cx="5486400" cy="274320"/>
          </a:xfrm>
          <a:prstGeom prst="rect">
            <a:avLst/>
          </a:prstGeom>
          <a:noFill/>
          <a:ln/>
        </p:spPr>
        <p:txBody>
          <a:bodyPr wrap="square" lIns="0" tIns="0" rIns="0" bIns="0" rtlCol="0" anchor="ctr"/>
          <a:lstStyle/>
          <a:p>
            <a:pPr marL="0" indent="0" algn="ctr">
              <a:buNone/>
            </a:pPr>
            <a:r>
              <a:rPr lang="en-US" sz="1000" dirty="0">
                <a:solidFill>
                  <a:srgbClr val="9CA3AF"/>
                </a:solidFill>
                <a:latin typeface="Poppins" pitchFamily="34" charset="0"/>
                <a:ea typeface="Poppins" pitchFamily="34" charset="-122"/>
                <a:cs typeface="Poppins" pitchFamily="34" charset="-120"/>
              </a:rPr>
              <a:t>kinn.fr  |  contact@kinn.fr</a:t>
            </a:r>
            <a:endParaRPr lang="en-US" sz="1000" dirty="0"/>
          </a:p>
        </p:txBody>
      </p:sp>
      <p:sp>
        <p:nvSpPr>
          <p:cNvPr id="23" name="Text 17"/>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1924</Words>
  <Application>Microsoft Macintosh PowerPoint</Application>
  <PresentationFormat>Affichage à l'écran (16:9)</PresentationFormat>
  <Paragraphs>383</Paragraphs>
  <Slides>12</Slides>
  <Notes>12</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12</vt:i4>
      </vt:variant>
    </vt:vector>
  </HeadingPairs>
  <TitlesOfParts>
    <vt:vector size="15" baseType="lpstr">
      <vt:lpstr>Arial</vt:lpstr>
      <vt:lpstr>Poppins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KINN — Transformez vos processus en applications automatisées</dc:title>
  <dc:subject>PptxGenJS Presentation</dc:subject>
  <dc:creator>KINN by C4RBON Group</dc:creator>
  <cp:lastModifiedBy>Edouard Bernier-Nahon</cp:lastModifiedBy>
  <cp:revision>1</cp:revision>
  <dcterms:created xsi:type="dcterms:W3CDTF">2026-03-12T12:12:23Z</dcterms:created>
  <dcterms:modified xsi:type="dcterms:W3CDTF">2026-03-12T12:26:23Z</dcterms:modified>
</cp:coreProperties>
</file>